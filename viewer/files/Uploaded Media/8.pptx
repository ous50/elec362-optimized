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03" r:id="rId3"/>
    <p:sldId id="257" r:id="rId4"/>
    <p:sldId id="258" r:id="rId5"/>
    <p:sldId id="304" r:id="rId6"/>
    <p:sldId id="314" r:id="rId7"/>
    <p:sldId id="331" r:id="rId8"/>
    <p:sldId id="330" r:id="rId9"/>
    <p:sldId id="324" r:id="rId10"/>
    <p:sldId id="315" r:id="rId11"/>
    <p:sldId id="325" r:id="rId12"/>
    <p:sldId id="326" r:id="rId13"/>
    <p:sldId id="317" r:id="rId14"/>
    <p:sldId id="327" r:id="rId15"/>
    <p:sldId id="32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8F9E7"/>
    <a:srgbClr val="0000FF"/>
    <a:srgbClr val="6F008A"/>
    <a:srgbClr val="660066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6433" autoAdjust="0"/>
  </p:normalViewPr>
  <p:slideViewPr>
    <p:cSldViewPr snapToGrid="0">
      <p:cViewPr varScale="1">
        <p:scale>
          <a:sx n="106" d="100"/>
          <a:sy n="106" d="100"/>
        </p:scale>
        <p:origin x="6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482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520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711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608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296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835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196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95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02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567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222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07/10/2024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07/10/2024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07/10/2024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07/10/2024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07/10/2024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07/10/2024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alii.org/current/doxygen/deal.II/step_24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ealii.org/current/doxygen/deal.II/full__matrix_8h_source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8: Even more classes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definitions and functionalities of constructors and destructors of classes 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The following keywords and their use were discussed:</a:t>
            </a:r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89B2AE-2D2E-4507-8E92-F853796E6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461637"/>
              </p:ext>
            </p:extLst>
          </p:nvPr>
        </p:nvGraphicFramePr>
        <p:xfrm>
          <a:off x="961097" y="3566101"/>
          <a:ext cx="10952539" cy="1600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103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9043436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</a:tblGrid>
              <a:tr h="411374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bg1"/>
                          </a:solidFill>
                        </a:rPr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explicit</a:t>
                      </a:r>
                      <a:endParaRPr lang="en-GB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Prevents the compiler from implicit casting</a:t>
                      </a:r>
                      <a:r>
                        <a:rPr lang="en-GB" sz="2000" baseline="0" dirty="0"/>
                        <a:t> when one-argument constructor is called.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static</a:t>
                      </a:r>
                      <a:endParaRPr lang="en-GB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Defines a static data member</a:t>
                      </a:r>
                      <a:r>
                        <a:rPr lang="en-GB" sz="2000" baseline="0" dirty="0"/>
                        <a:t> (common among all objects of a given class).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friend</a:t>
                      </a:r>
                      <a:endParaRPr lang="en-GB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Gives</a:t>
                      </a:r>
                      <a:r>
                        <a:rPr lang="en-GB" sz="2000" baseline="0" dirty="0"/>
                        <a:t> access to private data members of a class for a non-member function.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05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Polymorphism.  2. Practical aspects of working with classes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Polymorphism is vital for object-object interactions.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 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4 source codes, a live demonstration and discussion questions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Operators are used in arithmetic and Boolean operations.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Consider the following code: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QUESTION: What is the meaning of adding two boxes?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Operators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667743" y="2602010"/>
            <a:ext cx="10686058" cy="32288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/>
          <p:cNvSpPr/>
          <p:nvPr/>
        </p:nvSpPr>
        <p:spPr>
          <a:xfrm>
            <a:off x="653143" y="2506951"/>
            <a:ext cx="121496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//Primitive datatypes: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x = 1, y = 2,z;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lang="en-US" b="1" dirty="0">
                <a:latin typeface="Courier New"/>
                <a:cs typeface="Courier New"/>
              </a:rPr>
              <a:t>a = 1.5, b = 2.5,c;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z = x + y;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c = a + b;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//User-defined datatypes: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Box</a:t>
            </a:r>
            <a:r>
              <a:rPr lang="en-US" b="1" dirty="0">
                <a:latin typeface="Courier New"/>
                <a:cs typeface="Courier New"/>
              </a:rPr>
              <a:t> B1(2,3,4), B2(1,1,1),B3;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B3 = B1 + B2;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//??</a:t>
            </a:r>
            <a:endParaRPr lang="en-US" sz="20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functionality of all operators encountered so far (+ , -, *, /, &lt;, &gt;, = , ==, !=, &lt;&lt;, ++) and many more can be extended to classes.</a:t>
            </a:r>
          </a:p>
          <a:p>
            <a:endParaRPr lang="en-GB" sz="2400" dirty="0"/>
          </a:p>
          <a:p>
            <a:r>
              <a:rPr lang="en-GB" sz="2400" dirty="0"/>
              <a:t>To define a function representing an operator action, the keyword “</a:t>
            </a:r>
            <a:r>
              <a:rPr lang="en-GB" sz="2400" dirty="0">
                <a:solidFill>
                  <a:srgbClr val="3B3BFF"/>
                </a:solidFill>
                <a:latin typeface="Consolas" panose="020B0609020204030204" pitchFamily="49" charset="0"/>
              </a:rPr>
              <a:t>operator</a:t>
            </a:r>
            <a:r>
              <a:rPr lang="en-GB" sz="2400" dirty="0"/>
              <a:t>” is used such that: 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L8D1.cpp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Operator overloading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3442184" y="4280617"/>
            <a:ext cx="2423727" cy="1761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a + b</a:t>
            </a:r>
          </a:p>
          <a:p>
            <a:pPr marL="0" indent="0">
              <a:buFont typeface="Arial"/>
              <a:buNone/>
            </a:pPr>
            <a:r>
              <a:rPr lang="en-US" dirty="0"/>
              <a:t>a - b</a:t>
            </a:r>
          </a:p>
          <a:p>
            <a:pPr marL="0" indent="0">
              <a:buFont typeface="Arial"/>
              <a:buNone/>
            </a:pPr>
            <a:r>
              <a:rPr lang="en-US" dirty="0"/>
              <a:t>a/b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464374" y="4625986"/>
            <a:ext cx="2444435" cy="905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464374" y="5228338"/>
            <a:ext cx="2444435" cy="905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463549" y="5754630"/>
            <a:ext cx="2444435" cy="905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6887276" y="4280617"/>
            <a:ext cx="3988009" cy="1761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operator+(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  <a:p>
            <a:pPr marL="0" indent="0">
              <a:buFont typeface="Arial"/>
              <a:buNone/>
            </a:pPr>
            <a:r>
              <a:rPr lang="en-US" dirty="0"/>
              <a:t>operator-(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  <a:p>
            <a:pPr marL="0" indent="0">
              <a:buFont typeface="Arial"/>
              <a:buNone/>
            </a:pPr>
            <a:r>
              <a:rPr lang="en-US" dirty="0"/>
              <a:t>operator/(</a:t>
            </a:r>
            <a:r>
              <a:rPr lang="en-US" dirty="0" err="1"/>
              <a:t>a,b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8302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19"/>
            <a:ext cx="11260668" cy="4693708"/>
          </a:xfrm>
        </p:spPr>
        <p:txBody>
          <a:bodyPr>
            <a:noAutofit/>
          </a:bodyPr>
          <a:lstStyle/>
          <a:p>
            <a:r>
              <a:rPr lang="en-GB" sz="2400" dirty="0"/>
              <a:t>The assignment operator “=“ copies the content of the right object to the left one.</a:t>
            </a:r>
          </a:p>
          <a:p>
            <a:r>
              <a:rPr lang="en-GB" sz="2400" dirty="0"/>
              <a:t>Example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Overloading assignment operator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38197" y="2314363"/>
            <a:ext cx="7968112" cy="44071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838196" y="2163871"/>
            <a:ext cx="8384462" cy="4628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b="1" dirty="0">
                <a:latin typeface="Courier New"/>
                <a:cs typeface="Courier New"/>
              </a:rPr>
              <a:t> Ratio {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, </a:t>
            </a:r>
            <a:r>
              <a:rPr lang="en-US" b="1" dirty="0" err="1">
                <a:latin typeface="Courier New"/>
                <a:cs typeface="Courier New"/>
              </a:rPr>
              <a:t>denom</a:t>
            </a:r>
            <a:r>
              <a:rPr lang="en-US" b="1" dirty="0">
                <a:latin typeface="Courier New"/>
                <a:cs typeface="Courier New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public: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Ratio (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n,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d) {</a:t>
            </a:r>
            <a:r>
              <a:rPr lang="en-US" b="1" dirty="0" err="1">
                <a:latin typeface="Courier New"/>
                <a:cs typeface="Courier New"/>
              </a:rPr>
              <a:t>num</a:t>
            </a:r>
            <a:r>
              <a:rPr lang="en-US" b="1" dirty="0">
                <a:latin typeface="Courier New"/>
                <a:cs typeface="Courier New"/>
              </a:rPr>
              <a:t>=n; </a:t>
            </a:r>
            <a:r>
              <a:rPr lang="en-US" b="1" dirty="0" err="1">
                <a:latin typeface="Courier New"/>
                <a:cs typeface="Courier New"/>
              </a:rPr>
              <a:t>denom</a:t>
            </a:r>
            <a:r>
              <a:rPr lang="en-US" b="1" dirty="0">
                <a:latin typeface="Courier New"/>
                <a:cs typeface="Courier New"/>
              </a:rPr>
              <a:t>=d;}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operator</a:t>
            </a:r>
            <a:r>
              <a:rPr lang="en-US" b="1" dirty="0">
                <a:latin typeface="Courier New"/>
                <a:cs typeface="Courier New"/>
              </a:rPr>
              <a:t>=(Ratio&amp; a) { num=</a:t>
            </a:r>
            <a:r>
              <a:rPr lang="en-US" b="1" dirty="0" err="1">
                <a:latin typeface="Courier New"/>
                <a:cs typeface="Courier New"/>
              </a:rPr>
              <a:t>a.num</a:t>
            </a:r>
            <a:r>
              <a:rPr lang="en-US" b="1" dirty="0">
                <a:latin typeface="Courier New"/>
                <a:cs typeface="Courier New"/>
              </a:rPr>
              <a:t>; </a:t>
            </a:r>
            <a:r>
              <a:rPr lang="en-US" b="1" dirty="0" err="1">
                <a:latin typeface="Courier New"/>
                <a:cs typeface="Courier New"/>
              </a:rPr>
              <a:t>denom</a:t>
            </a:r>
            <a:r>
              <a:rPr lang="en-US" b="1" dirty="0">
                <a:latin typeface="Courier New"/>
                <a:cs typeface="Courier New"/>
              </a:rPr>
              <a:t>=</a:t>
            </a:r>
            <a:r>
              <a:rPr lang="en-US" b="1" dirty="0" err="1">
                <a:latin typeface="Courier New"/>
                <a:cs typeface="Courier New"/>
              </a:rPr>
              <a:t>a.denom</a:t>
            </a:r>
            <a:r>
              <a:rPr lang="en-US" b="1" dirty="0">
                <a:latin typeface="Courier New"/>
                <a:cs typeface="Courier New"/>
              </a:rPr>
              <a:t>;}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};       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lang="en-US" b="1" dirty="0">
                <a:latin typeface="Courier New"/>
                <a:cs typeface="Courier New"/>
              </a:rPr>
              <a:t> main () {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b="1" dirty="0">
                <a:latin typeface="Courier New"/>
                <a:cs typeface="Courier New"/>
              </a:rPr>
              <a:t> x(1,2), y(4,5);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ourier New"/>
                <a:cs typeface="Courier New"/>
              </a:rPr>
              <a:t>y = x;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Which function is called here?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Courier New"/>
                <a:cs typeface="Courier New"/>
              </a:rPr>
              <a:t>Ratio</a:t>
            </a:r>
            <a:r>
              <a:rPr lang="en-US" b="1" dirty="0">
                <a:latin typeface="Courier New"/>
                <a:cs typeface="Courier New"/>
              </a:rPr>
              <a:t> z = x;}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Which function is called here?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806310" y="2314363"/>
            <a:ext cx="3385690" cy="3312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QUESTION: Why do we need to overload the assignment operator? 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73C309-5F16-4635-A50C-E18F9B756125}"/>
              </a:ext>
            </a:extLst>
          </p:cNvPr>
          <p:cNvCxnSpPr>
            <a:cxnSpLocks/>
          </p:cNvCxnSpPr>
          <p:nvPr/>
        </p:nvCxnSpPr>
        <p:spPr>
          <a:xfrm flipH="1" flipV="1">
            <a:off x="4349771" y="4628535"/>
            <a:ext cx="489336" cy="253297"/>
          </a:xfrm>
          <a:prstGeom prst="line">
            <a:avLst/>
          </a:prstGeom>
          <a:ln w="38100"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A2978A-C7C9-44D0-BC2E-2850CD191FFE}"/>
              </a:ext>
            </a:extLst>
          </p:cNvPr>
          <p:cNvSpPr txBox="1"/>
          <p:nvPr/>
        </p:nvSpPr>
        <p:spPr>
          <a:xfrm>
            <a:off x="4777580" y="4722113"/>
            <a:ext cx="3756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 reference to avoid creating</a:t>
            </a:r>
          </a:p>
          <a:p>
            <a:r>
              <a:rPr lang="en-GB" sz="2400" dirty="0"/>
              <a:t>a copy object </a:t>
            </a:r>
          </a:p>
        </p:txBody>
      </p:sp>
    </p:spTree>
    <p:extLst>
      <p:ext uri="{BB962C8B-B14F-4D97-AF65-F5344CB8AC3E}">
        <p14:creationId xmlns:p14="http://schemas.microsoft.com/office/powerpoint/2010/main" val="319208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19"/>
            <a:ext cx="10967520" cy="46937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Every object of a given class has its own data members while all objects share the member functions of the class.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When a member function is called, how does it know which object it is dealing with?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pointer “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/>
              <a:t>” hold the memory address of the object making the function call.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pointer is used implicitly whenever a function is called.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pointer “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400" dirty="0"/>
              <a:t>” is used to access functions from the </a:t>
            </a:r>
            <a:r>
              <a:rPr lang="en-US" sz="2400" u="sng" dirty="0"/>
              <a:t>inside</a:t>
            </a:r>
            <a:r>
              <a:rPr lang="en-US" sz="2400" dirty="0"/>
              <a:t> of the class, while standard pointers are used to access function from </a:t>
            </a:r>
            <a:r>
              <a:rPr lang="en-US" sz="2400" u="sng" dirty="0"/>
              <a:t>outside</a:t>
            </a:r>
            <a:r>
              <a:rPr lang="en-US" sz="2400" dirty="0"/>
              <a:t> the class.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L8D2.cpp</a:t>
            </a:r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</a:t>
            </a:r>
            <a:r>
              <a:rPr lang="en-US" sz="4400" dirty="0"/>
              <a:t>“</a:t>
            </a:r>
            <a:r>
              <a:rPr lang="en-US" sz="4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4400" dirty="0"/>
              <a:t>”  </a:t>
            </a:r>
            <a:r>
              <a:rPr lang="en-US" sz="4400" b="1" dirty="0"/>
              <a:t>pointer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27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19"/>
            <a:ext cx="11260668" cy="4693708"/>
          </a:xfrm>
        </p:spPr>
        <p:txBody>
          <a:bodyPr>
            <a:noAutofit/>
          </a:bodyPr>
          <a:lstStyle/>
          <a:p>
            <a:r>
              <a:rPr lang="en-GB" sz="2400" dirty="0"/>
              <a:t>Stream operator “&lt;&lt;“ can be used to output basic data types, as well as objects!</a:t>
            </a:r>
          </a:p>
          <a:p>
            <a:endParaRPr lang="en-GB" sz="2400" dirty="0"/>
          </a:p>
          <a:p>
            <a:r>
              <a:rPr lang="en-GB" sz="2400" dirty="0"/>
              <a:t>The output and the input datatypes of an overloaded stream function must be passed by reference, to enforce the continuity of the output stream of the programme.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Overloading the “&lt;&lt;“ operator is done using a friend function, this is because it requires access to “</a:t>
            </a:r>
            <a:r>
              <a:rPr lang="en-GB" sz="2400" dirty="0" err="1"/>
              <a:t>ostream</a:t>
            </a:r>
            <a:r>
              <a:rPr lang="en-GB" sz="2400" dirty="0"/>
              <a:t>” object, which lies outside the object it is calling the function for.  </a:t>
            </a:r>
          </a:p>
          <a:p>
            <a:endParaRPr lang="en-GB" sz="2400" dirty="0"/>
          </a:p>
          <a:p>
            <a:r>
              <a:rPr lang="en-GB" sz="2400" dirty="0"/>
              <a:t>Mostly, unary operators are loaded as member functions while binary operators can be  member, friend or even on-member functions. </a:t>
            </a:r>
          </a:p>
          <a:p>
            <a:endParaRPr lang="en-GB" sz="2400" dirty="0"/>
          </a:p>
          <a:p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L8D3.cpp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Overloading stream operator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88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There are 4 major concepts in OOP: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 Oriented concepts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313409" y="3194675"/>
            <a:ext cx="3378335" cy="2142831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27898" y="3850591"/>
            <a:ext cx="281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</a:rPr>
              <a:t>Object Oriented Programming</a:t>
            </a:r>
          </a:p>
        </p:txBody>
      </p:sp>
      <p:sp>
        <p:nvSpPr>
          <p:cNvPr id="8" name="Oval 7"/>
          <p:cNvSpPr/>
          <p:nvPr/>
        </p:nvSpPr>
        <p:spPr>
          <a:xfrm>
            <a:off x="258353" y="1957435"/>
            <a:ext cx="3742571" cy="201445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63914" y="4581418"/>
            <a:ext cx="3378335" cy="2142831"/>
          </a:xfrm>
          <a:prstGeom prst="ellipse">
            <a:avLst/>
          </a:prstGeom>
          <a:solidFill>
            <a:srgbClr val="00B0F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47557" y="4206284"/>
            <a:ext cx="3934132" cy="2262443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47557" y="2020889"/>
            <a:ext cx="3577403" cy="1856542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2661542"/>
            <a:ext cx="420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</a:rPr>
              <a:t>Abstraction</a:t>
            </a:r>
            <a:r>
              <a:rPr lang="en-US" sz="2400" dirty="0">
                <a:solidFill>
                  <a:prstClr val="black"/>
                </a:solidFill>
              </a:rPr>
              <a:t>: </a:t>
            </a:r>
            <a:r>
              <a:rPr lang="en-GB" sz="2400" dirty="0">
                <a:solidFill>
                  <a:prstClr val="black"/>
                </a:solidFill>
              </a:rPr>
              <a:t>Lecture 6.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60785" y="2692803"/>
            <a:ext cx="3869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prstClr val="black"/>
                </a:solidFill>
              </a:rPr>
              <a:t>Encapsulation</a:t>
            </a:r>
            <a:r>
              <a:rPr lang="en-GB" sz="2400" dirty="0">
                <a:solidFill>
                  <a:prstClr val="black"/>
                </a:solidFill>
              </a:rPr>
              <a:t>: Lecture 6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502" y="5357364"/>
            <a:ext cx="309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prstClr val="black"/>
                </a:solidFill>
              </a:rPr>
              <a:t>Inheritance</a:t>
            </a:r>
            <a:r>
              <a:rPr lang="en-GB" sz="2400" dirty="0">
                <a:solidFill>
                  <a:prstClr val="black"/>
                </a:solidFill>
              </a:rPr>
              <a:t>: Lecture 9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47557" y="4515086"/>
            <a:ext cx="39341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prstClr val="black"/>
                </a:solidFill>
              </a:rPr>
              <a:t>Polymorphism</a:t>
            </a:r>
            <a:r>
              <a:rPr lang="en-GB" sz="2400" dirty="0">
                <a:solidFill>
                  <a:prstClr val="black"/>
                </a:solidFill>
              </a:rPr>
              <a:t>: Using the same interface/function to perform different operations based on the input objects</a:t>
            </a:r>
            <a:endParaRPr lang="en-US" sz="2400" dirty="0">
              <a:solidFill>
                <a:prstClr val="black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3912695" y="3259490"/>
            <a:ext cx="668076" cy="39773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3787185" y="4692009"/>
            <a:ext cx="666600" cy="49768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7298466" y="3194675"/>
            <a:ext cx="895647" cy="3583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7600120" y="4581418"/>
            <a:ext cx="657748" cy="32176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4075946" y="5328628"/>
            <a:ext cx="4163494" cy="15128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400" dirty="0"/>
              <a:t>Function and operator overloading are implementations of polymorphism concept</a:t>
            </a:r>
          </a:p>
        </p:txBody>
      </p:sp>
    </p:spTree>
    <p:extLst>
      <p:ext uri="{BB962C8B-B14F-4D97-AF65-F5344CB8AC3E}">
        <p14:creationId xmlns:p14="http://schemas.microsoft.com/office/powerpoint/2010/main" val="369939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51445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In real codes there can be hundreds of classes, which makes working with classes difficult and messy.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This can be simplified by working with header and source files instead of keeping everything in source file: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Working with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https://static.thenounproject.com/png/341989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59193"/>
            <a:ext cx="1321532" cy="132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static.thenounproject.com/png/341950-2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78" y="4879360"/>
            <a:ext cx="1374775" cy="137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2036281" y="3660907"/>
            <a:ext cx="9965219" cy="779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/>
              <a:t>Header file: contains data members and functions declarations/prototypes 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968874" y="5369506"/>
            <a:ext cx="9965219" cy="779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/>
              <a:t>Source file: contains function definitions/bodies 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926682" y="4519509"/>
            <a:ext cx="1187565" cy="779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 err="1"/>
              <a:t>Class.h</a:t>
            </a:r>
            <a:endParaRPr lang="en-US" sz="2400" dirty="0"/>
          </a:p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916727" y="6228108"/>
            <a:ext cx="1399243" cy="779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/>
              <a:t>Class.cpp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14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515600" cy="51445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GB" sz="2400" dirty="0"/>
          </a:p>
          <a:p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r>
              <a:rPr lang="en-GB" sz="2400" dirty="0"/>
              <a:t>Visual Studio can generate the two files automatically (demonstration).</a:t>
            </a: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two-files implementation of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0415" y="1921005"/>
            <a:ext cx="624965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class </a:t>
            </a:r>
            <a:r>
              <a:rPr lang="en-US" sz="2000" b="1" dirty="0">
                <a:latin typeface="Courier New"/>
                <a:cs typeface="Courier New"/>
              </a:rPr>
              <a:t>Box{</a:t>
            </a:r>
          </a:p>
          <a:p>
            <a:r>
              <a:rPr lang="en-US" sz="2000" b="1" dirty="0">
                <a:latin typeface="Courier New"/>
                <a:cs typeface="Courier New"/>
              </a:rPr>
              <a:t>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        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num</a:t>
            </a:r>
            <a:r>
              <a:rPr lang="en-US" sz="2000" b="1" dirty="0">
                <a:latin typeface="Courier New"/>
                <a:cs typeface="Courier New"/>
              </a:rPr>
              <a:t>, </a:t>
            </a:r>
            <a:r>
              <a:rPr lang="en-US" sz="2000" b="1" dirty="0" err="1">
                <a:latin typeface="Courier New"/>
                <a:cs typeface="Courier New"/>
              </a:rPr>
              <a:t>denom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public: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       Ratio (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n,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d);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 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sz="2000" b="1" dirty="0">
                <a:latin typeface="Courier New"/>
                <a:cs typeface="Courier New"/>
              </a:rPr>
              <a:t> Decimal(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n,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d);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238600" y="1921004"/>
            <a:ext cx="6001329" cy="33983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6306443" y="1903420"/>
            <a:ext cx="567514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#include </a:t>
            </a:r>
            <a:r>
              <a:rPr lang="en-US" sz="2000" b="1" dirty="0">
                <a:latin typeface="Courier New"/>
                <a:cs typeface="Courier New"/>
              </a:rPr>
              <a:t>“</a:t>
            </a:r>
            <a:r>
              <a:rPr lang="en-US" sz="2000" b="1" dirty="0" err="1">
                <a:latin typeface="Courier New"/>
                <a:cs typeface="Courier New"/>
              </a:rPr>
              <a:t>Box.h</a:t>
            </a:r>
            <a:r>
              <a:rPr lang="en-US" sz="2000" b="1" dirty="0">
                <a:latin typeface="Courier New"/>
                <a:cs typeface="Courier New"/>
              </a:rPr>
              <a:t>”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      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Box::Ratio(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n, 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d) 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      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</a:t>
            </a:r>
            <a:r>
              <a:rPr lang="en-US" sz="2000" b="1" dirty="0" err="1">
                <a:latin typeface="Courier New"/>
                <a:cs typeface="Courier New"/>
              </a:rPr>
              <a:t>num</a:t>
            </a:r>
            <a:r>
              <a:rPr lang="en-US" sz="2000" b="1" dirty="0">
                <a:latin typeface="Courier New"/>
                <a:cs typeface="Courier New"/>
              </a:rPr>
              <a:t>=n; </a:t>
            </a:r>
            <a:r>
              <a:rPr lang="en-US" sz="2000" b="1" dirty="0" err="1">
                <a:latin typeface="Courier New"/>
                <a:cs typeface="Courier New"/>
              </a:rPr>
              <a:t>denom</a:t>
            </a:r>
            <a:r>
              <a:rPr lang="en-US" sz="2000" b="1" dirty="0">
                <a:latin typeface="Courier New"/>
                <a:cs typeface="Courier New"/>
              </a:rPr>
              <a:t>=d;}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sz="2000" b="1" dirty="0">
                <a:latin typeface="Courier New"/>
                <a:cs typeface="Courier New"/>
              </a:rPr>
              <a:t> Box::Decimal(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n,</a:t>
            </a:r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d){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 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sz="2000" b="1" dirty="0">
                <a:latin typeface="Courier New"/>
                <a:cs typeface="Courier New"/>
              </a:rPr>
              <a:t>(n)/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double</a:t>
            </a:r>
            <a:r>
              <a:rPr lang="en-US" sz="2000" b="1" dirty="0">
                <a:latin typeface="Courier New"/>
                <a:cs typeface="Courier New"/>
              </a:rPr>
              <a:t>(d);}        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6306443" y="1921004"/>
            <a:ext cx="5800909" cy="339834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570844" y="1498218"/>
            <a:ext cx="1187565" cy="779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 err="1"/>
              <a:t>Box.h</a:t>
            </a:r>
            <a:endParaRPr lang="en-US" sz="2400" dirty="0"/>
          </a:p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477206" y="1474406"/>
            <a:ext cx="1187565" cy="779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dirty="0"/>
              <a:t>Box.cpp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05651" y="6057468"/>
            <a:ext cx="9127068" cy="454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07320" y="6031210"/>
            <a:ext cx="9135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Practice note: </a:t>
            </a:r>
            <a:r>
              <a:rPr lang="en-GB" sz="2400" dirty="0"/>
              <a:t>Always follow the 2-file implementation of classes</a:t>
            </a:r>
          </a:p>
        </p:txBody>
      </p:sp>
    </p:spTree>
    <p:extLst>
      <p:ext uri="{BB962C8B-B14F-4D97-AF65-F5344CB8AC3E}">
        <p14:creationId xmlns:p14="http://schemas.microsoft.com/office/powerpoint/2010/main" val="346513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78491"/>
            <a:ext cx="11075437" cy="51445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One header file can contain multiple classes definitions.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When writing a code depending on those classes, don’t forget to include the header file.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Real life code example : </a:t>
            </a:r>
            <a:r>
              <a:rPr lang="en-GB" sz="2400" dirty="0">
                <a:hlinkClick r:id="rId3"/>
              </a:rPr>
              <a:t>https://www.dealii.org/current/doxygen/deal.II/step_24.html</a:t>
            </a: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/>
              <a:t>                                              </a:t>
            </a:r>
            <a:r>
              <a:rPr lang="en-GB" sz="2400" dirty="0">
                <a:hlinkClick r:id="rId4"/>
              </a:rPr>
              <a:t>https://www.dealii.org/current/doxygen/deal.II/full__matrix_8h_source.html</a:t>
            </a:r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Header files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33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600592" cy="51445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Similar to functions, classes can be derived from templates to work with different  data types.</a:t>
            </a:r>
          </a:p>
          <a:p>
            <a:r>
              <a:rPr lang="en-GB" sz="2400" dirty="0"/>
              <a:t>Syntax: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L8D4.cpp</a:t>
            </a:r>
          </a:p>
          <a:p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 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74371" y="2815296"/>
            <a:ext cx="10042391" cy="30674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74371" y="2799203"/>
            <a:ext cx="943572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GB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a_type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GB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class_name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endParaRPr lang="en-GB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a_type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GB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class_name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=1}; </a:t>
            </a:r>
            <a:r>
              <a:rPr lang="en-GB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just an example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a_type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Out(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a_type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a) {</a:t>
            </a:r>
            <a:r>
              <a:rPr lang="en-GB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/*function definition*/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84970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1"/>
            <a:ext cx="10600592" cy="51445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When using class templates, it is inconvenient to keep re-using the template name when defining a new object.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Class alias can be used to create a short name of a class derived from a template, by using either “</a:t>
            </a:r>
            <a:r>
              <a:rPr lang="en-GB" sz="2400" dirty="0">
                <a:solidFill>
                  <a:srgbClr val="3B3BFF"/>
                </a:solidFill>
                <a:latin typeface="Consolas" panose="020B0609020204030204" pitchFamily="49" charset="0"/>
              </a:rPr>
              <a:t>using</a:t>
            </a:r>
            <a:r>
              <a:rPr lang="en-GB" sz="2400" dirty="0"/>
              <a:t>” or “</a:t>
            </a:r>
            <a:r>
              <a:rPr lang="en-GB" sz="2400" dirty="0" err="1">
                <a:solidFill>
                  <a:srgbClr val="3B3BFF"/>
                </a:solidFill>
                <a:latin typeface="Consolas" panose="020B0609020204030204" pitchFamily="49" charset="0"/>
              </a:rPr>
              <a:t>typedef</a:t>
            </a:r>
            <a:r>
              <a:rPr lang="en-GB" sz="2400" dirty="0"/>
              <a:t>”.</a:t>
            </a:r>
          </a:p>
          <a:p>
            <a:r>
              <a:rPr lang="en-GB" sz="2400" dirty="0"/>
              <a:t>Example:</a:t>
            </a:r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 alias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04032" y="3590084"/>
            <a:ext cx="10974375" cy="31700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04032" y="3590083"/>
            <a:ext cx="1083369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 </a:t>
            </a:r>
            <a:r>
              <a:rPr lang="en-GB" sz="2000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BoxSamples</a:t>
            </a:r>
            <a:r>
              <a:rPr lang="en-GB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alias for a sample of 'boxes'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BoxSamples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Samples&lt;</a:t>
            </a:r>
            <a:r>
              <a:rPr lang="en-GB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; 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Samples&lt;</a:t>
            </a:r>
            <a:r>
              <a:rPr lang="en-GB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sz="2000" b="1">
                <a:latin typeface="Courier New" panose="02070309020205020404" pitchFamily="49" charset="0"/>
                <a:cs typeface="Courier New" panose="02070309020205020404" pitchFamily="49" charset="0"/>
              </a:rPr>
              <a:t>SampleBoxes; </a:t>
            </a:r>
            <a:r>
              <a:rPr lang="en-GB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More common in modern C++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declare an array of 5 boxes in a sample class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BoxSamples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myBoxes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SampleBoxes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mySBoxes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</a:p>
        </p:txBody>
      </p:sp>
    </p:spTree>
    <p:extLst>
      <p:ext uri="{BB962C8B-B14F-4D97-AF65-F5344CB8AC3E}">
        <p14:creationId xmlns:p14="http://schemas.microsoft.com/office/powerpoint/2010/main" val="1087450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Operator overloading for classes has been discussed.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 The concept of polymorphism has been defined as part of OOP.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The two-file implementation of classes has been discussed.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Class templates were discussed.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55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5483</TotalTime>
  <Words>1252</Words>
  <Application>Microsoft Office PowerPoint</Application>
  <PresentationFormat>Widescreen</PresentationFormat>
  <Paragraphs>517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Courier New</vt:lpstr>
      <vt:lpstr>Office Theme</vt:lpstr>
      <vt:lpstr>Application Development with C++ (ELEC362)</vt:lpstr>
      <vt:lpstr>Previous lecture </vt:lpstr>
      <vt:lpstr>This lecture</vt:lpstr>
      <vt:lpstr>Operators revisited</vt:lpstr>
      <vt:lpstr>Operator overloading</vt:lpstr>
      <vt:lpstr>Overloading assignment operator</vt:lpstr>
      <vt:lpstr>The “this”  pointer</vt:lpstr>
      <vt:lpstr>Overloading stream operator</vt:lpstr>
      <vt:lpstr>Object Oriented concepts revisited</vt:lpstr>
      <vt:lpstr>Working with classes</vt:lpstr>
      <vt:lpstr>The two-files implementation of classes</vt:lpstr>
      <vt:lpstr>Header files revisited</vt:lpstr>
      <vt:lpstr>Class templates</vt:lpstr>
      <vt:lpstr>Class alias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664</cp:revision>
  <dcterms:created xsi:type="dcterms:W3CDTF">2019-05-09T14:26:54Z</dcterms:created>
  <dcterms:modified xsi:type="dcterms:W3CDTF">2024-10-07T13:29:31Z</dcterms:modified>
</cp:coreProperties>
</file>