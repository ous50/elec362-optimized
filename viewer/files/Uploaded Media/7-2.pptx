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13" r:id="rId3"/>
    <p:sldId id="257" r:id="rId4"/>
    <p:sldId id="258" r:id="rId5"/>
    <p:sldId id="304" r:id="rId6"/>
    <p:sldId id="314" r:id="rId7"/>
    <p:sldId id="316" r:id="rId8"/>
    <p:sldId id="315" r:id="rId9"/>
    <p:sldId id="317" r:id="rId10"/>
    <p:sldId id="318" r:id="rId11"/>
    <p:sldId id="319" r:id="rId12"/>
    <p:sldId id="305" r:id="rId13"/>
    <p:sldId id="320" r:id="rId14"/>
    <p:sldId id="321" r:id="rId15"/>
    <p:sldId id="322" r:id="rId16"/>
    <p:sldId id="324" r:id="rId17"/>
    <p:sldId id="30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E7"/>
    <a:srgbClr val="FFFFFF"/>
    <a:srgbClr val="E9EDB5"/>
    <a:srgbClr val="0000FF"/>
    <a:srgbClr val="008000"/>
    <a:srgbClr val="6F008A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0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126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057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482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520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970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835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02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714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731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233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528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660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307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904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84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7: More classes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definition of Object Oriented Programming and its 4 major components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Defining classes and objects in a code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The role of access specifiers was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Structures were discussed and compared to classes. </a:t>
            </a:r>
          </a:p>
          <a:p>
            <a:pPr marL="0" indent="0">
              <a:lnSpc>
                <a:spcPct val="170000"/>
              </a:lnSpc>
              <a:buNone/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1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Constructors and Destructors of classes   2. Classes and dynamic memory.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1. Constructors and Destructors are one of the core concepts in classes.</a:t>
            </a:r>
          </a:p>
          <a:p>
            <a:pPr marL="449263" indent="-449263">
              <a:lnSpc>
                <a:spcPct val="120000"/>
              </a:lnSpc>
              <a:buNone/>
            </a:pPr>
            <a:r>
              <a:rPr lang="en-GB" sz="2400" dirty="0"/>
              <a:t>  2. Using dynamic memory in classes allow efficient code implementation in terms         of memory.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  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5 source codes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387900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Encapsulation requires member data in a class to be private.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Consider the following class: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QUESTION: This class has a major flaw; can you see what it is?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Classes revisited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619272" y="2602010"/>
            <a:ext cx="11456523" cy="28016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/>
          <p:cNvSpPr/>
          <p:nvPr/>
        </p:nvSpPr>
        <p:spPr>
          <a:xfrm>
            <a:off x="619272" y="2502423"/>
            <a:ext cx="12149668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b="1" dirty="0">
                <a:latin typeface="Courier New"/>
                <a:cs typeface="Courier New"/>
              </a:rPr>
              <a:t> Box{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b="1" dirty="0">
                <a:latin typeface="Courier New"/>
                <a:cs typeface="Courier New"/>
              </a:rPr>
              <a:t> length, width, height;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Member data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public: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boxVolume</a:t>
            </a:r>
            <a:r>
              <a:rPr lang="en-US" b="1" dirty="0">
                <a:latin typeface="Courier New"/>
                <a:cs typeface="Courier New"/>
              </a:rPr>
              <a:t> () {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height*width*length;}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Courier New"/>
                <a:cs typeface="Courier New"/>
              </a:rPr>
              <a:t>     </a:t>
            </a:r>
            <a:r>
              <a:rPr lang="en-GB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GB" b="1" dirty="0">
                <a:latin typeface="Courier New"/>
                <a:cs typeface="Courier New"/>
              </a:rPr>
              <a:t> </a:t>
            </a:r>
            <a:r>
              <a:rPr lang="en-GB" b="1" dirty="0" err="1">
                <a:latin typeface="Courier New"/>
                <a:cs typeface="Courier New"/>
              </a:rPr>
              <a:t>boxSurfaceArea</a:t>
            </a:r>
            <a:r>
              <a:rPr lang="en-GB" b="1" dirty="0">
                <a:latin typeface="Courier New"/>
                <a:cs typeface="Courier New"/>
              </a:rPr>
              <a:t> () {</a:t>
            </a:r>
            <a:r>
              <a:rPr lang="en-GB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GB" b="1" dirty="0">
                <a:latin typeface="Courier New"/>
                <a:cs typeface="Courier New"/>
              </a:rPr>
              <a:t> 2*(height*</a:t>
            </a:r>
            <a:r>
              <a:rPr lang="en-GB" b="1" dirty="0" err="1">
                <a:latin typeface="Courier New"/>
                <a:cs typeface="Courier New"/>
              </a:rPr>
              <a:t>width+height</a:t>
            </a:r>
            <a:r>
              <a:rPr lang="en-GB" b="1" dirty="0">
                <a:latin typeface="Courier New"/>
                <a:cs typeface="Courier New"/>
              </a:rPr>
              <a:t>*</a:t>
            </a:r>
            <a:r>
              <a:rPr lang="en-GB" b="1" dirty="0" err="1">
                <a:latin typeface="Courier New"/>
                <a:cs typeface="Courier New"/>
              </a:rPr>
              <a:t>length+length</a:t>
            </a:r>
            <a:r>
              <a:rPr lang="en-GB" b="1" dirty="0">
                <a:latin typeface="Courier New"/>
                <a:cs typeface="Courier New"/>
              </a:rPr>
              <a:t>*width);}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Courier New"/>
                <a:cs typeface="Courier New"/>
              </a:rPr>
              <a:t>     }</a:t>
            </a:r>
            <a:endParaRPr lang="en-US" sz="20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2150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3606"/>
          </a:xfrm>
        </p:spPr>
        <p:txBody>
          <a:bodyPr>
            <a:noAutofit/>
          </a:bodyPr>
          <a:lstStyle/>
          <a:p>
            <a:r>
              <a:rPr lang="en-GB" sz="2400" dirty="0"/>
              <a:t>Definitions under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GB" sz="2400" dirty="0"/>
              <a:t> can only be accessed from within the class itself (i.e. only member functions or variable see them).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They have to be initialised!! But we can’t do that from outside the class because they are private.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This problem is solved by defining a member function known as the constructor.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constructor is member function that is automatically called when an object is created to initialise data members of the object.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It has the same name as the class and has no return type! 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 </a:t>
            </a:r>
            <a:r>
              <a:rPr lang="en-GB" sz="2400" dirty="0">
                <a:solidFill>
                  <a:srgbClr val="00B050"/>
                </a:solidFill>
              </a:rPr>
              <a:t>L7D1.cpp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 constructor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02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19"/>
            <a:ext cx="10515600" cy="4693708"/>
          </a:xfrm>
        </p:spPr>
        <p:txBody>
          <a:bodyPr>
            <a:noAutofit/>
          </a:bodyPr>
          <a:lstStyle/>
          <a:p>
            <a:r>
              <a:rPr lang="en-GB" sz="2400" dirty="0"/>
              <a:t>Private data members can be set by constructors using initialisation lists: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Just like any other function, class constructors can be overloaded.</a:t>
            </a:r>
          </a:p>
          <a:p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L7D2.cpp</a:t>
            </a:r>
          </a:p>
          <a:p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Initialisation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90558" y="1957723"/>
            <a:ext cx="9699921" cy="3314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083201" y="1928870"/>
            <a:ext cx="102153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b="1" dirty="0">
                <a:latin typeface="Courier New"/>
                <a:cs typeface="Courier New"/>
              </a:rPr>
              <a:t> Ratio{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  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, den;  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public: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      //Ratio(</a:t>
            </a:r>
            <a:r>
              <a:rPr lang="en-US" b="1" dirty="0" err="1">
                <a:solidFill>
                  <a:srgbClr val="008000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solidFill>
                  <a:srgbClr val="008000"/>
                </a:solidFill>
                <a:latin typeface="Courier New"/>
                <a:cs typeface="Courier New"/>
              </a:rPr>
              <a:t>n,int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d) {</a:t>
            </a:r>
            <a:r>
              <a:rPr lang="en-US" b="1" dirty="0" err="1">
                <a:solidFill>
                  <a:srgbClr val="008000"/>
                </a:solidFill>
                <a:latin typeface="Courier New"/>
                <a:cs typeface="Courier New"/>
              </a:rPr>
              <a:t>num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= n; den = d;};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 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//or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  Ratio(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d):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(n),den(d){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//anything else here</a:t>
            </a:r>
            <a:r>
              <a:rPr lang="en-US" b="1" dirty="0">
                <a:latin typeface="Courier New"/>
                <a:cs typeface="Courier New"/>
              </a:rPr>
              <a:t>};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2085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515600" cy="4693708"/>
          </a:xfrm>
        </p:spPr>
        <p:txBody>
          <a:bodyPr>
            <a:noAutofit/>
          </a:bodyPr>
          <a:lstStyle/>
          <a:p>
            <a:r>
              <a:rPr lang="en-GB" sz="2400" dirty="0"/>
              <a:t>Occasionally one might need copying an object, i.e.: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When an object is copied, the copy constructor is called.  </a:t>
            </a:r>
          </a:p>
          <a:p>
            <a:r>
              <a:rPr lang="en-GB" sz="2400" dirty="0"/>
              <a:t>Copy constructor is similar to the constructor, it only differs in its parameter.</a:t>
            </a: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Copy constructors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33020" y="1943985"/>
            <a:ext cx="9699921" cy="8362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988340" y="1860314"/>
            <a:ext cx="1021532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b="1" dirty="0">
                <a:latin typeface="Courier New"/>
                <a:cs typeface="Courier New"/>
              </a:rPr>
              <a:t> a(3,4);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normal constructor is called here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b="1" dirty="0">
                <a:latin typeface="Courier New"/>
                <a:cs typeface="Courier New"/>
              </a:rPr>
              <a:t> b = a;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b is a copy of a (copy constructor is called here)</a:t>
            </a:r>
          </a:p>
          <a:p>
            <a:pPr>
              <a:lnSpc>
                <a:spcPct val="150000"/>
              </a:lnSpc>
            </a:pP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33019" y="3825345"/>
            <a:ext cx="10209113" cy="28961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88340" y="3756502"/>
            <a:ext cx="1021532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b="1" dirty="0">
                <a:latin typeface="Courier New"/>
                <a:cs typeface="Courier New"/>
              </a:rPr>
              <a:t> Ratio{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, den;  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public: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Ratio(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d) {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 = n; den = d;};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Ratio(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const</a:t>
            </a:r>
            <a:r>
              <a:rPr lang="en-US" b="1" dirty="0">
                <a:latin typeface="Courier New"/>
                <a:cs typeface="Courier New"/>
              </a:rPr>
              <a:t> Ratio&amp; r) {num = </a:t>
            </a:r>
            <a:r>
              <a:rPr lang="en-US" b="1" dirty="0" err="1">
                <a:latin typeface="Courier New"/>
                <a:cs typeface="Courier New"/>
              </a:rPr>
              <a:t>r.num</a:t>
            </a:r>
            <a:r>
              <a:rPr lang="en-US" b="1" dirty="0">
                <a:latin typeface="Courier New"/>
                <a:cs typeface="Courier New"/>
              </a:rPr>
              <a:t>; den = </a:t>
            </a:r>
            <a:r>
              <a:rPr lang="en-US" b="1" dirty="0" err="1">
                <a:latin typeface="Courier New"/>
                <a:cs typeface="Courier New"/>
              </a:rPr>
              <a:t>r.den</a:t>
            </a:r>
            <a:r>
              <a:rPr lang="en-US" b="1" dirty="0">
                <a:latin typeface="Courier New"/>
                <a:cs typeface="Courier New"/>
              </a:rPr>
              <a:t>;};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//Copy constructor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4086808" y="6172199"/>
            <a:ext cx="535989" cy="253298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4561269" y="6265777"/>
            <a:ext cx="6731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Must be a reference to prevent infinite chain of calls </a:t>
            </a:r>
          </a:p>
        </p:txBody>
      </p:sp>
    </p:spTree>
    <p:extLst>
      <p:ext uri="{BB962C8B-B14F-4D97-AF65-F5344CB8AC3E}">
        <p14:creationId xmlns:p14="http://schemas.microsoft.com/office/powerpoint/2010/main" val="408808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515600" cy="51445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If no constructor in a class is defined, the compiler generates a default constructor which does nothing!!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The compiler uses implicit casting  when calling single-argument constructors:</a:t>
            </a: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Default constructor and explicit constructor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88340" y="2287981"/>
            <a:ext cx="10270641" cy="5061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043661" y="2252133"/>
            <a:ext cx="1036546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Ratio (){};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Default constructor (called when no constructor is defined)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88339" y="3321409"/>
            <a:ext cx="9578061" cy="340006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661" y="3265495"/>
            <a:ext cx="80664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b="1" dirty="0">
                <a:latin typeface="Courier New"/>
                <a:cs typeface="Courier New"/>
              </a:rPr>
              <a:t> Ratio{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, den;  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public: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Ratio(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d) {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 = n; den = d;};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Ratio(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n) {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 = n; den = 1;};               }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b="1" dirty="0">
                <a:latin typeface="Courier New"/>
                <a:cs typeface="Courier New"/>
              </a:rPr>
              <a:t> a(2);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This is OK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b="1" dirty="0">
                <a:latin typeface="Courier New"/>
                <a:cs typeface="Courier New"/>
              </a:rPr>
              <a:t> b = 2;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This is also OK (despite the use of “=“)</a:t>
            </a:r>
          </a:p>
        </p:txBody>
      </p:sp>
    </p:spTree>
    <p:extLst>
      <p:ext uri="{BB962C8B-B14F-4D97-AF65-F5344CB8AC3E}">
        <p14:creationId xmlns:p14="http://schemas.microsoft.com/office/powerpoint/2010/main" val="3435314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515600" cy="51445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To prevent the compiler from making implicit casting, the keyword “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explicit</a:t>
            </a:r>
            <a:r>
              <a:rPr lang="en-GB" sz="2400" dirty="0"/>
              <a:t>” is used in the constructor’s definition. 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Explicit constructor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69145" y="2323485"/>
            <a:ext cx="9578061" cy="40328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69144" y="2225058"/>
            <a:ext cx="9038455" cy="4212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b="1" dirty="0">
                <a:latin typeface="Courier New"/>
                <a:cs typeface="Courier New"/>
              </a:rPr>
              <a:t> Ratio{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, den;  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public: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Ratio(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d) {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 = n; den = d;};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explicit </a:t>
            </a:r>
            <a:r>
              <a:rPr lang="en-US" b="1" dirty="0">
                <a:latin typeface="Courier New"/>
                <a:cs typeface="Courier New"/>
              </a:rPr>
              <a:t>Ratio(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n) {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 = n; den = 1;};               }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main () {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b="1" dirty="0">
                <a:latin typeface="Courier New"/>
                <a:cs typeface="Courier New"/>
              </a:rPr>
              <a:t> a(2);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This is OK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b="1" dirty="0">
                <a:latin typeface="Courier New"/>
                <a:cs typeface="Courier New"/>
              </a:rPr>
              <a:t> b = 2;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Error: Not OK but b = Ratio(2) is OK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497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destructor is member function that is automatically called when an object is deleted or is out of scope.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destructor is primarily used to free dynamic memory after an object is deleted.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It has the same name as the class’s name preceded by ~.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default destructor does nothing.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 </a:t>
            </a:r>
            <a:r>
              <a:rPr lang="en-GB" sz="2400" dirty="0">
                <a:solidFill>
                  <a:srgbClr val="00B050"/>
                </a:solidFill>
              </a:rPr>
              <a:t>L7D3.cpp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 destructor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32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6"/>
            <a:ext cx="10515600" cy="4323606"/>
          </a:xfrm>
        </p:spPr>
        <p:txBody>
          <a:bodyPr>
            <a:noAutofit/>
          </a:bodyPr>
          <a:lstStyle/>
          <a:p>
            <a:r>
              <a:rPr lang="en-GB" sz="2400" dirty="0"/>
              <a:t>A static data member belongs to </a:t>
            </a:r>
            <a:r>
              <a:rPr lang="en-GB" sz="2400" u="sng" dirty="0"/>
              <a:t>the class </a:t>
            </a:r>
            <a:r>
              <a:rPr lang="en-GB" sz="2400" dirty="0"/>
              <a:t>rather than </a:t>
            </a:r>
            <a:r>
              <a:rPr lang="en-GB" sz="2400" u="sng" dirty="0"/>
              <a:t>the object</a:t>
            </a:r>
            <a:r>
              <a:rPr lang="en-GB" sz="2400" dirty="0"/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 data member is made static by preceding its definition with keyword “static”.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Static data members must be initialised as global variables outside the class.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Static class members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654039" y="3040684"/>
            <a:ext cx="9982331" cy="369021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838200" y="2933705"/>
            <a:ext cx="9038455" cy="379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b="1" dirty="0">
                <a:latin typeface="Courier New"/>
                <a:cs typeface="Courier New"/>
              </a:rPr>
              <a:t> Ratio{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num, den;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static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counter; 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public: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  Ratio(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d): num(n),den(d){counter++;};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} </a:t>
            </a:r>
            <a:endParaRPr lang="en-US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Ratio::counter=0;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</a:t>
            </a:r>
            <a:r>
              <a:rPr lang="en-US" b="1" dirty="0" err="1">
                <a:solidFill>
                  <a:srgbClr val="008000"/>
                </a:solidFill>
                <a:latin typeface="Courier New"/>
                <a:cs typeface="Courier New"/>
              </a:rPr>
              <a:t>Initialise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 the static variable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main () {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Do something;</a:t>
            </a: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6118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03" y="1483567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In some codes, a function might be needed to work with multiple classes.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Friend functions are needed to allow functions that </a:t>
            </a:r>
            <a:r>
              <a:rPr lang="en-GB" sz="2400" u="sng" dirty="0"/>
              <a:t>work with multiple classes at the same time</a:t>
            </a:r>
            <a:r>
              <a:rPr lang="en-GB" sz="2400" dirty="0"/>
              <a:t>. It is possible to create a stand-alone function with access to private members, by being defined as a “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friend</a:t>
            </a:r>
            <a:r>
              <a:rPr lang="en-GB" sz="2400" dirty="0"/>
              <a:t>” function. 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Only the function’s declaration/prototype is defined in the class preceded by the keyword “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friend</a:t>
            </a:r>
            <a:r>
              <a:rPr lang="en-GB" sz="2400" dirty="0"/>
              <a:t>”.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L7D4.cpp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Friend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821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03" y="1483567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Just like any other datatype, it is possible to define arrays of objects.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Example:</a:t>
            </a: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Dynamic arrays of objects can be defined as well.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Arrays of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01411" y="2570120"/>
            <a:ext cx="10442592" cy="25860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01411" y="2552010"/>
            <a:ext cx="9038455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sz="2000" b="1" dirty="0">
                <a:latin typeface="Courier New"/>
                <a:cs typeface="Courier New"/>
              </a:rPr>
              <a:t> r1(5,6), r2(3,4);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sz="2000" b="1" dirty="0">
                <a:latin typeface="Courier New"/>
                <a:cs typeface="Courier New"/>
              </a:rPr>
              <a:t> r3(8,9);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sz="2000" b="1" dirty="0">
                <a:latin typeface="Courier New"/>
                <a:cs typeface="Courier New"/>
              </a:rPr>
              <a:t> Sequence[]{r1,r2,r3};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Courier New"/>
                <a:cs typeface="Courier New"/>
              </a:rPr>
              <a:t>std</a:t>
            </a:r>
            <a:r>
              <a:rPr lang="en-US" sz="2000" b="1" dirty="0">
                <a:latin typeface="Courier New"/>
                <a:cs typeface="Courier New"/>
              </a:rPr>
              <a:t>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 &lt;&lt; Sequence[0].Fraction() &lt;&lt; </a:t>
            </a:r>
            <a:r>
              <a:rPr lang="en-US" sz="2000" b="1" dirty="0" err="1">
                <a:latin typeface="Courier New"/>
                <a:cs typeface="Courier New"/>
              </a:rPr>
              <a:t>endl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Courier New"/>
                <a:cs typeface="Courier New"/>
              </a:rPr>
              <a:t>std</a:t>
            </a:r>
            <a:r>
              <a:rPr lang="en-US" sz="2000" b="1" dirty="0">
                <a:latin typeface="Courier New"/>
                <a:cs typeface="Courier New"/>
              </a:rPr>
              <a:t>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 &lt;&lt; Sequence[1].</a:t>
            </a:r>
            <a:r>
              <a:rPr lang="en-US" sz="2000" b="1" dirty="0" err="1">
                <a:latin typeface="Courier New"/>
                <a:cs typeface="Courier New"/>
              </a:rPr>
              <a:t>num</a:t>
            </a:r>
            <a:r>
              <a:rPr lang="en-US" sz="2000" b="1" dirty="0">
                <a:latin typeface="Courier New"/>
                <a:cs typeface="Courier New"/>
              </a:rPr>
              <a:t> &lt;&lt; </a:t>
            </a:r>
            <a:r>
              <a:rPr lang="en-US" sz="2000" b="1" dirty="0" err="1">
                <a:latin typeface="Courier New"/>
                <a:cs typeface="Courier New"/>
              </a:rPr>
              <a:t>endl</a:t>
            </a:r>
            <a:r>
              <a:rPr lang="en-US" sz="2000" b="1" dirty="0">
                <a:latin typeface="Courier New"/>
                <a:cs typeface="Courier New"/>
              </a:rPr>
              <a:t>;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Error but why?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Courier New"/>
              <a:cs typeface="Courier New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ourier New"/>
                <a:cs typeface="Courier New"/>
              </a:rPr>
              <a:t> </a:t>
            </a:r>
            <a:endParaRPr lang="en-US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0395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03" y="1483567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Just like other datatypes, objects can be defined on dynamic memory.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It is possible to define pointers to objects, and to call objects by reference.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Using a pointer to an object, it is possible to access member data and member functions using the arrow operator “-&gt;”.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Objects and dynamic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38200" y="2550024"/>
            <a:ext cx="9948333" cy="18636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43745" y="2467792"/>
            <a:ext cx="90384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sz="2000" b="1" dirty="0">
                <a:latin typeface="Courier New"/>
                <a:cs typeface="Courier New"/>
              </a:rPr>
              <a:t> r1(5,6), r2(3,4);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sz="2000" b="1" dirty="0">
                <a:latin typeface="Courier New"/>
                <a:cs typeface="Courier New"/>
              </a:rPr>
              <a:t> *pr1{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nullptr</a:t>
            </a:r>
            <a:r>
              <a:rPr lang="en-US" sz="2000" b="1" dirty="0">
                <a:latin typeface="Courier New"/>
                <a:cs typeface="Courier New"/>
              </a:rPr>
              <a:t>};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ourier New"/>
                <a:cs typeface="Courier New"/>
              </a:rPr>
              <a:t>pr1=&amp;r1;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Pointer to r1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sz="2000" b="1" dirty="0">
                <a:latin typeface="Courier New"/>
                <a:cs typeface="Courier New"/>
              </a:rPr>
              <a:t> &amp;rr2(r2);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// rr2 is a reference to r2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46665" y="5266119"/>
            <a:ext cx="10532908" cy="140038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943745" y="5191468"/>
            <a:ext cx="10532908" cy="143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sz="2000" b="1" dirty="0">
                <a:latin typeface="Courier New"/>
                <a:cs typeface="Courier New"/>
              </a:rPr>
              <a:t> r1(5,6), *pr1{&amp;r1};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ourier New"/>
                <a:cs typeface="Courier New"/>
              </a:rPr>
              <a:t>pr1-&gt;Fraction();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Calls the member function using a pointer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ourier New"/>
                <a:cs typeface="Courier New"/>
              </a:rPr>
              <a:t>r1.Fraction();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Calls the member function using the </a:t>
            </a:r>
            <a:r>
              <a:rPr lang="en-US" sz="2000" b="1" dirty="0" err="1">
                <a:solidFill>
                  <a:srgbClr val="008000"/>
                </a:solidFill>
                <a:latin typeface="Courier New"/>
                <a:cs typeface="Courier New"/>
              </a:rPr>
              <a:t>obj’s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name</a:t>
            </a:r>
          </a:p>
        </p:txBody>
      </p:sp>
    </p:spTree>
    <p:extLst>
      <p:ext uri="{BB962C8B-B14F-4D97-AF65-F5344CB8AC3E}">
        <p14:creationId xmlns:p14="http://schemas.microsoft.com/office/powerpoint/2010/main" val="2020714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02" y="1483567"/>
            <a:ext cx="11211197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Objects can be memory-efficient in three ways: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400" dirty="0"/>
              <a:t>By defining objects on the heap using “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dirty="0"/>
              <a:t>” and “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2400" dirty="0"/>
              <a:t>”.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400" dirty="0"/>
              <a:t>By using pointers/reference to pass parameters to initialize objects.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400" dirty="0"/>
              <a:t>By using pointers/reference to pass parameters between member data and member functions.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L7D5a.cpp </a:t>
            </a:r>
            <a:r>
              <a:rPr lang="en-GB" sz="2400" dirty="0"/>
              <a:t>and</a:t>
            </a:r>
            <a:r>
              <a:rPr lang="en-GB" sz="2400" dirty="0">
                <a:solidFill>
                  <a:srgbClr val="00B050"/>
                </a:solidFill>
              </a:rPr>
              <a:t> L7D5b.cpp 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Objects and memory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6694787" y="4244647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6694784" y="4704595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6694784" y="5158644"/>
            <a:ext cx="1621769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6336123" y="3755511"/>
            <a:ext cx="213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The Heap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34042" y="4284596"/>
            <a:ext cx="1582511" cy="1332099"/>
            <a:chOff x="3077619" y="5486401"/>
            <a:chExt cx="1677696" cy="1371600"/>
          </a:xfrm>
          <a:solidFill>
            <a:srgbClr val="FFFF00"/>
          </a:solidFill>
        </p:grpSpPr>
        <p:sp>
          <p:nvSpPr>
            <p:cNvPr id="16" name="Rounded Rectangle 15"/>
            <p:cNvSpPr/>
            <p:nvPr/>
          </p:nvSpPr>
          <p:spPr>
            <a:xfrm>
              <a:off x="3077619" y="5486401"/>
              <a:ext cx="1677696" cy="1371600"/>
            </a:xfrm>
            <a:prstGeom prst="round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3077619" y="5832692"/>
              <a:ext cx="1677696" cy="7832"/>
            </a:xfrm>
            <a:prstGeom prst="line">
              <a:avLst/>
            </a:prstGeom>
            <a:grp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077619" y="6507067"/>
              <a:ext cx="1677696" cy="7832"/>
            </a:xfrm>
            <a:prstGeom prst="line">
              <a:avLst/>
            </a:prstGeom>
            <a:grp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7128465" y="4261760"/>
            <a:ext cx="915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8648" y="4583465"/>
            <a:ext cx="810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num</a:t>
            </a:r>
            <a:endParaRPr lang="en-US" sz="2000" dirty="0"/>
          </a:p>
          <a:p>
            <a:pPr algn="ctr"/>
            <a:r>
              <a:rPr lang="en-US" sz="2000" dirty="0"/>
              <a:t>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1510" y="5245183"/>
            <a:ext cx="1318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Fraction()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7963683" y="3763828"/>
            <a:ext cx="705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(#1)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5774037" y="4749181"/>
            <a:ext cx="705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(#2)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3387210" y="5445238"/>
            <a:ext cx="2905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Ratio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r1(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5624184" y="5001174"/>
            <a:ext cx="1346996" cy="426798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rved Left Arrow 28"/>
          <p:cNvSpPr/>
          <p:nvPr/>
        </p:nvSpPr>
        <p:spPr>
          <a:xfrm>
            <a:off x="8466664" y="4884055"/>
            <a:ext cx="524934" cy="7337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048693" y="4900043"/>
            <a:ext cx="705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(#3)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277289" y="5616695"/>
            <a:ext cx="3991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Fraction () {*pa/*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pb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79404" y="6152357"/>
            <a:ext cx="9135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 </a:t>
            </a:r>
            <a:r>
              <a:rPr lang="en-GB" sz="2400" dirty="0"/>
              <a:t>Maximise the use of dynamic memory in your code.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042" y="6168672"/>
            <a:ext cx="9320715" cy="454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4887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codes L7D5a and L7D5b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16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E3415E4-8855-4439-BAFC-F2655E62EA07}"/>
              </a:ext>
            </a:extLst>
          </p:cNvPr>
          <p:cNvSpPr/>
          <p:nvPr/>
        </p:nvSpPr>
        <p:spPr>
          <a:xfrm>
            <a:off x="717043" y="2942606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C81900-7A1C-4019-9ED2-11A851AE29BF}"/>
              </a:ext>
            </a:extLst>
          </p:cNvPr>
          <p:cNvSpPr/>
          <p:nvPr/>
        </p:nvSpPr>
        <p:spPr>
          <a:xfrm>
            <a:off x="915111" y="2933979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2 </a:t>
            </a:r>
            <a:endParaRPr lang="en-GB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1243AF-B5E7-4487-A60F-9CABDB408BE9}"/>
              </a:ext>
            </a:extLst>
          </p:cNvPr>
          <p:cNvSpPr txBox="1"/>
          <p:nvPr/>
        </p:nvSpPr>
        <p:spPr>
          <a:xfrm>
            <a:off x="1609284" y="3373203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7364B-D089-44A0-B26A-59580A287170}"/>
              </a:ext>
            </a:extLst>
          </p:cNvPr>
          <p:cNvSpPr txBox="1"/>
          <p:nvPr/>
        </p:nvSpPr>
        <p:spPr>
          <a:xfrm>
            <a:off x="1589569" y="2864477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0x0001496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E74ACE-9A4D-426C-832D-2DD96BE1345F}"/>
              </a:ext>
            </a:extLst>
          </p:cNvPr>
          <p:cNvSpPr txBox="1"/>
          <p:nvPr/>
        </p:nvSpPr>
        <p:spPr>
          <a:xfrm>
            <a:off x="1638049" y="3912074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E0DEE90-156E-499C-BD07-640387CE3B0B}"/>
              </a:ext>
            </a:extLst>
          </p:cNvPr>
          <p:cNvSpPr/>
          <p:nvPr/>
        </p:nvSpPr>
        <p:spPr>
          <a:xfrm>
            <a:off x="293905" y="2865555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x</a:t>
            </a:r>
            <a:endParaRPr lang="en-GB" sz="2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B52482-E17C-4CBA-8956-68AF0D756628}"/>
              </a:ext>
            </a:extLst>
          </p:cNvPr>
          <p:cNvSpPr/>
          <p:nvPr/>
        </p:nvSpPr>
        <p:spPr>
          <a:xfrm>
            <a:off x="274190" y="3386344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y</a:t>
            </a:r>
            <a:endParaRPr lang="en-GB" sz="2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9446CFC-2943-4217-A641-D9E3445E1300}"/>
              </a:ext>
            </a:extLst>
          </p:cNvPr>
          <p:cNvSpPr/>
          <p:nvPr/>
        </p:nvSpPr>
        <p:spPr>
          <a:xfrm>
            <a:off x="274189" y="3925834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z</a:t>
            </a:r>
            <a:endParaRPr lang="en-GB" sz="2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98D0645-568F-4BEE-BC42-DA1292E3B1F2}"/>
              </a:ext>
            </a:extLst>
          </p:cNvPr>
          <p:cNvSpPr/>
          <p:nvPr/>
        </p:nvSpPr>
        <p:spPr>
          <a:xfrm>
            <a:off x="714175" y="3396930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373AD4F-D7F7-409B-AE32-D7DC9CE325BA}"/>
              </a:ext>
            </a:extLst>
          </p:cNvPr>
          <p:cNvSpPr/>
          <p:nvPr/>
        </p:nvSpPr>
        <p:spPr>
          <a:xfrm>
            <a:off x="920869" y="3396929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3 </a:t>
            </a:r>
            <a:endParaRPr lang="en-GB" sz="2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90629A-CE6C-4513-ABC3-17FD39862942}"/>
              </a:ext>
            </a:extLst>
          </p:cNvPr>
          <p:cNvSpPr/>
          <p:nvPr/>
        </p:nvSpPr>
        <p:spPr>
          <a:xfrm>
            <a:off x="722799" y="3854127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694C3D-F667-4CEA-8AD9-56B0ABD35D36}"/>
              </a:ext>
            </a:extLst>
          </p:cNvPr>
          <p:cNvSpPr/>
          <p:nvPr/>
        </p:nvSpPr>
        <p:spPr>
          <a:xfrm>
            <a:off x="929493" y="3854126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4 </a:t>
            </a:r>
            <a:endParaRPr lang="en-GB" sz="2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0769AA9-B50B-4D5E-A116-2B9E4C2FFEE0}"/>
              </a:ext>
            </a:extLst>
          </p:cNvPr>
          <p:cNvSpPr/>
          <p:nvPr/>
        </p:nvSpPr>
        <p:spPr>
          <a:xfrm>
            <a:off x="3862802" y="2913850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F2D0ECE-0CBA-49F2-A7DA-E37920D9B2DD}"/>
              </a:ext>
            </a:extLst>
          </p:cNvPr>
          <p:cNvSpPr/>
          <p:nvPr/>
        </p:nvSpPr>
        <p:spPr>
          <a:xfrm>
            <a:off x="4060870" y="2905223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2 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939281-6269-4F80-B6CC-B0C4C2929A6C}"/>
              </a:ext>
            </a:extLst>
          </p:cNvPr>
          <p:cNvSpPr txBox="1"/>
          <p:nvPr/>
        </p:nvSpPr>
        <p:spPr>
          <a:xfrm>
            <a:off x="4755043" y="3344447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0x0001608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833EC2-90B5-43E0-9DEB-CC440B42FD35}"/>
              </a:ext>
            </a:extLst>
          </p:cNvPr>
          <p:cNvSpPr txBox="1"/>
          <p:nvPr/>
        </p:nvSpPr>
        <p:spPr>
          <a:xfrm>
            <a:off x="4735328" y="2835721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0x0001604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9331EB-DC6B-41BD-95D3-36F7B7EC2441}"/>
              </a:ext>
            </a:extLst>
          </p:cNvPr>
          <p:cNvSpPr txBox="1"/>
          <p:nvPr/>
        </p:nvSpPr>
        <p:spPr>
          <a:xfrm>
            <a:off x="4783808" y="3883318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0x0001612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F768CE-CC8A-42B3-A9DB-84A089E45A14}"/>
              </a:ext>
            </a:extLst>
          </p:cNvPr>
          <p:cNvSpPr/>
          <p:nvPr/>
        </p:nvSpPr>
        <p:spPr>
          <a:xfrm>
            <a:off x="3439664" y="2836799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L</a:t>
            </a:r>
            <a:endParaRPr lang="en-GB" sz="24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D39F65-CF65-428F-AFB7-0E130FDA32C2}"/>
              </a:ext>
            </a:extLst>
          </p:cNvPr>
          <p:cNvSpPr/>
          <p:nvPr/>
        </p:nvSpPr>
        <p:spPr>
          <a:xfrm>
            <a:off x="3419949" y="3357588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W</a:t>
            </a:r>
            <a:endParaRPr lang="en-GB" sz="24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80FE54D-36CD-41AD-877F-3A40F79C567C}"/>
              </a:ext>
            </a:extLst>
          </p:cNvPr>
          <p:cNvSpPr/>
          <p:nvPr/>
        </p:nvSpPr>
        <p:spPr>
          <a:xfrm>
            <a:off x="3419948" y="3897078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H</a:t>
            </a:r>
            <a:endParaRPr lang="en-GB" sz="2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CE9972-8721-4C73-8841-1960D77048FB}"/>
              </a:ext>
            </a:extLst>
          </p:cNvPr>
          <p:cNvSpPr/>
          <p:nvPr/>
        </p:nvSpPr>
        <p:spPr>
          <a:xfrm>
            <a:off x="3859934" y="3368174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FB0F637-2E28-4D12-A4F1-8B0FA6471A76}"/>
              </a:ext>
            </a:extLst>
          </p:cNvPr>
          <p:cNvSpPr/>
          <p:nvPr/>
        </p:nvSpPr>
        <p:spPr>
          <a:xfrm>
            <a:off x="4066628" y="3368173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3 </a:t>
            </a:r>
            <a:endParaRPr lang="en-GB" sz="24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C531C8-07B3-4503-9FF8-E480365B7146}"/>
              </a:ext>
            </a:extLst>
          </p:cNvPr>
          <p:cNvSpPr/>
          <p:nvPr/>
        </p:nvSpPr>
        <p:spPr>
          <a:xfrm>
            <a:off x="3868558" y="3825371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1C963D2-B68C-4D62-AAC8-9BE8EA23B352}"/>
              </a:ext>
            </a:extLst>
          </p:cNvPr>
          <p:cNvSpPr/>
          <p:nvPr/>
        </p:nvSpPr>
        <p:spPr>
          <a:xfrm>
            <a:off x="4075252" y="3825370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4 </a:t>
            </a:r>
            <a:endParaRPr lang="en-GB" sz="24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3E7C3A3-DCBB-409C-9A38-798530CDFEBF}"/>
              </a:ext>
            </a:extLst>
          </p:cNvPr>
          <p:cNvSpPr/>
          <p:nvPr/>
        </p:nvSpPr>
        <p:spPr>
          <a:xfrm>
            <a:off x="2272668" y="5334983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AF8F1C-2761-4E47-B6B5-2E58538FDCE0}"/>
              </a:ext>
            </a:extLst>
          </p:cNvPr>
          <p:cNvSpPr/>
          <p:nvPr/>
        </p:nvSpPr>
        <p:spPr>
          <a:xfrm>
            <a:off x="2470736" y="5326356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2 </a:t>
            </a:r>
            <a:endParaRPr lang="en-GB" sz="2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AED74E-DE68-41A3-A488-A40E71DB4065}"/>
              </a:ext>
            </a:extLst>
          </p:cNvPr>
          <p:cNvSpPr txBox="1"/>
          <p:nvPr/>
        </p:nvSpPr>
        <p:spPr>
          <a:xfrm>
            <a:off x="3164909" y="5765580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0x0001804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F6559E-4C30-4C3E-A54D-81AA79323D8B}"/>
              </a:ext>
            </a:extLst>
          </p:cNvPr>
          <p:cNvSpPr txBox="1"/>
          <p:nvPr/>
        </p:nvSpPr>
        <p:spPr>
          <a:xfrm>
            <a:off x="3145194" y="5334490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0x0001800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9FD116-5976-470E-B28C-ABF6125EBECC}"/>
              </a:ext>
            </a:extLst>
          </p:cNvPr>
          <p:cNvSpPr txBox="1"/>
          <p:nvPr/>
        </p:nvSpPr>
        <p:spPr>
          <a:xfrm>
            <a:off x="3193674" y="6304451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0x0001808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356591-EEEE-4DCC-AC9A-92F8AF989C27}"/>
              </a:ext>
            </a:extLst>
          </p:cNvPr>
          <p:cNvSpPr/>
          <p:nvPr/>
        </p:nvSpPr>
        <p:spPr>
          <a:xfrm>
            <a:off x="1620482" y="5336816"/>
            <a:ext cx="687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/>
                <a:cs typeface="Courier New"/>
              </a:rPr>
              <a:t>pL</a:t>
            </a:r>
            <a:endParaRPr lang="en-GB" sz="24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587080-D248-4C4E-8658-B5F49E2DD1BC}"/>
              </a:ext>
            </a:extLst>
          </p:cNvPr>
          <p:cNvSpPr/>
          <p:nvPr/>
        </p:nvSpPr>
        <p:spPr>
          <a:xfrm>
            <a:off x="2269800" y="5789307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F0B39B3-EAD7-4820-969B-97A28066A027}"/>
              </a:ext>
            </a:extLst>
          </p:cNvPr>
          <p:cNvSpPr/>
          <p:nvPr/>
        </p:nvSpPr>
        <p:spPr>
          <a:xfrm>
            <a:off x="2476494" y="5789306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3 </a:t>
            </a:r>
            <a:endParaRPr lang="en-GB" sz="24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2DE89DB-467F-410F-A9DF-2CF411C3E445}"/>
              </a:ext>
            </a:extLst>
          </p:cNvPr>
          <p:cNvSpPr/>
          <p:nvPr/>
        </p:nvSpPr>
        <p:spPr>
          <a:xfrm>
            <a:off x="2278424" y="6246504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4221A0-56E2-4468-9376-2D6E46B1F3C3}"/>
              </a:ext>
            </a:extLst>
          </p:cNvPr>
          <p:cNvSpPr/>
          <p:nvPr/>
        </p:nvSpPr>
        <p:spPr>
          <a:xfrm>
            <a:off x="2485118" y="6246503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4 </a:t>
            </a:r>
            <a:endParaRPr lang="en-GB" sz="24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F61EF48-207C-4F56-B324-042CDEC8B72B}"/>
              </a:ext>
            </a:extLst>
          </p:cNvPr>
          <p:cNvSpPr/>
          <p:nvPr/>
        </p:nvSpPr>
        <p:spPr>
          <a:xfrm>
            <a:off x="1583104" y="5799766"/>
            <a:ext cx="687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/>
                <a:cs typeface="Courier New"/>
              </a:rPr>
              <a:t>pW</a:t>
            </a:r>
            <a:endParaRPr lang="en-GB" sz="24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156916F-CB36-40F6-ADA6-FE305976D134}"/>
              </a:ext>
            </a:extLst>
          </p:cNvPr>
          <p:cNvSpPr/>
          <p:nvPr/>
        </p:nvSpPr>
        <p:spPr>
          <a:xfrm>
            <a:off x="1589569" y="6273845"/>
            <a:ext cx="687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pH</a:t>
            </a:r>
            <a:endParaRPr lang="en-GB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A3B094-645E-4B4B-B233-179E2038C7D4}"/>
              </a:ext>
            </a:extLst>
          </p:cNvPr>
          <p:cNvCxnSpPr/>
          <p:nvPr/>
        </p:nvCxnSpPr>
        <p:spPr>
          <a:xfrm>
            <a:off x="6495317" y="1718794"/>
            <a:ext cx="0" cy="48482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DB12730-442A-42FD-8BF6-7A486ABBA282}"/>
              </a:ext>
            </a:extLst>
          </p:cNvPr>
          <p:cNvSpPr txBox="1"/>
          <p:nvPr/>
        </p:nvSpPr>
        <p:spPr>
          <a:xfrm>
            <a:off x="472216" y="1529565"/>
            <a:ext cx="1835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L7D5a code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BD09BA0-B627-4A14-8917-13C95BBED9B1}"/>
              </a:ext>
            </a:extLst>
          </p:cNvPr>
          <p:cNvSpPr txBox="1"/>
          <p:nvPr/>
        </p:nvSpPr>
        <p:spPr>
          <a:xfrm>
            <a:off x="6610581" y="1529565"/>
            <a:ext cx="1835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L7D5b code 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BDB7901-983B-4FF3-A9D0-8542DE933D62}"/>
              </a:ext>
            </a:extLst>
          </p:cNvPr>
          <p:cNvSpPr/>
          <p:nvPr/>
        </p:nvSpPr>
        <p:spPr>
          <a:xfrm>
            <a:off x="7071823" y="2974242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E1DF8DA-5107-4D09-8820-848E542C138A}"/>
              </a:ext>
            </a:extLst>
          </p:cNvPr>
          <p:cNvSpPr/>
          <p:nvPr/>
        </p:nvSpPr>
        <p:spPr>
          <a:xfrm>
            <a:off x="7269891" y="2965615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2 </a:t>
            </a:r>
            <a:endParaRPr lang="en-GB" sz="2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FC5739-372D-4A18-9B0C-448841494012}"/>
              </a:ext>
            </a:extLst>
          </p:cNvPr>
          <p:cNvSpPr txBox="1"/>
          <p:nvPr/>
        </p:nvSpPr>
        <p:spPr>
          <a:xfrm>
            <a:off x="7964064" y="3404839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36D40B-FD58-402B-86D2-8B234C0BABEE}"/>
              </a:ext>
            </a:extLst>
          </p:cNvPr>
          <p:cNvSpPr txBox="1"/>
          <p:nvPr/>
        </p:nvSpPr>
        <p:spPr>
          <a:xfrm>
            <a:off x="7944349" y="2896113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0x0001496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031A1D3-B8BD-4014-99D1-58A968B4C482}"/>
              </a:ext>
            </a:extLst>
          </p:cNvPr>
          <p:cNvSpPr/>
          <p:nvPr/>
        </p:nvSpPr>
        <p:spPr>
          <a:xfrm>
            <a:off x="6648685" y="2897191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x</a:t>
            </a:r>
            <a:endParaRPr lang="en-GB" sz="24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5475E4-6811-4AA6-BFE3-B04B06A4BFED}"/>
              </a:ext>
            </a:extLst>
          </p:cNvPr>
          <p:cNvSpPr/>
          <p:nvPr/>
        </p:nvSpPr>
        <p:spPr>
          <a:xfrm>
            <a:off x="6628970" y="3417980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y</a:t>
            </a:r>
            <a:endParaRPr lang="en-GB" sz="24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6934D99-6C77-4195-8BC2-C0CE71DC312C}"/>
              </a:ext>
            </a:extLst>
          </p:cNvPr>
          <p:cNvSpPr/>
          <p:nvPr/>
        </p:nvSpPr>
        <p:spPr>
          <a:xfrm>
            <a:off x="6628969" y="3957470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z</a:t>
            </a:r>
            <a:endParaRPr lang="en-GB" sz="24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01B649F-9728-4806-80CD-3AC1FA18173C}"/>
              </a:ext>
            </a:extLst>
          </p:cNvPr>
          <p:cNvSpPr/>
          <p:nvPr/>
        </p:nvSpPr>
        <p:spPr>
          <a:xfrm>
            <a:off x="7068955" y="3428566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4CC52ED-25D9-4A68-A2B3-C7FB05BAC3B7}"/>
              </a:ext>
            </a:extLst>
          </p:cNvPr>
          <p:cNvSpPr/>
          <p:nvPr/>
        </p:nvSpPr>
        <p:spPr>
          <a:xfrm>
            <a:off x="7275649" y="3428565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3 </a:t>
            </a:r>
            <a:endParaRPr lang="en-GB" sz="24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A3D706-40AA-45DF-A018-297C77407A6C}"/>
              </a:ext>
            </a:extLst>
          </p:cNvPr>
          <p:cNvSpPr/>
          <p:nvPr/>
        </p:nvSpPr>
        <p:spPr>
          <a:xfrm>
            <a:off x="7077579" y="3885763"/>
            <a:ext cx="827094" cy="459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EB8D5A9-2B68-4DCB-86BD-E69413D7771B}"/>
              </a:ext>
            </a:extLst>
          </p:cNvPr>
          <p:cNvSpPr/>
          <p:nvPr/>
        </p:nvSpPr>
        <p:spPr>
          <a:xfrm>
            <a:off x="7284273" y="3885762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4 </a:t>
            </a:r>
            <a:endParaRPr lang="en-GB" sz="2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77721A3-5CDB-4C02-B4AF-AA7C10A11437}"/>
              </a:ext>
            </a:extLst>
          </p:cNvPr>
          <p:cNvSpPr txBox="1"/>
          <p:nvPr/>
        </p:nvSpPr>
        <p:spPr>
          <a:xfrm>
            <a:off x="7934801" y="3954016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0x0001504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A062606-A75D-4A02-961F-E1ACD97F7C59}"/>
              </a:ext>
            </a:extLst>
          </p:cNvPr>
          <p:cNvSpPr/>
          <p:nvPr/>
        </p:nvSpPr>
        <p:spPr>
          <a:xfrm>
            <a:off x="10631202" y="2885687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L</a:t>
            </a:r>
            <a:endParaRPr lang="en-GB" sz="24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50E920B-30A1-4C36-83DD-C1CD0E9E27AF}"/>
              </a:ext>
            </a:extLst>
          </p:cNvPr>
          <p:cNvSpPr/>
          <p:nvPr/>
        </p:nvSpPr>
        <p:spPr>
          <a:xfrm>
            <a:off x="10611487" y="3406476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W</a:t>
            </a:r>
            <a:endParaRPr lang="en-GB" sz="240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C12D698-AFE4-4FDF-9A6F-FAE38552ECD4}"/>
              </a:ext>
            </a:extLst>
          </p:cNvPr>
          <p:cNvSpPr/>
          <p:nvPr/>
        </p:nvSpPr>
        <p:spPr>
          <a:xfrm>
            <a:off x="10611486" y="3945966"/>
            <a:ext cx="500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H</a:t>
            </a:r>
            <a:endParaRPr lang="en-GB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594B30-0198-4CC1-BBC0-D09756B0C50D}"/>
              </a:ext>
            </a:extLst>
          </p:cNvPr>
          <p:cNvCxnSpPr/>
          <p:nvPr/>
        </p:nvCxnSpPr>
        <p:spPr>
          <a:xfrm flipH="1">
            <a:off x="9636701" y="3123571"/>
            <a:ext cx="9747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4BB95C6-02DB-4257-ABDC-D18589A909EE}"/>
              </a:ext>
            </a:extLst>
          </p:cNvPr>
          <p:cNvCxnSpPr/>
          <p:nvPr/>
        </p:nvCxnSpPr>
        <p:spPr>
          <a:xfrm flipH="1">
            <a:off x="9636700" y="3645370"/>
            <a:ext cx="9747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0E7B1DA-90C2-41BD-BF97-9CE7063DC78A}"/>
              </a:ext>
            </a:extLst>
          </p:cNvPr>
          <p:cNvCxnSpPr/>
          <p:nvPr/>
        </p:nvCxnSpPr>
        <p:spPr>
          <a:xfrm flipH="1">
            <a:off x="9636699" y="4184848"/>
            <a:ext cx="9747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FAB08096-1992-4294-8413-D357C109C518}"/>
              </a:ext>
            </a:extLst>
          </p:cNvPr>
          <p:cNvSpPr/>
          <p:nvPr/>
        </p:nvSpPr>
        <p:spPr>
          <a:xfrm>
            <a:off x="8915549" y="5170053"/>
            <a:ext cx="687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/>
                <a:cs typeface="Courier New"/>
              </a:rPr>
              <a:t>pL</a:t>
            </a:r>
            <a:endParaRPr lang="en-GB" sz="2400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C898648-DFB3-48B3-ADF8-EE5161D77A10}"/>
              </a:ext>
            </a:extLst>
          </p:cNvPr>
          <p:cNvSpPr/>
          <p:nvPr/>
        </p:nvSpPr>
        <p:spPr>
          <a:xfrm>
            <a:off x="8878171" y="5658881"/>
            <a:ext cx="687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/>
                <a:cs typeface="Courier New"/>
              </a:rPr>
              <a:t>pW</a:t>
            </a:r>
            <a:endParaRPr lang="en-GB" sz="24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0455D8A-5B11-40CE-A78B-7705D425AE7C}"/>
              </a:ext>
            </a:extLst>
          </p:cNvPr>
          <p:cNvSpPr/>
          <p:nvPr/>
        </p:nvSpPr>
        <p:spPr>
          <a:xfrm>
            <a:off x="8884636" y="6132960"/>
            <a:ext cx="687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pH</a:t>
            </a:r>
            <a:endParaRPr lang="en-GB" sz="2400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182642D-6563-4572-9001-849996F0EEBD}"/>
              </a:ext>
            </a:extLst>
          </p:cNvPr>
          <p:cNvCxnSpPr>
            <a:cxnSpLocks/>
          </p:cNvCxnSpPr>
          <p:nvPr/>
        </p:nvCxnSpPr>
        <p:spPr>
          <a:xfrm flipV="1">
            <a:off x="9402131" y="3297387"/>
            <a:ext cx="1280938" cy="19729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C58E4ED-6182-4518-B494-0824CBFFC19C}"/>
              </a:ext>
            </a:extLst>
          </p:cNvPr>
          <p:cNvCxnSpPr>
            <a:cxnSpLocks/>
          </p:cNvCxnSpPr>
          <p:nvPr/>
        </p:nvCxnSpPr>
        <p:spPr>
          <a:xfrm flipV="1">
            <a:off x="9487005" y="3837431"/>
            <a:ext cx="1166922" cy="19281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70BF0E7-B766-4024-9E08-86C7F2BCFE32}"/>
              </a:ext>
            </a:extLst>
          </p:cNvPr>
          <p:cNvCxnSpPr>
            <a:cxnSpLocks/>
          </p:cNvCxnSpPr>
          <p:nvPr/>
        </p:nvCxnSpPr>
        <p:spPr>
          <a:xfrm flipV="1">
            <a:off x="9416527" y="4375714"/>
            <a:ext cx="1200891" cy="19287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Left Brace 99">
            <a:extLst>
              <a:ext uri="{FF2B5EF4-FFF2-40B4-BE49-F238E27FC236}">
                <a16:creationId xmlns:a16="http://schemas.microsoft.com/office/drawing/2014/main" id="{EBFC090E-DDF1-4406-A829-5C5919EBA21C}"/>
              </a:ext>
            </a:extLst>
          </p:cNvPr>
          <p:cNvSpPr/>
          <p:nvPr/>
        </p:nvSpPr>
        <p:spPr>
          <a:xfrm rot="5400000">
            <a:off x="1702302" y="1449798"/>
            <a:ext cx="396335" cy="252887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4E5709-3F1E-4089-ABEA-25CD85CE924C}"/>
              </a:ext>
            </a:extLst>
          </p:cNvPr>
          <p:cNvSpPr txBox="1"/>
          <p:nvPr/>
        </p:nvSpPr>
        <p:spPr>
          <a:xfrm>
            <a:off x="843435" y="2005155"/>
            <a:ext cx="214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 function</a:t>
            </a:r>
          </a:p>
        </p:txBody>
      </p:sp>
      <p:sp>
        <p:nvSpPr>
          <p:cNvPr id="102" name="Left Brace 101">
            <a:extLst>
              <a:ext uri="{FF2B5EF4-FFF2-40B4-BE49-F238E27FC236}">
                <a16:creationId xmlns:a16="http://schemas.microsoft.com/office/drawing/2014/main" id="{D1047612-0DFD-4C98-A371-1CAD93640C0C}"/>
              </a:ext>
            </a:extLst>
          </p:cNvPr>
          <p:cNvSpPr/>
          <p:nvPr/>
        </p:nvSpPr>
        <p:spPr>
          <a:xfrm rot="5400000">
            <a:off x="4830800" y="1412426"/>
            <a:ext cx="396335" cy="252887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C35A1DA-B823-4232-85C8-2225FE630D0E}"/>
              </a:ext>
            </a:extLst>
          </p:cNvPr>
          <p:cNvSpPr txBox="1"/>
          <p:nvPr/>
        </p:nvSpPr>
        <p:spPr>
          <a:xfrm>
            <a:off x="3971933" y="1967783"/>
            <a:ext cx="214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Constructor</a:t>
            </a:r>
          </a:p>
        </p:txBody>
      </p:sp>
      <p:sp>
        <p:nvSpPr>
          <p:cNvPr id="108" name="Left Brace 107">
            <a:extLst>
              <a:ext uri="{FF2B5EF4-FFF2-40B4-BE49-F238E27FC236}">
                <a16:creationId xmlns:a16="http://schemas.microsoft.com/office/drawing/2014/main" id="{62F8A4BB-6446-4A0A-8919-5A61F970E5B7}"/>
              </a:ext>
            </a:extLst>
          </p:cNvPr>
          <p:cNvSpPr/>
          <p:nvPr/>
        </p:nvSpPr>
        <p:spPr>
          <a:xfrm rot="5400000">
            <a:off x="3233046" y="3851078"/>
            <a:ext cx="396335" cy="252887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EA71C2F-E470-41DD-9338-8941B7E20A18}"/>
              </a:ext>
            </a:extLst>
          </p:cNvPr>
          <p:cNvSpPr txBox="1"/>
          <p:nvPr/>
        </p:nvSpPr>
        <p:spPr>
          <a:xfrm>
            <a:off x="2313033" y="4405260"/>
            <a:ext cx="214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Member data</a:t>
            </a:r>
          </a:p>
        </p:txBody>
      </p:sp>
      <p:sp>
        <p:nvSpPr>
          <p:cNvPr id="113" name="Left Brace 112">
            <a:extLst>
              <a:ext uri="{FF2B5EF4-FFF2-40B4-BE49-F238E27FC236}">
                <a16:creationId xmlns:a16="http://schemas.microsoft.com/office/drawing/2014/main" id="{3FBAE906-3DDD-4FC6-A8A9-49E799074A54}"/>
              </a:ext>
            </a:extLst>
          </p:cNvPr>
          <p:cNvSpPr/>
          <p:nvPr/>
        </p:nvSpPr>
        <p:spPr>
          <a:xfrm rot="5400000">
            <a:off x="8057080" y="1584946"/>
            <a:ext cx="396335" cy="252887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6392CC7-9117-4281-ABF3-1F3AB4B33AFB}"/>
              </a:ext>
            </a:extLst>
          </p:cNvPr>
          <p:cNvSpPr txBox="1"/>
          <p:nvPr/>
        </p:nvSpPr>
        <p:spPr>
          <a:xfrm>
            <a:off x="7198213" y="2140303"/>
            <a:ext cx="214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 function</a:t>
            </a:r>
          </a:p>
        </p:txBody>
      </p:sp>
      <p:sp>
        <p:nvSpPr>
          <p:cNvPr id="115" name="Left Brace 114">
            <a:extLst>
              <a:ext uri="{FF2B5EF4-FFF2-40B4-BE49-F238E27FC236}">
                <a16:creationId xmlns:a16="http://schemas.microsoft.com/office/drawing/2014/main" id="{60CD6EC5-B801-45FA-A41D-F31B697B65A9}"/>
              </a:ext>
            </a:extLst>
          </p:cNvPr>
          <p:cNvSpPr/>
          <p:nvPr/>
        </p:nvSpPr>
        <p:spPr>
          <a:xfrm rot="5400000">
            <a:off x="10521491" y="2220290"/>
            <a:ext cx="396335" cy="111443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EB604C4-DA87-4330-B57C-DFEFE8B63DBA}"/>
              </a:ext>
            </a:extLst>
          </p:cNvPr>
          <p:cNvSpPr txBox="1"/>
          <p:nvPr/>
        </p:nvSpPr>
        <p:spPr>
          <a:xfrm>
            <a:off x="9615163" y="1999899"/>
            <a:ext cx="214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Constructor</a:t>
            </a:r>
          </a:p>
        </p:txBody>
      </p:sp>
      <p:sp>
        <p:nvSpPr>
          <p:cNvPr id="117" name="Left Brace 116">
            <a:extLst>
              <a:ext uri="{FF2B5EF4-FFF2-40B4-BE49-F238E27FC236}">
                <a16:creationId xmlns:a16="http://schemas.microsoft.com/office/drawing/2014/main" id="{B83232C7-D1E4-42FA-92CF-944FBBCF1772}"/>
              </a:ext>
            </a:extLst>
          </p:cNvPr>
          <p:cNvSpPr/>
          <p:nvPr/>
        </p:nvSpPr>
        <p:spPr>
          <a:xfrm rot="5400000">
            <a:off x="8916155" y="4880851"/>
            <a:ext cx="396335" cy="687080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4EDB84-7AAC-4031-B929-3B1D8833E31B}"/>
              </a:ext>
            </a:extLst>
          </p:cNvPr>
          <p:cNvSpPr txBox="1"/>
          <p:nvPr/>
        </p:nvSpPr>
        <p:spPr>
          <a:xfrm>
            <a:off x="7533617" y="4473882"/>
            <a:ext cx="2062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400" dirty="0">
                <a:solidFill>
                  <a:prstClr val="black"/>
                </a:solidFill>
              </a:rPr>
              <a:t>Member data</a:t>
            </a:r>
          </a:p>
        </p:txBody>
      </p:sp>
    </p:spTree>
    <p:extLst>
      <p:ext uri="{BB962C8B-B14F-4D97-AF65-F5344CB8AC3E}">
        <p14:creationId xmlns:p14="http://schemas.microsoft.com/office/powerpoint/2010/main" val="175026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/>
      <p:bldP spid="36" grpId="0"/>
      <p:bldP spid="37" grpId="0"/>
      <p:bldP spid="38" grpId="0"/>
      <p:bldP spid="39" grpId="0"/>
      <p:bldP spid="40" grpId="0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/>
      <p:bldP spid="61" grpId="0"/>
      <p:bldP spid="62" grpId="0"/>
      <p:bldP spid="63" grpId="0"/>
      <p:bldP spid="66" grpId="0" animBg="1"/>
      <p:bldP spid="67" grpId="0"/>
      <p:bldP spid="68" grpId="0" animBg="1"/>
      <p:bldP spid="69" grpId="0"/>
      <p:bldP spid="70" grpId="0"/>
      <p:bldP spid="71" grpId="0"/>
      <p:bldP spid="75" grpId="0" animBg="1"/>
      <p:bldP spid="76" grpId="0"/>
      <p:bldP spid="77" grpId="0"/>
      <p:bldP spid="78" grpId="0"/>
      <p:bldP spid="79" grpId="0"/>
      <p:bldP spid="80" grpId="0"/>
      <p:bldP spid="81" grpId="0"/>
      <p:bldP spid="82" grpId="0" animBg="1"/>
      <p:bldP spid="83" grpId="0"/>
      <p:bldP spid="84" grpId="0" animBg="1"/>
      <p:bldP spid="85" grpId="0"/>
      <p:bldP spid="86" grpId="0"/>
      <p:bldP spid="87" grpId="0"/>
      <p:bldP spid="88" grpId="0"/>
      <p:bldP spid="89" grpId="0"/>
      <p:bldP spid="92" grpId="0"/>
      <p:bldP spid="93" grpId="0"/>
      <p:bldP spid="94" grpId="0"/>
      <p:bldP spid="100" grpId="0" animBg="1"/>
      <p:bldP spid="101" grpId="0"/>
      <p:bldP spid="102" grpId="0" animBg="1"/>
      <p:bldP spid="103" grpId="0"/>
      <p:bldP spid="108" grpId="0" animBg="1"/>
      <p:bldP spid="109" grpId="0"/>
      <p:bldP spid="113" grpId="0" animBg="1"/>
      <p:bldP spid="114" grpId="0"/>
      <p:bldP spid="115" grpId="0" animBg="1"/>
      <p:bldP spid="116" grpId="0"/>
      <p:bldP spid="117" grpId="0" animBg="1"/>
      <p:bldP spid="1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definitions and functionalities of constructors and destructors of classes 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The following keywords and their use were discussed:</a:t>
            </a:r>
          </a:p>
          <a:p>
            <a:pPr marL="0" indent="0">
              <a:lnSpc>
                <a:spcPct val="170000"/>
              </a:lnSpc>
              <a:buNone/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17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89B2AE-2D2E-4507-8E92-F853796E6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394432"/>
              </p:ext>
            </p:extLst>
          </p:nvPr>
        </p:nvGraphicFramePr>
        <p:xfrm>
          <a:off x="961097" y="3566101"/>
          <a:ext cx="10952539" cy="1600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103">
                  <a:extLst>
                    <a:ext uri="{9D8B030D-6E8A-4147-A177-3AD203B41FA5}">
                      <a16:colId xmlns:a16="http://schemas.microsoft.com/office/drawing/2014/main" val="3047013590"/>
                    </a:ext>
                  </a:extLst>
                </a:gridCol>
                <a:gridCol w="9043436">
                  <a:extLst>
                    <a:ext uri="{9D8B030D-6E8A-4147-A177-3AD203B41FA5}">
                      <a16:colId xmlns:a16="http://schemas.microsoft.com/office/drawing/2014/main" val="2912834338"/>
                    </a:ext>
                  </a:extLst>
                </a:gridCol>
              </a:tblGrid>
              <a:tr h="411374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Keyword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bg1"/>
                          </a:solidFill>
                        </a:rPr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38744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explicit</a:t>
                      </a:r>
                      <a:endParaRPr lang="en-GB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Prevents the compiler from implicit casting</a:t>
                      </a:r>
                      <a:r>
                        <a:rPr lang="en-GB" sz="2000" baseline="0" dirty="0"/>
                        <a:t> when one-argument constructor is called.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492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static</a:t>
                      </a:r>
                      <a:endParaRPr lang="en-GB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Defines a static data member</a:t>
                      </a:r>
                      <a:r>
                        <a:rPr lang="en-GB" sz="2000" baseline="0" dirty="0"/>
                        <a:t> (common among all objects of a given class).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1775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friend</a:t>
                      </a:r>
                      <a:endParaRPr lang="en-GB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Gives</a:t>
                      </a:r>
                      <a:r>
                        <a:rPr lang="en-GB" sz="2000" baseline="0" dirty="0"/>
                        <a:t> access to private data members of a class for a non-member function.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605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07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5475</TotalTime>
  <Words>1498</Words>
  <Application>Microsoft Office PowerPoint</Application>
  <PresentationFormat>Widescreen</PresentationFormat>
  <Paragraphs>598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Courier New</vt:lpstr>
      <vt:lpstr>Office Theme</vt:lpstr>
      <vt:lpstr>Application Development with C++ (ELEC362)</vt:lpstr>
      <vt:lpstr>Previous lecture </vt:lpstr>
      <vt:lpstr>This lecture</vt:lpstr>
      <vt:lpstr>Classes revisited</vt:lpstr>
      <vt:lpstr>Class constructor</vt:lpstr>
      <vt:lpstr>Initialisation list</vt:lpstr>
      <vt:lpstr>Copy constructors</vt:lpstr>
      <vt:lpstr>Default constructor and explicit constructor</vt:lpstr>
      <vt:lpstr>Explicit constructor</vt:lpstr>
      <vt:lpstr>Class destructor</vt:lpstr>
      <vt:lpstr>Static class members</vt:lpstr>
      <vt:lpstr>Friend functions</vt:lpstr>
      <vt:lpstr>Arrays of objects</vt:lpstr>
      <vt:lpstr>Objects and dynamic memory</vt:lpstr>
      <vt:lpstr>Objects and memory management</vt:lpstr>
      <vt:lpstr>How codes L7D5a and L7D5b work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625</cp:revision>
  <dcterms:created xsi:type="dcterms:W3CDTF">2019-05-09T14:26:54Z</dcterms:created>
  <dcterms:modified xsi:type="dcterms:W3CDTF">2026-09-28T09:21:53Z</dcterms:modified>
</cp:coreProperties>
</file>