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99" r:id="rId3"/>
    <p:sldId id="257" r:id="rId4"/>
    <p:sldId id="300" r:id="rId5"/>
    <p:sldId id="301" r:id="rId6"/>
    <p:sldId id="302" r:id="rId7"/>
    <p:sldId id="303" r:id="rId8"/>
    <p:sldId id="305" r:id="rId9"/>
    <p:sldId id="308" r:id="rId10"/>
    <p:sldId id="304" r:id="rId11"/>
    <p:sldId id="306" r:id="rId12"/>
    <p:sldId id="307" r:id="rId13"/>
    <p:sldId id="313" r:id="rId14"/>
    <p:sldId id="315" r:id="rId15"/>
    <p:sldId id="309" r:id="rId16"/>
    <p:sldId id="310" r:id="rId17"/>
    <p:sldId id="311" r:id="rId18"/>
    <p:sldId id="312" r:id="rId19"/>
    <p:sldId id="2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E7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27/11/2023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550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07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430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597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014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842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497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979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02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986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14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971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269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649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300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2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19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84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27/11/2023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27/11/2023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27/11/2023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27/11/2023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painter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xLvnNrutG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graphicsview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.qt.io/qt-6/model-view-programming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graphicsscene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graphicsview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graphicsitem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timer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transform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17: Drawings in </a:t>
            </a:r>
            <a:r>
              <a:rPr lang="en-GB" sz="3600" dirty="0" err="1"/>
              <a:t>Qt</a:t>
            </a:r>
            <a:r>
              <a:rPr lang="en-GB" sz="3600" dirty="0"/>
              <a:t> Applications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35380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</a:t>
            </a:r>
            <a:r>
              <a:rPr lang="en-GB" sz="2400"/>
              <a:t>the previous </a:t>
            </a:r>
            <a:r>
              <a:rPr lang="en-GB" sz="2400" dirty="0"/>
              <a:t>lecture, the concept of events and event handling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coordinates systems in </a:t>
            </a:r>
            <a:r>
              <a:rPr lang="en-GB" sz="2400" dirty="0" err="1"/>
              <a:t>Qt</a:t>
            </a:r>
            <a:r>
              <a:rPr lang="en-GB" sz="2400" dirty="0"/>
              <a:t>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concept of actions has been discussed.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Constructing menus in menu bars, toolbars and context menus was shown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Creating a child window in an application was shown.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QKeyEvent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QMouseEvent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QTouchEvent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QMenu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QContextMenuEvent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QTextEdit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2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91"/>
            <a:ext cx="11142133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Classes related to drawings, paintings, and image handling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Almost every application in existence has one aspect related to paints/drawings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  How are topics covered in this lecture: Live demonstration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This class is responsible for low-level drawings ranging from simple lines to complex polygons and images.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https://doc.qt.io/qt-6/qpainter.html</a:t>
            </a: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Objects of this class can operate on any object of a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inheriting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QPaintDevice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cs typeface="Courier New" panose="02070309020205020404" pitchFamily="49" charset="0"/>
              </a:rPr>
              <a:t>(such as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sz="2400" dirty="0">
                <a:cs typeface="Courier New" panose="02070309020205020404" pitchFamily="49" charset="0"/>
              </a:rPr>
              <a:t>).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A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cs typeface="Courier New" panose="02070309020205020404" pitchFamily="49" charset="0"/>
              </a:rPr>
              <a:t>object can operate on a widget by implementing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the virtual function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paintEven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*event).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A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cs typeface="Courier New" panose="02070309020205020404" pitchFamily="49" charset="0"/>
              </a:rPr>
              <a:t>object initiates the drawing process, it can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  draw independently, or using other objects. </a:t>
            </a: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245" y="3028730"/>
            <a:ext cx="6379612" cy="382927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 flipV="1">
            <a:off x="11416938" y="2515226"/>
            <a:ext cx="101628" cy="152969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9982200" y="2095765"/>
            <a:ext cx="2389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sz="2400" dirty="0">
                <a:cs typeface="Courier New" panose="02070309020205020404" pitchFamily="49" charset="0"/>
              </a:rPr>
              <a:t> </a:t>
            </a:r>
            <a:r>
              <a:rPr lang="en-GB" sz="2400" dirty="0" err="1">
                <a:cs typeface="Courier New" panose="02070309020205020404" pitchFamily="49" charset="0"/>
              </a:rPr>
              <a:t>obj</a:t>
            </a:r>
            <a:endParaRPr lang="en-GB" sz="2400" dirty="0"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7823027" y="2523230"/>
            <a:ext cx="2389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QPaintDevice</a:t>
            </a:r>
            <a:r>
              <a:rPr lang="en-GB" sz="2400" dirty="0">
                <a:cs typeface="Courier New" panose="02070309020205020404" pitchFamily="49" charset="0"/>
              </a:rPr>
              <a:t> </a:t>
            </a:r>
            <a:r>
              <a:rPr lang="en-GB" sz="2400" dirty="0" err="1">
                <a:cs typeface="Courier New" panose="02070309020205020404" pitchFamily="49" charset="0"/>
              </a:rPr>
              <a:t>obj</a:t>
            </a:r>
            <a:endParaRPr lang="en-GB" sz="2400" dirty="0">
              <a:cs typeface="Courier New" panose="02070309020205020404" pitchFamily="49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 flipV="1">
            <a:off x="9435591" y="3103830"/>
            <a:ext cx="470411" cy="94109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878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Classes that work with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This is a brief list of selected classes used for painting with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sz="2400" dirty="0"/>
              <a:t> objects: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A simple way to think of it is to imagine taking the widget to MS Painter to paint on it and return it back to Qt.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791253"/>
              </p:ext>
            </p:extLst>
          </p:nvPr>
        </p:nvGraphicFramePr>
        <p:xfrm>
          <a:off x="728133" y="1977704"/>
          <a:ext cx="9525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766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7808234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</a:tblGrid>
              <a:tr h="41933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QPen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Defines a “pen” to draw shapes (its style, width, and colour).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QBrush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the colour and</a:t>
                      </a:r>
                      <a:r>
                        <a:rPr lang="en-GB" sz="24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fill pattern of closed shapes.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QRectF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Defines a rectangle (F stands</a:t>
                      </a:r>
                      <a:r>
                        <a:rPr lang="en-GB" sz="2400" baseline="0" dirty="0"/>
                        <a:t> for Float).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QPolygon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Defines polygons by</a:t>
                      </a:r>
                      <a:r>
                        <a:rPr lang="en-GB" sz="2400" baseline="0" dirty="0"/>
                        <a:t> having a set of points.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QPointF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Defines a point (F stands for Float).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QImage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Defines an image imported to the project.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930" y="2067239"/>
            <a:ext cx="10096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1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Painting events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393" y="1495422"/>
            <a:ext cx="10930474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function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paintEvent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400" dirty="0"/>
              <a:t>is implicitly called in the constructor.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To change a painting during the operation of the application, the function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repaint()</a:t>
            </a:r>
            <a:r>
              <a:rPr lang="en-GB" sz="2400" dirty="0"/>
              <a:t>or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update()</a:t>
            </a:r>
            <a:r>
              <a:rPr lang="en-GB" sz="2400" dirty="0"/>
              <a:t>should be called. Both functions belong to the widget where the paint change should occur.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function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repaint()</a:t>
            </a:r>
            <a:r>
              <a:rPr lang="en-GB" sz="2400" dirty="0"/>
              <a:t>redraws the widget immediately, but can cause flickering for widgets with heavy paints. The function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update()</a:t>
            </a:r>
            <a:r>
              <a:rPr lang="en-GB" sz="2400" dirty="0"/>
              <a:t>redraws the widget in the next event loop iteration, thus it minimises the flicker. 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Example of flickering: </a:t>
            </a:r>
            <a:r>
              <a:rPr lang="en-GB" sz="2400" dirty="0">
                <a:hlinkClick r:id="rId3"/>
              </a:rPr>
              <a:t>https://www.youtube.com/watch?v=CxLvnNrutG4</a:t>
            </a:r>
            <a:r>
              <a:rPr lang="en-GB" sz="2400" dirty="0"/>
              <a:t>. It can be resolved by a technique known as double-buffering, which is implemented by default in Qt.</a:t>
            </a: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44676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001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Mouse tracker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u="sng" dirty="0"/>
              <a:t>The task</a:t>
            </a:r>
            <a:r>
              <a:rPr lang="en-GB" sz="2400" dirty="0"/>
              <a:t>: Modify the Mouse tracker application such that the type of the click (left, right, or middle) is indicated by a changing colour of a rectangle in the application window.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Build the application (demonstration).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405F46-92F5-433E-9892-8ACEDE6E27B6}"/>
              </a:ext>
            </a:extLst>
          </p:cNvPr>
          <p:cNvSpPr txBox="1"/>
          <p:nvPr/>
        </p:nvSpPr>
        <p:spPr>
          <a:xfrm>
            <a:off x="838202" y="3551061"/>
            <a:ext cx="9914469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AA20B-028D-4A44-97BA-8B2BFED1908B}"/>
              </a:ext>
            </a:extLst>
          </p:cNvPr>
          <p:cNvSpPr txBox="1"/>
          <p:nvPr/>
        </p:nvSpPr>
        <p:spPr>
          <a:xfrm>
            <a:off x="838200" y="3551060"/>
            <a:ext cx="99144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Remember to include the header of every class that was not defined in Qt designer.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2400" dirty="0"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 use 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for non functional drawings (</a:t>
            </a:r>
            <a:r>
              <a:rPr kumimoji="0" lang="en-GB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i.e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controlling the look of the widget) </a:t>
            </a:r>
          </a:p>
        </p:txBody>
      </p:sp>
    </p:spTree>
    <p:extLst>
      <p:ext uri="{BB962C8B-B14F-4D97-AF65-F5344CB8AC3E}">
        <p14:creationId xmlns:p14="http://schemas.microsoft.com/office/powerpoint/2010/main" val="223025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graphics view framework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For large drawings, dealing with every line, shape, or colour becomes a burden.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A high-level alternative is the Graphics View Framework.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hlinkClick r:id="rId3"/>
              </a:rPr>
              <a:t>https://doc.qt.io/qt-6/graphicsview.html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It is far more efficient to deal with drawings as composition of objects</a:t>
            </a:r>
            <a:r>
              <a:rPr lang="en-GB" sz="2400" dirty="0"/>
              <a:t> rather than a composition of lines and colours.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The graphics view framework is a special case of the model-view programming in Qt.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4"/>
              </a:rPr>
              <a:t>https://doc.qt.io/qt-6/model-view-programming.html</a:t>
            </a: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167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graphics view framework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graphics view framework consists primarily of three classes:</a:t>
            </a:r>
          </a:p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2400" dirty="0">
                <a:cs typeface="Courier New" panose="02070309020205020404" pitchFamily="49" charset="0"/>
              </a:rPr>
              <a:t>The area of the drawing. </a:t>
            </a:r>
          </a:p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QGraphicsView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2400" dirty="0">
                <a:cs typeface="Courier New" panose="02070309020205020404" pitchFamily="49" charset="0"/>
              </a:rPr>
              <a:t>The window showing the visible part of the drawing. 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2400" dirty="0">
                <a:cs typeface="Courier New" panose="02070309020205020404" pitchFamily="49" charset="0"/>
              </a:rPr>
              <a:t>The building blocks of the drawing.</a:t>
            </a: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A06E784-99D2-4F52-AD95-252AF19DD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285" y="2892205"/>
            <a:ext cx="6379612" cy="3829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42F075-8922-4DA8-93BA-82F0DA8D3A2B}"/>
              </a:ext>
            </a:extLst>
          </p:cNvPr>
          <p:cNvSpPr txBox="1"/>
          <p:nvPr/>
        </p:nvSpPr>
        <p:spPr>
          <a:xfrm>
            <a:off x="4280100" y="3930449"/>
            <a:ext cx="3821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sz="2400" dirty="0">
                <a:cs typeface="Courier New" panose="02070309020205020404" pitchFamily="49" charset="0"/>
              </a:rPr>
              <a:t> </a:t>
            </a:r>
            <a:r>
              <a:rPr lang="en-GB" sz="2400" dirty="0" err="1">
                <a:cs typeface="Courier New" panose="02070309020205020404" pitchFamily="49" charset="0"/>
              </a:rPr>
              <a:t>obj</a:t>
            </a:r>
            <a:endParaRPr lang="en-GB" sz="2400" dirty="0">
              <a:cs typeface="Courier New" panose="020703090202050204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F66921-775E-422B-8E9E-6EFA531BE280}"/>
              </a:ext>
            </a:extLst>
          </p:cNvPr>
          <p:cNvCxnSpPr>
            <a:cxnSpLocks/>
          </p:cNvCxnSpPr>
          <p:nvPr/>
        </p:nvCxnSpPr>
        <p:spPr>
          <a:xfrm flipH="1">
            <a:off x="7744409" y="4161281"/>
            <a:ext cx="2435289" cy="1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2FEF28-9F52-492F-9B7A-6E5804B9E20C}"/>
              </a:ext>
            </a:extLst>
          </p:cNvPr>
          <p:cNvSpPr txBox="1"/>
          <p:nvPr/>
        </p:nvSpPr>
        <p:spPr>
          <a:xfrm>
            <a:off x="5309226" y="4856813"/>
            <a:ext cx="3833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sz="2400" dirty="0">
                <a:cs typeface="Courier New" panose="02070309020205020404" pitchFamily="49" charset="0"/>
              </a:rPr>
              <a:t> </a:t>
            </a:r>
            <a:r>
              <a:rPr lang="en-GB" sz="2400" dirty="0" err="1">
                <a:cs typeface="Courier New" panose="02070309020205020404" pitchFamily="49" charset="0"/>
              </a:rPr>
              <a:t>obj</a:t>
            </a:r>
            <a:endParaRPr lang="en-GB" sz="2400" dirty="0">
              <a:cs typeface="Courier New" panose="02070309020205020404" pitchFamily="49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12160-43EB-4B65-9E54-49FD4E648FED}"/>
              </a:ext>
            </a:extLst>
          </p:cNvPr>
          <p:cNvCxnSpPr>
            <a:cxnSpLocks/>
          </p:cNvCxnSpPr>
          <p:nvPr/>
        </p:nvCxnSpPr>
        <p:spPr>
          <a:xfrm flipH="1">
            <a:off x="8826759" y="4864467"/>
            <a:ext cx="1055272" cy="177149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027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This class provides surface to draw large 2D graphic items, all of which are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sz="2400" dirty="0">
                <a:cs typeface="Courier New" panose="02070309020205020404" pitchFamily="49" charset="0"/>
              </a:rPr>
              <a:t> objects.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https://doc.qt.io/qt-6/qgraphicsscene.html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An object of this class can be thought of as a hidden drawing, it needs a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QGraphicsView</a:t>
            </a:r>
            <a:r>
              <a:rPr lang="en-GB" sz="2400" dirty="0"/>
              <a:t> object to be seen.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 can efficiently manage millions of items, providing functionalities such as zooming,  locating and tracking of items with simple lines of code.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504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QGraphicsView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This class provides a widget to visualise the content of a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sz="2400" dirty="0">
                <a:cs typeface="Courier New" panose="02070309020205020404" pitchFamily="49" charset="0"/>
              </a:rPr>
              <a:t> object.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https://doc.qt.io/qt-6/qgraphicsview.html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An object of this class can be added to the UI from Qt Designer.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An object of this class can be used to visualise a whole scene or parts of it.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 provides scroll bars, in addition to pan functionality to the scene it is visualising with minimal coding.</a:t>
            </a:r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260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An </a:t>
            </a:r>
            <a:r>
              <a:rPr lang="en-GB" sz="2400" u="sng" dirty="0">
                <a:cs typeface="Courier New" panose="02070309020205020404" pitchFamily="49" charset="0"/>
              </a:rPr>
              <a:t>abstract</a:t>
            </a:r>
            <a:r>
              <a:rPr lang="en-GB" sz="2400" dirty="0">
                <a:cs typeface="Courier New" panose="02070309020205020404" pitchFamily="49" charset="0"/>
              </a:rPr>
              <a:t> class that is the base class for all items in any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sz="2400" dirty="0">
                <a:cs typeface="Courier New" panose="02070309020205020404" pitchFamily="49" charset="0"/>
              </a:rPr>
              <a:t> object.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https://doc.qt.io/qt-6/qgraphicsitem.html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In addition to a large number of predefined items, such as rectangles, polygons, pixelmaps and paths, it allows the developers to define their custom items.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 has lots of virtual event handlers, allowing the                                                                    addition of complex functionality to the drawing,                                                                 including item-item interaction.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object of this class has a bounding rectangle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4E78F6-ACB9-484C-AE26-49A52222C60C}"/>
              </a:ext>
            </a:extLst>
          </p:cNvPr>
          <p:cNvSpPr txBox="1"/>
          <p:nvPr/>
        </p:nvSpPr>
        <p:spPr>
          <a:xfrm>
            <a:off x="9332237" y="4604283"/>
            <a:ext cx="1369571" cy="94852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A8D06F-31D5-4AF5-80B5-E555550DA587}"/>
              </a:ext>
            </a:extLst>
          </p:cNvPr>
          <p:cNvSpPr/>
          <p:nvPr/>
        </p:nvSpPr>
        <p:spPr>
          <a:xfrm>
            <a:off x="9359214" y="4597475"/>
            <a:ext cx="1315616" cy="93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7DF91-6BE1-4962-B2C5-BC0EEBB79550}"/>
              </a:ext>
            </a:extLst>
          </p:cNvPr>
          <p:cNvSpPr txBox="1"/>
          <p:nvPr/>
        </p:nvSpPr>
        <p:spPr>
          <a:xfrm>
            <a:off x="8594104" y="4071947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(</a:t>
            </a:r>
            <a:r>
              <a:rPr lang="en-GB" sz="2400" dirty="0" err="1">
                <a:cs typeface="Courier New" panose="02070309020205020404" pitchFamily="49" charset="0"/>
              </a:rPr>
              <a:t>x,y</a:t>
            </a:r>
            <a:r>
              <a:rPr lang="en-GB" sz="2400" dirty="0">
                <a:cs typeface="Courier New" panose="02070309020205020404" pitchFamily="49" charset="0"/>
              </a:rPr>
              <a:t>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AB295D-1258-4087-B533-2CD0C73B4BCB}"/>
              </a:ext>
            </a:extLst>
          </p:cNvPr>
          <p:cNvCxnSpPr>
            <a:cxnSpLocks/>
          </p:cNvCxnSpPr>
          <p:nvPr/>
        </p:nvCxnSpPr>
        <p:spPr>
          <a:xfrm flipV="1">
            <a:off x="9332237" y="4254757"/>
            <a:ext cx="0" cy="32405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E93B2E-AF1D-4E44-B6DD-9331D8DBB8B4}"/>
              </a:ext>
            </a:extLst>
          </p:cNvPr>
          <p:cNvCxnSpPr>
            <a:cxnSpLocks/>
          </p:cNvCxnSpPr>
          <p:nvPr/>
        </p:nvCxnSpPr>
        <p:spPr>
          <a:xfrm flipV="1">
            <a:off x="10706543" y="4254757"/>
            <a:ext cx="0" cy="32405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DF1144-184A-4511-8415-B9DCAFB38B68}"/>
              </a:ext>
            </a:extLst>
          </p:cNvPr>
          <p:cNvCxnSpPr>
            <a:cxnSpLocks/>
          </p:cNvCxnSpPr>
          <p:nvPr/>
        </p:nvCxnSpPr>
        <p:spPr>
          <a:xfrm flipV="1">
            <a:off x="9359214" y="4416785"/>
            <a:ext cx="1342594" cy="15589"/>
          </a:xfrm>
          <a:prstGeom prst="straightConnector1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AB4FEE-942C-4F55-9728-6C6F2F4DB222}"/>
              </a:ext>
            </a:extLst>
          </p:cNvPr>
          <p:cNvCxnSpPr>
            <a:cxnSpLocks/>
          </p:cNvCxnSpPr>
          <p:nvPr/>
        </p:nvCxnSpPr>
        <p:spPr>
          <a:xfrm>
            <a:off x="10858943" y="4609007"/>
            <a:ext cx="0" cy="939079"/>
          </a:xfrm>
          <a:prstGeom prst="straightConnector1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61FAAD-ABE5-4ACC-9727-E298E5C130A9}"/>
              </a:ext>
            </a:extLst>
          </p:cNvPr>
          <p:cNvCxnSpPr>
            <a:cxnSpLocks/>
          </p:cNvCxnSpPr>
          <p:nvPr/>
        </p:nvCxnSpPr>
        <p:spPr>
          <a:xfrm rot="5400000" flipV="1">
            <a:off x="10858943" y="4425819"/>
            <a:ext cx="0" cy="32405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84FE99-47A9-444C-A5F3-ACBC7580C357}"/>
              </a:ext>
            </a:extLst>
          </p:cNvPr>
          <p:cNvCxnSpPr>
            <a:cxnSpLocks/>
          </p:cNvCxnSpPr>
          <p:nvPr/>
        </p:nvCxnSpPr>
        <p:spPr>
          <a:xfrm rot="5400000" flipV="1">
            <a:off x="10862049" y="5389983"/>
            <a:ext cx="0" cy="32405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E8AF5A-2F22-48E8-8080-39EC129402CD}"/>
              </a:ext>
            </a:extLst>
          </p:cNvPr>
          <p:cNvSpPr txBox="1"/>
          <p:nvPr/>
        </p:nvSpPr>
        <p:spPr>
          <a:xfrm>
            <a:off x="9819901" y="3816621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56FB73-DB61-4850-9853-69F403A5A1D3}"/>
              </a:ext>
            </a:extLst>
          </p:cNvPr>
          <p:cNvSpPr txBox="1"/>
          <p:nvPr/>
        </p:nvSpPr>
        <p:spPr>
          <a:xfrm>
            <a:off x="11027874" y="4762414"/>
            <a:ext cx="4937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47B43A-9293-4DFB-8048-40D3A60DC85E}"/>
              </a:ext>
            </a:extLst>
          </p:cNvPr>
          <p:cNvCxnSpPr>
            <a:cxnSpLocks/>
          </p:cNvCxnSpPr>
          <p:nvPr/>
        </p:nvCxnSpPr>
        <p:spPr>
          <a:xfrm flipV="1">
            <a:off x="8964641" y="4672112"/>
            <a:ext cx="0" cy="16842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4B0EC6-8D06-4316-93E2-E4DED66F2F91}"/>
              </a:ext>
            </a:extLst>
          </p:cNvPr>
          <p:cNvSpPr txBox="1"/>
          <p:nvPr/>
        </p:nvSpPr>
        <p:spPr>
          <a:xfrm>
            <a:off x="7760965" y="6263947"/>
            <a:ext cx="293594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With respect to scene</a:t>
            </a:r>
          </a:p>
        </p:txBody>
      </p:sp>
    </p:spTree>
    <p:extLst>
      <p:ext uri="{BB962C8B-B14F-4D97-AF65-F5344CB8AC3E}">
        <p14:creationId xmlns:p14="http://schemas.microsoft.com/office/powerpoint/2010/main" val="2898055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Coordinates transformation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In the Graphics View Framework, every element has its own coordinates!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28B290-E2FB-453C-8A6E-C8282EEF73C0}"/>
              </a:ext>
            </a:extLst>
          </p:cNvPr>
          <p:cNvSpPr txBox="1"/>
          <p:nvPr/>
        </p:nvSpPr>
        <p:spPr>
          <a:xfrm>
            <a:off x="838201" y="2809130"/>
            <a:ext cx="7428721" cy="384518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ADC68-5350-42E0-B1E4-83DCB9CD41F6}"/>
              </a:ext>
            </a:extLst>
          </p:cNvPr>
          <p:cNvSpPr txBox="1"/>
          <p:nvPr/>
        </p:nvSpPr>
        <p:spPr>
          <a:xfrm>
            <a:off x="1672830" y="3311485"/>
            <a:ext cx="6267518" cy="2804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3C4B4-F60C-49A9-8E91-8109E163CF98}"/>
              </a:ext>
            </a:extLst>
          </p:cNvPr>
          <p:cNvSpPr txBox="1"/>
          <p:nvPr/>
        </p:nvSpPr>
        <p:spPr>
          <a:xfrm>
            <a:off x="4325661" y="3968309"/>
            <a:ext cx="3393406" cy="1626394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5200E-CEEB-4943-844B-32FFD4E7430E}"/>
              </a:ext>
            </a:extLst>
          </p:cNvPr>
          <p:cNvSpPr txBox="1"/>
          <p:nvPr/>
        </p:nvSpPr>
        <p:spPr>
          <a:xfrm rot="2122840">
            <a:off x="2051089" y="4636934"/>
            <a:ext cx="1369571" cy="94852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62897C-AE5F-48A2-951D-06B1E8DDBC49}"/>
              </a:ext>
            </a:extLst>
          </p:cNvPr>
          <p:cNvSpPr txBox="1"/>
          <p:nvPr/>
        </p:nvSpPr>
        <p:spPr>
          <a:xfrm>
            <a:off x="838200" y="2083150"/>
            <a:ext cx="37950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QGraphicsView</a:t>
            </a:r>
            <a:r>
              <a:rPr lang="en-GB" sz="2400" dirty="0">
                <a:latin typeface="Calibri" panose="020F0502020204030204"/>
              </a:rPr>
              <a:t> </a:t>
            </a:r>
            <a:r>
              <a:rPr lang="en-GB" sz="2400" dirty="0" err="1">
                <a:latin typeface="Calibri" panose="020F0502020204030204"/>
              </a:rPr>
              <a:t>obj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83C3D-8CB5-49AF-9A43-53DF053FCA52}"/>
              </a:ext>
            </a:extLst>
          </p:cNvPr>
          <p:cNvSpPr txBox="1"/>
          <p:nvPr/>
        </p:nvSpPr>
        <p:spPr>
          <a:xfrm>
            <a:off x="1610250" y="2714330"/>
            <a:ext cx="37950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sz="2400" dirty="0">
                <a:latin typeface="Calibri" panose="020F0502020204030204"/>
              </a:rPr>
              <a:t> </a:t>
            </a:r>
            <a:r>
              <a:rPr lang="en-GB" sz="2400" dirty="0" err="1">
                <a:latin typeface="Calibri" panose="020F0502020204030204"/>
              </a:rPr>
              <a:t>obj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A77B2-6A34-4EA6-AC5F-B685BA764C42}"/>
              </a:ext>
            </a:extLst>
          </p:cNvPr>
          <p:cNvSpPr txBox="1"/>
          <p:nvPr/>
        </p:nvSpPr>
        <p:spPr>
          <a:xfrm>
            <a:off x="4552367" y="3358097"/>
            <a:ext cx="32769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cs typeface="Courier New" panose="02070309020205020404" pitchFamily="49" charset="0"/>
              </a:rPr>
              <a:t>obj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D5E904-D4BA-4B93-B60E-1781536C6154}"/>
              </a:ext>
            </a:extLst>
          </p:cNvPr>
          <p:cNvCxnSpPr/>
          <p:nvPr/>
        </p:nvCxnSpPr>
        <p:spPr>
          <a:xfrm>
            <a:off x="838200" y="2809130"/>
            <a:ext cx="591716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E2869E-2D08-4884-90E6-394788BD2341}"/>
              </a:ext>
            </a:extLst>
          </p:cNvPr>
          <p:cNvCxnSpPr>
            <a:cxnSpLocks/>
          </p:cNvCxnSpPr>
          <p:nvPr/>
        </p:nvCxnSpPr>
        <p:spPr>
          <a:xfrm>
            <a:off x="849086" y="2809130"/>
            <a:ext cx="0" cy="33948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8307DC-A6F5-4392-8736-C127AAC7E2FB}"/>
              </a:ext>
            </a:extLst>
          </p:cNvPr>
          <p:cNvCxnSpPr>
            <a:cxnSpLocks/>
          </p:cNvCxnSpPr>
          <p:nvPr/>
        </p:nvCxnSpPr>
        <p:spPr>
          <a:xfrm flipV="1">
            <a:off x="1674672" y="3311485"/>
            <a:ext cx="4516189" cy="130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457B7A-19C4-41D9-A9DF-529250BD34B7}"/>
              </a:ext>
            </a:extLst>
          </p:cNvPr>
          <p:cNvCxnSpPr>
            <a:cxnSpLocks/>
          </p:cNvCxnSpPr>
          <p:nvPr/>
        </p:nvCxnSpPr>
        <p:spPr>
          <a:xfrm>
            <a:off x="1672829" y="3311485"/>
            <a:ext cx="0" cy="24828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AA32F2-4890-4C51-8DEA-F39E457A451B}"/>
              </a:ext>
            </a:extLst>
          </p:cNvPr>
          <p:cNvSpPr txBox="1"/>
          <p:nvPr/>
        </p:nvSpPr>
        <p:spPr>
          <a:xfrm>
            <a:off x="6365810" y="2095497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847054-03B9-4F77-9693-07A440FC8510}"/>
              </a:ext>
            </a:extLst>
          </p:cNvPr>
          <p:cNvSpPr txBox="1"/>
          <p:nvPr/>
        </p:nvSpPr>
        <p:spPr>
          <a:xfrm>
            <a:off x="57540" y="2248252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(0,0)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6AAC31-A75F-4DAB-A007-CE296183A203}"/>
              </a:ext>
            </a:extLst>
          </p:cNvPr>
          <p:cNvSpPr txBox="1"/>
          <p:nvPr/>
        </p:nvSpPr>
        <p:spPr>
          <a:xfrm>
            <a:off x="877395" y="2848416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(0,0)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7006A4-2871-44F6-BEDC-A2A3ABF3BEDD}"/>
              </a:ext>
            </a:extLst>
          </p:cNvPr>
          <p:cNvSpPr txBox="1"/>
          <p:nvPr/>
        </p:nvSpPr>
        <p:spPr>
          <a:xfrm>
            <a:off x="304338" y="5755405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y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F2A5D7-2A2B-4A86-9A39-44F98C0298B7}"/>
              </a:ext>
            </a:extLst>
          </p:cNvPr>
          <p:cNvSpPr txBox="1"/>
          <p:nvPr/>
        </p:nvSpPr>
        <p:spPr>
          <a:xfrm>
            <a:off x="5801308" y="2684484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C7A752-B2AC-4D72-9932-A6667FCEB380}"/>
              </a:ext>
            </a:extLst>
          </p:cNvPr>
          <p:cNvSpPr txBox="1"/>
          <p:nvPr/>
        </p:nvSpPr>
        <p:spPr>
          <a:xfrm>
            <a:off x="1203325" y="5212394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y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A223E-D196-47C5-A128-0B25D8B7DDC1}"/>
              </a:ext>
            </a:extLst>
          </p:cNvPr>
          <p:cNvSpPr txBox="1"/>
          <p:nvPr/>
        </p:nvSpPr>
        <p:spPr>
          <a:xfrm>
            <a:off x="3798920" y="3394604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(3,1)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12558-AA49-4124-A06B-058E35705CF8}"/>
              </a:ext>
            </a:extLst>
          </p:cNvPr>
          <p:cNvSpPr txBox="1"/>
          <p:nvPr/>
        </p:nvSpPr>
        <p:spPr>
          <a:xfrm>
            <a:off x="2118266" y="3769310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(1,2)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947712-06B3-406F-88F7-5EF779992756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6021392" y="4781506"/>
            <a:ext cx="1697675" cy="158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40AF13-999D-4B07-A66E-9F64B2D38F55}"/>
              </a:ext>
            </a:extLst>
          </p:cNvPr>
          <p:cNvCxnSpPr>
            <a:cxnSpLocks/>
          </p:cNvCxnSpPr>
          <p:nvPr/>
        </p:nvCxnSpPr>
        <p:spPr>
          <a:xfrm>
            <a:off x="5996084" y="4777579"/>
            <a:ext cx="0" cy="12485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13794EC-1095-40C9-9730-47FD4C1643A3}"/>
              </a:ext>
            </a:extLst>
          </p:cNvPr>
          <p:cNvSpPr txBox="1"/>
          <p:nvPr/>
        </p:nvSpPr>
        <p:spPr>
          <a:xfrm>
            <a:off x="5551519" y="4163916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(0,0)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B323F1-43BC-4AE2-969D-A0C3E22836A6}"/>
              </a:ext>
            </a:extLst>
          </p:cNvPr>
          <p:cNvCxnSpPr>
            <a:cxnSpLocks/>
          </p:cNvCxnSpPr>
          <p:nvPr/>
        </p:nvCxnSpPr>
        <p:spPr>
          <a:xfrm rot="2122840">
            <a:off x="2644188" y="5335415"/>
            <a:ext cx="96396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41B3A04-E29D-4367-B58B-CD92E89DC233}"/>
              </a:ext>
            </a:extLst>
          </p:cNvPr>
          <p:cNvCxnSpPr>
            <a:cxnSpLocks/>
          </p:cNvCxnSpPr>
          <p:nvPr/>
        </p:nvCxnSpPr>
        <p:spPr>
          <a:xfrm rot="2122840">
            <a:off x="2515508" y="5025891"/>
            <a:ext cx="0" cy="7519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BC61B84-1684-4299-9EBB-DDA04A5D5189}"/>
              </a:ext>
            </a:extLst>
          </p:cNvPr>
          <p:cNvSpPr txBox="1"/>
          <p:nvPr/>
        </p:nvSpPr>
        <p:spPr>
          <a:xfrm>
            <a:off x="2278437" y="4510642"/>
            <a:ext cx="81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(0,0)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0E8465-84A7-48FE-BDFA-665566312BEE}"/>
              </a:ext>
            </a:extLst>
          </p:cNvPr>
          <p:cNvSpPr txBox="1"/>
          <p:nvPr/>
        </p:nvSpPr>
        <p:spPr>
          <a:xfrm>
            <a:off x="7373664" y="4636934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9A2CB3-73FD-440D-BFA6-F6B8D74F7AE2}"/>
              </a:ext>
            </a:extLst>
          </p:cNvPr>
          <p:cNvSpPr txBox="1"/>
          <p:nvPr/>
        </p:nvSpPr>
        <p:spPr>
          <a:xfrm>
            <a:off x="6077533" y="5459538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y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02B0EA-93C1-4963-89E3-1F96AC9FCDBA}"/>
              </a:ext>
            </a:extLst>
          </p:cNvPr>
          <p:cNvSpPr txBox="1"/>
          <p:nvPr/>
        </p:nvSpPr>
        <p:spPr>
          <a:xfrm>
            <a:off x="8270248" y="2319368"/>
            <a:ext cx="3780239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The view has the coordinates of the widget.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Items are placed using the scene's coordinates.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Mapping is done using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mapFromScene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400" dirty="0"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mapToScene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400" dirty="0">
                <a:cs typeface="Courier New" panose="02070309020205020404" pitchFamily="49" charset="0"/>
              </a:rPr>
              <a:t>, and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mapFromItem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39763E-D58E-41CE-83B0-E6DF734E8878}"/>
              </a:ext>
            </a:extLst>
          </p:cNvPr>
          <p:cNvSpPr txBox="1"/>
          <p:nvPr/>
        </p:nvSpPr>
        <p:spPr>
          <a:xfrm>
            <a:off x="3164413" y="5383110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052FE8-1731-44CE-B977-5017EC363B12}"/>
              </a:ext>
            </a:extLst>
          </p:cNvPr>
          <p:cNvSpPr txBox="1"/>
          <p:nvPr/>
        </p:nvSpPr>
        <p:spPr>
          <a:xfrm>
            <a:off x="2322815" y="5452820"/>
            <a:ext cx="389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y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28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Derived classes from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1046163" y="1383667"/>
            <a:ext cx="83820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2694226" y="1408450"/>
            <a:ext cx="1463005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Ellipse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6609961" y="1357382"/>
            <a:ext cx="1463005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663940" y="5768384"/>
            <a:ext cx="1463005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4700394" y="1402671"/>
            <a:ext cx="14630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6525691" y="5722775"/>
            <a:ext cx="14630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Pixmap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2488143" y="5700475"/>
            <a:ext cx="1751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SimpleText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4413448" y="5700475"/>
            <a:ext cx="1751045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0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02" y="1885504"/>
            <a:ext cx="7851499" cy="38971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0AA20B-028D-4A44-97BA-8B2BFED1908B}"/>
              </a:ext>
            </a:extLst>
          </p:cNvPr>
          <p:cNvSpPr txBox="1"/>
          <p:nvPr/>
        </p:nvSpPr>
        <p:spPr>
          <a:xfrm>
            <a:off x="8328501" y="1813771"/>
            <a:ext cx="38621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The name of any</a:t>
            </a:r>
            <a:r>
              <a:rPr kumimoji="0" lang="en-GB" sz="24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of these classes is: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</a:t>
            </a:r>
            <a:r>
              <a:rPr lang="en-GB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”word”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GB" sz="2400" dirty="0">
                <a:cs typeface="Courier New" panose="02070309020205020404" pitchFamily="49" charset="0"/>
              </a:rPr>
              <a:t> where </a:t>
            </a:r>
            <a:r>
              <a:rPr lang="en-GB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“word” </a:t>
            </a:r>
            <a:r>
              <a:rPr lang="en-GB" sz="2400" dirty="0">
                <a:cs typeface="Courier New" panose="02070309020205020404" pitchFamily="49" charset="0"/>
              </a:rPr>
              <a:t>is one of    these indicated to the left.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You can</a:t>
            </a:r>
            <a:r>
              <a:rPr kumimoji="0" lang="en-GB" sz="24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define your own custom items.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00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Orbit animation</a:t>
            </a:r>
            <a:endParaRPr lang="en-GB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u="sng" dirty="0"/>
              <a:t>The task</a:t>
            </a:r>
            <a:r>
              <a:rPr lang="en-GB" sz="2400" dirty="0"/>
              <a:t>: Design and implement a Qt-based GUI application that animates the motion of the earth around the sun.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Build the application (demonstration).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405F46-92F5-433E-9892-8ACEDE6E27B6}"/>
              </a:ext>
            </a:extLst>
          </p:cNvPr>
          <p:cNvSpPr txBox="1"/>
          <p:nvPr/>
        </p:nvSpPr>
        <p:spPr>
          <a:xfrm>
            <a:off x="838198" y="3123276"/>
            <a:ext cx="9999135" cy="3658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AA20B-028D-4A44-97BA-8B2BFED1908B}"/>
              </a:ext>
            </a:extLst>
          </p:cNvPr>
          <p:cNvSpPr txBox="1"/>
          <p:nvPr/>
        </p:nvSpPr>
        <p:spPr>
          <a:xfrm>
            <a:off x="838198" y="3021157"/>
            <a:ext cx="99144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Remember to </a:t>
            </a:r>
            <a:r>
              <a:rPr lang="en-GB" sz="2400" dirty="0">
                <a:latin typeface="Calibri" panose="020F0502020204030204"/>
              </a:rPr>
              <a:t>set the scene in the constructor when working with graphics view framework.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Calibri" panose="020F0502020204030204"/>
              </a:rPr>
              <a:t>Because the scene object and the view object are highly dynamic, verify that they interact as intended </a:t>
            </a:r>
            <a:r>
              <a:rPr lang="en-GB" sz="2400" u="sng" dirty="0">
                <a:latin typeface="Calibri" panose="020F0502020204030204"/>
              </a:rPr>
              <a:t>while developing the code</a:t>
            </a:r>
            <a:r>
              <a:rPr lang="en-GB" sz="2400" dirty="0">
                <a:latin typeface="Calibri" panose="020F0502020204030204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cs typeface="Courier New" panose="02070309020205020404" pitchFamily="49" charset="0"/>
              </a:rPr>
              <a:t>When</a:t>
            </a:r>
            <a:r>
              <a:rPr lang="en-GB" sz="2400" dirty="0">
                <a:latin typeface="Calibri" panose="020F0502020204030204"/>
                <a:cs typeface="Courier New" panose="02070309020205020404" pitchFamily="49" charset="0"/>
              </a:rPr>
              <a:t> you need to scale, rotate or shear items, draw a small circle </a:t>
            </a:r>
            <a:r>
              <a:rPr lang="en-GB" sz="2400" dirty="0" err="1">
                <a:latin typeface="Calibri" panose="020F0502020204030204"/>
                <a:cs typeface="Courier New" panose="02070309020205020404" pitchFamily="49" charset="0"/>
              </a:rPr>
              <a:t>centered</a:t>
            </a:r>
            <a:r>
              <a:rPr lang="en-GB" sz="2400" dirty="0">
                <a:latin typeface="Calibri" panose="020F0502020204030204"/>
                <a:cs typeface="Courier New" panose="02070309020205020404" pitchFamily="49" charset="0"/>
              </a:rPr>
              <a:t> at the origin of the scene to keep track of your work. 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091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QTimer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3538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This class provides time synchronised signals in single shot mode and in repetitive mode.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https://doc.qt.io/qt-6/qtimer.html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The signal emitted from an object of this class is called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timeout()</a:t>
            </a:r>
            <a:r>
              <a:rPr lang="en-GB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Combining a Timer object with paint/graphics is the basis for simple animations.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are best implemented using                                                                                                             the signal-slot mechanism.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6D5E904-D4BA-4B93-B60E-1781536C6154}"/>
              </a:ext>
            </a:extLst>
          </p:cNvPr>
          <p:cNvCxnSpPr>
            <a:cxnSpLocks/>
          </p:cNvCxnSpPr>
          <p:nvPr/>
        </p:nvCxnSpPr>
        <p:spPr>
          <a:xfrm flipV="1">
            <a:off x="5698081" y="5673012"/>
            <a:ext cx="4211029" cy="118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E2869E-2D08-4884-90E6-394788BD2341}"/>
              </a:ext>
            </a:extLst>
          </p:cNvPr>
          <p:cNvCxnSpPr>
            <a:cxnSpLocks/>
          </p:cNvCxnSpPr>
          <p:nvPr/>
        </p:nvCxnSpPr>
        <p:spPr>
          <a:xfrm flipV="1">
            <a:off x="5708795" y="4332506"/>
            <a:ext cx="0" cy="13405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0AA32F2-4890-4C51-8DEA-F39E457A451B}"/>
              </a:ext>
            </a:extLst>
          </p:cNvPr>
          <p:cNvSpPr txBox="1"/>
          <p:nvPr/>
        </p:nvSpPr>
        <p:spPr>
          <a:xfrm>
            <a:off x="9909110" y="5315744"/>
            <a:ext cx="152455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cs typeface="Courier New" panose="02070309020205020404" pitchFamily="49" charset="0"/>
              </a:rPr>
              <a:t>t</a:t>
            </a:r>
            <a:r>
              <a:rPr kumimoji="0" lang="en-GB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ime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(</a:t>
            </a:r>
            <a:r>
              <a:rPr kumimoji="0" lang="en-GB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ms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E2869E-2D08-4884-90E6-394788BD2341}"/>
              </a:ext>
            </a:extLst>
          </p:cNvPr>
          <p:cNvCxnSpPr>
            <a:cxnSpLocks/>
          </p:cNvCxnSpPr>
          <p:nvPr/>
        </p:nvCxnSpPr>
        <p:spPr>
          <a:xfrm flipH="1" flipV="1">
            <a:off x="7465963" y="4907205"/>
            <a:ext cx="2420" cy="75988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E2869E-2D08-4884-90E6-394788BD2341}"/>
              </a:ext>
            </a:extLst>
          </p:cNvPr>
          <p:cNvCxnSpPr>
            <a:cxnSpLocks/>
          </p:cNvCxnSpPr>
          <p:nvPr/>
        </p:nvCxnSpPr>
        <p:spPr>
          <a:xfrm flipH="1" flipV="1">
            <a:off x="9257489" y="4907205"/>
            <a:ext cx="2420" cy="75988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BE658EB-C6B1-4F6A-A3A0-226B82CE193A}"/>
              </a:ext>
            </a:extLst>
          </p:cNvPr>
          <p:cNvSpPr txBox="1"/>
          <p:nvPr/>
        </p:nvSpPr>
        <p:spPr>
          <a:xfrm>
            <a:off x="4695803" y="5567313"/>
            <a:ext cx="212095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400" dirty="0">
                <a:cs typeface="Courier New" panose="02070309020205020404" pitchFamily="49" charset="0"/>
              </a:rPr>
              <a:t>t = 0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start(50)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9AC7FD-86A4-4D77-B8BF-C0B03823D372}"/>
              </a:ext>
            </a:extLst>
          </p:cNvPr>
          <p:cNvSpPr txBox="1"/>
          <p:nvPr/>
        </p:nvSpPr>
        <p:spPr>
          <a:xfrm>
            <a:off x="6483206" y="4276920"/>
            <a:ext cx="21209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timeout()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AC6E5A-B607-42C2-BC14-40A8E2982167}"/>
              </a:ext>
            </a:extLst>
          </p:cNvPr>
          <p:cNvSpPr txBox="1"/>
          <p:nvPr/>
        </p:nvSpPr>
        <p:spPr>
          <a:xfrm>
            <a:off x="8440294" y="4301114"/>
            <a:ext cx="21209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timeout()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59509E-AA21-4530-9C22-9DB1D816A6C7}"/>
              </a:ext>
            </a:extLst>
          </p:cNvPr>
          <p:cNvSpPr txBox="1"/>
          <p:nvPr/>
        </p:nvSpPr>
        <p:spPr>
          <a:xfrm>
            <a:off x="6997324" y="5610280"/>
            <a:ext cx="97163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400" dirty="0">
                <a:cs typeface="Courier New" panose="02070309020205020404" pitchFamily="49" charset="0"/>
              </a:rPr>
              <a:t> 50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3405FF-CC61-4A20-B1F7-374CE680041D}"/>
              </a:ext>
            </a:extLst>
          </p:cNvPr>
          <p:cNvSpPr txBox="1"/>
          <p:nvPr/>
        </p:nvSpPr>
        <p:spPr>
          <a:xfrm>
            <a:off x="8739731" y="5610280"/>
            <a:ext cx="97163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GB" sz="2400" dirty="0">
                <a:cs typeface="Courier New" panose="02070309020205020404" pitchFamily="49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746495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QTransform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3538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This class controls the translation, rotation, scaling, and shearing of coordinate system 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Reference: </a:t>
            </a:r>
            <a:r>
              <a:rPr lang="en-GB" sz="2400" dirty="0">
                <a:cs typeface="Courier New" panose="02070309020205020404" pitchFamily="49" charset="0"/>
                <a:hlinkClick r:id="rId3"/>
              </a:rPr>
              <a:t>https://doc.qt.io/qt-6/qtransform.html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Typically used when dealing with graphics, as well as simple drawings using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 works by multiplying the coordinates of every point in the coordinate by a matrix to obtain the new coordinates. The matrix can be automatically generated or specified by the developer.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origin point in any transform is the origin of the view. Unless the function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translate()</a:t>
            </a:r>
            <a:r>
              <a:rPr lang="en-GB" sz="2400" dirty="0">
                <a:cs typeface="Courier New" panose="02070309020205020404" pitchFamily="49" charset="0"/>
              </a:rPr>
              <a:t>is called, which moves the origin point of the transform. </a:t>
            </a: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1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Graphics View Framework vs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0490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 comparison between the two approaches: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QUESTION: When is it better to use one of the two approaches over the other?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259707"/>
              </p:ext>
            </p:extLst>
          </p:nvPr>
        </p:nvGraphicFramePr>
        <p:xfrm>
          <a:off x="838199" y="2017039"/>
          <a:ext cx="11049001" cy="40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449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4528776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  <a:gridCol w="4528776">
                  <a:extLst>
                    <a:ext uri="{9D8B030D-6E8A-4147-A177-3AD203B41FA5}">
                      <a16:colId xmlns:a16="http://schemas.microsoft.com/office/drawing/2014/main" val="1745952657"/>
                    </a:ext>
                  </a:extLst>
                </a:gridCol>
              </a:tblGrid>
              <a:tr h="556286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QPainter</a:t>
                      </a:r>
                      <a:endParaRPr lang="en-GB" sz="2400" b="1" i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Graphics View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1001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Simplified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Similar to changing canvases when a modification is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Similar to changing “stickers” on a single canvas.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1001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Interaction with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Not possible as the drawing is 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Ideal for interaction as every element is an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14463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latin typeface="+mn-lt"/>
                          <a:cs typeface="Courier New" panose="02070309020205020404" pitchFamily="49" charset="0"/>
                        </a:rPr>
                        <a:t>Ease of coding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Relatively 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Requires invoking </a:t>
                      </a: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QTransform</a:t>
                      </a:r>
                      <a:r>
                        <a:rPr lang="en-GB" sz="2400" dirty="0"/>
                        <a:t> when the objects change shape/position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616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6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this lecture, different drawing/graphics approaches in Qt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Painting on widgets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Handling graphics using the Graphics View Framework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QPainter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QPen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QBrush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QRectF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QTimer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QGraphicsView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QGraphicsScene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QGraphicsItem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QTransform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308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</TotalTime>
  <Words>1646</Words>
  <Application>Microsoft Office PowerPoint</Application>
  <PresentationFormat>Widescreen</PresentationFormat>
  <Paragraphs>512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Application Development with C++ (ELEC362)</vt:lpstr>
      <vt:lpstr>Previous lecture </vt:lpstr>
      <vt:lpstr>This lecture</vt:lpstr>
      <vt:lpstr>QPainter Class </vt:lpstr>
      <vt:lpstr>Classes that work with QPainter  </vt:lpstr>
      <vt:lpstr>Painting events </vt:lpstr>
      <vt:lpstr>A sample application: Mouse tracker</vt:lpstr>
      <vt:lpstr>The graphics view framework</vt:lpstr>
      <vt:lpstr>The graphics view framework</vt:lpstr>
      <vt:lpstr>QGraphicsScene Class</vt:lpstr>
      <vt:lpstr>QGraphicsView Class</vt:lpstr>
      <vt:lpstr>QGraphicsItem Class</vt:lpstr>
      <vt:lpstr>Coordinates transformation </vt:lpstr>
      <vt:lpstr>Derived classes from QGraphicsItem </vt:lpstr>
      <vt:lpstr>A sample application: Orbit animation</vt:lpstr>
      <vt:lpstr>QTimer Class</vt:lpstr>
      <vt:lpstr>QTransform Class</vt:lpstr>
      <vt:lpstr>Graphics View Framework vs QPainter  </vt:lpstr>
      <vt:lpstr>Summary 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468</cp:revision>
  <dcterms:created xsi:type="dcterms:W3CDTF">2019-05-09T14:26:54Z</dcterms:created>
  <dcterms:modified xsi:type="dcterms:W3CDTF">2023-11-27T14:36:04Z</dcterms:modified>
</cp:coreProperties>
</file>