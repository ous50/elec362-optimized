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03" r:id="rId3"/>
    <p:sldId id="257" r:id="rId4"/>
    <p:sldId id="258" r:id="rId5"/>
    <p:sldId id="326" r:id="rId6"/>
    <p:sldId id="304" r:id="rId7"/>
    <p:sldId id="329" r:id="rId8"/>
    <p:sldId id="330" r:id="rId9"/>
    <p:sldId id="331" r:id="rId10"/>
    <p:sldId id="340" r:id="rId11"/>
    <p:sldId id="332" r:id="rId12"/>
    <p:sldId id="333" r:id="rId13"/>
    <p:sldId id="341" r:id="rId14"/>
    <p:sldId id="334" r:id="rId15"/>
    <p:sldId id="33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E7"/>
    <a:srgbClr val="008000"/>
    <a:srgbClr val="0000FF"/>
    <a:srgbClr val="6F008A"/>
    <a:srgbClr val="660066"/>
    <a:srgbClr val="E9E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846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057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6411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482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568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180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278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1537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733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295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8800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3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14/10/2024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14/10/2024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14/10/2024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14/10/2024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14/10/2024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14/10/2024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stl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vector/vector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queue/queue/?kw=queu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array/array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deque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list/list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forward_list/forward_list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map/map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10: Standard Template Library (STL)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79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/>
              <a:t>The concept of class Inheritance was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Different types of class inherence were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An introduction to C++ libraries was given, and the different types of linking were discussed.</a:t>
            </a:r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70000"/>
              </a:lnSpc>
              <a:buNone/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2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07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1. Standard Template Library (STL)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is it covered?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STL is the most widely used library in all of C++.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How are topics covered in this lecture: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4 source codes, and a live demonstration on documentation.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r>
              <a:rPr lang="en-GB" sz="2400" dirty="0"/>
              <a:t>Data structure management is a common aspect in almost every programme.</a:t>
            </a:r>
          </a:p>
          <a:p>
            <a:r>
              <a:rPr lang="en-GB" sz="2400" dirty="0"/>
              <a:t>The Standard Template Library (STL) is a built-in library in C++, primarily used for data structures.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All templates of STL are defined in namespace std.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Components of STL can be classified into three major categories: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1. Containers: used to manage and store collections of objects of a certain kind.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2. Algorithms: provide the means by which one performs initialisation, sorting, etc.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3. Iterators: used to step through the collection of objects (i.e. containers).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Standard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4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50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Some iterators belong to a specific type of containers, while others are stand-alone objects.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Almost all objects in STL are allocated on the heap.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Standard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83C9A347-5FF2-43A3-9F23-4AA80C95EC18}"/>
              </a:ext>
            </a:extLst>
          </p:cNvPr>
          <p:cNvSpPr/>
          <p:nvPr/>
        </p:nvSpPr>
        <p:spPr>
          <a:xfrm>
            <a:off x="7249655" y="2024131"/>
            <a:ext cx="2625213" cy="1533832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DBBC00-474F-42B0-87D6-0BCA21A5527F}"/>
              </a:ext>
            </a:extLst>
          </p:cNvPr>
          <p:cNvSpPr/>
          <p:nvPr/>
        </p:nvSpPr>
        <p:spPr>
          <a:xfrm>
            <a:off x="7834676" y="2313850"/>
            <a:ext cx="196645" cy="196645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00F8FBC-2A49-421F-A04C-55DFC2946F65}"/>
              </a:ext>
            </a:extLst>
          </p:cNvPr>
          <p:cNvSpPr/>
          <p:nvPr/>
        </p:nvSpPr>
        <p:spPr>
          <a:xfrm>
            <a:off x="9078455" y="2275660"/>
            <a:ext cx="196645" cy="196645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ECB51F1-72C2-4BE8-92A1-F8A2025F52DC}"/>
              </a:ext>
            </a:extLst>
          </p:cNvPr>
          <p:cNvSpPr/>
          <p:nvPr/>
        </p:nvSpPr>
        <p:spPr>
          <a:xfrm>
            <a:off x="8419684" y="3236122"/>
            <a:ext cx="196645" cy="196645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8A80E76-BBB6-4B72-B357-8633DC1C5ADD}"/>
              </a:ext>
            </a:extLst>
          </p:cNvPr>
          <p:cNvSpPr txBox="1"/>
          <p:nvPr/>
        </p:nvSpPr>
        <p:spPr>
          <a:xfrm>
            <a:off x="7485629" y="2503451"/>
            <a:ext cx="112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Object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C66334-BDDB-4212-804A-24F1522ACA43}"/>
              </a:ext>
            </a:extLst>
          </p:cNvPr>
          <p:cNvSpPr txBox="1"/>
          <p:nvPr/>
        </p:nvSpPr>
        <p:spPr>
          <a:xfrm>
            <a:off x="8678466" y="2524253"/>
            <a:ext cx="112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Object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B3E7FD-3A9E-4934-8ABE-115333EDDB8B}"/>
              </a:ext>
            </a:extLst>
          </p:cNvPr>
          <p:cNvSpPr txBox="1"/>
          <p:nvPr/>
        </p:nvSpPr>
        <p:spPr>
          <a:xfrm>
            <a:off x="8031321" y="2862620"/>
            <a:ext cx="112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Object 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DE5BB3-EE0B-4FD0-867F-2FD8824004CD}"/>
              </a:ext>
            </a:extLst>
          </p:cNvPr>
          <p:cNvSpPr txBox="1"/>
          <p:nvPr/>
        </p:nvSpPr>
        <p:spPr>
          <a:xfrm>
            <a:off x="7957578" y="1643499"/>
            <a:ext cx="146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Container 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46DF94-E332-401B-89D8-EE64A9478959}"/>
              </a:ext>
            </a:extLst>
          </p:cNvPr>
          <p:cNvSpPr txBox="1"/>
          <p:nvPr/>
        </p:nvSpPr>
        <p:spPr>
          <a:xfrm>
            <a:off x="5288122" y="2042840"/>
            <a:ext cx="163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Algorithm 1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DD4E949-561C-4C3D-8F77-31A74DBFFDBC}"/>
              </a:ext>
            </a:extLst>
          </p:cNvPr>
          <p:cNvSpPr/>
          <p:nvPr/>
        </p:nvSpPr>
        <p:spPr>
          <a:xfrm>
            <a:off x="1895974" y="2274851"/>
            <a:ext cx="2625213" cy="1533832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F4DF51-3639-4334-8759-191FE4D6E3A2}"/>
              </a:ext>
            </a:extLst>
          </p:cNvPr>
          <p:cNvSpPr txBox="1"/>
          <p:nvPr/>
        </p:nvSpPr>
        <p:spPr>
          <a:xfrm>
            <a:off x="2603897" y="1894219"/>
            <a:ext cx="146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Container 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F62A190-2397-4EED-89A7-D10C0A92F141}"/>
              </a:ext>
            </a:extLst>
          </p:cNvPr>
          <p:cNvSpPr/>
          <p:nvPr/>
        </p:nvSpPr>
        <p:spPr>
          <a:xfrm>
            <a:off x="2510493" y="2555980"/>
            <a:ext cx="196645" cy="196645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D837BD-484D-418F-B85F-3C6FC282B737}"/>
              </a:ext>
            </a:extLst>
          </p:cNvPr>
          <p:cNvSpPr/>
          <p:nvPr/>
        </p:nvSpPr>
        <p:spPr>
          <a:xfrm>
            <a:off x="3306902" y="3414417"/>
            <a:ext cx="196645" cy="196645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1999BA-6EE5-44DA-8D86-1BF980D8186C}"/>
              </a:ext>
            </a:extLst>
          </p:cNvPr>
          <p:cNvSpPr txBox="1"/>
          <p:nvPr/>
        </p:nvSpPr>
        <p:spPr>
          <a:xfrm>
            <a:off x="2844785" y="3056015"/>
            <a:ext cx="112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Object 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FFEC34-4BF8-4338-A411-5B98561D1C9C}"/>
              </a:ext>
            </a:extLst>
          </p:cNvPr>
          <p:cNvSpPr txBox="1"/>
          <p:nvPr/>
        </p:nvSpPr>
        <p:spPr>
          <a:xfrm>
            <a:off x="2158452" y="2781525"/>
            <a:ext cx="112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Object 1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92DD592-A54A-4917-BC16-83A86C5F2F7A}"/>
              </a:ext>
            </a:extLst>
          </p:cNvPr>
          <p:cNvCxnSpPr>
            <a:cxnSpLocks/>
          </p:cNvCxnSpPr>
          <p:nvPr/>
        </p:nvCxnSpPr>
        <p:spPr>
          <a:xfrm>
            <a:off x="6455701" y="2357846"/>
            <a:ext cx="1803188" cy="957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58D9B88-883B-4A0E-86E3-9A8FB8172860}"/>
              </a:ext>
            </a:extLst>
          </p:cNvPr>
          <p:cNvSpPr txBox="1"/>
          <p:nvPr/>
        </p:nvSpPr>
        <p:spPr>
          <a:xfrm>
            <a:off x="6163196" y="2654303"/>
            <a:ext cx="163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Iterator 1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3655573" y="2342847"/>
            <a:ext cx="1719478" cy="10715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6BD564B-9E65-4588-8CAE-C53EEB9B3FF4}"/>
              </a:ext>
            </a:extLst>
          </p:cNvPr>
          <p:cNvSpPr txBox="1"/>
          <p:nvPr/>
        </p:nvSpPr>
        <p:spPr>
          <a:xfrm>
            <a:off x="4565448" y="2707441"/>
            <a:ext cx="163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Iterator 2</a:t>
            </a:r>
          </a:p>
        </p:txBody>
      </p:sp>
    </p:spTree>
    <p:extLst>
      <p:ext uri="{BB962C8B-B14F-4D97-AF65-F5344CB8AC3E}">
        <p14:creationId xmlns:p14="http://schemas.microsoft.com/office/powerpoint/2010/main" val="368450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0394"/>
            <a:ext cx="10890380" cy="4323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A container is a holder object that stores a collection of other objects (its elements).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There are two categories of containers: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dirty="0"/>
              <a:t>Sequential containers: maintains the orders of the inserted elements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       Examples: </a:t>
            </a:r>
            <a:r>
              <a:rPr lang="en-GB" sz="2400" b="1" dirty="0">
                <a:solidFill>
                  <a:srgbClr val="00B0F0"/>
                </a:solidFill>
                <a:latin typeface="Courier"/>
              </a:rPr>
              <a:t>vector</a:t>
            </a:r>
            <a:r>
              <a:rPr lang="en-GB" sz="2400" b="1" dirty="0">
                <a:latin typeface="Courier"/>
              </a:rPr>
              <a:t> &lt;T&gt;, </a:t>
            </a:r>
            <a:r>
              <a:rPr lang="en-GB" sz="2400" b="1" dirty="0">
                <a:solidFill>
                  <a:srgbClr val="00B0F0"/>
                </a:solidFill>
                <a:latin typeface="Courier"/>
              </a:rPr>
              <a:t>array</a:t>
            </a:r>
            <a:r>
              <a:rPr lang="en-GB" sz="2400" b="1" dirty="0">
                <a:latin typeface="Courier"/>
              </a:rPr>
              <a:t> &lt;</a:t>
            </a:r>
            <a:r>
              <a:rPr lang="en-GB" sz="2400" b="1" dirty="0" err="1">
                <a:latin typeface="Courier"/>
              </a:rPr>
              <a:t>T,n</a:t>
            </a:r>
            <a:r>
              <a:rPr lang="en-GB" sz="2400" b="1" dirty="0">
                <a:latin typeface="Courier"/>
              </a:rPr>
              <a:t>&gt;, </a:t>
            </a:r>
            <a:r>
              <a:rPr lang="en-GB" sz="2400" b="1" dirty="0" err="1">
                <a:solidFill>
                  <a:srgbClr val="00B0F0"/>
                </a:solidFill>
                <a:latin typeface="Courier"/>
              </a:rPr>
              <a:t>deque</a:t>
            </a:r>
            <a:r>
              <a:rPr lang="en-GB" sz="2400" b="1" dirty="0">
                <a:latin typeface="Courier"/>
              </a:rPr>
              <a:t> &lt;T&gt;, </a:t>
            </a:r>
            <a:r>
              <a:rPr lang="en-GB" sz="2400" b="1" dirty="0">
                <a:solidFill>
                  <a:srgbClr val="00B0F0"/>
                </a:solidFill>
                <a:latin typeface="Courier"/>
              </a:rPr>
              <a:t>list</a:t>
            </a:r>
            <a:r>
              <a:rPr lang="en-GB" sz="2400" b="1" dirty="0">
                <a:latin typeface="Courier"/>
              </a:rPr>
              <a:t> &lt;T&gt;</a:t>
            </a:r>
          </a:p>
          <a:p>
            <a:pPr marL="449263" indent="-449263" defTabSz="541338">
              <a:lnSpc>
                <a:spcPct val="150000"/>
              </a:lnSpc>
              <a:buAutoNum type="arabicPeriod" startAt="2"/>
            </a:pPr>
            <a:r>
              <a:rPr lang="en-GB" sz="2400" dirty="0"/>
              <a:t>Associative containers: elements are ordered based on a criteria set by a “key”.</a:t>
            </a:r>
          </a:p>
          <a:p>
            <a:pPr marL="0" indent="0" defTabSz="541338">
              <a:lnSpc>
                <a:spcPct val="150000"/>
              </a:lnSpc>
              <a:buNone/>
            </a:pPr>
            <a:r>
              <a:rPr lang="en-GB" sz="2400" dirty="0"/>
              <a:t>       Examples: </a:t>
            </a:r>
            <a:r>
              <a:rPr lang="en-GB" sz="2400" b="1" dirty="0">
                <a:solidFill>
                  <a:srgbClr val="00B0F0"/>
                </a:solidFill>
                <a:latin typeface="Courier"/>
              </a:rPr>
              <a:t>set</a:t>
            </a:r>
            <a:r>
              <a:rPr lang="en-GB" sz="2400" b="1" dirty="0">
                <a:latin typeface="Courier"/>
              </a:rPr>
              <a:t> &lt;T&gt;, </a:t>
            </a:r>
            <a:r>
              <a:rPr lang="en-GB" sz="2400" b="1" dirty="0">
                <a:solidFill>
                  <a:srgbClr val="00B0F0"/>
                </a:solidFill>
                <a:latin typeface="Courier"/>
              </a:rPr>
              <a:t>map</a:t>
            </a:r>
            <a:r>
              <a:rPr lang="en-GB" sz="2400" b="1" dirty="0">
                <a:latin typeface="Courier"/>
              </a:rPr>
              <a:t> &lt;</a:t>
            </a:r>
            <a:r>
              <a:rPr lang="en-GB" sz="2400" b="1" dirty="0" err="1">
                <a:latin typeface="Courier"/>
              </a:rPr>
              <a:t>k,T</a:t>
            </a:r>
            <a:r>
              <a:rPr lang="en-GB" sz="2400" b="1" dirty="0">
                <a:latin typeface="Courier"/>
              </a:rPr>
              <a:t>&gt;, </a:t>
            </a:r>
            <a:r>
              <a:rPr lang="en-GB" sz="2400" b="1" dirty="0">
                <a:solidFill>
                  <a:srgbClr val="00B0F0"/>
                </a:solidFill>
                <a:latin typeface="Courier"/>
              </a:rPr>
              <a:t>multiset</a:t>
            </a:r>
            <a:r>
              <a:rPr lang="en-GB" sz="2400" b="1" dirty="0">
                <a:latin typeface="Courier"/>
              </a:rPr>
              <a:t> &lt;T&gt;, </a:t>
            </a:r>
            <a:r>
              <a:rPr lang="en-GB" sz="2400" b="1" dirty="0" err="1">
                <a:solidFill>
                  <a:srgbClr val="00B0F0"/>
                </a:solidFill>
                <a:latin typeface="Courier"/>
              </a:rPr>
              <a:t>bitset</a:t>
            </a:r>
            <a:r>
              <a:rPr lang="en-GB" sz="2400" b="1" dirty="0">
                <a:latin typeface="Courier"/>
              </a:rPr>
              <a:t> &lt;n&gt;</a:t>
            </a:r>
          </a:p>
          <a:p>
            <a:pPr defTabSz="541338">
              <a:lnSpc>
                <a:spcPct val="15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http://www.cplusplus.com/reference/stl/</a:t>
            </a:r>
            <a:r>
              <a:rPr lang="en-GB" sz="2400" dirty="0"/>
              <a:t> (demonstration)</a:t>
            </a:r>
          </a:p>
          <a:p>
            <a:pPr marL="0" indent="0" defTabSz="541338">
              <a:lnSpc>
                <a:spcPct val="120000"/>
              </a:lnSpc>
              <a:buNone/>
            </a:pPr>
            <a:endParaRPr lang="en-GB" sz="2400" dirty="0"/>
          </a:p>
          <a:p>
            <a:pPr marL="541338" indent="-541338" defTabSz="541338">
              <a:lnSpc>
                <a:spcPct val="120000"/>
              </a:lnSpc>
              <a:buAutoNum type="arabicPeriod" startAt="2"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Containers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022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0394"/>
            <a:ext cx="10890380" cy="4323606"/>
          </a:xfrm>
        </p:spPr>
        <p:txBody>
          <a:bodyPr>
            <a:noAutofit/>
          </a:bodyPr>
          <a:lstStyle/>
          <a:p>
            <a:pPr marL="0" indent="0" defTabSz="541338">
              <a:lnSpc>
                <a:spcPct val="120000"/>
              </a:lnSpc>
              <a:buNone/>
            </a:pPr>
            <a:endParaRPr lang="en-GB" sz="2400" dirty="0"/>
          </a:p>
          <a:p>
            <a:pPr marL="541338" indent="-541338" defTabSz="541338">
              <a:lnSpc>
                <a:spcPct val="120000"/>
              </a:lnSpc>
              <a:buAutoNum type="arabicPeriod" startAt="2"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Sequence containers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3962532" y="2249821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B396B5-29B7-4C6E-A9D8-6557D34BB6E5}"/>
              </a:ext>
            </a:extLst>
          </p:cNvPr>
          <p:cNvSpPr/>
          <p:nvPr/>
        </p:nvSpPr>
        <p:spPr>
          <a:xfrm>
            <a:off x="3181775" y="2255159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A0C10C-E3DB-4B1C-BCAB-15A860967E6D}"/>
              </a:ext>
            </a:extLst>
          </p:cNvPr>
          <p:cNvSpPr/>
          <p:nvPr/>
        </p:nvSpPr>
        <p:spPr>
          <a:xfrm>
            <a:off x="2407424" y="2252925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2458326" y="2425388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3229016" y="2416573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4018485" y="2425388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5024038" y="1711126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5061213" y="1877877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3957391" y="2243038"/>
            <a:ext cx="767029" cy="8195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969854" y="2255159"/>
            <a:ext cx="767029" cy="8195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2795232" y="3061938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3563526" y="3067959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4328869" y="3084862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4888358" y="2523926"/>
            <a:ext cx="481813" cy="21067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2070671" y="3618418"/>
            <a:ext cx="2900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Random access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1310583" y="1545632"/>
            <a:ext cx="3351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Delete/insert at the end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>
            <a:off x="4120774" y="1908524"/>
            <a:ext cx="208095" cy="334164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-18276" y="2385795"/>
            <a:ext cx="23326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00B0F0"/>
                </a:solidFill>
                <a:latin typeface="Courier"/>
              </a:rPr>
              <a:t>vector</a:t>
            </a:r>
            <a:r>
              <a:rPr lang="en-GB" sz="2800" b="1" dirty="0">
                <a:latin typeface="Courier"/>
              </a:rPr>
              <a:t> &lt;T&gt;</a:t>
            </a:r>
            <a:endParaRPr lang="en-GB" sz="2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B396B5-29B7-4C6E-A9D8-6557D34BB6E5}"/>
              </a:ext>
            </a:extLst>
          </p:cNvPr>
          <p:cNvSpPr/>
          <p:nvPr/>
        </p:nvSpPr>
        <p:spPr>
          <a:xfrm>
            <a:off x="4195652" y="4972959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A0C10C-E3DB-4B1C-BCAB-15A860967E6D}"/>
              </a:ext>
            </a:extLst>
          </p:cNvPr>
          <p:cNvSpPr/>
          <p:nvPr/>
        </p:nvSpPr>
        <p:spPr>
          <a:xfrm>
            <a:off x="3421301" y="4970725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9DE9881-D7B9-432B-920D-E7710A831E37}"/>
              </a:ext>
            </a:extLst>
          </p:cNvPr>
          <p:cNvSpPr/>
          <p:nvPr/>
        </p:nvSpPr>
        <p:spPr>
          <a:xfrm>
            <a:off x="2653007" y="4969856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2694180" y="5143188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3472203" y="5143188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4242893" y="5134373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0" y="5135724"/>
            <a:ext cx="25474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00B0F0"/>
                </a:solidFill>
                <a:latin typeface="Courier"/>
              </a:rPr>
              <a:t>array</a:t>
            </a:r>
            <a:r>
              <a:rPr lang="en-GB" sz="2800" b="1" dirty="0">
                <a:latin typeface="Courier"/>
              </a:rPr>
              <a:t> &lt;</a:t>
            </a:r>
            <a:r>
              <a:rPr lang="en-GB" sz="2800" b="1" dirty="0" err="1">
                <a:latin typeface="Courier"/>
              </a:rPr>
              <a:t>T,n</a:t>
            </a:r>
            <a:r>
              <a:rPr lang="en-GB" sz="2800" b="1" dirty="0">
                <a:latin typeface="Courier"/>
              </a:rPr>
              <a:t>&gt;</a:t>
            </a:r>
            <a:endParaRPr lang="en-GB" sz="28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3040820" y="5802697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3809114" y="5796676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4577408" y="5802697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2358810" y="6330649"/>
            <a:ext cx="2900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Random access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2651853" y="4792053"/>
            <a:ext cx="2319415" cy="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V="1">
            <a:off x="4971268" y="4552242"/>
            <a:ext cx="0" cy="424904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V="1">
            <a:off x="2652558" y="4552242"/>
            <a:ext cx="0" cy="424904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1651250" y="4172087"/>
            <a:ext cx="4262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Fixed number of elements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9883" y="2662644"/>
            <a:ext cx="21178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 err="1">
                <a:solidFill>
                  <a:srgbClr val="00B0F0"/>
                </a:solidFill>
                <a:latin typeface="Courier"/>
              </a:rPr>
              <a:t>deque</a:t>
            </a:r>
            <a:r>
              <a:rPr lang="en-GB" sz="2800" b="1" dirty="0">
                <a:latin typeface="Courier"/>
              </a:rPr>
              <a:t> &lt;T&gt;</a:t>
            </a:r>
            <a:endParaRPr lang="en-GB" sz="28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10325232" y="2364121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9B396B5-29B7-4C6E-A9D8-6557D34BB6E5}"/>
              </a:ext>
            </a:extLst>
          </p:cNvPr>
          <p:cNvSpPr/>
          <p:nvPr/>
        </p:nvSpPr>
        <p:spPr>
          <a:xfrm>
            <a:off x="9544475" y="2369459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A0C10C-E3DB-4B1C-BCAB-15A860967E6D}"/>
              </a:ext>
            </a:extLst>
          </p:cNvPr>
          <p:cNvSpPr/>
          <p:nvPr/>
        </p:nvSpPr>
        <p:spPr>
          <a:xfrm>
            <a:off x="8770124" y="2367225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821026" y="2539688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9591716" y="2530873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10381185" y="2539688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11358163" y="1796851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11395338" y="1963602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9157932" y="3176238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9926226" y="3182259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10691569" y="3199162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11222483" y="2609651"/>
            <a:ext cx="481813" cy="21067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562792" y="3724920"/>
            <a:ext cx="2900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Random access</a:t>
            </a:r>
          </a:p>
        </p:txBody>
      </p:sp>
      <p:cxnSp>
        <p:nvCxnSpPr>
          <p:cNvPr id="75" name="Straight Connector 74"/>
          <p:cNvCxnSpPr/>
          <p:nvPr/>
        </p:nvCxnSpPr>
        <p:spPr>
          <a:xfrm flipH="1">
            <a:off x="10301041" y="2376388"/>
            <a:ext cx="767029" cy="8195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10313504" y="2388509"/>
            <a:ext cx="767029" cy="8195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>
            <a:off x="8767516" y="2357338"/>
            <a:ext cx="767029" cy="8195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8779979" y="2369459"/>
            <a:ext cx="767029" cy="8195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7738663" y="1692076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7775838" y="1858827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>
            <a:off x="8122779" y="2504876"/>
            <a:ext cx="583919" cy="352794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515045" y="1545391"/>
            <a:ext cx="2965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Delete/insert at both ends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04944" y="5135724"/>
            <a:ext cx="1903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00B0F0"/>
                </a:solidFill>
                <a:latin typeface="Courier"/>
              </a:rPr>
              <a:t>list</a:t>
            </a:r>
            <a:r>
              <a:rPr lang="en-GB" sz="2800" b="1" dirty="0">
                <a:latin typeface="Courier"/>
              </a:rPr>
              <a:t> &lt;T&gt;</a:t>
            </a:r>
            <a:endParaRPr lang="en-GB" sz="28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9B396B5-29B7-4C6E-A9D8-6557D34BB6E5}"/>
              </a:ext>
            </a:extLst>
          </p:cNvPr>
          <p:cNvSpPr/>
          <p:nvPr/>
        </p:nvSpPr>
        <p:spPr>
          <a:xfrm>
            <a:off x="10891461" y="5036531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9DE9881-D7B9-432B-920D-E7710A831E37}"/>
              </a:ext>
            </a:extLst>
          </p:cNvPr>
          <p:cNvSpPr/>
          <p:nvPr/>
        </p:nvSpPr>
        <p:spPr>
          <a:xfrm>
            <a:off x="8444207" y="5046056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485380" y="5219388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9692028" y="5209863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10936731" y="5149291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9DE9881-D7B9-432B-920D-E7710A831E37}"/>
              </a:ext>
            </a:extLst>
          </p:cNvPr>
          <p:cNvSpPr/>
          <p:nvPr/>
        </p:nvSpPr>
        <p:spPr>
          <a:xfrm>
            <a:off x="9663482" y="5036531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9224836" y="5297208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>
            <a:off x="9215193" y="5535117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10424986" y="5287683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>
            <a:off x="10415343" y="5525592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7977014" y="5275432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>
            <a:off x="11671877" y="5535117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154828" y="4450997"/>
            <a:ext cx="3555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Delete/insert anywhere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273387" y="5926836"/>
            <a:ext cx="3555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Bidirectional access</a:t>
            </a:r>
          </a:p>
        </p:txBody>
      </p:sp>
    </p:spTree>
    <p:extLst>
      <p:ext uri="{BB962C8B-B14F-4D97-AF65-F5344CB8AC3E}">
        <p14:creationId xmlns:p14="http://schemas.microsoft.com/office/powerpoint/2010/main" val="3056412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The most widely used container for dynamic allocation.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It allows editing at the end only.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Can be included in any code using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&lt;vector&gt;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Ref: </a:t>
            </a:r>
            <a:r>
              <a:rPr lang="en-GB" sz="2400" dirty="0">
                <a:hlinkClick r:id="rId3"/>
              </a:rPr>
              <a:t>http://www.cplusplus.com/reference/vector/vector/</a:t>
            </a: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The functions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size()</a:t>
            </a:r>
            <a:r>
              <a:rPr lang="en-GB" sz="2400" dirty="0"/>
              <a:t>and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capacity()</a:t>
            </a:r>
            <a:r>
              <a:rPr lang="en-GB" sz="2400" dirty="0"/>
              <a:t>are important                                                             in codes where the size of the vector changes rapidly.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The function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size()</a:t>
            </a:r>
            <a:r>
              <a:rPr lang="en-GB" sz="2400" dirty="0">
                <a:cs typeface="Courier New" panose="02070309020205020404" pitchFamily="49" charset="0"/>
              </a:rPr>
              <a:t>returns the </a:t>
            </a:r>
            <a:r>
              <a:rPr lang="en-GB" sz="2400" u="sng" dirty="0">
                <a:cs typeface="Courier New" panose="02070309020205020404" pitchFamily="49" charset="0"/>
              </a:rPr>
              <a:t>number of elements </a:t>
            </a:r>
            <a:r>
              <a:rPr lang="en-GB" sz="2400" dirty="0">
                <a:cs typeface="Courier New" panose="02070309020205020404" pitchFamily="49" charset="0"/>
              </a:rPr>
              <a:t>in the vector while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capacity()</a:t>
            </a:r>
            <a:r>
              <a:rPr lang="en-GB" sz="2400" dirty="0">
                <a:cs typeface="Courier New" panose="02070309020205020404" pitchFamily="49" charset="0"/>
              </a:rPr>
              <a:t>returns the </a:t>
            </a:r>
            <a:r>
              <a:rPr lang="en-GB" sz="2400" u="sng" dirty="0">
                <a:cs typeface="Courier New" panose="02070309020205020404" pitchFamily="49" charset="0"/>
              </a:rPr>
              <a:t>free memory set aside </a:t>
            </a:r>
            <a:r>
              <a:rPr lang="en-GB" sz="2400" dirty="0">
                <a:cs typeface="Courier New" panose="02070309020205020404" pitchFamily="49" charset="0"/>
              </a:rPr>
              <a:t>for growth of the vector. 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cs typeface="Courier New" panose="02070309020205020404" pitchFamily="49" charset="0"/>
              </a:rPr>
              <a:t>Go to </a:t>
            </a:r>
            <a:r>
              <a:rPr lang="en-GB" sz="2400" dirty="0">
                <a:solidFill>
                  <a:srgbClr val="00B050"/>
                </a:solidFill>
              </a:rPr>
              <a:t>L10D1.cpp </a:t>
            </a:r>
            <a:r>
              <a:rPr lang="en-GB" sz="2400" dirty="0"/>
              <a:t>and </a:t>
            </a:r>
            <a:r>
              <a:rPr lang="en-GB" sz="2400" dirty="0">
                <a:solidFill>
                  <a:srgbClr val="00B050"/>
                </a:solidFill>
              </a:rPr>
              <a:t>L10D2.cpp</a:t>
            </a: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10446090" y="2249821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B396B5-29B7-4C6E-A9D8-6557D34BB6E5}"/>
              </a:ext>
            </a:extLst>
          </p:cNvPr>
          <p:cNvSpPr/>
          <p:nvPr/>
        </p:nvSpPr>
        <p:spPr>
          <a:xfrm>
            <a:off x="9665333" y="2255159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A0C10C-E3DB-4B1C-BCAB-15A860967E6D}"/>
              </a:ext>
            </a:extLst>
          </p:cNvPr>
          <p:cNvSpPr/>
          <p:nvPr/>
        </p:nvSpPr>
        <p:spPr>
          <a:xfrm>
            <a:off x="8890982" y="2252925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941884" y="2425388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9712574" y="2416573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11359548" y="1711126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11396723" y="1877877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10440949" y="2243038"/>
            <a:ext cx="767029" cy="8195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9282949" y="3090890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11223868" y="2523926"/>
            <a:ext cx="481813" cy="21067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691340" y="3547405"/>
            <a:ext cx="2900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Random access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178291" y="1515034"/>
            <a:ext cx="3351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Delete/insert at the end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10060251" y="3070193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10472721" y="2416572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prstClr val="black"/>
                </a:solidFill>
              </a:rPr>
              <a:t>Obj</a:t>
            </a:r>
            <a:endParaRPr lang="en-GB" sz="2400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10448271" y="2262712"/>
            <a:ext cx="767029" cy="8195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10847020" y="3073365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>
            <a:off x="10709239" y="1917804"/>
            <a:ext cx="208095" cy="334164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006102" y="5679756"/>
            <a:ext cx="9135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Good practice note: </a:t>
            </a:r>
            <a:r>
              <a:rPr lang="en-GB" sz="2400" dirty="0"/>
              <a:t>Whenever possible use vectors instead of basic dynamic memory allocation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9" y="5691104"/>
            <a:ext cx="9333561" cy="8990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3748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23"/>
            <a:ext cx="11001375" cy="4323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Memory pre-allocation significantly increases the speed of the programme.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It is possible to control memory pre-allocation of containers by using allocators.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cs typeface="Courier New" panose="02070309020205020404" pitchFamily="49" charset="0"/>
              </a:rPr>
              <a:t>Example: </a:t>
            </a:r>
            <a:r>
              <a:rPr lang="en-GB" sz="2400" b="1" dirty="0">
                <a:solidFill>
                  <a:srgbClr val="00B0F0"/>
                </a:solidFill>
                <a:latin typeface="Courier"/>
              </a:rPr>
              <a:t>vector</a:t>
            </a:r>
            <a:r>
              <a:rPr lang="en-GB" sz="2400" b="1" dirty="0">
                <a:latin typeface="Courier"/>
              </a:rPr>
              <a:t> &lt;T, </a:t>
            </a:r>
            <a:r>
              <a:rPr lang="en-GB" sz="2400" b="1" dirty="0">
                <a:solidFill>
                  <a:srgbClr val="00B0F0"/>
                </a:solidFill>
                <a:latin typeface="Courier"/>
              </a:rPr>
              <a:t>allocator</a:t>
            </a:r>
            <a:r>
              <a:rPr lang="en-GB" sz="2400" b="1" dirty="0">
                <a:latin typeface="Courier"/>
              </a:rPr>
              <a:t> &lt;T&gt;&gt;</a:t>
            </a:r>
            <a:r>
              <a:rPr lang="en-GB" sz="2400" dirty="0"/>
              <a:t>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It is also possible to modify the editing properties of a container by using adaptors.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 </a:t>
            </a:r>
            <a:r>
              <a:rPr lang="en-GB" sz="2400" dirty="0">
                <a:cs typeface="Courier New" panose="02070309020205020404" pitchFamily="49" charset="0"/>
              </a:rPr>
              <a:t>Example: </a:t>
            </a:r>
            <a:r>
              <a:rPr lang="en-GB" sz="2400" b="1" dirty="0">
                <a:solidFill>
                  <a:srgbClr val="00B0F0"/>
                </a:solidFill>
                <a:latin typeface="Courier"/>
              </a:rPr>
              <a:t>queue</a:t>
            </a:r>
            <a:r>
              <a:rPr lang="en-GB" sz="2400" b="1" dirty="0">
                <a:latin typeface="Courier"/>
              </a:rPr>
              <a:t> &lt;T, </a:t>
            </a:r>
            <a:r>
              <a:rPr lang="en-GB" sz="2400" b="1" dirty="0">
                <a:solidFill>
                  <a:srgbClr val="00B0F0"/>
                </a:solidFill>
                <a:latin typeface="Courier"/>
              </a:rPr>
              <a:t>vector</a:t>
            </a:r>
            <a:r>
              <a:rPr lang="en-GB" sz="2400" b="1" dirty="0">
                <a:latin typeface="Courier"/>
              </a:rPr>
              <a:t> &lt;T&gt;&gt;</a:t>
            </a:r>
            <a:r>
              <a:rPr lang="en-GB" sz="2400" dirty="0"/>
              <a:t> </a:t>
            </a:r>
          </a:p>
          <a:p>
            <a:pPr marL="85725" indent="-85725">
              <a:lnSpc>
                <a:spcPct val="150000"/>
              </a:lnSpc>
              <a:buNone/>
            </a:pPr>
            <a:r>
              <a:rPr lang="en-GB" sz="2400" dirty="0"/>
              <a:t>  In this example, the vector now adds elements at one end and delete elements at   the other end (First-In-First-Out).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http://www.cplusplus.com/reference/queue/queue/?kw=queue</a:t>
            </a:r>
            <a:endParaRPr lang="en-GB" sz="2400" dirty="0"/>
          </a:p>
          <a:p>
            <a:pPr marL="85725" indent="-85725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Extending Container’s functionality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9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343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Similar to standard arrays.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It has a fixed size.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Can be included in any code using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&lt;array&gt;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Ref: </a:t>
            </a:r>
            <a:r>
              <a:rPr lang="en-GB" sz="2400" dirty="0">
                <a:hlinkClick r:id="rId3"/>
              </a:rPr>
              <a:t>http://www.cplusplus.com/reference/array/array/ </a:t>
            </a: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Syntax: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Example: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QUESTION: Why do we need arrays in STL when we can use raw arrays?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Array container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1090559" y="3955860"/>
            <a:ext cx="7520042" cy="37125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3201" y="3927007"/>
            <a:ext cx="90311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array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data_type,size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array_name;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B396B5-29B7-4C6E-A9D8-6557D34BB6E5}"/>
              </a:ext>
            </a:extLst>
          </p:cNvPr>
          <p:cNvSpPr/>
          <p:nvPr/>
        </p:nvSpPr>
        <p:spPr>
          <a:xfrm>
            <a:off x="10376339" y="2373686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A0C10C-E3DB-4B1C-BCAB-15A860967E6D}"/>
              </a:ext>
            </a:extLst>
          </p:cNvPr>
          <p:cNvSpPr/>
          <p:nvPr/>
        </p:nvSpPr>
        <p:spPr>
          <a:xfrm>
            <a:off x="9601988" y="2371452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DE9881-D7B9-432B-920D-E7710A831E37}"/>
              </a:ext>
            </a:extLst>
          </p:cNvPr>
          <p:cNvSpPr/>
          <p:nvPr/>
        </p:nvSpPr>
        <p:spPr>
          <a:xfrm>
            <a:off x="8833694" y="2370583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874867" y="2543915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9652890" y="2543915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10423580" y="2535100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9221507" y="3203424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9989801" y="3197403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10758095" y="3203424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539497" y="3731376"/>
            <a:ext cx="2900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 access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8832540" y="2192780"/>
            <a:ext cx="2319415" cy="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V="1">
            <a:off x="11151955" y="1952969"/>
            <a:ext cx="0" cy="424904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V="1">
            <a:off x="8833245" y="1952969"/>
            <a:ext cx="0" cy="424904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7831937" y="1572814"/>
            <a:ext cx="4262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Fixed number of elements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1083200" y="4903438"/>
            <a:ext cx="9031183" cy="100483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26347" y="4925089"/>
            <a:ext cx="9031183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array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&lt;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int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, 5&gt; 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someInts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= {123,234,345,456,567};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someInts.size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();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// 5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95550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r>
              <a:rPr lang="en-GB" sz="2400" dirty="0"/>
              <a:t>Stands for: Double Ended Queue container.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Header: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GB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deque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Ref: </a:t>
            </a:r>
            <a:r>
              <a:rPr lang="en-GB" sz="2400" dirty="0">
                <a:hlinkClick r:id="rId3"/>
              </a:rPr>
              <a:t>http://www.cplusplus.com/reference/deque/</a:t>
            </a: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The functions “ </a:t>
            </a:r>
            <a:r>
              <a:rPr lang="en-GB" sz="2400" dirty="0" err="1">
                <a:latin typeface="Consolas" panose="020B0609020204030204" pitchFamily="49" charset="0"/>
              </a:rPr>
              <a:t>push_front</a:t>
            </a:r>
            <a:r>
              <a:rPr lang="en-GB" sz="2400" dirty="0"/>
              <a:t> ” and “</a:t>
            </a:r>
            <a:r>
              <a:rPr lang="en-GB" sz="2400" dirty="0" err="1">
                <a:latin typeface="Consolas" panose="020B0609020204030204" pitchFamily="49" charset="0"/>
              </a:rPr>
              <a:t>pop_front</a:t>
            </a:r>
            <a:r>
              <a:rPr lang="en-GB" sz="2400" dirty="0"/>
              <a:t> ”                                                      add or delete the elements at the beginning.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Syntax: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Example: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Deque</a:t>
            </a:r>
            <a:r>
              <a:rPr lang="en-GB" b="1" dirty="0"/>
              <a:t> container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1042750" y="4290072"/>
            <a:ext cx="7520042" cy="37125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2749" y="4290686"/>
            <a:ext cx="90311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deque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data_type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deque_name;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1042750" y="5238518"/>
            <a:ext cx="9031183" cy="8552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37994" y="5285367"/>
            <a:ext cx="9031183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deque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&lt;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int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d5{1,2,3,4,5};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d5.push_front(2);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// Adds “2” at beginning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B396B5-29B7-4C6E-A9D8-6557D34BB6E5}"/>
              </a:ext>
            </a:extLst>
          </p:cNvPr>
          <p:cNvSpPr/>
          <p:nvPr/>
        </p:nvSpPr>
        <p:spPr>
          <a:xfrm>
            <a:off x="9544475" y="2369459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A0C10C-E3DB-4B1C-BCAB-15A860967E6D}"/>
              </a:ext>
            </a:extLst>
          </p:cNvPr>
          <p:cNvSpPr/>
          <p:nvPr/>
        </p:nvSpPr>
        <p:spPr>
          <a:xfrm>
            <a:off x="8770124" y="2367225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821026" y="2539688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9591716" y="2530873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10381185" y="2539688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11358163" y="1796851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11395338" y="1963602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9157932" y="3176238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9926226" y="3182259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10691569" y="3199162"/>
            <a:ext cx="2951" cy="57423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11222483" y="2609651"/>
            <a:ext cx="481813" cy="21067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562792" y="3724920"/>
            <a:ext cx="2900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 access</a:t>
            </a:r>
          </a:p>
        </p:txBody>
      </p:sp>
      <p:cxnSp>
        <p:nvCxnSpPr>
          <p:cNvPr id="36" name="Straight Connector 35"/>
          <p:cNvCxnSpPr/>
          <p:nvPr/>
        </p:nvCxnSpPr>
        <p:spPr>
          <a:xfrm flipH="1">
            <a:off x="10301041" y="2376388"/>
            <a:ext cx="767029" cy="8195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10313504" y="2388509"/>
            <a:ext cx="767029" cy="8195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8767516" y="2357338"/>
            <a:ext cx="767029" cy="8195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8779979" y="2369459"/>
            <a:ext cx="767029" cy="8195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F6243EA2-F751-470F-88D1-320D5F04C0D7}"/>
              </a:ext>
            </a:extLst>
          </p:cNvPr>
          <p:cNvSpPr/>
          <p:nvPr/>
        </p:nvSpPr>
        <p:spPr>
          <a:xfrm>
            <a:off x="7738663" y="1692076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7775838" y="1858827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>
            <a:off x="8122779" y="2504876"/>
            <a:ext cx="583919" cy="352794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515045" y="1545391"/>
            <a:ext cx="2965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Delete/insert at both ends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9B396B5-29B7-4C6E-A9D8-6557D34BB6E5}"/>
              </a:ext>
            </a:extLst>
          </p:cNvPr>
          <p:cNvSpPr/>
          <p:nvPr/>
        </p:nvSpPr>
        <p:spPr>
          <a:xfrm>
            <a:off x="10314942" y="2369457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674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r>
              <a:rPr lang="en-GB" sz="2400" dirty="0"/>
              <a:t>Allow insertion and deletion anywhere with                                                          bidirectional access. </a:t>
            </a:r>
          </a:p>
          <a:p>
            <a:r>
              <a:rPr lang="en-GB" sz="2400" dirty="0"/>
              <a:t>Header: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&lt;list&gt;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Ref: </a:t>
            </a:r>
            <a:r>
              <a:rPr lang="en-GB" sz="2400" dirty="0">
                <a:hlinkClick r:id="rId3"/>
              </a:rPr>
              <a:t>http://www.cplusplus.com/reference/list/list/</a:t>
            </a: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Syntax: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Example: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L10D3.cpp</a:t>
            </a: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List container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1042749" y="3742964"/>
            <a:ext cx="7520042" cy="37125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2749" y="3742964"/>
            <a:ext cx="49574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list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data_type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list_name;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1042750" y="4656209"/>
            <a:ext cx="10685830" cy="14234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42749" y="4612695"/>
            <a:ext cx="101564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list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&lt;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string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names;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// creates a list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list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&lt;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string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surnames(20);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//with 20 elements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list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&lt;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string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firstname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(20, "Bruce");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//all initiated to "Bruce"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9B396B5-29B7-4C6E-A9D8-6557D34BB6E5}"/>
              </a:ext>
            </a:extLst>
          </p:cNvPr>
          <p:cNvSpPr/>
          <p:nvPr/>
        </p:nvSpPr>
        <p:spPr>
          <a:xfrm>
            <a:off x="10891461" y="2049483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9DE9881-D7B9-432B-920D-E7710A831E37}"/>
              </a:ext>
            </a:extLst>
          </p:cNvPr>
          <p:cNvSpPr/>
          <p:nvPr/>
        </p:nvSpPr>
        <p:spPr>
          <a:xfrm>
            <a:off x="8444207" y="2059008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485380" y="2232340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9692028" y="2222815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10936731" y="2162243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9DE9881-D7B9-432B-920D-E7710A831E37}"/>
              </a:ext>
            </a:extLst>
          </p:cNvPr>
          <p:cNvSpPr/>
          <p:nvPr/>
        </p:nvSpPr>
        <p:spPr>
          <a:xfrm>
            <a:off x="9663482" y="2049483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9224836" y="2310160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>
            <a:off x="9215193" y="2548069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10424986" y="2300635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>
            <a:off x="10415343" y="2538544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 flipH="1">
            <a:off x="7977014" y="2288384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>
            <a:off x="11671877" y="2548069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154828" y="1463949"/>
            <a:ext cx="3555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Delete/insert anywhere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273387" y="2939788"/>
            <a:ext cx="3555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Bidirectional access</a:t>
            </a:r>
          </a:p>
        </p:txBody>
      </p:sp>
    </p:spTree>
    <p:extLst>
      <p:ext uri="{BB962C8B-B14F-4D97-AF65-F5344CB8AC3E}">
        <p14:creationId xmlns:p14="http://schemas.microsoft.com/office/powerpoint/2010/main" val="2910872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r>
              <a:rPr lang="en-GB" sz="2400" dirty="0"/>
              <a:t>Allow insertion and deletion anywhere with                                                          forward access only. </a:t>
            </a:r>
          </a:p>
          <a:p>
            <a:r>
              <a:rPr lang="en-GB" sz="2400" dirty="0"/>
              <a:t>Header: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GB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forward_list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Ref: </a:t>
            </a:r>
            <a:r>
              <a:rPr lang="en-GB" sz="2400" dirty="0">
                <a:hlinkClick r:id="rId3"/>
              </a:rPr>
              <a:t>http://www.cplusplus.com/reference/forward_list/forward_list/</a:t>
            </a: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Syntax: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Example: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Forward list container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1042749" y="3742964"/>
            <a:ext cx="7520042" cy="37125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2749" y="3742964"/>
            <a:ext cx="71615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Forward_list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data_type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fwrd_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list_name;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1042750" y="4656210"/>
            <a:ext cx="10685830" cy="9840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42749" y="4612695"/>
            <a:ext cx="101564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GB" sz="2000" b="1" dirty="0" err="1">
                <a:solidFill>
                  <a:srgbClr val="00B0F0"/>
                </a:solidFill>
                <a:latin typeface="Courier New"/>
                <a:cs typeface="Courier New"/>
              </a:rPr>
              <a:t>forward_list</a:t>
            </a:r>
            <a:r>
              <a:rPr lang="en-GB" sz="2000" b="1" dirty="0">
                <a:latin typeface="Courier New"/>
                <a:cs typeface="Courier New"/>
              </a:rPr>
              <a:t>&lt;</a:t>
            </a:r>
            <a:r>
              <a:rPr lang="en-GB" sz="2000" b="1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GB" sz="2000" b="1" dirty="0">
                <a:latin typeface="Courier New"/>
                <a:cs typeface="Courier New"/>
              </a:rPr>
              <a:t>&gt; f5{1,2,3,4,5};</a:t>
            </a:r>
          </a:p>
          <a:p>
            <a:pPr lvl="0">
              <a:lnSpc>
                <a:spcPct val="150000"/>
              </a:lnSpc>
              <a:defRPr/>
            </a:pPr>
            <a:r>
              <a:rPr lang="en-GB" sz="2000" b="1" dirty="0" err="1">
                <a:latin typeface="Courier New"/>
                <a:cs typeface="Courier New"/>
              </a:rPr>
              <a:t>cout</a:t>
            </a:r>
            <a:r>
              <a:rPr lang="en-GB" sz="2000" b="1" dirty="0">
                <a:latin typeface="Courier New"/>
                <a:cs typeface="Courier New"/>
              </a:rPr>
              <a:t> &lt;&lt;*(--f5.end())&lt;&lt;</a:t>
            </a:r>
            <a:r>
              <a:rPr lang="en-GB" sz="2000" b="1" dirty="0" err="1">
                <a:latin typeface="Courier New"/>
                <a:cs typeface="Courier New"/>
              </a:rPr>
              <a:t>endl</a:t>
            </a:r>
            <a:r>
              <a:rPr lang="en-GB" sz="2000" b="1" dirty="0">
                <a:latin typeface="Courier New"/>
                <a:cs typeface="Courier New"/>
              </a:rPr>
              <a:t>; </a:t>
            </a:r>
            <a:r>
              <a:rPr lang="en-GB" sz="2000" b="1" dirty="0">
                <a:solidFill>
                  <a:srgbClr val="008000"/>
                </a:solidFill>
                <a:latin typeface="Courier New"/>
                <a:cs typeface="Courier New"/>
              </a:rPr>
              <a:t>// What is the output?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9B396B5-29B7-4C6E-A9D8-6557D34BB6E5}"/>
              </a:ext>
            </a:extLst>
          </p:cNvPr>
          <p:cNvSpPr/>
          <p:nvPr/>
        </p:nvSpPr>
        <p:spPr>
          <a:xfrm>
            <a:off x="10891461" y="1862866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9DE9881-D7B9-432B-920D-E7710A831E37}"/>
              </a:ext>
            </a:extLst>
          </p:cNvPr>
          <p:cNvSpPr/>
          <p:nvPr/>
        </p:nvSpPr>
        <p:spPr>
          <a:xfrm>
            <a:off x="8444207" y="1872391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485380" y="2045723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9692028" y="2036198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10936731" y="1975626"/>
            <a:ext cx="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9DE9881-D7B9-432B-920D-E7710A831E37}"/>
              </a:ext>
            </a:extLst>
          </p:cNvPr>
          <p:cNvSpPr/>
          <p:nvPr/>
        </p:nvSpPr>
        <p:spPr>
          <a:xfrm>
            <a:off x="9663482" y="1862866"/>
            <a:ext cx="775616" cy="8128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>
            <a:off x="9215193" y="2361452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>
            <a:off x="10415343" y="2351927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AB41C1-316A-45A9-8DA0-32F458DC98E2}"/>
              </a:ext>
            </a:extLst>
          </p:cNvPr>
          <p:cNvCxnSpPr>
            <a:cxnSpLocks/>
          </p:cNvCxnSpPr>
          <p:nvPr/>
        </p:nvCxnSpPr>
        <p:spPr>
          <a:xfrm>
            <a:off x="11671877" y="2361452"/>
            <a:ext cx="452920" cy="464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8204297" y="1443529"/>
            <a:ext cx="3555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Delete/insert anywhere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DBE90E-56F8-4152-810D-3AEE98D193A6}"/>
              </a:ext>
            </a:extLst>
          </p:cNvPr>
          <p:cNvSpPr txBox="1"/>
          <p:nvPr/>
        </p:nvSpPr>
        <p:spPr>
          <a:xfrm>
            <a:off x="9716165" y="2685191"/>
            <a:ext cx="2441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Sequential access</a:t>
            </a:r>
          </a:p>
        </p:txBody>
      </p:sp>
    </p:spTree>
    <p:extLst>
      <p:ext uri="{BB962C8B-B14F-4D97-AF65-F5344CB8AC3E}">
        <p14:creationId xmlns:p14="http://schemas.microsoft.com/office/powerpoint/2010/main" val="885923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r>
              <a:rPr lang="en-GB" sz="2400" dirty="0"/>
              <a:t>Maps are associative containers, which use a key to access an object.</a:t>
            </a:r>
          </a:p>
          <a:p>
            <a:r>
              <a:rPr lang="en-GB" sz="2400" dirty="0"/>
              <a:t>Example: a phonebook map uses a “name” key to access a “phone number object”.</a:t>
            </a:r>
          </a:p>
          <a:p>
            <a:r>
              <a:rPr lang="en-GB" sz="2400" dirty="0"/>
              <a:t>Header: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&lt;map&gt;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Ref: </a:t>
            </a:r>
            <a:r>
              <a:rPr lang="en-GB" sz="2400" dirty="0">
                <a:hlinkClick r:id="rId3"/>
              </a:rPr>
              <a:t>http://www.cplusplus.com/reference/map/map/</a:t>
            </a: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Syntax: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L10D4.cpp</a:t>
            </a: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Map container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1003405" y="4226105"/>
            <a:ext cx="10875327" cy="14465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62672" y="4226106"/>
            <a:ext cx="1016412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Map 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key_data_type,data_type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map_name;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To create a pair</a:t>
            </a:r>
          </a:p>
          <a:p>
            <a:pPr>
              <a:lnSpc>
                <a:spcPct val="150000"/>
              </a:lnSpc>
              <a:defRPr/>
            </a:pPr>
            <a:r>
              <a:rPr lang="nl-NL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Entry =</a:t>
            </a:r>
            <a:r>
              <a:rPr lang="nl-NL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pair </a:t>
            </a:r>
            <a:r>
              <a:rPr lang="nl-NL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nl-NL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key_data_type,data_type</a:t>
            </a:r>
            <a:r>
              <a:rPr lang="nl-NL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01350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23"/>
            <a:ext cx="11159067" cy="4323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The Standard Template Library (STL) was introduced and its components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Different types of containers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Vectors, deques, and lists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Maps were discussed.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06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10745</TotalTime>
  <Words>1258</Words>
  <Application>Microsoft Office PowerPoint</Application>
  <PresentationFormat>Widescreen</PresentationFormat>
  <Paragraphs>485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Courier</vt:lpstr>
      <vt:lpstr>Courier New</vt:lpstr>
      <vt:lpstr>Office Theme</vt:lpstr>
      <vt:lpstr>Application Development with C++ (ELEC362)</vt:lpstr>
      <vt:lpstr>Previous lecture </vt:lpstr>
      <vt:lpstr>This lecture</vt:lpstr>
      <vt:lpstr>Standard Template Library</vt:lpstr>
      <vt:lpstr>Standard Template Library</vt:lpstr>
      <vt:lpstr>Containers</vt:lpstr>
      <vt:lpstr>Sequence containers</vt:lpstr>
      <vt:lpstr>Vector</vt:lpstr>
      <vt:lpstr>Extending Container’s functionality</vt:lpstr>
      <vt:lpstr>Array container</vt:lpstr>
      <vt:lpstr>Deque container</vt:lpstr>
      <vt:lpstr>List container</vt:lpstr>
      <vt:lpstr>Forward list container</vt:lpstr>
      <vt:lpstr>Map container</vt:lpstr>
      <vt:lpstr>Summary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730</cp:revision>
  <dcterms:created xsi:type="dcterms:W3CDTF">2019-05-09T14:26:54Z</dcterms:created>
  <dcterms:modified xsi:type="dcterms:W3CDTF">2024-10-14T13:03:22Z</dcterms:modified>
</cp:coreProperties>
</file>