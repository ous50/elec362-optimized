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329" r:id="rId3"/>
    <p:sldId id="330" r:id="rId4"/>
    <p:sldId id="332" r:id="rId5"/>
    <p:sldId id="333" r:id="rId6"/>
    <p:sldId id="335" r:id="rId7"/>
    <p:sldId id="337" r:id="rId8"/>
    <p:sldId id="336" r:id="rId9"/>
    <p:sldId id="338" r:id="rId10"/>
    <p:sldId id="343" r:id="rId11"/>
    <p:sldId id="334" r:id="rId12"/>
    <p:sldId id="340" r:id="rId13"/>
    <p:sldId id="341" r:id="rId14"/>
    <p:sldId id="342" r:id="rId15"/>
    <p:sldId id="303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8F9E7"/>
    <a:srgbClr val="E9EDB5"/>
    <a:srgbClr val="FFFFFF"/>
    <a:srgbClr val="008000"/>
    <a:srgbClr val="6F008A"/>
    <a:srgbClr val="66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838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1074BA-FB03-4330-B6D5-D4E5FA218414}" type="datetimeFigureOut">
              <a:rPr lang="en-GB" smtClean="0"/>
              <a:t>28/09/2026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56E79A-B420-420D-963A-E7DA074E8C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02790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>
                <a:solidFill>
                  <a:prstClr val="black"/>
                </a:solidFill>
              </a:rPr>
              <a:pPr/>
              <a:t>2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54536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>
                <a:solidFill>
                  <a:prstClr val="black"/>
                </a:solidFill>
              </a:rPr>
              <a:pPr/>
              <a:t>3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26907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56E79A-B420-420D-963A-E7DA074E8CA1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90405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56E79A-B420-420D-963A-E7DA074E8CA1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52900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>
                <a:solidFill>
                  <a:prstClr val="black"/>
                </a:solidFill>
              </a:rPr>
              <a:pPr/>
              <a:t>6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46259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>
                <a:solidFill>
                  <a:prstClr val="black"/>
                </a:solidFill>
              </a:rPr>
              <a:pPr/>
              <a:t>7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48504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>
                <a:solidFill>
                  <a:prstClr val="black"/>
                </a:solidFill>
              </a:rPr>
              <a:pPr/>
              <a:t>8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07451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>
                <a:solidFill>
                  <a:prstClr val="black"/>
                </a:solidFill>
              </a:rPr>
              <a:pPr/>
              <a:t>9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23861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>
                <a:solidFill>
                  <a:prstClr val="black"/>
                </a:solidFill>
              </a:rPr>
              <a:pPr/>
              <a:t>10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79130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56E79A-B420-420D-963A-E7DA074E8CA1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345226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56E79A-B420-420D-963A-E7DA074E8CA1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37196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56E79A-B420-420D-963A-E7DA074E8CA1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943292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56E79A-B420-420D-963A-E7DA074E8CA1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18314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48465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0A4CF-2717-43E3-825E-373FCAF8CACA}" type="datetime1">
              <a:rPr lang="en-GB" smtClean="0"/>
              <a:t>28/09/2026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9440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6B0B5-D2C5-451B-BB87-3C1CFDD20804}" type="datetime1">
              <a:rPr lang="en-GB" smtClean="0"/>
              <a:t>28/09/2026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0092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C933E-6ACF-4BB5-897C-C6A0A52DD82E}" type="datetime1">
              <a:rPr lang="en-GB" smtClean="0"/>
              <a:t>28/09/2026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9223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F3D5C-DF01-4C10-9D18-B3DE3D921135}" type="datetime1">
              <a:rPr lang="en-GB" smtClean="0"/>
              <a:t>28/09/2026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5689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047ED-C601-47CB-8D5C-4ECECC17B65B}" type="datetime1">
              <a:rPr lang="en-GB" smtClean="0"/>
              <a:t>28/09/2026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7478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CE9AF-161C-412D-BD00-75CE1DCC1DF7}" type="datetime1">
              <a:rPr lang="en-GB" smtClean="0"/>
              <a:t>28/09/2026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6462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22656-4D19-4DEB-807B-1CF4EDC253D6}" type="datetime1">
              <a:rPr lang="en-GB" smtClean="0"/>
              <a:t>28/09/2026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65729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7A24E-4829-479F-A19E-280D0A836AA5}" type="datetime1">
              <a:rPr lang="en-GB" smtClean="0"/>
              <a:t>28/09/2026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5824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BB24F-C214-4E3A-A5E5-E9173E3D1D83}" type="datetime1">
              <a:rPr lang="en-GB" smtClean="0"/>
              <a:t>28/09/2026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2035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FAC9A-9164-4283-9229-F1A5E788ED22}" type="datetime1">
              <a:rPr lang="en-GB" smtClean="0"/>
              <a:t>28/09/2026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1793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6F9B7-246B-4E64-87D5-D2F2416C2D2A}" type="datetime1">
              <a:rPr lang="en-GB" smtClean="0"/>
              <a:t>28/09/2026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4651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06D058-F21A-4AF4-A0C5-0F6F3323CC21}" type="datetime1">
              <a:rPr lang="en-GB" smtClean="0"/>
              <a:t>28/09/2026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3529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mihasan@liverpool.ac.uk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plusplus.com/reference/iterator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plusplus.com/reference/iterator/istream_iterator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cplusplus.com/reference/iterator/ostream_iterator/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baptiste-wicht.com/posts/2012/12/cpp-benchmark-vector-list-deque.html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plusplus.com/reference/memory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plusplus.com/reference/algorithm/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plusplus.com/reference/functional/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Application Development with C++ (ELEC362)</a:t>
            </a:r>
            <a:endParaRPr lang="en-GB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474912"/>
          </a:xfrm>
        </p:spPr>
        <p:txBody>
          <a:bodyPr anchor="ctr">
            <a:normAutofit/>
          </a:bodyPr>
          <a:lstStyle/>
          <a:p>
            <a:r>
              <a:rPr lang="en-GB" sz="3600" dirty="0"/>
              <a:t>Lecture 11: More on Standard Template Library (STL)</a:t>
            </a:r>
          </a:p>
          <a:p>
            <a:r>
              <a:rPr lang="en-GB" sz="3200" dirty="0">
                <a:hlinkClick r:id="rId2"/>
              </a:rPr>
              <a:t>mihasan@liverpool.ac.uk</a:t>
            </a:r>
            <a:endParaRPr lang="en-GB" sz="3200" dirty="0"/>
          </a:p>
          <a:p>
            <a:endParaRPr lang="en-GB" sz="32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0275" y="-417339"/>
            <a:ext cx="7543800" cy="3079403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279437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495423"/>
            <a:ext cx="11159067" cy="432360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2400" dirty="0"/>
              <a:t>The Standard Template Library (STL) was introduced and its components were discussed.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Different types of containers were discussed.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Vectors, deques, and lists were discussed.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Maps were discussed.</a:t>
            </a:r>
          </a:p>
          <a:p>
            <a:pPr marL="0" indent="0">
              <a:lnSpc>
                <a:spcPct val="150000"/>
              </a:lnSpc>
              <a:buNone/>
            </a:pPr>
            <a:endParaRPr lang="en-GB" sz="2400" dirty="0"/>
          </a:p>
          <a:p>
            <a:pPr>
              <a:lnSpc>
                <a:spcPct val="10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US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628650" indent="-62865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Previous lecture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2</a:t>
            </a:fld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6E0D27-0BEA-4CB5-9444-FF650B37271A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42196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This lecture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5"/>
            <a:ext cx="10786533" cy="4351338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GB" sz="2400" dirty="0"/>
              <a:t>What is covered in this lecture?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Iterators and algorithms in the Standard Template Library (STL)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Why is it covered?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Combining Iterators and algorithms with containers realises the full potential of STL 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How are topics covered in this lecture: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7 source codes and discussion questions.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3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A8A95AE-9713-46FC-B847-421EF800AD12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21027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495423"/>
            <a:ext cx="11159067" cy="4323606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GB" sz="2400" dirty="0"/>
              <a:t>Iterators are objects used to access elements of containers.</a:t>
            </a:r>
          </a:p>
          <a:p>
            <a:pPr>
              <a:lnSpc>
                <a:spcPct val="100000"/>
              </a:lnSpc>
            </a:pPr>
            <a:r>
              <a:rPr lang="en-GB" sz="2400" dirty="0"/>
              <a:t>Can be included in any code using 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&lt;iterator&gt;</a:t>
            </a:r>
          </a:p>
          <a:p>
            <a:pPr>
              <a:lnSpc>
                <a:spcPct val="100000"/>
              </a:lnSpc>
            </a:pPr>
            <a:r>
              <a:rPr lang="en-GB" sz="2400" dirty="0"/>
              <a:t>Reference: </a:t>
            </a:r>
            <a:r>
              <a:rPr lang="en-GB" sz="2400" dirty="0">
                <a:hlinkClick r:id="rId3"/>
              </a:rPr>
              <a:t>http://www.cplusplus.com/reference/iterator/</a:t>
            </a:r>
            <a:endParaRPr lang="en-GB" sz="2400" dirty="0"/>
          </a:p>
          <a:p>
            <a:pPr>
              <a:lnSpc>
                <a:spcPct val="100000"/>
              </a:lnSpc>
            </a:pPr>
            <a:r>
              <a:rPr lang="en-GB" sz="2400" dirty="0"/>
              <a:t>There are 5 categories of iterators with different capabilities:</a:t>
            </a:r>
          </a:p>
          <a:p>
            <a:pPr marL="355600" indent="-355600">
              <a:buAutoNum type="arabicPeriod"/>
            </a:pPr>
            <a:r>
              <a:rPr lang="en-GB" sz="2400" b="1" dirty="0"/>
              <a:t>Input</a:t>
            </a:r>
            <a:r>
              <a:rPr lang="en-GB" sz="2400" dirty="0"/>
              <a:t>: read element multiple times but can’t write.</a:t>
            </a:r>
          </a:p>
          <a:p>
            <a:pPr marL="355600" indent="-355600">
              <a:buAutoNum type="arabicPeriod"/>
            </a:pPr>
            <a:r>
              <a:rPr lang="en-GB" sz="2400" b="1" dirty="0"/>
              <a:t>Output</a:t>
            </a:r>
            <a:r>
              <a:rPr lang="en-GB" sz="2400" dirty="0"/>
              <a:t>: only write an element and can do it once.</a:t>
            </a:r>
          </a:p>
          <a:p>
            <a:pPr marL="355600" indent="-355600">
              <a:buAutoNum type="arabicPeriod"/>
            </a:pPr>
            <a:r>
              <a:rPr lang="en-GB" sz="2400" b="1" dirty="0"/>
              <a:t>Forward</a:t>
            </a:r>
            <a:r>
              <a:rPr lang="en-GB" sz="2400" dirty="0"/>
              <a:t>: read and write elements while moving                                                                 toward the last element.</a:t>
            </a:r>
          </a:p>
          <a:p>
            <a:pPr marL="355600" indent="-355600">
              <a:buFont typeface="Arial"/>
              <a:buAutoNum type="arabicPeriod"/>
            </a:pPr>
            <a:r>
              <a:rPr lang="en-GB" sz="2400" b="1" dirty="0"/>
              <a:t>Bidirectional</a:t>
            </a:r>
            <a:r>
              <a:rPr lang="en-GB" sz="2400" dirty="0"/>
              <a:t>: read and write elements while moving                                                            toward the last or the first element.</a:t>
            </a:r>
          </a:p>
          <a:p>
            <a:pPr marL="355600" indent="-355600">
              <a:buFont typeface="Arial"/>
              <a:buAutoNum type="arabicPeriod"/>
            </a:pPr>
            <a:r>
              <a:rPr lang="en-GB" sz="2400" b="1" dirty="0"/>
              <a:t>Random access</a:t>
            </a:r>
            <a:r>
              <a:rPr lang="en-GB" sz="2400" dirty="0"/>
              <a:t>: read and write elements anywhere in the container.</a:t>
            </a:r>
          </a:p>
          <a:p>
            <a:pPr marL="0" indent="0">
              <a:lnSpc>
                <a:spcPct val="10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US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628650" indent="-62865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Iterators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1761D7-3DCA-48D0-8D79-89DA2676C30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6E0D27-0BEA-4CB5-9444-FF650B37271A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69B396B5-29B7-4C6E-A9D8-6557D34BB6E5}"/>
              </a:ext>
            </a:extLst>
          </p:cNvPr>
          <p:cNvSpPr/>
          <p:nvPr/>
        </p:nvSpPr>
        <p:spPr>
          <a:xfrm>
            <a:off x="10486409" y="4287158"/>
            <a:ext cx="775616" cy="8128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6A0C10C-E3DB-4B1C-BCAB-15A860967E6D}"/>
              </a:ext>
            </a:extLst>
          </p:cNvPr>
          <p:cNvSpPr/>
          <p:nvPr/>
        </p:nvSpPr>
        <p:spPr>
          <a:xfrm>
            <a:off x="9712058" y="4284924"/>
            <a:ext cx="775616" cy="8128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9DE9881-D7B9-432B-920D-E7710A831E37}"/>
              </a:ext>
            </a:extLst>
          </p:cNvPr>
          <p:cNvSpPr/>
          <p:nvPr/>
        </p:nvSpPr>
        <p:spPr>
          <a:xfrm>
            <a:off x="8943764" y="4284055"/>
            <a:ext cx="775616" cy="8128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DBE90E-56F8-4152-810D-3AEE98D193A6}"/>
              </a:ext>
            </a:extLst>
          </p:cNvPr>
          <p:cNvSpPr txBox="1"/>
          <p:nvPr/>
        </p:nvSpPr>
        <p:spPr>
          <a:xfrm>
            <a:off x="8984937" y="4457387"/>
            <a:ext cx="681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DBE90E-56F8-4152-810D-3AEE98D193A6}"/>
              </a:ext>
            </a:extLst>
          </p:cNvPr>
          <p:cNvSpPr txBox="1"/>
          <p:nvPr/>
        </p:nvSpPr>
        <p:spPr>
          <a:xfrm>
            <a:off x="9762960" y="4457387"/>
            <a:ext cx="681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DBE90E-56F8-4152-810D-3AEE98D193A6}"/>
              </a:ext>
            </a:extLst>
          </p:cNvPr>
          <p:cNvSpPr txBox="1"/>
          <p:nvPr/>
        </p:nvSpPr>
        <p:spPr>
          <a:xfrm>
            <a:off x="10533650" y="4448572"/>
            <a:ext cx="681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9DE9881-D7B9-432B-920D-E7710A831E37}"/>
              </a:ext>
            </a:extLst>
          </p:cNvPr>
          <p:cNvSpPr/>
          <p:nvPr/>
        </p:nvSpPr>
        <p:spPr>
          <a:xfrm>
            <a:off x="11263637" y="4284055"/>
            <a:ext cx="775616" cy="8128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DBE90E-56F8-4152-810D-3AEE98D193A6}"/>
              </a:ext>
            </a:extLst>
          </p:cNvPr>
          <p:cNvSpPr txBox="1"/>
          <p:nvPr/>
        </p:nvSpPr>
        <p:spPr>
          <a:xfrm>
            <a:off x="11304810" y="4457387"/>
            <a:ext cx="681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9DE9881-D7B9-432B-920D-E7710A831E37}"/>
              </a:ext>
            </a:extLst>
          </p:cNvPr>
          <p:cNvSpPr/>
          <p:nvPr/>
        </p:nvSpPr>
        <p:spPr>
          <a:xfrm>
            <a:off x="8173293" y="4284054"/>
            <a:ext cx="775616" cy="8128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6DBE90E-56F8-4152-810D-3AEE98D193A6}"/>
              </a:ext>
            </a:extLst>
          </p:cNvPr>
          <p:cNvSpPr txBox="1"/>
          <p:nvPr/>
        </p:nvSpPr>
        <p:spPr>
          <a:xfrm>
            <a:off x="8214466" y="4457386"/>
            <a:ext cx="681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0787F04-40B7-404F-906A-4D89D3E617C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8972973" y="3905089"/>
            <a:ext cx="0" cy="58010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6593F6A8-AE79-4BC5-AB7B-F3273693F52C}"/>
              </a:ext>
            </a:extLst>
          </p:cNvPr>
          <p:cNvSpPr txBox="1"/>
          <p:nvPr/>
        </p:nvSpPr>
        <p:spPr>
          <a:xfrm>
            <a:off x="8420753" y="3787610"/>
            <a:ext cx="1104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Forward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29A3BC3-831A-40D2-B66C-9758846F13B3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1202778" y="3782542"/>
            <a:ext cx="0" cy="580103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EDB2DA2-F812-4D22-9E53-B5E59EBA0C01}"/>
              </a:ext>
            </a:extLst>
          </p:cNvPr>
          <p:cNvCxnSpPr>
            <a:cxnSpLocks/>
          </p:cNvCxnSpPr>
          <p:nvPr/>
        </p:nvCxnSpPr>
        <p:spPr>
          <a:xfrm rot="16200000" flipV="1">
            <a:off x="11207698" y="3867271"/>
            <a:ext cx="0" cy="580103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BC6F18F2-2787-42A9-9D30-C89165D80E70}"/>
              </a:ext>
            </a:extLst>
          </p:cNvPr>
          <p:cNvSpPr txBox="1"/>
          <p:nvPr/>
        </p:nvSpPr>
        <p:spPr>
          <a:xfrm>
            <a:off x="10510448" y="3672103"/>
            <a:ext cx="13846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Bidirectional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DF79F79-9E71-4940-9399-C591B0F2CF33}"/>
              </a:ext>
            </a:extLst>
          </p:cNvPr>
          <p:cNvCxnSpPr/>
          <p:nvPr/>
        </p:nvCxnSpPr>
        <p:spPr>
          <a:xfrm flipV="1">
            <a:off x="10068243" y="5096854"/>
            <a:ext cx="0" cy="5801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18023C1-41CB-4DEB-98CF-E8E2A82D5FC0}"/>
              </a:ext>
            </a:extLst>
          </p:cNvPr>
          <p:cNvCxnSpPr/>
          <p:nvPr/>
        </p:nvCxnSpPr>
        <p:spPr>
          <a:xfrm flipV="1">
            <a:off x="10911919" y="5096854"/>
            <a:ext cx="0" cy="5801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6593F6A8-AE79-4BC5-AB7B-F3273693F52C}"/>
              </a:ext>
            </a:extLst>
          </p:cNvPr>
          <p:cNvSpPr txBox="1"/>
          <p:nvPr/>
        </p:nvSpPr>
        <p:spPr>
          <a:xfrm>
            <a:off x="9719380" y="5646218"/>
            <a:ext cx="1684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Random access</a:t>
            </a:r>
          </a:p>
        </p:txBody>
      </p:sp>
    </p:spTree>
    <p:extLst>
      <p:ext uri="{BB962C8B-B14F-4D97-AF65-F5344CB8AC3E}">
        <p14:creationId xmlns:p14="http://schemas.microsoft.com/office/powerpoint/2010/main" val="1715320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495423"/>
            <a:ext cx="11159067" cy="4323606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GB" sz="2400" dirty="0"/>
              <a:t>If we have an iterator 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sz="2400" dirty="0"/>
              <a:t> and a variable 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GB" sz="2400" dirty="0"/>
              <a:t> then:</a:t>
            </a:r>
          </a:p>
          <a:p>
            <a:pPr>
              <a:lnSpc>
                <a:spcPct val="100000"/>
              </a:lnSpc>
            </a:pPr>
            <a:endParaRPr lang="en-GB" sz="2400" dirty="0"/>
          </a:p>
          <a:p>
            <a:pPr>
              <a:lnSpc>
                <a:spcPct val="100000"/>
              </a:lnSpc>
            </a:pPr>
            <a:endParaRPr lang="en-GB" sz="2400" dirty="0"/>
          </a:p>
          <a:p>
            <a:pPr>
              <a:lnSpc>
                <a:spcPct val="100000"/>
              </a:lnSpc>
            </a:pPr>
            <a:endParaRPr lang="en-GB" sz="2400" dirty="0"/>
          </a:p>
          <a:p>
            <a:pPr>
              <a:lnSpc>
                <a:spcPct val="100000"/>
              </a:lnSpc>
            </a:pPr>
            <a:endParaRPr lang="en-GB" sz="2400" dirty="0"/>
          </a:p>
          <a:p>
            <a:pPr>
              <a:lnSpc>
                <a:spcPct val="100000"/>
              </a:lnSpc>
            </a:pPr>
            <a:endParaRPr lang="en-GB" sz="2400" dirty="0"/>
          </a:p>
          <a:p>
            <a:pPr>
              <a:lnSpc>
                <a:spcPct val="100000"/>
              </a:lnSpc>
            </a:pPr>
            <a:endParaRPr lang="en-GB" sz="2400" dirty="0"/>
          </a:p>
          <a:p>
            <a:pPr>
              <a:lnSpc>
                <a:spcPct val="100000"/>
              </a:lnSpc>
            </a:pPr>
            <a:r>
              <a:rPr lang="en-GB" sz="2400" dirty="0"/>
              <a:t>The keyword “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auto</a:t>
            </a:r>
            <a:r>
              <a:rPr lang="en-GB" sz="2400" dirty="0"/>
              <a:t>” can most of the time identify the right type of iterator.</a:t>
            </a:r>
          </a:p>
          <a:p>
            <a:pPr>
              <a:lnSpc>
                <a:spcPct val="100000"/>
              </a:lnSpc>
            </a:pPr>
            <a:r>
              <a:rPr lang="en-GB" sz="2400" dirty="0"/>
              <a:t>QUESTION: Why not use pointers instead of iterators? </a:t>
            </a:r>
          </a:p>
          <a:p>
            <a:pPr>
              <a:lnSpc>
                <a:spcPct val="100000"/>
              </a:lnSpc>
            </a:pPr>
            <a:r>
              <a:rPr lang="en-GB" sz="2400" dirty="0"/>
              <a:t>Go to </a:t>
            </a:r>
            <a:r>
              <a:rPr lang="en-GB" sz="2400" dirty="0">
                <a:solidFill>
                  <a:srgbClr val="00B050"/>
                </a:solidFill>
              </a:rPr>
              <a:t>L11D1.cpp</a:t>
            </a:r>
            <a:endParaRPr lang="en-GB" sz="2400" dirty="0"/>
          </a:p>
          <a:p>
            <a:pPr marL="0" indent="0">
              <a:lnSpc>
                <a:spcPct val="10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US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628650" indent="-62865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Iterators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1761D7-3DCA-48D0-8D79-89DA2676C30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6E0D27-0BEA-4CB5-9444-FF650B37271A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906F70E1-B03A-425F-BCAD-CBA8798E92B3}"/>
              </a:ext>
            </a:extLst>
          </p:cNvPr>
          <p:cNvGraphicFramePr>
            <a:graphicFrameLocks noGrp="1"/>
          </p:cNvGraphicFramePr>
          <p:nvPr/>
        </p:nvGraphicFramePr>
        <p:xfrm>
          <a:off x="1083735" y="1985837"/>
          <a:ext cx="8329276" cy="25804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190">
                  <a:extLst>
                    <a:ext uri="{9D8B030D-6E8A-4147-A177-3AD203B41FA5}">
                      <a16:colId xmlns:a16="http://schemas.microsoft.com/office/drawing/2014/main" val="3574834264"/>
                    </a:ext>
                  </a:extLst>
                </a:gridCol>
                <a:gridCol w="986312">
                  <a:extLst>
                    <a:ext uri="{9D8B030D-6E8A-4147-A177-3AD203B41FA5}">
                      <a16:colId xmlns:a16="http://schemas.microsoft.com/office/drawing/2014/main" val="1696271260"/>
                    </a:ext>
                  </a:extLst>
                </a:gridCol>
                <a:gridCol w="1042220">
                  <a:extLst>
                    <a:ext uri="{9D8B030D-6E8A-4147-A177-3AD203B41FA5}">
                      <a16:colId xmlns:a16="http://schemas.microsoft.com/office/drawing/2014/main" val="4085188423"/>
                    </a:ext>
                  </a:extLst>
                </a:gridCol>
                <a:gridCol w="1258529">
                  <a:extLst>
                    <a:ext uri="{9D8B030D-6E8A-4147-A177-3AD203B41FA5}">
                      <a16:colId xmlns:a16="http://schemas.microsoft.com/office/drawing/2014/main" val="851865618"/>
                    </a:ext>
                  </a:extLst>
                </a:gridCol>
                <a:gridCol w="1435509">
                  <a:extLst>
                    <a:ext uri="{9D8B030D-6E8A-4147-A177-3AD203B41FA5}">
                      <a16:colId xmlns:a16="http://schemas.microsoft.com/office/drawing/2014/main" val="73213319"/>
                    </a:ext>
                  </a:extLst>
                </a:gridCol>
                <a:gridCol w="2336516">
                  <a:extLst>
                    <a:ext uri="{9D8B030D-6E8A-4147-A177-3AD203B41FA5}">
                      <a16:colId xmlns:a16="http://schemas.microsoft.com/office/drawing/2014/main" val="1017718802"/>
                    </a:ext>
                  </a:extLst>
                </a:gridCol>
              </a:tblGrid>
              <a:tr h="516086"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Output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Input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Forward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Bidirectional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Random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5891566"/>
                  </a:ext>
                </a:extLst>
              </a:tr>
              <a:tr h="516086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Read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Consolas" panose="020B0609020204030204" pitchFamily="49" charset="0"/>
                        </a:rPr>
                        <a:t>x = *</a:t>
                      </a:r>
                      <a:r>
                        <a:rPr lang="en-GB" dirty="0" err="1">
                          <a:latin typeface="Consolas" panose="020B0609020204030204" pitchFamily="49" charset="0"/>
                        </a:rPr>
                        <a:t>i</a:t>
                      </a:r>
                      <a:endParaRPr lang="en-GB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latin typeface="Consolas" panose="020B0609020204030204" pitchFamily="49" charset="0"/>
                        </a:rPr>
                        <a:t>x = *</a:t>
                      </a:r>
                      <a:r>
                        <a:rPr lang="en-GB" dirty="0" err="1">
                          <a:latin typeface="Consolas" panose="020B0609020204030204" pitchFamily="49" charset="0"/>
                        </a:rPr>
                        <a:t>i</a:t>
                      </a:r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latin typeface="Consolas" panose="020B0609020204030204" pitchFamily="49" charset="0"/>
                        </a:rPr>
                        <a:t>x = *</a:t>
                      </a:r>
                      <a:r>
                        <a:rPr lang="en-GB" dirty="0" err="1">
                          <a:latin typeface="Consolas" panose="020B0609020204030204" pitchFamily="49" charset="0"/>
                        </a:rPr>
                        <a:t>i</a:t>
                      </a:r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latin typeface="Consolas" panose="020B0609020204030204" pitchFamily="49" charset="0"/>
                        </a:rPr>
                        <a:t>x = *</a:t>
                      </a:r>
                      <a:r>
                        <a:rPr lang="en-GB" dirty="0" err="1">
                          <a:latin typeface="Consolas" panose="020B0609020204030204" pitchFamily="49" charset="0"/>
                        </a:rPr>
                        <a:t>i</a:t>
                      </a:r>
                      <a:endParaRPr lang="en-GB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7711141"/>
                  </a:ext>
                </a:extLst>
              </a:tr>
              <a:tr h="516086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Write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Consolas" panose="020B0609020204030204" pitchFamily="49" charset="0"/>
                        </a:rPr>
                        <a:t>*</a:t>
                      </a:r>
                      <a:r>
                        <a:rPr lang="en-GB" dirty="0" err="1"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GB" dirty="0">
                          <a:latin typeface="Consolas" panose="020B0609020204030204" pitchFamily="49" charset="0"/>
                        </a:rPr>
                        <a:t> = 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latin typeface="Consolas" panose="020B0609020204030204" pitchFamily="49" charset="0"/>
                        </a:rPr>
                        <a:t>*</a:t>
                      </a:r>
                      <a:r>
                        <a:rPr lang="en-GB" dirty="0" err="1"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GB" dirty="0">
                          <a:latin typeface="Consolas" panose="020B0609020204030204" pitchFamily="49" charset="0"/>
                        </a:rPr>
                        <a:t> = x</a:t>
                      </a:r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latin typeface="Consolas" panose="020B0609020204030204" pitchFamily="49" charset="0"/>
                        </a:rPr>
                        <a:t>*</a:t>
                      </a:r>
                      <a:r>
                        <a:rPr lang="en-GB" dirty="0" err="1"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GB" dirty="0">
                          <a:latin typeface="Consolas" panose="020B0609020204030204" pitchFamily="49" charset="0"/>
                        </a:rPr>
                        <a:t> = x</a:t>
                      </a:r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latin typeface="Consolas" panose="020B0609020204030204" pitchFamily="49" charset="0"/>
                        </a:rPr>
                        <a:t>*</a:t>
                      </a:r>
                      <a:r>
                        <a:rPr lang="en-GB" dirty="0" err="1"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GB" dirty="0">
                          <a:latin typeface="Consolas" panose="020B0609020204030204" pitchFamily="49" charset="0"/>
                        </a:rPr>
                        <a:t> = x</a:t>
                      </a:r>
                      <a:endParaRPr lang="en-GB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8458134"/>
                  </a:ext>
                </a:extLst>
              </a:tr>
              <a:tr h="516086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Move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++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++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++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++, --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++, --, +, - ,-=, +=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6776989"/>
                  </a:ext>
                </a:extLst>
              </a:tr>
              <a:tr h="516086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Compare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== , !=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== , !=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== , !=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== , !=, &lt;, &gt;, &lt;=, &gt;=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82034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39133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495423"/>
            <a:ext cx="11184467" cy="432360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2400" dirty="0"/>
              <a:t>Vector iterators are iterator-specific to vector-type containers. 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The datatype of vector-specific iterator is “</a:t>
            </a:r>
            <a:r>
              <a:rPr lang="en-GB" sz="24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vector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GB" sz="2400" b="1" dirty="0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template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&gt;::</a:t>
            </a:r>
            <a:r>
              <a:rPr lang="en-GB" sz="24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iterator</a:t>
            </a:r>
            <a:r>
              <a:rPr lang="en-GB" sz="2400" dirty="0"/>
              <a:t>”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 Iterators “begin” and “end” give access to first and one past last element.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Iterator “</a:t>
            </a:r>
            <a:r>
              <a:rPr lang="en-GB" sz="2400" dirty="0">
                <a:latin typeface="Consolas" panose="020B0609020204030204" pitchFamily="49" charset="0"/>
              </a:rPr>
              <a:t>begin + n</a:t>
            </a:r>
            <a:r>
              <a:rPr lang="en-GB" sz="2400" dirty="0"/>
              <a:t>” points to the n</a:t>
            </a:r>
            <a:r>
              <a:rPr lang="en-GB" sz="2400" baseline="30000" dirty="0"/>
              <a:t>th</a:t>
            </a:r>
            <a:r>
              <a:rPr lang="en-GB" sz="2400" dirty="0"/>
              <a:t> element.</a:t>
            </a:r>
          </a:p>
          <a:p>
            <a:pPr>
              <a:lnSpc>
                <a:spcPct val="100000"/>
              </a:lnSpc>
            </a:pPr>
            <a:r>
              <a:rPr lang="en-GB" sz="2400" dirty="0"/>
              <a:t>Go to </a:t>
            </a:r>
            <a:r>
              <a:rPr lang="en-GB" sz="2400" dirty="0">
                <a:solidFill>
                  <a:srgbClr val="00B050"/>
                </a:solidFill>
              </a:rPr>
              <a:t>L11D2.cpp</a:t>
            </a:r>
            <a:endParaRPr lang="en-GB" sz="2400" dirty="0"/>
          </a:p>
          <a:p>
            <a:pPr>
              <a:lnSpc>
                <a:spcPct val="10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US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628650" indent="-62865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Vector iterators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6</a:t>
            </a:fld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6E0D27-0BEA-4CB5-9444-FF650B37271A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8BFE826C-EF32-4FD9-98CB-470437692F48}"/>
              </a:ext>
            </a:extLst>
          </p:cNvPr>
          <p:cNvSpPr/>
          <p:nvPr/>
        </p:nvSpPr>
        <p:spPr>
          <a:xfrm>
            <a:off x="8742045" y="4842073"/>
            <a:ext cx="775616" cy="8128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prstClr val="white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5809B46-8D9B-4351-921F-C7361CB90594}"/>
              </a:ext>
            </a:extLst>
          </p:cNvPr>
          <p:cNvSpPr/>
          <p:nvPr/>
        </p:nvSpPr>
        <p:spPr>
          <a:xfrm>
            <a:off x="7967694" y="4839839"/>
            <a:ext cx="775616" cy="8128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prstClr val="white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05F023-3315-4780-B69A-518DD6C31CA5}"/>
              </a:ext>
            </a:extLst>
          </p:cNvPr>
          <p:cNvSpPr txBox="1"/>
          <p:nvPr/>
        </p:nvSpPr>
        <p:spPr>
          <a:xfrm>
            <a:off x="8789286" y="5003487"/>
            <a:ext cx="681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 err="1">
                <a:solidFill>
                  <a:prstClr val="black"/>
                </a:solidFill>
              </a:rPr>
              <a:t>Obj</a:t>
            </a:r>
            <a:endParaRPr lang="en-GB" sz="2400" dirty="0">
              <a:solidFill>
                <a:prstClr val="black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EF051D2-6AE8-408C-8E9F-AF0A17E233C7}"/>
              </a:ext>
            </a:extLst>
          </p:cNvPr>
          <p:cNvSpPr/>
          <p:nvPr/>
        </p:nvSpPr>
        <p:spPr>
          <a:xfrm>
            <a:off x="9512512" y="4842071"/>
            <a:ext cx="775616" cy="8128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prstClr val="white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D776519-5E51-4C5F-B7B1-5EEF6DF08172}"/>
              </a:ext>
            </a:extLst>
          </p:cNvPr>
          <p:cNvSpPr txBox="1"/>
          <p:nvPr/>
        </p:nvSpPr>
        <p:spPr>
          <a:xfrm>
            <a:off x="8017948" y="5006599"/>
            <a:ext cx="681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 err="1">
                <a:solidFill>
                  <a:prstClr val="black"/>
                </a:solidFill>
              </a:rPr>
              <a:t>Obj</a:t>
            </a:r>
            <a:endParaRPr lang="en-GB" sz="2400" dirty="0">
              <a:solidFill>
                <a:prstClr val="black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2F005EA-A2B7-409D-919E-DA1EB3E257EF}"/>
              </a:ext>
            </a:extLst>
          </p:cNvPr>
          <p:cNvSpPr txBox="1"/>
          <p:nvPr/>
        </p:nvSpPr>
        <p:spPr>
          <a:xfrm>
            <a:off x="9560604" y="5000378"/>
            <a:ext cx="681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 err="1">
                <a:solidFill>
                  <a:prstClr val="black"/>
                </a:solidFill>
              </a:rPr>
              <a:t>Obj</a:t>
            </a:r>
            <a:endParaRPr lang="en-GB" sz="2400" dirty="0">
              <a:solidFill>
                <a:prstClr val="black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E0B015-0582-4705-8FE1-55F58E5741B5}"/>
              </a:ext>
            </a:extLst>
          </p:cNvPr>
          <p:cNvSpPr/>
          <p:nvPr/>
        </p:nvSpPr>
        <p:spPr>
          <a:xfrm>
            <a:off x="7205696" y="4842948"/>
            <a:ext cx="775616" cy="8128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prstClr val="white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C6EF81D-FC77-4252-B4CD-7FF5A62C86B4}"/>
              </a:ext>
            </a:extLst>
          </p:cNvPr>
          <p:cNvSpPr txBox="1"/>
          <p:nvPr/>
        </p:nvSpPr>
        <p:spPr>
          <a:xfrm>
            <a:off x="7255950" y="5000377"/>
            <a:ext cx="681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 err="1">
                <a:solidFill>
                  <a:prstClr val="black"/>
                </a:solidFill>
              </a:rPr>
              <a:t>Obj</a:t>
            </a:r>
            <a:endParaRPr lang="en-GB" sz="2400" dirty="0">
              <a:solidFill>
                <a:prstClr val="black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48A1663-3CEB-4FE6-BD9D-52F1F8412C6D}"/>
              </a:ext>
            </a:extLst>
          </p:cNvPr>
          <p:cNvSpPr/>
          <p:nvPr/>
        </p:nvSpPr>
        <p:spPr>
          <a:xfrm>
            <a:off x="6440585" y="4842948"/>
            <a:ext cx="775616" cy="8128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prstClr val="white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A55F592-A169-4F20-8BE3-6304C7CA7AB5}"/>
              </a:ext>
            </a:extLst>
          </p:cNvPr>
          <p:cNvSpPr txBox="1"/>
          <p:nvPr/>
        </p:nvSpPr>
        <p:spPr>
          <a:xfrm>
            <a:off x="6490839" y="5009708"/>
            <a:ext cx="681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 err="1">
                <a:solidFill>
                  <a:prstClr val="black"/>
                </a:solidFill>
              </a:rPr>
              <a:t>Obj</a:t>
            </a:r>
            <a:endParaRPr lang="en-GB" sz="2400" dirty="0">
              <a:solidFill>
                <a:prstClr val="black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210848B-B097-4433-9CEB-61B418DF57E0}"/>
              </a:ext>
            </a:extLst>
          </p:cNvPr>
          <p:cNvSpPr/>
          <p:nvPr/>
        </p:nvSpPr>
        <p:spPr>
          <a:xfrm>
            <a:off x="10294126" y="4842948"/>
            <a:ext cx="775616" cy="8128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prstClr val="white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162AE1C-2AED-49E9-93D0-8D8C4BEC8267}"/>
              </a:ext>
            </a:extLst>
          </p:cNvPr>
          <p:cNvSpPr txBox="1"/>
          <p:nvPr/>
        </p:nvSpPr>
        <p:spPr>
          <a:xfrm>
            <a:off x="10344380" y="5028370"/>
            <a:ext cx="681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 err="1">
                <a:solidFill>
                  <a:prstClr val="black"/>
                </a:solidFill>
              </a:rPr>
              <a:t>Obj</a:t>
            </a:r>
            <a:endParaRPr lang="en-GB" sz="2400" dirty="0">
              <a:solidFill>
                <a:prstClr val="black"/>
              </a:solidFill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A187A5F-AA86-4C8B-A43F-27B6D72E2CA4}"/>
              </a:ext>
            </a:extLst>
          </p:cNvPr>
          <p:cNvCxnSpPr>
            <a:cxnSpLocks/>
          </p:cNvCxnSpPr>
          <p:nvPr/>
        </p:nvCxnSpPr>
        <p:spPr>
          <a:xfrm flipH="1">
            <a:off x="6831344" y="5669738"/>
            <a:ext cx="1" cy="469337"/>
          </a:xfrm>
          <a:prstGeom prst="straightConnector1">
            <a:avLst/>
          </a:prstGeom>
          <a:ln w="2540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F0D96B91-8716-4E3A-89E8-241CF40E1ABD}"/>
              </a:ext>
            </a:extLst>
          </p:cNvPr>
          <p:cNvSpPr txBox="1"/>
          <p:nvPr/>
        </p:nvSpPr>
        <p:spPr>
          <a:xfrm>
            <a:off x="4160830" y="4982453"/>
            <a:ext cx="13277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solidFill>
                  <a:prstClr val="black"/>
                </a:solidFill>
              </a:rPr>
              <a:t>vector v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A77F5E7-1B9A-4DFE-B08E-F2833B376DA6}"/>
              </a:ext>
            </a:extLst>
          </p:cNvPr>
          <p:cNvSpPr txBox="1"/>
          <p:nvPr/>
        </p:nvSpPr>
        <p:spPr>
          <a:xfrm>
            <a:off x="6190861" y="6077247"/>
            <a:ext cx="13277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solidFill>
                  <a:prstClr val="black"/>
                </a:solidFill>
              </a:rPr>
              <a:t>begin(v)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AEBB57E-41DE-4E21-B46D-2832B5BD175B}"/>
              </a:ext>
            </a:extLst>
          </p:cNvPr>
          <p:cNvSpPr/>
          <p:nvPr/>
        </p:nvSpPr>
        <p:spPr>
          <a:xfrm>
            <a:off x="11071677" y="4846055"/>
            <a:ext cx="775616" cy="812800"/>
          </a:xfrm>
          <a:prstGeom prst="rect">
            <a:avLst/>
          </a:prstGeom>
          <a:noFill/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prstClr val="white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B179F02-9437-4355-BB17-031D3105D01C}"/>
              </a:ext>
            </a:extLst>
          </p:cNvPr>
          <p:cNvSpPr/>
          <p:nvPr/>
        </p:nvSpPr>
        <p:spPr>
          <a:xfrm>
            <a:off x="5659925" y="4846057"/>
            <a:ext cx="775616" cy="812800"/>
          </a:xfrm>
          <a:prstGeom prst="rect">
            <a:avLst/>
          </a:prstGeom>
          <a:noFill/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prstClr val="white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7B85A77-5701-453A-A760-2D1EF9D74B8B}"/>
              </a:ext>
            </a:extLst>
          </p:cNvPr>
          <p:cNvSpPr txBox="1"/>
          <p:nvPr/>
        </p:nvSpPr>
        <p:spPr>
          <a:xfrm>
            <a:off x="10803583" y="6047414"/>
            <a:ext cx="13277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solidFill>
                  <a:prstClr val="black"/>
                </a:solidFill>
              </a:rPr>
              <a:t>end(v)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4665D34-06D1-4258-8975-0BB78BB359B6}"/>
              </a:ext>
            </a:extLst>
          </p:cNvPr>
          <p:cNvCxnSpPr>
            <a:cxnSpLocks/>
          </p:cNvCxnSpPr>
          <p:nvPr/>
        </p:nvCxnSpPr>
        <p:spPr>
          <a:xfrm flipH="1">
            <a:off x="11467481" y="5669738"/>
            <a:ext cx="1" cy="469337"/>
          </a:xfrm>
          <a:prstGeom prst="straightConnector1">
            <a:avLst/>
          </a:prstGeom>
          <a:ln w="2540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2B5F8C6-6A95-4992-9CD9-4C813A3AECDF}"/>
              </a:ext>
            </a:extLst>
          </p:cNvPr>
          <p:cNvCxnSpPr>
            <a:cxnSpLocks/>
          </p:cNvCxnSpPr>
          <p:nvPr/>
        </p:nvCxnSpPr>
        <p:spPr>
          <a:xfrm flipH="1" flipV="1">
            <a:off x="6047732" y="4336815"/>
            <a:ext cx="1" cy="469337"/>
          </a:xfrm>
          <a:prstGeom prst="straightConnector1">
            <a:avLst/>
          </a:prstGeom>
          <a:ln w="2540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5E463F05-43F7-464F-BCF3-F596A76D4A04}"/>
              </a:ext>
            </a:extLst>
          </p:cNvPr>
          <p:cNvSpPr txBox="1"/>
          <p:nvPr/>
        </p:nvSpPr>
        <p:spPr>
          <a:xfrm>
            <a:off x="5449128" y="3990405"/>
            <a:ext cx="13277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solidFill>
                  <a:prstClr val="black"/>
                </a:solidFill>
              </a:rPr>
              <a:t>rend(v)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2FC4702-0D9C-4E9E-87C9-C076E4258454}"/>
              </a:ext>
            </a:extLst>
          </p:cNvPr>
          <p:cNvCxnSpPr>
            <a:cxnSpLocks/>
          </p:cNvCxnSpPr>
          <p:nvPr/>
        </p:nvCxnSpPr>
        <p:spPr>
          <a:xfrm flipH="1" flipV="1">
            <a:off x="10681934" y="4328373"/>
            <a:ext cx="1" cy="469337"/>
          </a:xfrm>
          <a:prstGeom prst="straightConnector1">
            <a:avLst/>
          </a:prstGeom>
          <a:ln w="2540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E3A3AE14-DDD3-41B4-BB0F-5DD1F6D53FA8}"/>
              </a:ext>
            </a:extLst>
          </p:cNvPr>
          <p:cNvSpPr txBox="1"/>
          <p:nvPr/>
        </p:nvSpPr>
        <p:spPr>
          <a:xfrm>
            <a:off x="9851570" y="3822347"/>
            <a:ext cx="13277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 err="1">
                <a:solidFill>
                  <a:prstClr val="black"/>
                </a:solidFill>
              </a:rPr>
              <a:t>rbegin</a:t>
            </a:r>
            <a:r>
              <a:rPr lang="en-GB" sz="2400" dirty="0">
                <a:solidFill>
                  <a:prstClr val="black"/>
                </a:solidFill>
              </a:rPr>
              <a:t>(v)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43C3DFFD-55AA-43BA-896B-512146D35A6A}"/>
              </a:ext>
            </a:extLst>
          </p:cNvPr>
          <p:cNvCxnSpPr>
            <a:cxnSpLocks/>
          </p:cNvCxnSpPr>
          <p:nvPr/>
        </p:nvCxnSpPr>
        <p:spPr>
          <a:xfrm flipH="1">
            <a:off x="8346015" y="5691510"/>
            <a:ext cx="1" cy="469337"/>
          </a:xfrm>
          <a:prstGeom prst="straightConnector1">
            <a:avLst/>
          </a:prstGeom>
          <a:ln w="2540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9CB78695-CA4F-4032-8999-6A4034C5F01B}"/>
              </a:ext>
            </a:extLst>
          </p:cNvPr>
          <p:cNvSpPr txBox="1"/>
          <p:nvPr/>
        </p:nvSpPr>
        <p:spPr>
          <a:xfrm>
            <a:off x="7705532" y="6099019"/>
            <a:ext cx="15833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solidFill>
                  <a:prstClr val="black"/>
                </a:solidFill>
              </a:rPr>
              <a:t>begin(v)+2</a:t>
            </a:r>
          </a:p>
        </p:txBody>
      </p:sp>
    </p:spTree>
    <p:extLst>
      <p:ext uri="{BB962C8B-B14F-4D97-AF65-F5344CB8AC3E}">
        <p14:creationId xmlns:p14="http://schemas.microsoft.com/office/powerpoint/2010/main" val="143870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5423"/>
            <a:ext cx="10515600" cy="432360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2400" dirty="0"/>
              <a:t>Stream iterators are stand-alone iterators which iterate on input/output streams.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Header: 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&lt;iterator&gt;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Ref: </a:t>
            </a:r>
            <a:r>
              <a:rPr lang="en-GB" sz="2400" dirty="0">
                <a:hlinkClick r:id="rId3"/>
              </a:rPr>
              <a:t>http://www.cplusplus.com/reference/iterator/istream_iterator/</a:t>
            </a:r>
            <a:endParaRPr lang="en-GB" sz="2400" dirty="0"/>
          </a:p>
          <a:p>
            <a:pPr>
              <a:lnSpc>
                <a:spcPct val="150000"/>
              </a:lnSpc>
            </a:pPr>
            <a:r>
              <a:rPr lang="en-GB" sz="2400" dirty="0"/>
              <a:t>Ref: </a:t>
            </a:r>
            <a:r>
              <a:rPr lang="en-GB" sz="2400" dirty="0">
                <a:hlinkClick r:id="rId4"/>
              </a:rPr>
              <a:t>http://www.cplusplus.com/reference/iterator/ostream_iterator/</a:t>
            </a:r>
            <a:r>
              <a:rPr lang="en-GB" sz="2400" dirty="0"/>
              <a:t> 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They behave similar to input iterators and output iterators.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For input stream (using </a:t>
            </a:r>
            <a:r>
              <a:rPr lang="en-GB" sz="2400" dirty="0" err="1"/>
              <a:t>cin</a:t>
            </a:r>
            <a:r>
              <a:rPr lang="en-GB" sz="2400" dirty="0"/>
              <a:t>), the stream iterator is 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istream_iterator</a:t>
            </a:r>
            <a:r>
              <a:rPr lang="en-GB" sz="2400" dirty="0">
                <a:cs typeface="Courier New" panose="02070309020205020404" pitchFamily="49" charset="0"/>
              </a:rPr>
              <a:t>. For output streams (using </a:t>
            </a:r>
            <a:r>
              <a:rPr lang="en-GB" sz="2400" dirty="0" err="1">
                <a:cs typeface="Courier New" panose="02070309020205020404" pitchFamily="49" charset="0"/>
              </a:rPr>
              <a:t>cout</a:t>
            </a:r>
            <a:r>
              <a:rPr lang="en-GB" sz="2400" dirty="0">
                <a:cs typeface="Courier New" panose="02070309020205020404" pitchFamily="49" charset="0"/>
              </a:rPr>
              <a:t>), the stream operator is 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ostream_iterator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. </a:t>
            </a:r>
          </a:p>
          <a:p>
            <a:pPr>
              <a:lnSpc>
                <a:spcPct val="100000"/>
              </a:lnSpc>
            </a:pPr>
            <a:r>
              <a:rPr lang="en-GB" sz="2400" dirty="0"/>
              <a:t>Go to </a:t>
            </a:r>
            <a:r>
              <a:rPr lang="en-GB" sz="2400" dirty="0">
                <a:solidFill>
                  <a:srgbClr val="00B050"/>
                </a:solidFill>
              </a:rPr>
              <a:t>L11D3.cpp</a:t>
            </a:r>
            <a:endParaRPr lang="en-GB" sz="2400" dirty="0"/>
          </a:p>
          <a:p>
            <a:pPr>
              <a:lnSpc>
                <a:spcPct val="10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US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628650" indent="-62865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Stream iterators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7</a:t>
            </a:fld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6E0D27-0BEA-4CB5-9444-FF650B37271A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49306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5423"/>
            <a:ext cx="11353800" cy="4323606"/>
          </a:xfrm>
        </p:spPr>
        <p:txBody>
          <a:bodyPr>
            <a:noAutofit/>
          </a:bodyPr>
          <a:lstStyle/>
          <a:p>
            <a:pPr>
              <a:lnSpc>
                <a:spcPts val="3500"/>
              </a:lnSpc>
            </a:pPr>
            <a:r>
              <a:rPr lang="en-GB" sz="2400" dirty="0"/>
              <a:t>Insert iterators are stand-alone iterators that can be used to break insertion/deletion rules for certain containers (including vector, deque, and list).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Header: 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&lt;iterator&gt;</a:t>
            </a:r>
          </a:p>
          <a:p>
            <a:r>
              <a:rPr lang="en-GB" sz="2400" dirty="0"/>
              <a:t>They are used to specify a location in the container to insert a new element.  </a:t>
            </a:r>
          </a:p>
          <a:p>
            <a:r>
              <a:rPr lang="en-GB" sz="2400" dirty="0"/>
              <a:t>There are three types of insert iterators:</a:t>
            </a:r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r>
              <a:rPr lang="en-GB" sz="2400" dirty="0"/>
              <a:t>QUESTION: What is the point of having insertion rules for containers then?</a:t>
            </a:r>
          </a:p>
          <a:p>
            <a:pPr marL="0" indent="0">
              <a:lnSpc>
                <a:spcPct val="10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US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628650" indent="-62865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Insert iterators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8</a:t>
            </a:fld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6E0D27-0BEA-4CB5-9444-FF650B37271A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FE02F57E-CC4D-477F-98D0-4790DF4C29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0787152"/>
              </p:ext>
            </p:extLst>
          </p:nvPr>
        </p:nvGraphicFramePr>
        <p:xfrm>
          <a:off x="970385" y="4074761"/>
          <a:ext cx="9703835" cy="164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41538">
                  <a:extLst>
                    <a:ext uri="{9D8B030D-6E8A-4147-A177-3AD203B41FA5}">
                      <a16:colId xmlns:a16="http://schemas.microsoft.com/office/drawing/2014/main" val="3147901054"/>
                    </a:ext>
                  </a:extLst>
                </a:gridCol>
                <a:gridCol w="4762297">
                  <a:extLst>
                    <a:ext uri="{9D8B030D-6E8A-4147-A177-3AD203B41FA5}">
                      <a16:colId xmlns:a16="http://schemas.microsoft.com/office/drawing/2014/main" val="1540798061"/>
                    </a:ext>
                  </a:extLst>
                </a:gridCol>
              </a:tblGrid>
              <a:tr h="461056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Iterator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Vector-equivalent function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17722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 err="1">
                          <a:solidFill>
                            <a:schemeClr val="tx1"/>
                          </a:solidFill>
                        </a:rPr>
                        <a:t>back_insert_iterator</a:t>
                      </a:r>
                      <a:r>
                        <a:rPr lang="en-GB" sz="2000" dirty="0">
                          <a:solidFill>
                            <a:schemeClr val="tx1"/>
                          </a:solidFill>
                        </a:rPr>
                        <a:t> &lt;container &lt;T&gt;&gt;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 err="1"/>
                        <a:t>push_back</a:t>
                      </a:r>
                      <a:r>
                        <a:rPr lang="en-GB" sz="2000" dirty="0"/>
                        <a:t>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61486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dirty="0" err="1">
                          <a:solidFill>
                            <a:schemeClr val="tx1"/>
                          </a:solidFill>
                        </a:rPr>
                        <a:t>front_insert_iterator</a:t>
                      </a:r>
                      <a:r>
                        <a:rPr lang="en-GB" sz="2000" dirty="0">
                          <a:solidFill>
                            <a:schemeClr val="tx1"/>
                          </a:solidFill>
                        </a:rPr>
                        <a:t> &lt;container &lt;T&gt;&gt;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 err="1"/>
                        <a:t>push_front</a:t>
                      </a:r>
                      <a:r>
                        <a:rPr lang="en-GB" sz="2000" dirty="0"/>
                        <a:t>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68372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dirty="0" err="1">
                          <a:solidFill>
                            <a:schemeClr val="tx1"/>
                          </a:solidFill>
                        </a:rPr>
                        <a:t>insert_iterator</a:t>
                      </a:r>
                      <a:r>
                        <a:rPr lang="en-GB" sz="2000" dirty="0">
                          <a:solidFill>
                            <a:schemeClr val="tx1"/>
                          </a:solidFill>
                        </a:rPr>
                        <a:t> &lt;container &lt;T&gt;&gt;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insert()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71941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26542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5423"/>
            <a:ext cx="11353800" cy="4323606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r>
              <a:rPr lang="en-GB" sz="2400" dirty="0"/>
              <a:t>Go to </a:t>
            </a:r>
            <a:r>
              <a:rPr lang="en-GB" sz="2400" dirty="0">
                <a:solidFill>
                  <a:srgbClr val="00B050"/>
                </a:solidFill>
              </a:rPr>
              <a:t>L11D4.cpp</a:t>
            </a:r>
            <a:r>
              <a:rPr lang="en-GB" sz="2400" dirty="0"/>
              <a:t> </a:t>
            </a:r>
          </a:p>
          <a:p>
            <a:pPr marL="0" indent="0">
              <a:lnSpc>
                <a:spcPct val="10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US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628650" indent="-62865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Insertion benchmark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9</a:t>
            </a:fld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6E0D27-0BEA-4CB5-9444-FF650B37271A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D79AA8E4-50DF-4C27-9F9B-CF3E3C224F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498" y="1549821"/>
            <a:ext cx="6705600" cy="441007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0AE9A1C-3D5E-4902-90FC-D1064339F762}"/>
              </a:ext>
            </a:extLst>
          </p:cNvPr>
          <p:cNvSpPr txBox="1"/>
          <p:nvPr/>
        </p:nvSpPr>
        <p:spPr>
          <a:xfrm>
            <a:off x="7284098" y="1636183"/>
            <a:ext cx="45937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hlinkClick r:id="rId4"/>
              </a:rPr>
              <a:t>https://baptiste-wicht.com/posts/2012/12/cpp-benchmark-vector-list-deque.html#</a:t>
            </a:r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908AD1-9F64-41AB-8385-D560B298D588}"/>
              </a:ext>
            </a:extLst>
          </p:cNvPr>
          <p:cNvSpPr txBox="1"/>
          <p:nvPr/>
        </p:nvSpPr>
        <p:spPr>
          <a:xfrm>
            <a:off x="7343193" y="2681611"/>
            <a:ext cx="4270309" cy="327817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6570AE-C2FB-40CC-8F49-CB09809FDAD7}"/>
              </a:ext>
            </a:extLst>
          </p:cNvPr>
          <p:cNvSpPr txBox="1"/>
          <p:nvPr/>
        </p:nvSpPr>
        <p:spPr>
          <a:xfrm>
            <a:off x="7343192" y="2645875"/>
            <a:ext cx="42075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</a:rPr>
              <a:t>Practical note: </a:t>
            </a:r>
          </a:p>
          <a:p>
            <a:r>
              <a:rPr lang="en-GB" sz="2400" dirty="0"/>
              <a:t>Use the most suitable container for the purpose of your code</a:t>
            </a:r>
          </a:p>
        </p:txBody>
      </p:sp>
    </p:spTree>
    <p:extLst>
      <p:ext uri="{BB962C8B-B14F-4D97-AF65-F5344CB8AC3E}">
        <p14:creationId xmlns:p14="http://schemas.microsoft.com/office/powerpoint/2010/main" val="27919463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Iterator invalidation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10</a:t>
            </a:fld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6E0D27-0BEA-4CB5-9444-FF650B37271A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5908AD1-9F64-41AB-8385-D560B298D588}"/>
              </a:ext>
            </a:extLst>
          </p:cNvPr>
          <p:cNvSpPr txBox="1"/>
          <p:nvPr/>
        </p:nvSpPr>
        <p:spPr>
          <a:xfrm>
            <a:off x="1157796" y="5353503"/>
            <a:ext cx="8824404" cy="98995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6570AE-C2FB-40CC-8F49-CB09809FDAD7}"/>
              </a:ext>
            </a:extLst>
          </p:cNvPr>
          <p:cNvSpPr txBox="1"/>
          <p:nvPr/>
        </p:nvSpPr>
        <p:spPr>
          <a:xfrm>
            <a:off x="1219940" y="5360855"/>
            <a:ext cx="89220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</a:rPr>
              <a:t>Practical note: </a:t>
            </a:r>
          </a:p>
          <a:p>
            <a:r>
              <a:rPr lang="en-GB" sz="2400" dirty="0"/>
              <a:t>Use </a:t>
            </a:r>
            <a:r>
              <a:rPr lang="en-GB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GB" sz="2400" dirty="0"/>
              <a:t> in a function when the container does need changing.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A5648916-FD6E-9D9B-74D5-75A3025F91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7145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2400" dirty="0"/>
              <a:t>For some containers, when an element is added/removed the iterators are invalidated (they no longer point to the container).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The rules of this happening vary from one container to another.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Go to </a:t>
            </a:r>
            <a:r>
              <a:rPr lang="en-GB" sz="2400" dirty="0">
                <a:solidFill>
                  <a:srgbClr val="00B050"/>
                </a:solidFill>
              </a:rPr>
              <a:t>L11D5.cpp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To mitigate for this happening, it is better to use index iteration or use the keyword </a:t>
            </a:r>
            <a:r>
              <a:rPr lang="en-GB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GB" sz="2400" dirty="0"/>
              <a:t> when handling containers with iterators. </a:t>
            </a:r>
          </a:p>
        </p:txBody>
      </p:sp>
    </p:spTree>
    <p:extLst>
      <p:ext uri="{BB962C8B-B14F-4D97-AF65-F5344CB8AC3E}">
        <p14:creationId xmlns:p14="http://schemas.microsoft.com/office/powerpoint/2010/main" val="17397408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495423"/>
            <a:ext cx="11159067" cy="432360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2400" dirty="0"/>
              <a:t>Smart pointers are stand-alone iterators that behave like a pointer but is optimised for dynamic memory allocation.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Can be included in any code using 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&lt;memory&gt;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Reference: </a:t>
            </a:r>
            <a:r>
              <a:rPr lang="en-GB" sz="2400" dirty="0">
                <a:hlinkClick r:id="rId3"/>
              </a:rPr>
              <a:t>http://www.cplusplus.com/reference/memory/</a:t>
            </a:r>
            <a:endParaRPr lang="en-GB" sz="2400" dirty="0"/>
          </a:p>
          <a:p>
            <a:pPr>
              <a:lnSpc>
                <a:spcPct val="150000"/>
              </a:lnSpc>
            </a:pPr>
            <a:r>
              <a:rPr lang="en-GB" sz="2400" dirty="0"/>
              <a:t>Most of smart pointers were introduced in C++11.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A noticeable feature when using smart pointers is that “</a:t>
            </a:r>
            <a:r>
              <a:rPr lang="en-GB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delete</a:t>
            </a:r>
            <a:r>
              <a:rPr lang="en-GB" sz="2400" dirty="0"/>
              <a:t>” is no longer required. 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000" dirty="0">
              <a:highlight>
                <a:srgbClr val="FFFFFF"/>
              </a:highlight>
            </a:endParaRPr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628650" indent="-62865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Smart pointers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1761D7-3DCA-48D0-8D79-89DA2676C30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6E0D27-0BEA-4CB5-9444-FF650B37271A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6816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495423"/>
            <a:ext cx="11159067" cy="4323606"/>
          </a:xfrm>
        </p:spPr>
        <p:txBody>
          <a:bodyPr>
            <a:noAutofit/>
          </a:bodyPr>
          <a:lstStyle/>
          <a:p>
            <a:pPr>
              <a:lnSpc>
                <a:spcPts val="4000"/>
              </a:lnSpc>
              <a:spcAft>
                <a:spcPts val="600"/>
              </a:spcAft>
            </a:pPr>
            <a:r>
              <a:rPr lang="en-GB" sz="2400" b="1" dirty="0" err="1"/>
              <a:t>unique_ptr</a:t>
            </a:r>
            <a:r>
              <a:rPr lang="en-GB" sz="2400" dirty="0"/>
              <a:t> : A smart pointer that contains the only copy of the address of a given location in memory, such that the address (i.e. the ownership) can be moved to another pointer without copying.  </a:t>
            </a:r>
          </a:p>
          <a:p>
            <a:pPr>
              <a:lnSpc>
                <a:spcPts val="4000"/>
              </a:lnSpc>
              <a:spcAft>
                <a:spcPts val="600"/>
              </a:spcAft>
            </a:pPr>
            <a:r>
              <a:rPr lang="en-GB" sz="2400" b="1" dirty="0" err="1"/>
              <a:t>shared_ptr</a:t>
            </a:r>
            <a:r>
              <a:rPr lang="en-GB" sz="2400" dirty="0"/>
              <a:t> : A smart pointer similar to raw pointers, except that it counts the number of pointers holding the same address.  </a:t>
            </a:r>
          </a:p>
          <a:p>
            <a:pPr>
              <a:lnSpc>
                <a:spcPts val="4000"/>
              </a:lnSpc>
              <a:spcAft>
                <a:spcPts val="600"/>
              </a:spcAft>
            </a:pPr>
            <a:r>
              <a:rPr lang="en-GB" sz="2400" b="1" dirty="0" err="1"/>
              <a:t>weak_ptr</a:t>
            </a:r>
            <a:r>
              <a:rPr lang="en-GB" sz="2400" dirty="0"/>
              <a:t> : A special case of </a:t>
            </a:r>
            <a:r>
              <a:rPr lang="en-GB" sz="2400" b="1" dirty="0" err="1"/>
              <a:t>shared_ptr</a:t>
            </a:r>
            <a:r>
              <a:rPr lang="en-GB" sz="2400" b="1" dirty="0"/>
              <a:t> </a:t>
            </a:r>
            <a:r>
              <a:rPr lang="en-GB" sz="2400" dirty="0"/>
              <a:t>where it has the same address of that of </a:t>
            </a:r>
            <a:r>
              <a:rPr lang="en-GB" sz="2400" b="1" dirty="0" err="1"/>
              <a:t>shared_ptr</a:t>
            </a:r>
            <a:r>
              <a:rPr lang="en-GB" sz="2400" b="1" dirty="0"/>
              <a:t> </a:t>
            </a:r>
            <a:r>
              <a:rPr lang="en-GB" sz="2400" dirty="0"/>
              <a:t>without being included in reference counting.</a:t>
            </a:r>
          </a:p>
          <a:p>
            <a:pPr>
              <a:lnSpc>
                <a:spcPts val="4000"/>
              </a:lnSpc>
            </a:pPr>
            <a:r>
              <a:rPr lang="en-GB" sz="2400" dirty="0"/>
              <a:t>Go to </a:t>
            </a:r>
            <a:r>
              <a:rPr lang="en-GB" sz="2400" dirty="0">
                <a:solidFill>
                  <a:srgbClr val="00B050"/>
                </a:solidFill>
              </a:rPr>
              <a:t>L11D6.cpp</a:t>
            </a:r>
            <a:endParaRPr lang="en-GB" sz="2400" dirty="0"/>
          </a:p>
          <a:p>
            <a:pPr marL="0" indent="0">
              <a:lnSpc>
                <a:spcPct val="15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000" dirty="0">
              <a:highlight>
                <a:srgbClr val="FFFFFF"/>
              </a:highlight>
            </a:endParaRPr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628650" indent="-62865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Smart pointers types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1761D7-3DCA-48D0-8D79-89DA2676C30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6E0D27-0BEA-4CB5-9444-FF650B37271A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B898AA5B-F640-4621-A955-6B998AC81A7C}"/>
              </a:ext>
            </a:extLst>
          </p:cNvPr>
          <p:cNvSpPr txBox="1"/>
          <p:nvPr/>
        </p:nvSpPr>
        <p:spPr>
          <a:xfrm>
            <a:off x="838198" y="6276458"/>
            <a:ext cx="101600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Practical note: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User smart pointers mainly when ownership matters.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198" y="6282073"/>
            <a:ext cx="9808894" cy="4561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98939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495423"/>
            <a:ext cx="11159067" cy="432360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2400" dirty="0"/>
              <a:t>Algorithms are function templates that act on containers and provide means for various operations for the contents of the containers.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Can be included in any code using 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&lt;algorithm&gt;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Reference: </a:t>
            </a:r>
            <a:r>
              <a:rPr lang="en-GB" sz="2400" dirty="0">
                <a:hlinkClick r:id="rId3"/>
              </a:rPr>
              <a:t>http://www.cplusplus.com/reference/algorithm/</a:t>
            </a:r>
            <a:endParaRPr lang="en-GB" sz="2400" dirty="0"/>
          </a:p>
          <a:p>
            <a:pPr>
              <a:lnSpc>
                <a:spcPct val="150000"/>
              </a:lnSpc>
            </a:pPr>
            <a:r>
              <a:rPr lang="en-GB" sz="2400" dirty="0"/>
              <a:t>Examples of these algorithms include sorting, searching, finding minimum/maximum, etc. </a:t>
            </a:r>
          </a:p>
          <a:p>
            <a:pPr marL="0" indent="0">
              <a:lnSpc>
                <a:spcPct val="150000"/>
              </a:lnSpc>
              <a:buNone/>
            </a:pPr>
            <a:endParaRPr lang="en-GB" sz="2400" dirty="0"/>
          </a:p>
          <a:p>
            <a:pPr>
              <a:lnSpc>
                <a:spcPct val="10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US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628650" indent="-62865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Algorithms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1761D7-3DCA-48D0-8D79-89DA2676C30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6E0D27-0BEA-4CB5-9444-FF650B37271A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04943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495423"/>
            <a:ext cx="11159067" cy="432360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2400" dirty="0"/>
              <a:t>Functors are classes where the objects behave as functions.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They are used to customise algorithms’ functionality. 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They are used in many occasions in STL library.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Can be included in any code using 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&lt;functional&gt;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The basic idea behind </a:t>
            </a:r>
            <a:r>
              <a:rPr lang="en-GB" sz="2400" dirty="0" err="1"/>
              <a:t>functor</a:t>
            </a:r>
            <a:r>
              <a:rPr lang="en-GB" sz="2400" dirty="0"/>
              <a:t> is to overload the call operator, such that:</a:t>
            </a:r>
          </a:p>
          <a:p>
            <a:pPr>
              <a:lnSpc>
                <a:spcPct val="150000"/>
              </a:lnSpc>
            </a:pPr>
            <a:endParaRPr lang="en-GB" sz="2400" dirty="0"/>
          </a:p>
          <a:p>
            <a:pPr>
              <a:lnSpc>
                <a:spcPct val="150000"/>
              </a:lnSpc>
            </a:pPr>
            <a:r>
              <a:rPr lang="en-GB" sz="2400" dirty="0"/>
              <a:t>Reference: </a:t>
            </a:r>
            <a:r>
              <a:rPr lang="en-GB" sz="2400" dirty="0">
                <a:hlinkClick r:id="rId3"/>
              </a:rPr>
              <a:t>http://www.cplusplus.com/reference/functional/</a:t>
            </a:r>
            <a:endParaRPr lang="en-GB" sz="2400" dirty="0"/>
          </a:p>
          <a:p>
            <a:pPr>
              <a:lnSpc>
                <a:spcPct val="150000"/>
              </a:lnSpc>
            </a:pPr>
            <a:r>
              <a:rPr lang="en-GB" sz="2400" dirty="0"/>
              <a:t>Go to </a:t>
            </a:r>
            <a:r>
              <a:rPr lang="en-GB" sz="2400" dirty="0">
                <a:solidFill>
                  <a:srgbClr val="00B050"/>
                </a:solidFill>
              </a:rPr>
              <a:t>L11D7.cpp</a:t>
            </a:r>
            <a:r>
              <a:rPr lang="en-GB" sz="2400" dirty="0"/>
              <a:t> </a:t>
            </a:r>
          </a:p>
          <a:p>
            <a:pPr>
              <a:lnSpc>
                <a:spcPct val="150000"/>
              </a:lnSpc>
            </a:pPr>
            <a:endParaRPr lang="en-GB" sz="2400" dirty="0"/>
          </a:p>
          <a:p>
            <a:pPr marL="0" indent="0">
              <a:lnSpc>
                <a:spcPct val="150000"/>
              </a:lnSpc>
              <a:buNone/>
            </a:pPr>
            <a:endParaRPr lang="en-GB" sz="2400" dirty="0"/>
          </a:p>
          <a:p>
            <a:pPr>
              <a:lnSpc>
                <a:spcPct val="10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US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628650" indent="-62865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err="1"/>
              <a:t>Functors</a:t>
            </a:r>
            <a:endParaRPr lang="en-GB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1761D7-3DCA-48D0-8D79-89DA2676C30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6E0D27-0BEA-4CB5-9444-FF650B37271A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93F6A8-AE79-4BC5-AB7B-F3273693F52C}"/>
              </a:ext>
            </a:extLst>
          </p:cNvPr>
          <p:cNvSpPr txBox="1"/>
          <p:nvPr/>
        </p:nvSpPr>
        <p:spPr>
          <a:xfrm>
            <a:off x="1116451" y="4873124"/>
            <a:ext cx="26436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MyFunctor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(1)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 flipH="1">
            <a:off x="3194340" y="5103957"/>
            <a:ext cx="271604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593F6A8-AE79-4BC5-AB7B-F3273693F52C}"/>
              </a:ext>
            </a:extLst>
          </p:cNvPr>
          <p:cNvSpPr txBox="1"/>
          <p:nvPr/>
        </p:nvSpPr>
        <p:spPr>
          <a:xfrm>
            <a:off x="5910380" y="4873124"/>
            <a:ext cx="46353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MyFunctor.operator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()  (1)</a:t>
            </a:r>
          </a:p>
        </p:txBody>
      </p:sp>
    </p:spTree>
    <p:extLst>
      <p:ext uri="{BB962C8B-B14F-4D97-AF65-F5344CB8AC3E}">
        <p14:creationId xmlns:p14="http://schemas.microsoft.com/office/powerpoint/2010/main" val="20015243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503879"/>
            <a:ext cx="11075437" cy="4895850"/>
          </a:xfrm>
        </p:spPr>
        <p:txBody>
          <a:bodyPr>
            <a:noAutofit/>
          </a:bodyPr>
          <a:lstStyle/>
          <a:p>
            <a:pPr>
              <a:lnSpc>
                <a:spcPct val="170000"/>
              </a:lnSpc>
            </a:pPr>
            <a:r>
              <a:rPr lang="en-GB" sz="2400" dirty="0"/>
              <a:t>Iterators were </a:t>
            </a:r>
            <a:r>
              <a:rPr lang="en-GB" sz="2400"/>
              <a:t>introduced and </a:t>
            </a:r>
            <a:r>
              <a:rPr lang="en-GB" sz="2400" dirty="0"/>
              <a:t>the different types of iterators were discussed.</a:t>
            </a:r>
          </a:p>
          <a:p>
            <a:pPr>
              <a:lnSpc>
                <a:spcPct val="170000"/>
              </a:lnSpc>
            </a:pPr>
            <a:r>
              <a:rPr lang="en-GB" sz="2400" dirty="0"/>
              <a:t>Stream iterators and insert operators were discussed.</a:t>
            </a:r>
          </a:p>
          <a:p>
            <a:pPr>
              <a:lnSpc>
                <a:spcPct val="170000"/>
              </a:lnSpc>
            </a:pPr>
            <a:r>
              <a:rPr lang="en-GB" sz="2400" dirty="0"/>
              <a:t>Smart pointers were discussed.</a:t>
            </a:r>
          </a:p>
          <a:p>
            <a:pPr>
              <a:lnSpc>
                <a:spcPct val="170000"/>
              </a:lnSpc>
            </a:pPr>
            <a:r>
              <a:rPr lang="en-GB" sz="2400" dirty="0"/>
              <a:t>Algorithms and </a:t>
            </a:r>
            <a:r>
              <a:rPr lang="en-GB" sz="2400" dirty="0" err="1"/>
              <a:t>Functors</a:t>
            </a:r>
            <a:r>
              <a:rPr lang="en-GB" sz="2400" dirty="0"/>
              <a:t> were defined and discussed. </a:t>
            </a:r>
          </a:p>
          <a:p>
            <a:pPr>
              <a:lnSpc>
                <a:spcPct val="170000"/>
              </a:lnSpc>
            </a:pPr>
            <a:endParaRPr lang="en-GB" sz="2400" dirty="0"/>
          </a:p>
          <a:p>
            <a:pPr>
              <a:lnSpc>
                <a:spcPct val="170000"/>
              </a:lnSpc>
            </a:pPr>
            <a:endParaRPr lang="en-GB" sz="2400" dirty="0"/>
          </a:p>
          <a:p>
            <a:pPr>
              <a:lnSpc>
                <a:spcPct val="17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20000"/>
              </a:lnSpc>
            </a:pP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en-GB" sz="9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20000"/>
              </a:lnSpc>
            </a:pPr>
            <a:endParaRPr lang="en-GB" sz="3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3400" dirty="0"/>
              <a:t>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15</a:t>
            </a:fld>
            <a:endParaRPr lang="en-GB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64FB17-C223-444F-A237-84ECC72DDE4B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5071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7192</TotalTime>
  <Words>1193</Words>
  <Application>Microsoft Office PowerPoint</Application>
  <PresentationFormat>Widescreen</PresentationFormat>
  <Paragraphs>432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Consolas</vt:lpstr>
      <vt:lpstr>Courier New</vt:lpstr>
      <vt:lpstr>Office Theme</vt:lpstr>
      <vt:lpstr>Application Development with C++ (ELEC362)</vt:lpstr>
      <vt:lpstr>Previous lecture </vt:lpstr>
      <vt:lpstr>This lecture</vt:lpstr>
      <vt:lpstr>Iterators</vt:lpstr>
      <vt:lpstr>Iterators</vt:lpstr>
      <vt:lpstr>Vector iterators</vt:lpstr>
      <vt:lpstr>Stream iterators</vt:lpstr>
      <vt:lpstr>Insert iterators</vt:lpstr>
      <vt:lpstr>Insertion benchmark</vt:lpstr>
      <vt:lpstr>Iterator invalidation</vt:lpstr>
      <vt:lpstr>Smart pointers</vt:lpstr>
      <vt:lpstr>Smart pointers types</vt:lpstr>
      <vt:lpstr>Algorithms</vt:lpstr>
      <vt:lpstr>Functors</vt:lpstr>
      <vt:lpstr>Summary</vt:lpstr>
    </vt:vector>
  </TitlesOfParts>
  <Company>The University of Liverpool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Application Development with C++ (ELEC362)</dc:title>
  <dc:creator>Hasan, Mohammad [mihasan]</dc:creator>
  <cp:lastModifiedBy>Hasan, Mohammad [mihasan]</cp:lastModifiedBy>
  <cp:revision>722</cp:revision>
  <dcterms:created xsi:type="dcterms:W3CDTF">2019-05-09T14:26:54Z</dcterms:created>
  <dcterms:modified xsi:type="dcterms:W3CDTF">2026-09-28T09:25:20Z</dcterms:modified>
</cp:coreProperties>
</file>