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313" r:id="rId3"/>
    <p:sldId id="257" r:id="rId4"/>
    <p:sldId id="323" r:id="rId5"/>
    <p:sldId id="258" r:id="rId6"/>
    <p:sldId id="324" r:id="rId7"/>
    <p:sldId id="325" r:id="rId8"/>
    <p:sldId id="315" r:id="rId9"/>
    <p:sldId id="330" r:id="rId10"/>
    <p:sldId id="327" r:id="rId11"/>
    <p:sldId id="329" r:id="rId12"/>
    <p:sldId id="316" r:id="rId13"/>
    <p:sldId id="317" r:id="rId14"/>
    <p:sldId id="318" r:id="rId15"/>
    <p:sldId id="304" r:id="rId16"/>
    <p:sldId id="319" r:id="rId17"/>
    <p:sldId id="331" r:id="rId18"/>
    <p:sldId id="320" r:id="rId19"/>
    <p:sldId id="321" r:id="rId20"/>
    <p:sldId id="322" r:id="rId21"/>
    <p:sldId id="30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E7"/>
    <a:srgbClr val="008000"/>
    <a:srgbClr val="0000FF"/>
    <a:srgbClr val="6F008A"/>
    <a:srgbClr val="660066"/>
    <a:srgbClr val="E9ED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5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68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074BA-FB03-4330-B6D5-D4E5FA218414}" type="datetimeFigureOut">
              <a:rPr lang="en-GB" smtClean="0"/>
              <a:t>30/09/2024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6E79A-B420-420D-963A-E7DA074E8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279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6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159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2331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057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33522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45104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8459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86780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2949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7811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1026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91169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0244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24823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2375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82009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99543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0277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39346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4846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0A4CF-2717-43E3-825E-373FCAF8CACA}" type="datetime1">
              <a:rPr lang="en-GB" smtClean="0"/>
              <a:t>30/09/2024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44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B0B5-D2C5-451B-BB87-3C1CFDD20804}" type="datetime1">
              <a:rPr lang="en-GB" smtClean="0"/>
              <a:t>30/09/2024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092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C933E-6ACF-4BB5-897C-C6A0A52DD82E}" type="datetime1">
              <a:rPr lang="en-GB" smtClean="0"/>
              <a:t>30/09/2024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223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3D5C-DF01-4C10-9D18-B3DE3D921135}" type="datetime1">
              <a:rPr lang="en-GB" smtClean="0"/>
              <a:t>30/09/2024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68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47ED-C601-47CB-8D5C-4ECECC17B65B}" type="datetime1">
              <a:rPr lang="en-GB" smtClean="0"/>
              <a:t>30/09/2024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478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CE9AF-161C-412D-BD00-75CE1DCC1DF7}" type="datetime1">
              <a:rPr lang="en-GB" smtClean="0"/>
              <a:t>30/09/2024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646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2656-4D19-4DEB-807B-1CF4EDC253D6}" type="datetime1">
              <a:rPr lang="en-GB" smtClean="0"/>
              <a:t>30/09/2024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572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7A24E-4829-479F-A19E-280D0A836AA5}" type="datetime1">
              <a:rPr lang="en-GB" smtClean="0"/>
              <a:t>30/09/2024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824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B24F-C214-4E3A-A5E5-E9173E3D1D83}" type="datetime1">
              <a:rPr lang="en-GB" smtClean="0"/>
              <a:t>30/09/2024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035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AC9A-9164-4283-9229-F1A5E788ED22}" type="datetime1">
              <a:rPr lang="en-GB" smtClean="0"/>
              <a:t>30/09/2024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793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F9B7-246B-4E64-87D5-D2F2416C2D2A}" type="datetime1">
              <a:rPr lang="en-GB" smtClean="0"/>
              <a:t>30/09/2024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651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6D058-F21A-4AF4-A0C5-0F6F3323CC21}" type="datetime1">
              <a:rPr lang="en-GB" smtClean="0"/>
              <a:t>30/09/2024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529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mihasan@liverpool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obelprize.org/prizes/physics/2000/summary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mooseframework.inl.gov/bison/syntax/Kernels/index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hyperlink" Target="https://www.dealii.org/current/doxygen/deal.II/step_3.html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Application Development with C++ (ELEC362)</a:t>
            </a:r>
            <a:endParaRPr lang="en-GB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474912"/>
          </a:xfrm>
        </p:spPr>
        <p:txBody>
          <a:bodyPr anchor="ctr">
            <a:normAutofit/>
          </a:bodyPr>
          <a:lstStyle/>
          <a:p>
            <a:r>
              <a:rPr lang="en-GB" sz="3600" dirty="0"/>
              <a:t>Lecture 6: Classes &amp; Object-Oriented Programming</a:t>
            </a:r>
          </a:p>
          <a:p>
            <a:r>
              <a:rPr lang="en-GB" sz="3200" dirty="0">
                <a:hlinkClick r:id="rId2"/>
              </a:rPr>
              <a:t>mihasan@liverpool.ac.uk</a:t>
            </a:r>
            <a:endParaRPr lang="en-GB" sz="3200" dirty="0"/>
          </a:p>
          <a:p>
            <a:endParaRPr lang="en-GB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275" y="-417339"/>
            <a:ext cx="7543800" cy="307940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7943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Previous lecture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03879"/>
            <a:ext cx="11075437" cy="489585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GB" sz="2400" dirty="0"/>
              <a:t>The definition of pointers, their use and their advantages were discussed.</a:t>
            </a:r>
          </a:p>
          <a:p>
            <a:pPr>
              <a:lnSpc>
                <a:spcPct val="200000"/>
              </a:lnSpc>
            </a:pPr>
            <a:r>
              <a:rPr lang="en-GB" sz="2400" dirty="0"/>
              <a:t>Differences between two types of memory were discussed.</a:t>
            </a:r>
          </a:p>
          <a:p>
            <a:pPr>
              <a:lnSpc>
                <a:spcPct val="200000"/>
              </a:lnSpc>
            </a:pPr>
            <a:r>
              <a:rPr lang="en-GB" sz="2400" dirty="0"/>
              <a:t>Memory efficient functions were discussed.</a:t>
            </a:r>
          </a:p>
          <a:p>
            <a:pPr>
              <a:lnSpc>
                <a:spcPct val="200000"/>
              </a:lnSpc>
            </a:pPr>
            <a:r>
              <a:rPr lang="en-GB" sz="2400" dirty="0"/>
              <a:t>Functions overloading and templates were discussed .</a:t>
            </a:r>
          </a:p>
          <a:p>
            <a:pPr marL="0" indent="0">
              <a:lnSpc>
                <a:spcPct val="170000"/>
              </a:lnSpc>
              <a:buNone/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3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2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3223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This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What is covered in this lecture?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1. Object Oriented Programming (OOP).    2. Introduction to classes.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Why is it covered?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1. Classes are the building block of any software.</a:t>
            </a:r>
          </a:p>
          <a:p>
            <a:pPr marL="177800" indent="-177800">
              <a:lnSpc>
                <a:spcPct val="120000"/>
              </a:lnSpc>
              <a:buNone/>
            </a:pPr>
            <a:r>
              <a:rPr lang="en-GB" sz="2400" dirty="0"/>
              <a:t>  2. OOP is the standard paradigm in software development.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How are topics covered in this lecture: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2 source codes and a practical example.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3</a:t>
            </a:fld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8A95AE-9713-46FC-B847-421EF800AD12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798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Side 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4</a:t>
            </a:fld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8A95AE-9713-46FC-B847-421EF800AD12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DD79F12-F349-4170-BB76-CF411D78F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C6AF04-DF30-4622-B092-2256092BFCD5}"/>
              </a:ext>
            </a:extLst>
          </p:cNvPr>
          <p:cNvSpPr txBox="1"/>
          <p:nvPr/>
        </p:nvSpPr>
        <p:spPr>
          <a:xfrm>
            <a:off x="3994647" y="2917272"/>
            <a:ext cx="39413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Side story: Integrated Circuits (IC) in Electronics</a:t>
            </a:r>
          </a:p>
        </p:txBody>
      </p:sp>
    </p:spTree>
    <p:extLst>
      <p:ext uri="{BB962C8B-B14F-4D97-AF65-F5344CB8AC3E}">
        <p14:creationId xmlns:p14="http://schemas.microsoft.com/office/powerpoint/2010/main" val="1503365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3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If you are asked to build an amplifier circuit, which one will you build?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Do you prefer using Arduino/Raspberry Pi or basic components in your FYP?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ICs versus basic components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5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5504867A-8672-4E27-9FB0-E89F6FDA9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61" y="1997014"/>
            <a:ext cx="5753905" cy="35156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8D7E26-A4E8-485A-9544-7BEB296975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34169"/>
            <a:ext cx="5820339" cy="351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500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3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The vast majority of electronics engineers prefer using ICs for many reasons including: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2400" dirty="0"/>
              <a:t>It is easier: Fewer design decisions to make.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2400" dirty="0"/>
              <a:t>It saves a lot of time: No need to repeat what others have built.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2400" dirty="0"/>
              <a:t>It gives a consistent performance: Same performance for same IC.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US" sz="2400" dirty="0"/>
              <a:t>It is cheaper: Saving production costs and time.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Since their invention in 1958, ICs revolutionized technology, leading its inventor to win a Nobel Prize in Physics in 2000 (</a:t>
            </a:r>
            <a:r>
              <a:rPr lang="en-US" sz="2400" dirty="0">
                <a:hlinkClick r:id="rId3"/>
              </a:rPr>
              <a:t>https://www.nobelprize.org/prizes/physics/2000/summary/</a:t>
            </a:r>
            <a:r>
              <a:rPr lang="en-US" sz="2400" dirty="0"/>
              <a:t>)</a:t>
            </a:r>
          </a:p>
          <a:p>
            <a:pPr>
              <a:lnSpc>
                <a:spcPct val="120000"/>
              </a:lnSpc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ICs versus basic components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6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3869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Side 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7</a:t>
            </a:fld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8A95AE-9713-46FC-B847-421EF800AD12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DD79F12-F349-4170-BB76-CF411D78F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C6AF04-DF30-4622-B092-2256092BFCD5}"/>
              </a:ext>
            </a:extLst>
          </p:cNvPr>
          <p:cNvSpPr txBox="1"/>
          <p:nvPr/>
        </p:nvSpPr>
        <p:spPr>
          <a:xfrm>
            <a:off x="3994647" y="2917272"/>
            <a:ext cx="39413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End of the side story</a:t>
            </a:r>
          </a:p>
        </p:txBody>
      </p:sp>
    </p:spTree>
    <p:extLst>
      <p:ext uri="{BB962C8B-B14F-4D97-AF65-F5344CB8AC3E}">
        <p14:creationId xmlns:p14="http://schemas.microsoft.com/office/powerpoint/2010/main" val="4001226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3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Some computer scientists in the 60s were like: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Object Oriented Programming (OOP)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revolutionised software just like ICs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revolutionised all electronics.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The core idea is: Instead of building codes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using basic variables, they are built using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higher-level variables known as “objects”.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Object Oriented Programming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8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00188A7D-1CF6-4421-9060-7EA1755828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580" y="1685925"/>
            <a:ext cx="4572000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605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3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A conceptual comparison between ICs and OOP: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Object Oriented Programming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9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F39A6B3-26B1-4F41-907C-33E3A847D0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999986"/>
              </p:ext>
            </p:extLst>
          </p:nvPr>
        </p:nvGraphicFramePr>
        <p:xfrm>
          <a:off x="704461" y="2085952"/>
          <a:ext cx="10972800" cy="3337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809">
                  <a:extLst>
                    <a:ext uri="{9D8B030D-6E8A-4147-A177-3AD203B41FA5}">
                      <a16:colId xmlns:a16="http://schemas.microsoft.com/office/drawing/2014/main" val="2764901444"/>
                    </a:ext>
                  </a:extLst>
                </a:gridCol>
                <a:gridCol w="3120705">
                  <a:extLst>
                    <a:ext uri="{9D8B030D-6E8A-4147-A177-3AD203B41FA5}">
                      <a16:colId xmlns:a16="http://schemas.microsoft.com/office/drawing/2014/main" val="2025836772"/>
                    </a:ext>
                  </a:extLst>
                </a:gridCol>
                <a:gridCol w="5268286">
                  <a:extLst>
                    <a:ext uri="{9D8B030D-6E8A-4147-A177-3AD203B41FA5}">
                      <a16:colId xmlns:a16="http://schemas.microsoft.com/office/drawing/2014/main" val="799632750"/>
                    </a:ext>
                  </a:extLst>
                </a:gridCol>
              </a:tblGrid>
              <a:tr h="55219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Modern Electronics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Modern software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299335"/>
                  </a:ext>
                </a:extLst>
              </a:tr>
              <a:tr h="552193">
                <a:tc>
                  <a:txBody>
                    <a:bodyPr/>
                    <a:lstStyle/>
                    <a:p>
                      <a:r>
                        <a:rPr lang="en-GB" dirty="0"/>
                        <a:t>Building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Integrated circuits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Objects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73729"/>
                  </a:ext>
                </a:extLst>
              </a:tr>
              <a:tr h="136157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dirty="0"/>
                        <a:t>What is the building block made from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dirty="0"/>
                        <a:t>Made from basic components such as resistors, transistors, capacitors,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dirty="0"/>
                        <a:t>Made from basic variables datatypes and control structures such as double, integer, bool, and for loops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689323"/>
                  </a:ext>
                </a:extLst>
              </a:tr>
              <a:tr h="55219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dirty="0"/>
                        <a:t>Requirements for using building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dirty="0"/>
                        <a:t>Having the datasheet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GB" dirty="0"/>
                        <a:t>Having the documentation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921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8677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3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Object Oriented Programming (OOP) is a programming paradigm where the programming problem is defined as a collection of interacting objects describing real-world entities. 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Abstract concept of the object in software such as </a:t>
            </a:r>
            <a:r>
              <a:rPr lang="en-US" sz="2400" dirty="0" err="1"/>
              <a:t>MultiSim</a:t>
            </a:r>
            <a:r>
              <a:rPr lang="en-US" sz="2400" dirty="0"/>
              <a:t>: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Object Oriented Programming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10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1041568" y="3638005"/>
            <a:ext cx="1677696" cy="1371600"/>
            <a:chOff x="3077619" y="5486401"/>
            <a:chExt cx="1677696" cy="1371600"/>
          </a:xfrm>
        </p:grpSpPr>
        <p:sp>
          <p:nvSpPr>
            <p:cNvPr id="8" name="Rounded Rectangle 7"/>
            <p:cNvSpPr/>
            <p:nvPr/>
          </p:nvSpPr>
          <p:spPr>
            <a:xfrm>
              <a:off x="3077619" y="5486401"/>
              <a:ext cx="1677696" cy="1371600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3077619" y="5832692"/>
              <a:ext cx="1677696" cy="7832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077619" y="6507067"/>
              <a:ext cx="1677696" cy="7832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/>
          <p:cNvSpPr txBox="1"/>
          <p:nvPr/>
        </p:nvSpPr>
        <p:spPr>
          <a:xfrm>
            <a:off x="1431283" y="3595602"/>
            <a:ext cx="962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Resistor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9796" y="3994666"/>
            <a:ext cx="1328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value</a:t>
            </a:r>
          </a:p>
          <a:p>
            <a:pPr algn="ctr"/>
            <a:r>
              <a:rPr lang="en-US" dirty="0" err="1"/>
              <a:t>Max_power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431283" y="4612114"/>
            <a:ext cx="1040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VI_char</a:t>
            </a:r>
            <a:r>
              <a:rPr lang="en-US" dirty="0"/>
              <a:t>()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2840995" y="3780268"/>
            <a:ext cx="1831589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692092" y="3530463"/>
            <a:ext cx="2098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Entity (object)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2393900" y="4179556"/>
            <a:ext cx="1831589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254141" y="3947995"/>
            <a:ext cx="3492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Attributes (properties)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2471953" y="4796780"/>
            <a:ext cx="1831589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59626" y="4565947"/>
            <a:ext cx="6905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Methods (functionalities)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C228720-A3B0-4EA4-A5A3-5A57A656FA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4724" y="2609243"/>
            <a:ext cx="1165287" cy="116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921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3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Another example: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Object Oriented Programming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11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2AAFF9C-ED51-407F-A15E-D65F293C4F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0807" y="1565082"/>
            <a:ext cx="6618914" cy="426580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0E0BC7C-9B84-42E0-A4DE-3EDD6653D1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416829"/>
              </p:ext>
            </p:extLst>
          </p:nvPr>
        </p:nvGraphicFramePr>
        <p:xfrm>
          <a:off x="159391" y="1983169"/>
          <a:ext cx="5184396" cy="430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6345">
                  <a:extLst>
                    <a:ext uri="{9D8B030D-6E8A-4147-A177-3AD203B41FA5}">
                      <a16:colId xmlns:a16="http://schemas.microsoft.com/office/drawing/2014/main" val="2764901444"/>
                    </a:ext>
                  </a:extLst>
                </a:gridCol>
                <a:gridCol w="1241672">
                  <a:extLst>
                    <a:ext uri="{9D8B030D-6E8A-4147-A177-3AD203B41FA5}">
                      <a16:colId xmlns:a16="http://schemas.microsoft.com/office/drawing/2014/main" val="2025836772"/>
                    </a:ext>
                  </a:extLst>
                </a:gridCol>
                <a:gridCol w="2986379">
                  <a:extLst>
                    <a:ext uri="{9D8B030D-6E8A-4147-A177-3AD203B41FA5}">
                      <a16:colId xmlns:a16="http://schemas.microsoft.com/office/drawing/2014/main" val="7996327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functionality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299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Number of lives, collected coins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Fire bullets, flying, sliding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73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Turtle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Points gained when beat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Range of motion, range of fly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689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Time, terrane, 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921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Mystery 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Design, points hidden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Fire flower release, Mushroom motion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648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980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3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When designing a software based on OOP, the following steps has to be followed: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1. Given the specification, Identify different entities of the software.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2. Define the relationship between these entities.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3. Define the attributes of these entities.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4. Defined methods/functions of these entities.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Object Oriented Software Design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12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2726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3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There are 4 major concepts in OOP: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Object Oriented concepts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13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315479" y="3247031"/>
            <a:ext cx="3378335" cy="2142831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4581793" y="3825626"/>
            <a:ext cx="28159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Object Oriented Programming</a:t>
            </a:r>
          </a:p>
        </p:txBody>
      </p:sp>
      <p:sp>
        <p:nvSpPr>
          <p:cNvPr id="8" name="Oval 7"/>
          <p:cNvSpPr/>
          <p:nvPr/>
        </p:nvSpPr>
        <p:spPr>
          <a:xfrm>
            <a:off x="268310" y="2118013"/>
            <a:ext cx="3742571" cy="2460631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495603" y="4656623"/>
            <a:ext cx="3378335" cy="2142831"/>
          </a:xfrm>
          <a:prstGeom prst="ellipse">
            <a:avLst/>
          </a:prstGeom>
          <a:solidFill>
            <a:srgbClr val="00B0F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8116290" y="4358321"/>
            <a:ext cx="3378335" cy="2142831"/>
          </a:xfrm>
          <a:prstGeom prst="ellipse">
            <a:avLst/>
          </a:prstGeom>
          <a:solidFill>
            <a:srgbClr val="FFFF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7953181" y="1819656"/>
            <a:ext cx="3577403" cy="2231785"/>
          </a:xfrm>
          <a:prstGeom prst="ellipse">
            <a:avLst/>
          </a:prstGeom>
          <a:solidFill>
            <a:srgbClr val="00B05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24871" y="2739435"/>
            <a:ext cx="42096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Abstraction</a:t>
            </a:r>
            <a:r>
              <a:rPr lang="en-US" sz="2400" dirty="0"/>
              <a:t>: </a:t>
            </a:r>
            <a:r>
              <a:rPr lang="en-GB" sz="2400" dirty="0"/>
              <a:t>displaying only essential information on data and hiding the details of implementation.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7855679" y="2251340"/>
            <a:ext cx="38691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Encapsulation</a:t>
            </a:r>
            <a:r>
              <a:rPr lang="en-GB" sz="2400" dirty="0"/>
              <a:t>: binding together the data and the functions that manipulate them.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591016" y="5484388"/>
            <a:ext cx="3097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Inheritance</a:t>
            </a:r>
            <a:r>
              <a:rPr lang="en-GB" sz="2400" dirty="0"/>
              <a:t>: Lecture 9</a:t>
            </a:r>
            <a:endParaRPr lang="en-US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8043179" y="5198903"/>
            <a:ext cx="3494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Polymorphism</a:t>
            </a:r>
            <a:r>
              <a:rPr lang="en-GB" sz="2400" dirty="0"/>
              <a:t>: Lecture 8</a:t>
            </a:r>
            <a:endParaRPr lang="en-US" sz="2400" dirty="0"/>
          </a:p>
        </p:txBody>
      </p:sp>
      <p:cxnSp>
        <p:nvCxnSpPr>
          <p:cNvPr id="17" name="Straight Arrow Connector 16"/>
          <p:cNvCxnSpPr/>
          <p:nvPr/>
        </p:nvCxnSpPr>
        <p:spPr>
          <a:xfrm flipH="1" flipV="1">
            <a:off x="4010881" y="3465576"/>
            <a:ext cx="563965" cy="35542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3777228" y="4797189"/>
            <a:ext cx="666600" cy="497681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7195305" y="3247031"/>
            <a:ext cx="895647" cy="35839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7631911" y="4692009"/>
            <a:ext cx="657748" cy="321769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2422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3"/>
            <a:ext cx="10515600" cy="5226052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Encapsulation means hiding the details of the implementation inside the object.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Abstraction is the concept of dealing with the object as a “black box”.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 Abstraction is a result of Encapsulation.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A higher level of encapsulation leads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to better abstraction, which leads to                                                                                                    more efficient code development                                                                                                               / user friendly software.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Practical example: </a:t>
            </a:r>
            <a:r>
              <a:rPr lang="en-GB" sz="2400" dirty="0">
                <a:hlinkClick r:id="rId3"/>
              </a:rPr>
              <a:t>MOOSE</a:t>
            </a:r>
            <a:r>
              <a:rPr lang="en-GB" sz="2400" dirty="0"/>
              <a:t> vs </a:t>
            </a:r>
            <a:r>
              <a:rPr lang="en-GB" sz="2400" dirty="0">
                <a:hlinkClick r:id="rId4"/>
              </a:rPr>
              <a:t>DEAL II</a:t>
            </a: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dirty="0"/>
          </a:p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Encapsulation and Abstraction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14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5CEEAF-4E94-4D7E-92C1-41AD9E1C6E2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923" y="3179428"/>
            <a:ext cx="3255659" cy="2287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334B9C-52E7-4938-82C8-636BA5AEF0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2473" y="3484543"/>
            <a:ext cx="2305638" cy="178412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1711E3-1463-4118-8175-25DD75C9CF68}"/>
              </a:ext>
            </a:extLst>
          </p:cNvPr>
          <p:cNvCxnSpPr/>
          <p:nvPr/>
        </p:nvCxnSpPr>
        <p:spPr>
          <a:xfrm>
            <a:off x="9370503" y="4714613"/>
            <a:ext cx="46139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53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A class is a user defined data type, which holds its own data members and member functions, which can be accessed and used by creating an instance of that class.</a:t>
            </a:r>
            <a:endParaRPr lang="en-US" sz="2400" dirty="0"/>
          </a:p>
          <a:p>
            <a:pPr>
              <a:lnSpc>
                <a:spcPct val="120000"/>
              </a:lnSpc>
            </a:pPr>
            <a:r>
              <a:rPr lang="en-US" sz="2400" dirty="0"/>
              <a:t>Code implementation of an example object in </a:t>
            </a:r>
            <a:r>
              <a:rPr lang="en-US" sz="2400" dirty="0" err="1"/>
              <a:t>MultiSim</a:t>
            </a:r>
            <a:r>
              <a:rPr lang="en-US" sz="2400" dirty="0"/>
              <a:t>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An instant of a particular class is called an </a:t>
            </a:r>
            <a:r>
              <a:rPr lang="en-GB" sz="2400" u="sng" dirty="0"/>
              <a:t>Object</a:t>
            </a:r>
            <a:r>
              <a:rPr lang="en-GB" sz="2400" dirty="0"/>
              <a:t>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Classes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15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>
            <a:off x="939968" y="3908938"/>
            <a:ext cx="1677696" cy="1371600"/>
            <a:chOff x="3077619" y="5486401"/>
            <a:chExt cx="1677696" cy="1371600"/>
          </a:xfrm>
        </p:grpSpPr>
        <p:sp>
          <p:nvSpPr>
            <p:cNvPr id="11" name="Rounded Rectangle 10"/>
            <p:cNvSpPr/>
            <p:nvPr/>
          </p:nvSpPr>
          <p:spPr>
            <a:xfrm>
              <a:off x="3077619" y="5486401"/>
              <a:ext cx="1677696" cy="1371600"/>
            </a:xfrm>
            <a:prstGeom prst="round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3077619" y="5832692"/>
              <a:ext cx="1677696" cy="7832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3077619" y="6507067"/>
              <a:ext cx="1677696" cy="7832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/>
          <p:cNvSpPr txBox="1"/>
          <p:nvPr/>
        </p:nvSpPr>
        <p:spPr>
          <a:xfrm>
            <a:off x="1312752" y="3900403"/>
            <a:ext cx="962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Resistor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1265" y="4299467"/>
            <a:ext cx="1328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value</a:t>
            </a:r>
          </a:p>
          <a:p>
            <a:pPr algn="ctr"/>
            <a:r>
              <a:rPr lang="en-US" dirty="0" err="1"/>
              <a:t>Max_power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312752" y="4916915"/>
            <a:ext cx="1040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VI_char</a:t>
            </a:r>
            <a:r>
              <a:rPr lang="en-US" dirty="0"/>
              <a:t>()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2637794" y="4085069"/>
            <a:ext cx="1831589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488891" y="3835264"/>
            <a:ext cx="1042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Class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2190699" y="4484357"/>
            <a:ext cx="1831589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050940" y="4252796"/>
            <a:ext cx="2866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Member data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2268752" y="5101581"/>
            <a:ext cx="1831589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156425" y="4870748"/>
            <a:ext cx="2760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Member functions</a:t>
            </a:r>
          </a:p>
        </p:txBody>
      </p:sp>
    </p:spTree>
    <p:extLst>
      <p:ext uri="{BB962C8B-B14F-4D97-AF65-F5344CB8AC3E}">
        <p14:creationId xmlns:p14="http://schemas.microsoft.com/office/powerpoint/2010/main" val="3483022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8493"/>
            <a:ext cx="1089038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Syntax: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Google style for naming classes is similar to that of functions.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L6D1.cpp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Classes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16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80892" y="1868003"/>
            <a:ext cx="937384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class </a:t>
            </a:r>
            <a:r>
              <a:rPr lang="en-US" sz="2000" b="1" dirty="0" err="1">
                <a:latin typeface="Courier New"/>
                <a:cs typeface="Courier New"/>
              </a:rPr>
              <a:t>ClassName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lang="en-US" sz="2000" b="1" dirty="0">
                <a:latin typeface="Courier New"/>
                <a:cs typeface="Courier New"/>
              </a:rPr>
              <a:t>{</a:t>
            </a:r>
          </a:p>
          <a:p>
            <a:r>
              <a:rPr lang="en-US" sz="2000" b="1" dirty="0">
                <a:latin typeface="Courier New"/>
                <a:cs typeface="Courier New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public: </a:t>
            </a:r>
          </a:p>
          <a:p>
            <a:r>
              <a:rPr lang="en-US" sz="2000" b="1" dirty="0">
                <a:solidFill>
                  <a:srgbClr val="660066"/>
                </a:solidFill>
                <a:latin typeface="Courier New"/>
                <a:cs typeface="Courier New"/>
              </a:rPr>
              <a:t> </a:t>
            </a:r>
            <a:r>
              <a:rPr lang="en-US" sz="2000" b="1" dirty="0">
                <a:solidFill>
                  <a:srgbClr val="00B050"/>
                </a:solidFill>
                <a:latin typeface="Courier New"/>
                <a:cs typeface="Courier New"/>
              </a:rPr>
              <a:t>//member data and functions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private:</a:t>
            </a:r>
          </a:p>
          <a:p>
            <a:r>
              <a:rPr lang="en-US" sz="2000" b="1" dirty="0">
                <a:solidFill>
                  <a:srgbClr val="660066"/>
                </a:solidFill>
                <a:latin typeface="Courier New"/>
                <a:cs typeface="Courier New"/>
              </a:rPr>
              <a:t> </a:t>
            </a:r>
            <a:r>
              <a:rPr lang="en-US" sz="2000" b="1" dirty="0">
                <a:solidFill>
                  <a:srgbClr val="00B050"/>
                </a:solidFill>
                <a:latin typeface="Courier New"/>
                <a:cs typeface="Courier New"/>
              </a:rPr>
              <a:t>//member data and functions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protected:</a:t>
            </a:r>
          </a:p>
          <a:p>
            <a:r>
              <a:rPr lang="en-US" sz="2000" b="1" dirty="0">
                <a:solidFill>
                  <a:srgbClr val="00B050"/>
                </a:solidFill>
                <a:latin typeface="Courier New"/>
                <a:cs typeface="Courier New"/>
              </a:rPr>
              <a:t> //member data and functions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Courier New"/>
                <a:cs typeface="Courier New"/>
              </a:rPr>
              <a:t>}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lang="en-US" sz="2000" b="1" dirty="0">
                <a:latin typeface="Courier New"/>
                <a:cs typeface="Courier New"/>
              </a:rPr>
              <a:t>;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974685" y="2002940"/>
            <a:ext cx="10279863" cy="26367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2493858" y="2504681"/>
            <a:ext cx="1831589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378312" y="2273848"/>
            <a:ext cx="29617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Access specifier</a:t>
            </a:r>
          </a:p>
        </p:txBody>
      </p:sp>
    </p:spTree>
    <p:extLst>
      <p:ext uri="{BB962C8B-B14F-4D97-AF65-F5344CB8AC3E}">
        <p14:creationId xmlns:p14="http://schemas.microsoft.com/office/powerpoint/2010/main" val="119751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AF13051-45BF-82E4-9B1A-ACEFEEBF47F9}"/>
              </a:ext>
            </a:extLst>
          </p:cNvPr>
          <p:cNvSpPr/>
          <p:nvPr/>
        </p:nvSpPr>
        <p:spPr>
          <a:xfrm>
            <a:off x="7191622" y="5674451"/>
            <a:ext cx="2635479" cy="114082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8493"/>
            <a:ext cx="1089038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In Lecture 1, we said OOP can make C++ customisable for any purpose, essentially defining “new” datatypes: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A526866-5811-0B36-4F3D-B36B948BD736}"/>
              </a:ext>
            </a:extLst>
          </p:cNvPr>
          <p:cNvSpPr/>
          <p:nvPr/>
        </p:nvSpPr>
        <p:spPr>
          <a:xfrm>
            <a:off x="7143319" y="3097306"/>
            <a:ext cx="2635479" cy="114082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Making classes truly custom-made datatypes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17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50C094-D23E-EC69-290C-B3027603DA2C}"/>
              </a:ext>
            </a:extLst>
          </p:cNvPr>
          <p:cNvSpPr/>
          <p:nvPr/>
        </p:nvSpPr>
        <p:spPr>
          <a:xfrm>
            <a:off x="1326921" y="3097307"/>
            <a:ext cx="2635479" cy="114082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D47DF8-8C5B-2DE0-A102-01C28E191A60}"/>
              </a:ext>
            </a:extLst>
          </p:cNvPr>
          <p:cNvSpPr txBox="1"/>
          <p:nvPr/>
        </p:nvSpPr>
        <p:spPr>
          <a:xfrm>
            <a:off x="1592911" y="2543056"/>
            <a:ext cx="2103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Basic datatypes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B1D774-020D-9043-F319-9BDFF73F61D4}"/>
              </a:ext>
            </a:extLst>
          </p:cNvPr>
          <p:cNvSpPr txBox="1"/>
          <p:nvPr/>
        </p:nvSpPr>
        <p:spPr>
          <a:xfrm>
            <a:off x="1355280" y="3067605"/>
            <a:ext cx="26354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Declaration and </a:t>
            </a:r>
            <a:r>
              <a:rPr lang="en-US" sz="2400" dirty="0" err="1"/>
              <a:t>Initialisation</a:t>
            </a:r>
            <a:endParaRPr lang="en-US" sz="2400" dirty="0"/>
          </a:p>
          <a:p>
            <a:pPr algn="ctr"/>
            <a:r>
              <a:rPr lang="en-US" sz="2400" dirty="0"/>
              <a:t>(Lecture 3)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A33451-C261-2C8D-9B38-096D891C8411}"/>
              </a:ext>
            </a:extLst>
          </p:cNvPr>
          <p:cNvSpPr txBox="1"/>
          <p:nvPr/>
        </p:nvSpPr>
        <p:spPr>
          <a:xfrm>
            <a:off x="6283389" y="2635642"/>
            <a:ext cx="4315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Custom-made datatypes (classes)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5101A0-2E5F-C822-9FA8-C9777EC05185}"/>
              </a:ext>
            </a:extLst>
          </p:cNvPr>
          <p:cNvSpPr txBox="1"/>
          <p:nvPr/>
        </p:nvSpPr>
        <p:spPr>
          <a:xfrm>
            <a:off x="7143319" y="3064214"/>
            <a:ext cx="2815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Declaration and </a:t>
            </a:r>
            <a:r>
              <a:rPr lang="en-US" sz="2400" dirty="0" err="1"/>
              <a:t>Initialisation</a:t>
            </a:r>
            <a:endParaRPr lang="en-US" sz="2400" dirty="0"/>
          </a:p>
          <a:p>
            <a:pPr algn="ctr"/>
            <a:r>
              <a:rPr lang="en-US" sz="2400" dirty="0"/>
              <a:t>(Lecture 7)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D8ED438-8BC6-7D27-D441-3EE35963A8B9}"/>
              </a:ext>
            </a:extLst>
          </p:cNvPr>
          <p:cNvSpPr/>
          <p:nvPr/>
        </p:nvSpPr>
        <p:spPr>
          <a:xfrm>
            <a:off x="1326921" y="4371028"/>
            <a:ext cx="2635479" cy="114082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0E556D3-2118-D2EA-E3E9-B91BD50ED939}"/>
              </a:ext>
            </a:extLst>
          </p:cNvPr>
          <p:cNvSpPr/>
          <p:nvPr/>
        </p:nvSpPr>
        <p:spPr>
          <a:xfrm>
            <a:off x="1326921" y="5644749"/>
            <a:ext cx="2635479" cy="114082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1D3FBE-7DB1-B375-929C-72FB6EBA5F1C}"/>
              </a:ext>
            </a:extLst>
          </p:cNvPr>
          <p:cNvSpPr txBox="1"/>
          <p:nvPr/>
        </p:nvSpPr>
        <p:spPr>
          <a:xfrm>
            <a:off x="1237090" y="4545952"/>
            <a:ext cx="28151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Operators  </a:t>
            </a:r>
          </a:p>
          <a:p>
            <a:pPr algn="ctr"/>
            <a:r>
              <a:rPr lang="en-US" sz="2400" dirty="0"/>
              <a:t>(Lecture 3)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FE8F00-CB39-8D40-8E0F-52CE57E8D7E6}"/>
              </a:ext>
            </a:extLst>
          </p:cNvPr>
          <p:cNvSpPr txBox="1"/>
          <p:nvPr/>
        </p:nvSpPr>
        <p:spPr>
          <a:xfrm>
            <a:off x="1265449" y="5614945"/>
            <a:ext cx="2815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Relating to other datatypes- casting  </a:t>
            </a:r>
          </a:p>
          <a:p>
            <a:pPr algn="ctr"/>
            <a:r>
              <a:rPr lang="en-US" sz="2400" dirty="0"/>
              <a:t>(Lecture 3)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22C4883-685D-2AC0-A0D7-93EE9AC40F4D}"/>
              </a:ext>
            </a:extLst>
          </p:cNvPr>
          <p:cNvSpPr/>
          <p:nvPr/>
        </p:nvSpPr>
        <p:spPr>
          <a:xfrm>
            <a:off x="7174737" y="4410211"/>
            <a:ext cx="2635479" cy="114082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0164D3-C3A3-3BA4-EED3-C5B5770A867F}"/>
              </a:ext>
            </a:extLst>
          </p:cNvPr>
          <p:cNvSpPr txBox="1"/>
          <p:nvPr/>
        </p:nvSpPr>
        <p:spPr>
          <a:xfrm>
            <a:off x="7084906" y="4585135"/>
            <a:ext cx="28151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Operators  </a:t>
            </a:r>
          </a:p>
          <a:p>
            <a:pPr algn="ctr"/>
            <a:r>
              <a:rPr lang="en-US" sz="2400" dirty="0"/>
              <a:t>(Lecture 8)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3AC22C-FDA2-6F07-D946-8F730AAE01CA}"/>
              </a:ext>
            </a:extLst>
          </p:cNvPr>
          <p:cNvSpPr txBox="1"/>
          <p:nvPr/>
        </p:nvSpPr>
        <p:spPr>
          <a:xfrm>
            <a:off x="7101793" y="5630506"/>
            <a:ext cx="2815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Relating to other datatypes- casting  </a:t>
            </a:r>
          </a:p>
          <a:p>
            <a:pPr algn="ctr"/>
            <a:r>
              <a:rPr lang="en-US" sz="2400" dirty="0"/>
              <a:t>(Lecture 9)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F59828B-7117-42A8-AFCC-37CEC4720D63}"/>
              </a:ext>
            </a:extLst>
          </p:cNvPr>
          <p:cNvCxnSpPr>
            <a:cxnSpLocks/>
          </p:cNvCxnSpPr>
          <p:nvPr/>
        </p:nvCxnSpPr>
        <p:spPr>
          <a:xfrm>
            <a:off x="4234252" y="3693184"/>
            <a:ext cx="2850654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9E6987F-D423-4A57-FE07-FA9E55825CC7}"/>
              </a:ext>
            </a:extLst>
          </p:cNvPr>
          <p:cNvCxnSpPr>
            <a:cxnSpLocks/>
          </p:cNvCxnSpPr>
          <p:nvPr/>
        </p:nvCxnSpPr>
        <p:spPr>
          <a:xfrm>
            <a:off x="4234252" y="4942864"/>
            <a:ext cx="2850654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532DC6E-8CC2-A60D-08D6-CB96C2F1A5D1}"/>
              </a:ext>
            </a:extLst>
          </p:cNvPr>
          <p:cNvCxnSpPr>
            <a:cxnSpLocks/>
          </p:cNvCxnSpPr>
          <p:nvPr/>
        </p:nvCxnSpPr>
        <p:spPr>
          <a:xfrm>
            <a:off x="4251139" y="6214316"/>
            <a:ext cx="2850654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8054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3567"/>
            <a:ext cx="10515600" cy="432360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The class must be defined before it is used in the main function: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Access specifiers control access to class members from outside the class.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1. </a:t>
            </a:r>
            <a:r>
              <a:rPr lang="en-GB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  <a:r>
              <a:rPr lang="en-GB" sz="2400" dirty="0"/>
              <a:t> allows access from outside the  class.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2. </a:t>
            </a:r>
            <a:r>
              <a:rPr lang="en-GB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private: </a:t>
            </a:r>
            <a:r>
              <a:rPr lang="en-GB" sz="2400" dirty="0"/>
              <a:t>gives access only within the class.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3. </a:t>
            </a:r>
            <a:r>
              <a:rPr lang="en-GB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protected:</a:t>
            </a:r>
            <a:r>
              <a:rPr lang="en-GB" sz="2400" dirty="0"/>
              <a:t> gives access within the class and to derived classes (Lecture 9).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4" name="Rounded Rectangle 13"/>
          <p:cNvSpPr/>
          <p:nvPr/>
        </p:nvSpPr>
        <p:spPr>
          <a:xfrm>
            <a:off x="922867" y="3083470"/>
            <a:ext cx="9177865" cy="112379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Access specifiers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18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115134" y="2062007"/>
            <a:ext cx="59436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class </a:t>
            </a:r>
            <a:r>
              <a:rPr lang="en-US" sz="2000" b="1" dirty="0" err="1">
                <a:latin typeface="Courier New"/>
                <a:cs typeface="Courier New"/>
              </a:rPr>
              <a:t>MyClass</a:t>
            </a:r>
            <a:r>
              <a:rPr lang="en-US" sz="2000" b="1" dirty="0">
                <a:latin typeface="Courier New"/>
                <a:cs typeface="Courier New"/>
              </a:rPr>
              <a:t>{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         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//Class definition here;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          }            </a:t>
            </a:r>
            <a:endParaRPr lang="en-US" sz="2000" b="1" dirty="0">
              <a:solidFill>
                <a:srgbClr val="008000"/>
              </a:solidFill>
              <a:latin typeface="Courier New"/>
              <a:cs typeface="Courier New"/>
            </a:endParaRPr>
          </a:p>
          <a:p>
            <a:r>
              <a:rPr lang="en-US" sz="2000" b="1" dirty="0">
                <a:latin typeface="Courier New"/>
                <a:cs typeface="Courier New"/>
              </a:rPr>
              <a:t> </a:t>
            </a:r>
            <a:endParaRPr lang="en-US" sz="2000" b="1" dirty="0">
              <a:solidFill>
                <a:srgbClr val="008000"/>
              </a:solidFill>
              <a:latin typeface="Courier New"/>
              <a:cs typeface="Courier New"/>
            </a:endParaRPr>
          </a:p>
          <a:p>
            <a:r>
              <a:rPr lang="en-US" sz="2000" b="1" dirty="0" err="1">
                <a:solidFill>
                  <a:srgbClr val="0000FF"/>
                </a:solidFill>
                <a:latin typeface="Courier New"/>
                <a:cs typeface="Courier New"/>
              </a:rPr>
              <a:t>int</a:t>
            </a:r>
            <a:r>
              <a:rPr lang="en-US" sz="2000" b="1" dirty="0">
                <a:latin typeface="Courier New"/>
                <a:cs typeface="Courier New"/>
              </a:rPr>
              <a:t> main () {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          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//Statements;</a:t>
            </a:r>
          </a:p>
          <a:p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            </a:t>
            </a:r>
            <a:r>
              <a:rPr lang="en-US" sz="2000" b="1" dirty="0">
                <a:latin typeface="Courier New"/>
                <a:cs typeface="Courier New"/>
              </a:rPr>
              <a:t>}            </a:t>
            </a:r>
            <a:endParaRPr lang="en-US" sz="2000" b="1" dirty="0">
              <a:solidFill>
                <a:srgbClr val="008000"/>
              </a:solidFill>
              <a:latin typeface="Courier New"/>
              <a:cs typeface="Courier New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922867" y="2062008"/>
            <a:ext cx="9414933" cy="222212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9108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3567"/>
            <a:ext cx="10515600" cy="4323606"/>
          </a:xfrm>
        </p:spPr>
        <p:txBody>
          <a:bodyPr>
            <a:noAutofit/>
          </a:bodyPr>
          <a:lstStyle/>
          <a:p>
            <a:r>
              <a:rPr lang="en-US" sz="2400" dirty="0"/>
              <a:t>The class is a user-defined datatype, whereas the object is an entity (or a variable) of that datatype.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Class vs Object revisited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19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7184658" y="2633165"/>
            <a:ext cx="4354199" cy="36969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  <a:latin typeface="Courier New"/>
              <a:cs typeface="Courier New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463420" y="2633993"/>
            <a:ext cx="6582237" cy="372468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463420" y="2690763"/>
            <a:ext cx="7105780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class</a:t>
            </a:r>
            <a:r>
              <a:rPr lang="en-US" b="1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lang="en-US" b="1" dirty="0">
                <a:latin typeface="Courier New"/>
                <a:cs typeface="Courier New"/>
              </a:rPr>
              <a:t>Triangle { </a:t>
            </a:r>
          </a:p>
          <a:p>
            <a:endParaRPr lang="en-US" b="1" dirty="0">
              <a:solidFill>
                <a:srgbClr val="0000FF"/>
              </a:solidFill>
              <a:latin typeface="Courier New"/>
              <a:cs typeface="Courier New"/>
            </a:endParaRPr>
          </a:p>
          <a:p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private:</a:t>
            </a:r>
            <a:r>
              <a:rPr lang="en-US" b="1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</a:p>
          <a:p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 double</a:t>
            </a:r>
            <a:r>
              <a:rPr lang="en-US" b="1" dirty="0">
                <a:solidFill>
                  <a:srgbClr val="660066"/>
                </a:solidFill>
                <a:latin typeface="Courier New"/>
                <a:cs typeface="Courier New"/>
              </a:rPr>
              <a:t> </a:t>
            </a:r>
            <a:r>
              <a:rPr lang="en-US" b="1" dirty="0" err="1">
                <a:solidFill>
                  <a:srgbClr val="660066"/>
                </a:solidFill>
                <a:latin typeface="Courier New"/>
                <a:cs typeface="Courier New"/>
              </a:rPr>
              <a:t>a,b,c,s</a:t>
            </a:r>
            <a:r>
              <a:rPr lang="en-US" b="1" dirty="0">
                <a:solidFill>
                  <a:srgbClr val="660066"/>
                </a:solidFill>
                <a:latin typeface="Courier New"/>
                <a:cs typeface="Courier New"/>
              </a:rPr>
              <a:t>;  </a:t>
            </a: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// member data</a:t>
            </a:r>
          </a:p>
          <a:p>
            <a:endParaRPr lang="en-US" b="1" dirty="0">
              <a:solidFill>
                <a:srgbClr val="0000FF"/>
              </a:solidFill>
              <a:latin typeface="Courier New"/>
              <a:cs typeface="Courier New"/>
            </a:endParaRPr>
          </a:p>
          <a:p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public:</a:t>
            </a:r>
            <a:r>
              <a:rPr lang="en-US" b="1" dirty="0">
                <a:solidFill>
                  <a:srgbClr val="660066"/>
                </a:solidFill>
                <a:latin typeface="Courier New"/>
                <a:cs typeface="Courier New"/>
              </a:rPr>
              <a:t>         </a:t>
            </a:r>
          </a:p>
          <a:p>
            <a:r>
              <a:rPr lang="en-US" b="1" dirty="0">
                <a:solidFill>
                  <a:srgbClr val="660066"/>
                </a:solidFill>
                <a:latin typeface="Courier New"/>
                <a:cs typeface="Courier New"/>
              </a:rPr>
              <a:t> </a:t>
            </a:r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// Methods or member functions</a:t>
            </a:r>
          </a:p>
          <a:p>
            <a:pPr marL="987425" indent="-987425">
              <a:lnSpc>
                <a:spcPct val="150000"/>
              </a:lnSpc>
              <a:buNone/>
            </a:pPr>
            <a:r>
              <a:rPr lang="en-US" b="1" dirty="0">
                <a:solidFill>
                  <a:srgbClr val="660066"/>
                </a:solidFill>
                <a:latin typeface="Courier New"/>
                <a:cs typeface="Courier New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void </a:t>
            </a:r>
            <a:r>
              <a:rPr lang="en-US" b="1" dirty="0" err="1">
                <a:latin typeface="Courier New"/>
                <a:cs typeface="Courier New"/>
              </a:rPr>
              <a:t>SetSides</a:t>
            </a:r>
            <a:r>
              <a:rPr lang="en-US" b="1" dirty="0">
                <a:latin typeface="Courier New"/>
                <a:cs typeface="Courier New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double </a:t>
            </a:r>
            <a:r>
              <a:rPr lang="en-US" b="1" dirty="0" err="1">
                <a:latin typeface="Courier New"/>
                <a:cs typeface="Courier New"/>
              </a:rPr>
              <a:t>x,</a:t>
            </a:r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double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lang="en-US" b="1" dirty="0">
                <a:latin typeface="Courier New"/>
                <a:cs typeface="Courier New"/>
              </a:rPr>
              <a:t>y,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 double </a:t>
            </a:r>
            <a:r>
              <a:rPr lang="en-US" b="1" dirty="0">
                <a:latin typeface="Courier New"/>
                <a:cs typeface="Courier New"/>
              </a:rPr>
              <a:t>z){};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           </a:t>
            </a:r>
            <a:endParaRPr lang="en-US" b="1" dirty="0">
              <a:latin typeface="Courier New"/>
              <a:cs typeface="Courier New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 double </a:t>
            </a:r>
            <a:r>
              <a:rPr lang="en-US" b="1" dirty="0" err="1">
                <a:latin typeface="Courier New"/>
                <a:cs typeface="Courier New"/>
              </a:rPr>
              <a:t>CalcPerimeter</a:t>
            </a:r>
            <a:r>
              <a:rPr lang="en-US" b="1" dirty="0">
                <a:latin typeface="Courier New"/>
                <a:cs typeface="Courier New"/>
              </a:rPr>
              <a:t>(){};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 double </a:t>
            </a:r>
            <a:r>
              <a:rPr lang="en-US" b="1" dirty="0" err="1">
                <a:latin typeface="Courier New"/>
                <a:cs typeface="Courier New"/>
              </a:rPr>
              <a:t>CalcArea</a:t>
            </a:r>
            <a:r>
              <a:rPr lang="en-US" b="1" dirty="0">
                <a:latin typeface="Courier New"/>
                <a:cs typeface="Courier New"/>
              </a:rPr>
              <a:t>(){};</a:t>
            </a:r>
          </a:p>
          <a:p>
            <a:r>
              <a:rPr lang="en-US" b="1" dirty="0">
                <a:latin typeface="Courier New"/>
                <a:cs typeface="Courier New"/>
              </a:rPr>
              <a:t>  };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86990" y="2690762"/>
            <a:ext cx="421286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urier New"/>
                <a:cs typeface="Courier New"/>
              </a:rPr>
              <a:t>Triangle t; </a:t>
            </a:r>
          </a:p>
          <a:p>
            <a:endParaRPr lang="en-US" b="1" dirty="0">
              <a:solidFill>
                <a:srgbClr val="0000FF"/>
              </a:solidFill>
              <a:latin typeface="Courier New"/>
              <a:cs typeface="Courier New"/>
            </a:endParaRPr>
          </a:p>
          <a:p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double </a:t>
            </a:r>
            <a:r>
              <a:rPr lang="en-US" b="1" dirty="0">
                <a:latin typeface="Courier New"/>
                <a:cs typeface="Courier New"/>
              </a:rPr>
              <a:t>x = 1, y = 2, z = 3; </a:t>
            </a:r>
          </a:p>
          <a:p>
            <a:endParaRPr lang="en-US" b="1" dirty="0">
              <a:latin typeface="Courier New"/>
              <a:cs typeface="Courier New"/>
            </a:endParaRPr>
          </a:p>
          <a:p>
            <a:r>
              <a:rPr lang="en-US" b="1" dirty="0" err="1">
                <a:latin typeface="Courier New"/>
                <a:cs typeface="Courier New"/>
              </a:rPr>
              <a:t>t.SetSides</a:t>
            </a:r>
            <a:r>
              <a:rPr lang="en-US" b="1" dirty="0">
                <a:latin typeface="Courier New"/>
                <a:cs typeface="Courier New"/>
              </a:rPr>
              <a:t>(</a:t>
            </a:r>
            <a:r>
              <a:rPr lang="en-US" b="1" dirty="0" err="1">
                <a:latin typeface="Courier New"/>
                <a:cs typeface="Courier New"/>
              </a:rPr>
              <a:t>x,y,z</a:t>
            </a:r>
            <a:r>
              <a:rPr lang="en-US" b="1" dirty="0">
                <a:latin typeface="Courier New"/>
                <a:cs typeface="Courier New"/>
              </a:rPr>
              <a:t>);</a:t>
            </a:r>
          </a:p>
          <a:p>
            <a:r>
              <a:rPr lang="en-US" b="1" dirty="0">
                <a:latin typeface="Courier New"/>
                <a:cs typeface="Courier New"/>
              </a:rPr>
              <a:t>      </a:t>
            </a:r>
          </a:p>
          <a:p>
            <a:endParaRPr lang="en-US" b="1" dirty="0">
              <a:latin typeface="Courier New"/>
              <a:cs typeface="Courier New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27182" y="2196040"/>
            <a:ext cx="918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75356" y="2140345"/>
            <a:ext cx="1236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Object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F6324FC-D3E8-43E4-82C4-3A9E0F51A084}"/>
              </a:ext>
            </a:extLst>
          </p:cNvPr>
          <p:cNvCxnSpPr>
            <a:cxnSpLocks/>
          </p:cNvCxnSpPr>
          <p:nvPr/>
        </p:nvCxnSpPr>
        <p:spPr>
          <a:xfrm flipH="1" flipV="1">
            <a:off x="7943981" y="4169810"/>
            <a:ext cx="666619" cy="805301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BE7CEC1-C48C-42BF-A49E-90193E4DF51E}"/>
              </a:ext>
            </a:extLst>
          </p:cNvPr>
          <p:cNvSpPr txBox="1"/>
          <p:nvPr/>
        </p:nvSpPr>
        <p:spPr>
          <a:xfrm>
            <a:off x="7754257" y="4955517"/>
            <a:ext cx="29617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is how to call a member function to operate on an object</a:t>
            </a:r>
          </a:p>
        </p:txBody>
      </p:sp>
    </p:spTree>
    <p:extLst>
      <p:ext uri="{BB962C8B-B14F-4D97-AF65-F5344CB8AC3E}">
        <p14:creationId xmlns:p14="http://schemas.microsoft.com/office/powerpoint/2010/main" val="15845171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708951" y="6084134"/>
            <a:ext cx="10204582" cy="4547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83567"/>
            <a:ext cx="10761133" cy="4629366"/>
          </a:xfrm>
        </p:spPr>
        <p:txBody>
          <a:bodyPr>
            <a:noAutofit/>
          </a:bodyPr>
          <a:lstStyle/>
          <a:p>
            <a:r>
              <a:rPr lang="en-US" sz="2400" dirty="0"/>
              <a:t>Structures are the historic origin of classes. </a:t>
            </a:r>
          </a:p>
          <a:p>
            <a:r>
              <a:rPr lang="en-US" sz="2400" dirty="0"/>
              <a:t>Syntax: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The major difference between a class and a structure is that all member data/functions in a class are private by default, while in a structure they are public.</a:t>
            </a:r>
          </a:p>
          <a:p>
            <a:r>
              <a:rPr lang="en-US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L6D2.cpp</a:t>
            </a:r>
          </a:p>
          <a:p>
            <a:endParaRPr lang="en-US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US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20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986963" y="2381943"/>
            <a:ext cx="10551894" cy="179212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986963" y="2402083"/>
            <a:ext cx="7105780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FF"/>
                </a:solidFill>
                <a:latin typeface="Courier New"/>
                <a:cs typeface="Courier New"/>
              </a:rPr>
              <a:t>struct</a:t>
            </a:r>
            <a:r>
              <a:rPr lang="en-US" b="1" dirty="0">
                <a:solidFill>
                  <a:srgbClr val="800000"/>
                </a:solidFill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MyStruct</a:t>
            </a:r>
            <a:r>
              <a:rPr lang="en-US" b="1" dirty="0">
                <a:latin typeface="Courier New"/>
                <a:cs typeface="Courier New"/>
              </a:rPr>
              <a:t> { </a:t>
            </a:r>
          </a:p>
          <a:p>
            <a:endParaRPr lang="en-US" b="1" dirty="0">
              <a:solidFill>
                <a:srgbClr val="0000FF"/>
              </a:solidFill>
              <a:latin typeface="Courier New"/>
              <a:cs typeface="Courier New"/>
            </a:endParaRPr>
          </a:p>
          <a:p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// member data</a:t>
            </a:r>
          </a:p>
          <a:p>
            <a:endParaRPr lang="en-US" b="1" dirty="0">
              <a:solidFill>
                <a:srgbClr val="0000FF"/>
              </a:solidFill>
              <a:latin typeface="Courier New"/>
              <a:cs typeface="Courier New"/>
            </a:endParaRPr>
          </a:p>
          <a:p>
            <a:r>
              <a:rPr lang="en-US" b="1" dirty="0">
                <a:solidFill>
                  <a:srgbClr val="008000"/>
                </a:solidFill>
                <a:latin typeface="Courier New"/>
                <a:cs typeface="Courier New"/>
              </a:rPr>
              <a:t>// Methods or member functions</a:t>
            </a:r>
          </a:p>
          <a:p>
            <a:pPr marL="987425" indent="-987425">
              <a:lnSpc>
                <a:spcPct val="150000"/>
              </a:lnSpc>
              <a:buNone/>
            </a:pPr>
            <a:r>
              <a:rPr lang="en-US" b="1" dirty="0">
                <a:latin typeface="Courier New"/>
                <a:cs typeface="Courier New"/>
              </a:rPr>
              <a:t>};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838197" y="6053491"/>
            <a:ext cx="9135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Practical note: </a:t>
            </a:r>
            <a:r>
              <a:rPr lang="en-GB" sz="2400" dirty="0"/>
              <a:t>Use structures only for data saving.</a:t>
            </a:r>
          </a:p>
        </p:txBody>
      </p:sp>
    </p:spTree>
    <p:extLst>
      <p:ext uri="{BB962C8B-B14F-4D97-AF65-F5344CB8AC3E}">
        <p14:creationId xmlns:p14="http://schemas.microsoft.com/office/powerpoint/2010/main" val="40221323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03879"/>
            <a:ext cx="11075437" cy="489585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GB" sz="2400" dirty="0"/>
              <a:t>The definition of Object Oriented Programming and its 4 major components were discussed.</a:t>
            </a:r>
          </a:p>
          <a:p>
            <a:pPr>
              <a:lnSpc>
                <a:spcPct val="200000"/>
              </a:lnSpc>
            </a:pPr>
            <a:r>
              <a:rPr lang="en-GB" sz="2400" dirty="0"/>
              <a:t>Defining classes and objects in a code were discussed.</a:t>
            </a:r>
          </a:p>
          <a:p>
            <a:pPr>
              <a:lnSpc>
                <a:spcPct val="200000"/>
              </a:lnSpc>
            </a:pPr>
            <a:r>
              <a:rPr lang="en-GB" sz="2400" dirty="0"/>
              <a:t>The role of access specifiers was discussed.</a:t>
            </a:r>
          </a:p>
          <a:p>
            <a:pPr>
              <a:lnSpc>
                <a:spcPct val="170000"/>
              </a:lnSpc>
            </a:pPr>
            <a:r>
              <a:rPr lang="en-GB" sz="2400" dirty="0"/>
              <a:t>Structures were discussed and compared to classes. </a:t>
            </a:r>
          </a:p>
          <a:p>
            <a:pPr marL="0" indent="0">
              <a:lnSpc>
                <a:spcPct val="170000"/>
              </a:lnSpc>
              <a:buNone/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3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21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071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2806</TotalTime>
  <Words>1279</Words>
  <Application>Microsoft Office PowerPoint</Application>
  <PresentationFormat>Widescreen</PresentationFormat>
  <Paragraphs>537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Office Theme</vt:lpstr>
      <vt:lpstr>Application Development with C++ (ELEC362)</vt:lpstr>
      <vt:lpstr>Previous lecture </vt:lpstr>
      <vt:lpstr>This lecture</vt:lpstr>
      <vt:lpstr>Side story</vt:lpstr>
      <vt:lpstr>ICs versus basic components </vt:lpstr>
      <vt:lpstr>ICs versus basic components </vt:lpstr>
      <vt:lpstr>Side story</vt:lpstr>
      <vt:lpstr>Object Oriented Programming </vt:lpstr>
      <vt:lpstr>Object Oriented Programming </vt:lpstr>
      <vt:lpstr>Object Oriented Programming </vt:lpstr>
      <vt:lpstr>Object Oriented Programming </vt:lpstr>
      <vt:lpstr>Object Oriented Software Design </vt:lpstr>
      <vt:lpstr>Object Oriented concepts</vt:lpstr>
      <vt:lpstr>Encapsulation and Abstraction  </vt:lpstr>
      <vt:lpstr>Classes</vt:lpstr>
      <vt:lpstr>Classes</vt:lpstr>
      <vt:lpstr>Making classes truly custom-made datatypes</vt:lpstr>
      <vt:lpstr>Access specifiers</vt:lpstr>
      <vt:lpstr>Class vs Object revisited</vt:lpstr>
      <vt:lpstr>Structure</vt:lpstr>
      <vt:lpstr>Summary</vt:lpstr>
    </vt:vector>
  </TitlesOfParts>
  <Company>The University of Liverpool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Development with C++ (ELEC362)</dc:title>
  <dc:creator>Hasan, Mohammad [mihasan]</dc:creator>
  <cp:lastModifiedBy>Hasan, Mohammad [mihasan]</cp:lastModifiedBy>
  <cp:revision>600</cp:revision>
  <dcterms:created xsi:type="dcterms:W3CDTF">2019-05-09T14:26:54Z</dcterms:created>
  <dcterms:modified xsi:type="dcterms:W3CDTF">2024-09-30T12:44:27Z</dcterms:modified>
</cp:coreProperties>
</file>