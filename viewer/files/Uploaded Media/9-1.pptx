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24" r:id="rId3"/>
    <p:sldId id="257" r:id="rId4"/>
    <p:sldId id="325" r:id="rId5"/>
    <p:sldId id="258" r:id="rId6"/>
    <p:sldId id="326" r:id="rId7"/>
    <p:sldId id="304" r:id="rId8"/>
    <p:sldId id="314" r:id="rId9"/>
    <p:sldId id="315" r:id="rId10"/>
    <p:sldId id="327" r:id="rId11"/>
    <p:sldId id="317" r:id="rId12"/>
    <p:sldId id="328" r:id="rId13"/>
    <p:sldId id="319" r:id="rId14"/>
    <p:sldId id="320" r:id="rId15"/>
    <p:sldId id="329" r:id="rId16"/>
    <p:sldId id="30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E7"/>
    <a:srgbClr val="FFFFFF"/>
    <a:srgbClr val="E9EDB5"/>
    <a:srgbClr val="0000FF"/>
    <a:srgbClr val="008000"/>
    <a:srgbClr val="6F008A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5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02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5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8296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057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6411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4823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520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835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2453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1021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81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731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5289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2362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846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28/09/2026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28/09/2026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cppreference.com/w/cpp/links/lib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glew.sourceforge.net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vcpkg.io/en/index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9: Class Inheritance and introduction to libraries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Operator overloading for classes has been discussed.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 The concept of polymorphism has been defined as part of OOP.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The two-file implementation of classes has been discussed.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Class templates were discussed.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611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1. Classes inheritance                 2. Introduction to C++ libraries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is it covered?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1. Class inheritance is a standard procedure in application development in C++.</a:t>
            </a:r>
          </a:p>
          <a:p>
            <a:pPr marL="449263" indent="-449263">
              <a:lnSpc>
                <a:spcPct val="120000"/>
              </a:lnSpc>
              <a:buNone/>
            </a:pPr>
            <a:r>
              <a:rPr lang="en-GB" sz="2400" dirty="0"/>
              <a:t>  2. GUI application development is done on Library level.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  How are topics covered in this lecture: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3 source codes and a live demonstration.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3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There are 4 major concepts in OOP: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Object Oriented concepts revisited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425377" y="3026718"/>
            <a:ext cx="3378335" cy="2142831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39866" y="3682634"/>
            <a:ext cx="2815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 Oriented Programming</a:t>
            </a:r>
          </a:p>
        </p:txBody>
      </p:sp>
      <p:sp>
        <p:nvSpPr>
          <p:cNvPr id="8" name="Oval 7"/>
          <p:cNvSpPr/>
          <p:nvPr/>
        </p:nvSpPr>
        <p:spPr>
          <a:xfrm>
            <a:off x="258353" y="1957435"/>
            <a:ext cx="3742571" cy="201445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-13171" y="4108169"/>
            <a:ext cx="3955420" cy="2657040"/>
          </a:xfrm>
          <a:prstGeom prst="ellipse">
            <a:avLst/>
          </a:prstGeom>
          <a:solidFill>
            <a:srgbClr val="00B0F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47557" y="4206284"/>
            <a:ext cx="3934132" cy="2262443"/>
          </a:xfrm>
          <a:prstGeom prst="ellipse">
            <a:avLst/>
          </a:prstGeom>
          <a:solidFill>
            <a:srgbClr val="FFFF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222205" y="1768962"/>
            <a:ext cx="3577403" cy="1856542"/>
          </a:xfrm>
          <a:prstGeom prst="ellipse">
            <a:avLst/>
          </a:prstGeom>
          <a:solidFill>
            <a:srgbClr val="00B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2661542"/>
            <a:ext cx="420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Abstraction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6.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35433" y="2440876"/>
            <a:ext cx="3869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Encapsulation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Lecture 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83821" y="4595463"/>
            <a:ext cx="40847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Inheritance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lang="en-GB" sz="2400" dirty="0"/>
              <a:t>a feature  that allows classes to be derived from a common base class, when they have many properties in common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2904" y="5086666"/>
            <a:ext cx="3934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Polymorphism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Lecture 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3912695" y="3259490"/>
            <a:ext cx="668076" cy="39773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3831521" y="4427152"/>
            <a:ext cx="666600" cy="49768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7513070" y="3101365"/>
            <a:ext cx="895647" cy="35839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7600120" y="4581418"/>
            <a:ext cx="657748" cy="32176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39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When discussing class inheritance, classes are divided into two types: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1. Derived/Sub class: </a:t>
            </a:r>
            <a:r>
              <a:rPr lang="en-GB" dirty="0"/>
              <a:t> </a:t>
            </a:r>
            <a:r>
              <a:rPr lang="en-GB" sz="2400" dirty="0"/>
              <a:t>the class that inherits properties from another class.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2. Base/Super class: the class whose properties are inherited by sub class.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A sub class has the same properties as the super class, in addition to special added properties.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 Inheritance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5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3C303014-988C-47AA-844D-09317280B916}"/>
              </a:ext>
            </a:extLst>
          </p:cNvPr>
          <p:cNvSpPr/>
          <p:nvPr/>
        </p:nvSpPr>
        <p:spPr>
          <a:xfrm>
            <a:off x="4662628" y="4226768"/>
            <a:ext cx="4975894" cy="1957582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5D36D4F4-9385-4FCA-B342-7BC47209B75B}"/>
              </a:ext>
            </a:extLst>
          </p:cNvPr>
          <p:cNvSpPr/>
          <p:nvPr/>
        </p:nvSpPr>
        <p:spPr>
          <a:xfrm>
            <a:off x="6889780" y="4441371"/>
            <a:ext cx="2431501" cy="1537347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20CB50-7849-4E0B-8C1F-64703DE84F7B}"/>
              </a:ext>
            </a:extLst>
          </p:cNvPr>
          <p:cNvSpPr txBox="1"/>
          <p:nvPr/>
        </p:nvSpPr>
        <p:spPr>
          <a:xfrm>
            <a:off x="7298975" y="4974726"/>
            <a:ext cx="2022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Super class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FF5C9A-A29C-4174-9C37-1F157BBC5AE5}"/>
              </a:ext>
            </a:extLst>
          </p:cNvPr>
          <p:cNvSpPr txBox="1"/>
          <p:nvPr/>
        </p:nvSpPr>
        <p:spPr>
          <a:xfrm>
            <a:off x="5158951" y="4974726"/>
            <a:ext cx="1579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Sub class</a:t>
            </a:r>
          </a:p>
        </p:txBody>
      </p:sp>
    </p:spTree>
    <p:extLst>
      <p:ext uri="{BB962C8B-B14F-4D97-AF65-F5344CB8AC3E}">
        <p14:creationId xmlns:p14="http://schemas.microsoft.com/office/powerpoint/2010/main" val="821500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A conceptual example: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 Inheritance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6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DAD263-FF7F-4776-A2AC-FDD82B998622}"/>
              </a:ext>
            </a:extLst>
          </p:cNvPr>
          <p:cNvGrpSpPr/>
          <p:nvPr/>
        </p:nvGrpSpPr>
        <p:grpSpPr>
          <a:xfrm>
            <a:off x="5134045" y="2100748"/>
            <a:ext cx="1582511" cy="1332099"/>
            <a:chOff x="3077619" y="5486401"/>
            <a:chExt cx="1677696" cy="1371600"/>
          </a:xfrm>
          <a:solidFill>
            <a:srgbClr val="FFFF00"/>
          </a:solidFill>
        </p:grpSpPr>
        <p:sp>
          <p:nvSpPr>
            <p:cNvPr id="13" name="Rounded Rectangle 15">
              <a:extLst>
                <a:ext uri="{FF2B5EF4-FFF2-40B4-BE49-F238E27FC236}">
                  <a16:creationId xmlns:a16="http://schemas.microsoft.com/office/drawing/2014/main" id="{3B215B92-B918-4C21-B93F-6B57ECD2F33D}"/>
                </a:ext>
              </a:extLst>
            </p:cNvPr>
            <p:cNvSpPr/>
            <p:nvPr/>
          </p:nvSpPr>
          <p:spPr>
            <a:xfrm>
              <a:off x="3077619" y="5486401"/>
              <a:ext cx="1677696" cy="1371600"/>
            </a:xfrm>
            <a:prstGeom prst="roundRect">
              <a:avLst/>
            </a:prstGeom>
            <a:grp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50EC68-0AF6-4F5C-A007-2585642B32E9}"/>
                </a:ext>
              </a:extLst>
            </p:cNvPr>
            <p:cNvCxnSpPr/>
            <p:nvPr/>
          </p:nvCxnSpPr>
          <p:spPr>
            <a:xfrm>
              <a:off x="3077619" y="5832692"/>
              <a:ext cx="1677696" cy="7832"/>
            </a:xfrm>
            <a:prstGeom prst="line">
              <a:avLst/>
            </a:prstGeom>
            <a:grpFill/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015A95C-A960-49FF-BC0C-764124CB264D}"/>
                </a:ext>
              </a:extLst>
            </p:cNvPr>
            <p:cNvCxnSpPr/>
            <p:nvPr/>
          </p:nvCxnSpPr>
          <p:spPr>
            <a:xfrm>
              <a:off x="3077619" y="6507067"/>
              <a:ext cx="1677696" cy="7832"/>
            </a:xfrm>
            <a:prstGeom prst="line">
              <a:avLst/>
            </a:prstGeom>
            <a:grpFill/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0975E12-BFB4-44B8-9527-A7C43DF6080D}"/>
              </a:ext>
            </a:extLst>
          </p:cNvPr>
          <p:cNvSpPr txBox="1"/>
          <p:nvPr/>
        </p:nvSpPr>
        <p:spPr>
          <a:xfrm>
            <a:off x="5525019" y="2067883"/>
            <a:ext cx="915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Shape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BFEBAA-66B1-499E-B971-46F3CA60D351}"/>
              </a:ext>
            </a:extLst>
          </p:cNvPr>
          <p:cNvSpPr txBox="1"/>
          <p:nvPr/>
        </p:nvSpPr>
        <p:spPr>
          <a:xfrm>
            <a:off x="5038661" y="2545188"/>
            <a:ext cx="1773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color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3F50C2-3FB3-41F5-810B-4A4D413D7B28}"/>
              </a:ext>
            </a:extLst>
          </p:cNvPr>
          <p:cNvSpPr txBox="1"/>
          <p:nvPr/>
        </p:nvSpPr>
        <p:spPr>
          <a:xfrm>
            <a:off x="5229868" y="3051825"/>
            <a:ext cx="1318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Area()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001476-BAB5-4BE4-8C78-630CD33069C6}"/>
              </a:ext>
            </a:extLst>
          </p:cNvPr>
          <p:cNvGrpSpPr/>
          <p:nvPr/>
        </p:nvGrpSpPr>
        <p:grpSpPr>
          <a:xfrm>
            <a:off x="2832499" y="4641787"/>
            <a:ext cx="1582511" cy="1332099"/>
            <a:chOff x="3077619" y="5486401"/>
            <a:chExt cx="1677696" cy="1371600"/>
          </a:xfrm>
          <a:solidFill>
            <a:srgbClr val="FFFF00"/>
          </a:solidFill>
        </p:grpSpPr>
        <p:sp>
          <p:nvSpPr>
            <p:cNvPr id="20" name="Rounded Rectangle 15">
              <a:extLst>
                <a:ext uri="{FF2B5EF4-FFF2-40B4-BE49-F238E27FC236}">
                  <a16:creationId xmlns:a16="http://schemas.microsoft.com/office/drawing/2014/main" id="{61D34345-01E5-41B9-B980-FD4AAA66F114}"/>
                </a:ext>
              </a:extLst>
            </p:cNvPr>
            <p:cNvSpPr/>
            <p:nvPr/>
          </p:nvSpPr>
          <p:spPr>
            <a:xfrm>
              <a:off x="3077619" y="5486401"/>
              <a:ext cx="1677696" cy="1371600"/>
            </a:xfrm>
            <a:prstGeom prst="roundRect">
              <a:avLst/>
            </a:prstGeom>
            <a:grp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9B0173B-ECA7-4A31-B0DD-838A5DAB248D}"/>
                </a:ext>
              </a:extLst>
            </p:cNvPr>
            <p:cNvCxnSpPr/>
            <p:nvPr/>
          </p:nvCxnSpPr>
          <p:spPr>
            <a:xfrm>
              <a:off x="3077619" y="5832692"/>
              <a:ext cx="1677696" cy="7832"/>
            </a:xfrm>
            <a:prstGeom prst="line">
              <a:avLst/>
            </a:prstGeom>
            <a:grpFill/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0374681-A358-4B33-B74F-995D99E5106E}"/>
                </a:ext>
              </a:extLst>
            </p:cNvPr>
            <p:cNvCxnSpPr/>
            <p:nvPr/>
          </p:nvCxnSpPr>
          <p:spPr>
            <a:xfrm>
              <a:off x="3077619" y="6507067"/>
              <a:ext cx="1677696" cy="7832"/>
            </a:xfrm>
            <a:prstGeom prst="line">
              <a:avLst/>
            </a:prstGeom>
            <a:grpFill/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EC77351-615C-4ED6-B2A8-036C7599713D}"/>
              </a:ext>
            </a:extLst>
          </p:cNvPr>
          <p:cNvSpPr txBox="1"/>
          <p:nvPr/>
        </p:nvSpPr>
        <p:spPr>
          <a:xfrm>
            <a:off x="3223473" y="4612071"/>
            <a:ext cx="1286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Square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5A5B95-20F6-45C5-9D77-4DDAAA9221FD}"/>
              </a:ext>
            </a:extLst>
          </p:cNvPr>
          <p:cNvSpPr txBox="1"/>
          <p:nvPr/>
        </p:nvSpPr>
        <p:spPr>
          <a:xfrm>
            <a:off x="2701051" y="4968677"/>
            <a:ext cx="1773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color</a:t>
            </a:r>
          </a:p>
          <a:p>
            <a:pPr algn="ctr"/>
            <a:r>
              <a:rPr lang="en-US" sz="2000" dirty="0"/>
              <a:t>side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5804F4-83B6-4F41-81C6-EE371AE95711}"/>
              </a:ext>
            </a:extLst>
          </p:cNvPr>
          <p:cNvSpPr txBox="1"/>
          <p:nvPr/>
        </p:nvSpPr>
        <p:spPr>
          <a:xfrm>
            <a:off x="2928322" y="5592864"/>
            <a:ext cx="1318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Area()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5132CF3-D979-4FE4-8F77-771AAAD49B82}"/>
              </a:ext>
            </a:extLst>
          </p:cNvPr>
          <p:cNvGrpSpPr/>
          <p:nvPr/>
        </p:nvGrpSpPr>
        <p:grpSpPr>
          <a:xfrm>
            <a:off x="7712402" y="4632456"/>
            <a:ext cx="1582511" cy="1332099"/>
            <a:chOff x="3077619" y="5486401"/>
            <a:chExt cx="1677696" cy="1371600"/>
          </a:xfrm>
          <a:solidFill>
            <a:srgbClr val="FFFF00"/>
          </a:solidFill>
        </p:grpSpPr>
        <p:sp>
          <p:nvSpPr>
            <p:cNvPr id="34" name="Rounded Rectangle 15">
              <a:extLst>
                <a:ext uri="{FF2B5EF4-FFF2-40B4-BE49-F238E27FC236}">
                  <a16:creationId xmlns:a16="http://schemas.microsoft.com/office/drawing/2014/main" id="{FC5AB1BB-FB7E-4838-8B9A-364A28D4DDDA}"/>
                </a:ext>
              </a:extLst>
            </p:cNvPr>
            <p:cNvSpPr/>
            <p:nvPr/>
          </p:nvSpPr>
          <p:spPr>
            <a:xfrm>
              <a:off x="3077619" y="5486401"/>
              <a:ext cx="1677696" cy="1371600"/>
            </a:xfrm>
            <a:prstGeom prst="roundRect">
              <a:avLst/>
            </a:prstGeom>
            <a:grp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9DCF0B4-F1A6-4954-8C4A-7BA92F9A69DA}"/>
                </a:ext>
              </a:extLst>
            </p:cNvPr>
            <p:cNvCxnSpPr/>
            <p:nvPr/>
          </p:nvCxnSpPr>
          <p:spPr>
            <a:xfrm>
              <a:off x="3077619" y="5832692"/>
              <a:ext cx="1677696" cy="7832"/>
            </a:xfrm>
            <a:prstGeom prst="line">
              <a:avLst/>
            </a:prstGeom>
            <a:grpFill/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6C53670-F905-43C3-8268-BDEEB808EFC8}"/>
                </a:ext>
              </a:extLst>
            </p:cNvPr>
            <p:cNvCxnSpPr/>
            <p:nvPr/>
          </p:nvCxnSpPr>
          <p:spPr>
            <a:xfrm>
              <a:off x="3077619" y="6507067"/>
              <a:ext cx="1677696" cy="7832"/>
            </a:xfrm>
            <a:prstGeom prst="line">
              <a:avLst/>
            </a:prstGeom>
            <a:grpFill/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825A81F-B979-48D8-9D12-BB10870EF054}"/>
              </a:ext>
            </a:extLst>
          </p:cNvPr>
          <p:cNvSpPr txBox="1"/>
          <p:nvPr/>
        </p:nvSpPr>
        <p:spPr>
          <a:xfrm>
            <a:off x="8103376" y="4599591"/>
            <a:ext cx="915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Circle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EAAF05-FF11-4CD9-AA0D-D295F1214C4E}"/>
              </a:ext>
            </a:extLst>
          </p:cNvPr>
          <p:cNvSpPr txBox="1"/>
          <p:nvPr/>
        </p:nvSpPr>
        <p:spPr>
          <a:xfrm>
            <a:off x="7617018" y="4975489"/>
            <a:ext cx="1773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color</a:t>
            </a:r>
          </a:p>
          <a:p>
            <a:pPr algn="ctr"/>
            <a:r>
              <a:rPr lang="en-US" sz="2000" dirty="0"/>
              <a:t>radius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FE9AF0-07DC-4C51-B70C-4B32A8CA4FAE}"/>
              </a:ext>
            </a:extLst>
          </p:cNvPr>
          <p:cNvSpPr txBox="1"/>
          <p:nvPr/>
        </p:nvSpPr>
        <p:spPr>
          <a:xfrm>
            <a:off x="7808225" y="5583533"/>
            <a:ext cx="1318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Area()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158F1B-835E-4B50-9FB2-2146B2628B08}"/>
              </a:ext>
            </a:extLst>
          </p:cNvPr>
          <p:cNvSpPr txBox="1"/>
          <p:nvPr/>
        </p:nvSpPr>
        <p:spPr>
          <a:xfrm>
            <a:off x="2944744" y="6033169"/>
            <a:ext cx="135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Sub class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1D889D-FEB8-4444-B27F-2117DCB96503}"/>
              </a:ext>
            </a:extLst>
          </p:cNvPr>
          <p:cNvSpPr txBox="1"/>
          <p:nvPr/>
        </p:nvSpPr>
        <p:spPr>
          <a:xfrm>
            <a:off x="5246289" y="1637355"/>
            <a:ext cx="135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Super class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775B487-9505-4FEF-851F-AA2C0437799C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3866933" y="3251880"/>
            <a:ext cx="1171728" cy="1360191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FC3CBA-6541-443E-83CB-0E99FA8CB644}"/>
              </a:ext>
            </a:extLst>
          </p:cNvPr>
          <p:cNvCxnSpPr>
            <a:cxnSpLocks/>
          </p:cNvCxnSpPr>
          <p:nvPr/>
        </p:nvCxnSpPr>
        <p:spPr>
          <a:xfrm>
            <a:off x="6811938" y="3219573"/>
            <a:ext cx="1171728" cy="1360191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54ED856-532A-455E-8524-07851497BA75}"/>
              </a:ext>
            </a:extLst>
          </p:cNvPr>
          <p:cNvSpPr txBox="1"/>
          <p:nvPr/>
        </p:nvSpPr>
        <p:spPr>
          <a:xfrm>
            <a:off x="7947694" y="6038897"/>
            <a:ext cx="135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Sub class</a:t>
            </a:r>
          </a:p>
        </p:txBody>
      </p:sp>
    </p:spTree>
    <p:extLst>
      <p:ext uri="{BB962C8B-B14F-4D97-AF65-F5344CB8AC3E}">
        <p14:creationId xmlns:p14="http://schemas.microsoft.com/office/powerpoint/2010/main" val="3684505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0394"/>
            <a:ext cx="10515600" cy="4323606"/>
          </a:xfrm>
        </p:spPr>
        <p:txBody>
          <a:bodyPr>
            <a:noAutofit/>
          </a:bodyPr>
          <a:lstStyle/>
          <a:p>
            <a:r>
              <a:rPr lang="en-GB" sz="2400" dirty="0"/>
              <a:t>Any class can be a super class.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Inheritance can move through several levels: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Shape               Rectangle                Square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What do classes exactly inherit?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Super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5967A5A-4773-4D1C-B24E-6627B672A05F}"/>
              </a:ext>
            </a:extLst>
          </p:cNvPr>
          <p:cNvCxnSpPr>
            <a:cxnSpLocks/>
          </p:cNvCxnSpPr>
          <p:nvPr/>
        </p:nvCxnSpPr>
        <p:spPr>
          <a:xfrm>
            <a:off x="2034073" y="2794679"/>
            <a:ext cx="886408" cy="0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F3A397-35BF-439A-AB5F-67D2F94D6645}"/>
              </a:ext>
            </a:extLst>
          </p:cNvPr>
          <p:cNvCxnSpPr>
            <a:cxnSpLocks/>
          </p:cNvCxnSpPr>
          <p:nvPr/>
        </p:nvCxnSpPr>
        <p:spPr>
          <a:xfrm>
            <a:off x="4313855" y="2794679"/>
            <a:ext cx="886408" cy="0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966C4E3-003E-4702-9229-B3CDA80BF707}"/>
              </a:ext>
            </a:extLst>
          </p:cNvPr>
          <p:cNvSpPr/>
          <p:nvPr/>
        </p:nvSpPr>
        <p:spPr>
          <a:xfrm>
            <a:off x="897725" y="3649554"/>
            <a:ext cx="4402063" cy="30719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05F16F-6CF2-4BC3-8515-9D445D17BE49}"/>
              </a:ext>
            </a:extLst>
          </p:cNvPr>
          <p:cNvSpPr/>
          <p:nvPr/>
        </p:nvSpPr>
        <p:spPr>
          <a:xfrm>
            <a:off x="897725" y="3616059"/>
            <a:ext cx="483127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Super {</a:t>
            </a:r>
          </a:p>
          <a:p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//Constructor</a:t>
            </a:r>
          </a:p>
          <a:p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//Destructor</a:t>
            </a:r>
          </a:p>
          <a:p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//Data members </a:t>
            </a:r>
          </a:p>
          <a:p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//function members </a:t>
            </a:r>
          </a:p>
          <a:p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//operator= </a:t>
            </a:r>
          </a:p>
          <a:p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friend functions</a:t>
            </a:r>
          </a:p>
          <a:p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//other overloaded operators</a:t>
            </a:r>
          </a:p>
          <a:p>
            <a:r>
              <a:rPr lang="nl-NL" sz="20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311FB3-332A-4E1D-B9B2-17BB69ED2FCF}"/>
              </a:ext>
            </a:extLst>
          </p:cNvPr>
          <p:cNvSpPr/>
          <p:nvPr/>
        </p:nvSpPr>
        <p:spPr>
          <a:xfrm>
            <a:off x="5911370" y="3652666"/>
            <a:ext cx="5013644" cy="30688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61B8F6-71E5-410D-BE12-E5A32138BAFF}"/>
              </a:ext>
            </a:extLst>
          </p:cNvPr>
          <p:cNvSpPr/>
          <p:nvPr/>
        </p:nvSpPr>
        <p:spPr>
          <a:xfrm>
            <a:off x="5911369" y="3619171"/>
            <a:ext cx="483127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Sub {</a:t>
            </a:r>
          </a:p>
          <a:p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//Constructor</a:t>
            </a:r>
          </a:p>
          <a:p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//Destructor</a:t>
            </a:r>
          </a:p>
          <a:p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//Data members </a:t>
            </a:r>
          </a:p>
          <a:p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//function members </a:t>
            </a:r>
          </a:p>
          <a:p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//operator= </a:t>
            </a:r>
          </a:p>
          <a:p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friend functions</a:t>
            </a:r>
          </a:p>
          <a:p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//other overloaded operators</a:t>
            </a:r>
          </a:p>
          <a:p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nl-NL" sz="2000" u="sng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OWN</a:t>
            </a:r>
            <a:r>
              <a:rPr lang="nl-NL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data or function members</a:t>
            </a:r>
          </a:p>
          <a:p>
            <a:r>
              <a:rPr lang="nl-NL" sz="20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9A80B3-063A-4CD5-947D-9420D8D6FFF3}"/>
              </a:ext>
            </a:extLst>
          </p:cNvPr>
          <p:cNvCxnSpPr>
            <a:cxnSpLocks/>
          </p:cNvCxnSpPr>
          <p:nvPr/>
        </p:nvCxnSpPr>
        <p:spPr>
          <a:xfrm>
            <a:off x="4951447" y="5009144"/>
            <a:ext cx="886408" cy="0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ultiply 15"/>
          <p:cNvSpPr/>
          <p:nvPr/>
        </p:nvSpPr>
        <p:spPr>
          <a:xfrm>
            <a:off x="7776380" y="3914857"/>
            <a:ext cx="524032" cy="41277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Multiply 19"/>
          <p:cNvSpPr/>
          <p:nvPr/>
        </p:nvSpPr>
        <p:spPr>
          <a:xfrm>
            <a:off x="7594007" y="4221334"/>
            <a:ext cx="524032" cy="41277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Multiply 20"/>
          <p:cNvSpPr/>
          <p:nvPr/>
        </p:nvSpPr>
        <p:spPr>
          <a:xfrm>
            <a:off x="7502820" y="5122334"/>
            <a:ext cx="524032" cy="41277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Multiply 21"/>
          <p:cNvSpPr/>
          <p:nvPr/>
        </p:nvSpPr>
        <p:spPr>
          <a:xfrm>
            <a:off x="8638433" y="5425122"/>
            <a:ext cx="524032" cy="41277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9F034A-438F-F2B6-69F4-CBA4B5FE5202}"/>
              </a:ext>
            </a:extLst>
          </p:cNvPr>
          <p:cNvSpPr/>
          <p:nvPr/>
        </p:nvSpPr>
        <p:spPr>
          <a:xfrm>
            <a:off x="8288131" y="3895249"/>
            <a:ext cx="272806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2000" b="1" dirty="0">
                <a:latin typeface="+mj-lt"/>
                <a:cs typeface="Consolas" panose="020B0609020204030204" pitchFamily="49" charset="0"/>
              </a:rPr>
              <a:t>New constrauctor must contruct an object from the super class</a:t>
            </a:r>
          </a:p>
        </p:txBody>
      </p:sp>
    </p:spTree>
    <p:extLst>
      <p:ext uri="{BB962C8B-B14F-4D97-AF65-F5344CB8AC3E}">
        <p14:creationId xmlns:p14="http://schemas.microsoft.com/office/powerpoint/2010/main" val="348302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19"/>
            <a:ext cx="10515600" cy="4693708"/>
          </a:xfrm>
        </p:spPr>
        <p:txBody>
          <a:bodyPr>
            <a:noAutofit/>
          </a:bodyPr>
          <a:lstStyle/>
          <a:p>
            <a:r>
              <a:rPr lang="en-GB" sz="2400" dirty="0"/>
              <a:t>Syntax: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Example: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Accessibility depends on type of derivation!</a:t>
            </a:r>
          </a:p>
          <a:p>
            <a:endParaRPr lang="en-GB" sz="2400" dirty="0"/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 inheritance syntax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1090558" y="1957723"/>
            <a:ext cx="9699921" cy="7108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083201" y="1928870"/>
            <a:ext cx="9031183" cy="1088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Sub_class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NL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access_specifier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Super_class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l-NL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/*statements*/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};</a:t>
            </a:r>
          </a:p>
          <a:p>
            <a:pPr>
              <a:lnSpc>
                <a:spcPct val="150000"/>
              </a:lnSpc>
            </a:pP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2CB7DC-5F8A-439F-8A97-2602EC775185}"/>
              </a:ext>
            </a:extLst>
          </p:cNvPr>
          <p:cNvSpPr/>
          <p:nvPr/>
        </p:nvSpPr>
        <p:spPr>
          <a:xfrm>
            <a:off x="1084339" y="3332432"/>
            <a:ext cx="9699921" cy="24618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F3E0DE-9381-4B94-90CE-0DEA8F2918BA}"/>
              </a:ext>
            </a:extLst>
          </p:cNvPr>
          <p:cNvSpPr/>
          <p:nvPr/>
        </p:nvSpPr>
        <p:spPr>
          <a:xfrm>
            <a:off x="1090557" y="3332432"/>
            <a:ext cx="9434373" cy="1889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l-NL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nl-NL" sz="20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“Box.h” </a:t>
            </a:r>
          </a:p>
          <a:p>
            <a:pPr>
              <a:lnSpc>
                <a:spcPct val="150000"/>
              </a:lnSpc>
            </a:pPr>
            <a:r>
              <a:rPr lang="nl-NL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MyBox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Box {  </a:t>
            </a:r>
            <a:r>
              <a:rPr lang="nl-NL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Statements */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lnSpc>
                <a:spcPct val="150000"/>
              </a:lnSpc>
            </a:pPr>
            <a:r>
              <a:rPr lang="nl-NL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MyotherBox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Box {  </a:t>
            </a:r>
            <a:r>
              <a:rPr lang="nl-NL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Statements */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lnSpc>
                <a:spcPct val="150000"/>
              </a:lnSpc>
            </a:pPr>
            <a:r>
              <a:rPr lang="nl-NL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MythirdBox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Box {  </a:t>
            </a:r>
            <a:r>
              <a:rPr lang="nl-NL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Statements */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192085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8491"/>
            <a:ext cx="10515600" cy="514455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Access specifiers control access to class members from outside the class: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1. 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  <a:r>
              <a:rPr lang="en-GB" sz="2400" dirty="0"/>
              <a:t> allows access from outside the  class.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2. 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private: </a:t>
            </a:r>
            <a:r>
              <a:rPr lang="en-GB" sz="2400" dirty="0"/>
              <a:t>gives access only within the class.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3. 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protected:</a:t>
            </a:r>
            <a:r>
              <a:rPr lang="en-GB" sz="2400" dirty="0"/>
              <a:t> gives access within the class and to sub classes.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One can control the accessibility of the sub classes by using the appropriate access specifier.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constructor of the sub class can make use of the constructor of the super class.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L9D1.cpp</a:t>
            </a: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Access specifiers revisited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9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314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8491"/>
            <a:ext cx="10515600" cy="51445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Access specifiers revisited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10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9E8E03-5107-4CEF-B085-C5DD75DF990D}"/>
              </a:ext>
            </a:extLst>
          </p:cNvPr>
          <p:cNvSpPr txBox="1">
            <a:spLocks/>
          </p:cNvSpPr>
          <p:nvPr/>
        </p:nvSpPr>
        <p:spPr>
          <a:xfrm>
            <a:off x="1469701" y="1594106"/>
            <a:ext cx="2189126" cy="2751889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 {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 marL="0" indent="0">
              <a:buNone/>
            </a:pPr>
            <a:r>
              <a:rPr lang="fr-FR" sz="1800" b="1" dirty="0">
                <a:solidFill>
                  <a:srgbClr val="FF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1" dirty="0" err="1">
                <a:solidFill>
                  <a:srgbClr val="FF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pPr marL="0" indent="0">
              <a:buNone/>
            </a:pPr>
            <a:r>
              <a:rPr lang="fr-FR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nl-NL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nl-NL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nl-NL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l-NL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None/>
            </a:pPr>
            <a:endParaRPr lang="nl-NL" sz="1800" dirty="0">
              <a:latin typeface="Courier"/>
              <a:cs typeface="Courier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2E1BE0-D868-4B29-9C75-D6823338473A}"/>
              </a:ext>
            </a:extLst>
          </p:cNvPr>
          <p:cNvSpPr txBox="1">
            <a:spLocks/>
          </p:cNvSpPr>
          <p:nvPr/>
        </p:nvSpPr>
        <p:spPr>
          <a:xfrm>
            <a:off x="5737749" y="1581889"/>
            <a:ext cx="4936475" cy="2232099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 : </a:t>
            </a:r>
            <a:r>
              <a:rPr lang="en-US" sz="1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// x is public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// y is protected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// z is not accessible from B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nl-NL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2C1431B-2AD8-4007-8580-14EBC8985BC0}"/>
              </a:ext>
            </a:extLst>
          </p:cNvPr>
          <p:cNvSpPr txBox="1">
            <a:spLocks/>
          </p:cNvSpPr>
          <p:nvPr/>
        </p:nvSpPr>
        <p:spPr>
          <a:xfrm>
            <a:off x="7194182" y="4021116"/>
            <a:ext cx="4860969" cy="2035092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 : </a:t>
            </a:r>
            <a:r>
              <a:rPr lang="en-US" sz="1800" b="1" dirty="0">
                <a:solidFill>
                  <a:srgbClr val="FF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// x is protected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// y is protected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// z is not accessible from C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B99CD16-8212-472C-909F-7E19A4A827E0}"/>
              </a:ext>
            </a:extLst>
          </p:cNvPr>
          <p:cNvSpPr txBox="1">
            <a:spLocks/>
          </p:cNvSpPr>
          <p:nvPr/>
        </p:nvSpPr>
        <p:spPr>
          <a:xfrm>
            <a:off x="2216960" y="4587955"/>
            <a:ext cx="4510411" cy="2035092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 :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// x is private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// y is private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// z is not accessible from D</a:t>
            </a: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0" name="Right Arrow 7">
            <a:extLst>
              <a:ext uri="{FF2B5EF4-FFF2-40B4-BE49-F238E27FC236}">
                <a16:creationId xmlns:a16="http://schemas.microsoft.com/office/drawing/2014/main" id="{D5542242-07B7-4366-9FD5-2B204338A67D}"/>
              </a:ext>
            </a:extLst>
          </p:cNvPr>
          <p:cNvSpPr/>
          <p:nvPr/>
        </p:nvSpPr>
        <p:spPr>
          <a:xfrm>
            <a:off x="3275443" y="1836627"/>
            <a:ext cx="2462306" cy="482088"/>
          </a:xfrm>
          <a:prstGeom prst="rightArrow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9">
            <a:extLst>
              <a:ext uri="{FF2B5EF4-FFF2-40B4-BE49-F238E27FC236}">
                <a16:creationId xmlns:a16="http://schemas.microsoft.com/office/drawing/2014/main" id="{22E03C46-AB5A-41B5-93F2-2F25C959E352}"/>
              </a:ext>
            </a:extLst>
          </p:cNvPr>
          <p:cNvSpPr/>
          <p:nvPr/>
        </p:nvSpPr>
        <p:spPr>
          <a:xfrm rot="2283530">
            <a:off x="2903054" y="3958574"/>
            <a:ext cx="981028" cy="48208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8">
            <a:extLst>
              <a:ext uri="{FF2B5EF4-FFF2-40B4-BE49-F238E27FC236}">
                <a16:creationId xmlns:a16="http://schemas.microsoft.com/office/drawing/2014/main" id="{AEC8F84E-6307-41E5-88AE-520B205ED87E}"/>
              </a:ext>
            </a:extLst>
          </p:cNvPr>
          <p:cNvSpPr/>
          <p:nvPr/>
        </p:nvSpPr>
        <p:spPr>
          <a:xfrm rot="1168625">
            <a:off x="2872614" y="3683576"/>
            <a:ext cx="4433234" cy="482088"/>
          </a:xfrm>
          <a:prstGeom prst="rightArrow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16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8491"/>
            <a:ext cx="10515600" cy="514455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To prevent further derivation of a given class, the keyword “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GB" sz="2400" dirty="0"/>
              <a:t>” is used when the class is defined.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Example: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This is a feature in C++ 11 and subsequent releases.</a:t>
            </a:r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Preventing class derivation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11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897299" y="3384348"/>
            <a:ext cx="9578061" cy="143204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189FAE-C196-413A-9EEC-12412D95AB54}"/>
              </a:ext>
            </a:extLst>
          </p:cNvPr>
          <p:cNvSpPr/>
          <p:nvPr/>
        </p:nvSpPr>
        <p:spPr>
          <a:xfrm>
            <a:off x="897299" y="3315649"/>
            <a:ext cx="9434373" cy="1889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l-NL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nl-NL" sz="20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“Box.h” </a:t>
            </a:r>
          </a:p>
          <a:p>
            <a:pPr>
              <a:lnSpc>
                <a:spcPct val="150000"/>
              </a:lnSpc>
            </a:pPr>
            <a:r>
              <a:rPr lang="nl-NL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Cube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Box {  </a:t>
            </a:r>
            <a:r>
              <a:rPr lang="nl-NL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Statements */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lnSpc>
                <a:spcPct val="150000"/>
              </a:lnSpc>
            </a:pPr>
            <a:r>
              <a:rPr lang="nl-NL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MyCube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nl-NL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Cube {}; </a:t>
            </a:r>
            <a:r>
              <a:rPr lang="nl-NL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//Error!!</a:t>
            </a:r>
            <a:endParaRPr lang="nl-N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nl-N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70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78491"/>
            <a:ext cx="11478209" cy="514455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Sometimes the most suitable class for an object need to be chosen at run-time.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Using dynamic binding it is possible to select a particular function to run at </a:t>
            </a:r>
            <a:r>
              <a:rPr lang="en-GB" sz="2400" u="sng" dirty="0"/>
              <a:t>runtime</a:t>
            </a:r>
            <a:r>
              <a:rPr lang="en-GB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Using classes inheritance, it can be done as follows: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The keyword “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GB" sz="2400" dirty="0"/>
              <a:t>” is used to control what function to be used (the super class version or the subclass version).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L9D2.cpp</a:t>
            </a: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endParaRPr lang="en-GB" sz="2400" dirty="0"/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b="1" dirty="0"/>
              <a:t>Dynamic binding and virtual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12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E8FCB37-D200-7966-AFDE-09EC89BDEB31}"/>
              </a:ext>
            </a:extLst>
          </p:cNvPr>
          <p:cNvSpPr txBox="1"/>
          <p:nvPr/>
        </p:nvSpPr>
        <p:spPr>
          <a:xfrm>
            <a:off x="903304" y="3589104"/>
            <a:ext cx="4272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Superclass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pSuperclass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520BFA-0B83-897A-6109-14BB758B6998}"/>
              </a:ext>
            </a:extLst>
          </p:cNvPr>
          <p:cNvSpPr txBox="1"/>
          <p:nvPr/>
        </p:nvSpPr>
        <p:spPr>
          <a:xfrm>
            <a:off x="4934207" y="3589103"/>
            <a:ext cx="3258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Subclass1(); </a:t>
            </a: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876E1D-0BA9-4023-FE11-AB6F18359C75}"/>
              </a:ext>
            </a:extLst>
          </p:cNvPr>
          <p:cNvSpPr txBox="1"/>
          <p:nvPr/>
        </p:nvSpPr>
        <p:spPr>
          <a:xfrm>
            <a:off x="4947881" y="4348127"/>
            <a:ext cx="3258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Subclass2(); 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3E8B4C-EBF4-ED09-0E0D-6E982A4F0781}"/>
              </a:ext>
            </a:extLst>
          </p:cNvPr>
          <p:cNvSpPr txBox="1"/>
          <p:nvPr/>
        </p:nvSpPr>
        <p:spPr>
          <a:xfrm>
            <a:off x="6378152" y="3968615"/>
            <a:ext cx="638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EF7774-4023-E3AA-00FE-E743BE2113FC}"/>
              </a:ext>
            </a:extLst>
          </p:cNvPr>
          <p:cNvSpPr txBox="1"/>
          <p:nvPr/>
        </p:nvSpPr>
        <p:spPr>
          <a:xfrm>
            <a:off x="8123303" y="3819935"/>
            <a:ext cx="3605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Depending on the user’s interaction</a:t>
            </a:r>
          </a:p>
        </p:txBody>
      </p:sp>
    </p:spTree>
    <p:extLst>
      <p:ext uri="{BB962C8B-B14F-4D97-AF65-F5344CB8AC3E}">
        <p14:creationId xmlns:p14="http://schemas.microsoft.com/office/powerpoint/2010/main" val="1681916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956"/>
            <a:ext cx="10515600" cy="5149608"/>
          </a:xfrm>
        </p:spPr>
        <p:txBody>
          <a:bodyPr>
            <a:noAutofit/>
          </a:bodyPr>
          <a:lstStyle/>
          <a:p>
            <a:r>
              <a:rPr lang="en-GB" sz="2400" dirty="0"/>
              <a:t>A C++ library is a composition of functions and classes written in template form.</a:t>
            </a:r>
          </a:p>
          <a:p>
            <a:r>
              <a:rPr lang="en-GB" sz="2400" dirty="0"/>
              <a:t>Most libraries are highly specialised.</a:t>
            </a:r>
          </a:p>
          <a:p>
            <a:endParaRPr lang="en-GB" sz="2400" dirty="0"/>
          </a:p>
          <a:p>
            <a:r>
              <a:rPr lang="en-GB" sz="2400" dirty="0"/>
              <a:t>Standard libraries:</a:t>
            </a:r>
          </a:p>
          <a:p>
            <a:pPr marL="0" indent="0">
              <a:buNone/>
            </a:pPr>
            <a:r>
              <a:rPr lang="en-GB" sz="2400" dirty="0">
                <a:hlinkClick r:id="rId3"/>
              </a:rPr>
              <a:t>http://www.cplusplus.com/reference/</a:t>
            </a:r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Non-standard:</a:t>
            </a:r>
          </a:p>
          <a:p>
            <a:pPr marL="0" indent="0">
              <a:buNone/>
            </a:pPr>
            <a:r>
              <a:rPr lang="en-GB" sz="2400" dirty="0">
                <a:hlinkClick r:id="rId4"/>
              </a:rPr>
              <a:t>https://en.cppreference.com/w/cpp/links/libs</a:t>
            </a:r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Efficient use of a library’s documentation is vital</a:t>
            </a:r>
          </a:p>
          <a:p>
            <a:pPr marL="0" indent="0">
              <a:buNone/>
            </a:pPr>
            <a:r>
              <a:rPr lang="en-GB" sz="2400" dirty="0"/>
              <a:t>   to maximise its use.  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7" name="Freeform: Shape 34">
            <a:extLst>
              <a:ext uri="{FF2B5EF4-FFF2-40B4-BE49-F238E27FC236}">
                <a16:creationId xmlns:a16="http://schemas.microsoft.com/office/drawing/2014/main" id="{B34E266F-1C16-42D0-8C4B-F6B5B3461B0A}"/>
              </a:ext>
            </a:extLst>
          </p:cNvPr>
          <p:cNvSpPr>
            <a:spLocks noChangeAspect="1"/>
          </p:cNvSpPr>
          <p:nvPr/>
        </p:nvSpPr>
        <p:spPr>
          <a:xfrm>
            <a:off x="8059677" y="2067643"/>
            <a:ext cx="1296608" cy="867117"/>
          </a:xfrm>
          <a:custGeom>
            <a:avLst/>
            <a:gdLst>
              <a:gd name="connsiteX0" fmla="*/ 0 w 1365216"/>
              <a:gd name="connsiteY0" fmla="*/ 0 h 963463"/>
              <a:gd name="connsiteX1" fmla="*/ 1365216 w 1365216"/>
              <a:gd name="connsiteY1" fmla="*/ 0 h 963463"/>
              <a:gd name="connsiteX2" fmla="*/ 1365216 w 1365216"/>
              <a:gd name="connsiteY2" fmla="*/ 963463 h 963463"/>
              <a:gd name="connsiteX3" fmla="*/ 0 w 1365216"/>
              <a:gd name="connsiteY3" fmla="*/ 963463 h 963463"/>
              <a:gd name="connsiteX4" fmla="*/ 0 w 1365216"/>
              <a:gd name="connsiteY4" fmla="*/ 0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5216" h="963463">
                <a:moveTo>
                  <a:pt x="0" y="0"/>
                </a:moveTo>
                <a:lnTo>
                  <a:pt x="1365216" y="0"/>
                </a:lnTo>
                <a:lnTo>
                  <a:pt x="1365216" y="963463"/>
                </a:lnTo>
                <a:lnTo>
                  <a:pt x="0" y="96346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5793" tIns="31751" rIns="1135795" bIns="31751" numCol="1" spcCol="1270" anchor="ctr" anchorCtr="0">
            <a:noAutofit/>
          </a:bodyPr>
          <a:lstStyle/>
          <a:p>
            <a:pPr lvl="0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2500" kern="1200" dirty="0">
              <a:solidFill>
                <a:schemeClr val="tx1"/>
              </a:solidFill>
            </a:endParaRPr>
          </a:p>
        </p:txBody>
      </p:sp>
      <p:sp>
        <p:nvSpPr>
          <p:cNvPr id="26" name="Freeform: Shape 34">
            <a:extLst>
              <a:ext uri="{FF2B5EF4-FFF2-40B4-BE49-F238E27FC236}">
                <a16:creationId xmlns:a16="http://schemas.microsoft.com/office/drawing/2014/main" id="{B34E266F-1C16-42D0-8C4B-F6B5B3461B0A}"/>
              </a:ext>
            </a:extLst>
          </p:cNvPr>
          <p:cNvSpPr>
            <a:spLocks noChangeAspect="1"/>
          </p:cNvSpPr>
          <p:nvPr/>
        </p:nvSpPr>
        <p:spPr>
          <a:xfrm>
            <a:off x="9401794" y="2076628"/>
            <a:ext cx="1228694" cy="867117"/>
          </a:xfrm>
          <a:custGeom>
            <a:avLst/>
            <a:gdLst>
              <a:gd name="connsiteX0" fmla="*/ 0 w 1365216"/>
              <a:gd name="connsiteY0" fmla="*/ 0 h 963463"/>
              <a:gd name="connsiteX1" fmla="*/ 1365216 w 1365216"/>
              <a:gd name="connsiteY1" fmla="*/ 0 h 963463"/>
              <a:gd name="connsiteX2" fmla="*/ 1365216 w 1365216"/>
              <a:gd name="connsiteY2" fmla="*/ 963463 h 963463"/>
              <a:gd name="connsiteX3" fmla="*/ 0 w 1365216"/>
              <a:gd name="connsiteY3" fmla="*/ 963463 h 963463"/>
              <a:gd name="connsiteX4" fmla="*/ 0 w 1365216"/>
              <a:gd name="connsiteY4" fmla="*/ 0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5216" h="963463">
                <a:moveTo>
                  <a:pt x="0" y="0"/>
                </a:moveTo>
                <a:lnTo>
                  <a:pt x="1365216" y="0"/>
                </a:lnTo>
                <a:lnTo>
                  <a:pt x="1365216" y="963463"/>
                </a:lnTo>
                <a:lnTo>
                  <a:pt x="0" y="96346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5793" tIns="31751" rIns="1135795" bIns="31751" numCol="1" spcCol="1270" anchor="ctr" anchorCtr="0">
            <a:noAutofit/>
          </a:bodyPr>
          <a:lstStyle/>
          <a:p>
            <a:pPr lvl="0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2500" kern="12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C++ Libraries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13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37DA32-B7BB-40A4-B146-DE093EB2BC91}"/>
              </a:ext>
            </a:extLst>
          </p:cNvPr>
          <p:cNvSpPr>
            <a:spLocks noChangeAspect="1"/>
          </p:cNvSpPr>
          <p:nvPr/>
        </p:nvSpPr>
        <p:spPr>
          <a:xfrm>
            <a:off x="8749781" y="5608106"/>
            <a:ext cx="1135589" cy="867117"/>
          </a:xfrm>
          <a:custGeom>
            <a:avLst/>
            <a:gdLst>
              <a:gd name="connsiteX0" fmla="*/ 0 w 1261764"/>
              <a:gd name="connsiteY0" fmla="*/ 963463 h 963463"/>
              <a:gd name="connsiteX1" fmla="*/ 630882 w 1261764"/>
              <a:gd name="connsiteY1" fmla="*/ 0 h 963463"/>
              <a:gd name="connsiteX2" fmla="*/ 630882 w 1261764"/>
              <a:gd name="connsiteY2" fmla="*/ 0 h 963463"/>
              <a:gd name="connsiteX3" fmla="*/ 1261764 w 1261764"/>
              <a:gd name="connsiteY3" fmla="*/ 963463 h 963463"/>
              <a:gd name="connsiteX4" fmla="*/ 0 w 1261764"/>
              <a:gd name="connsiteY4" fmla="*/ 963463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1764" h="963463">
                <a:moveTo>
                  <a:pt x="1261764" y="0"/>
                </a:moveTo>
                <a:lnTo>
                  <a:pt x="630882" y="963463"/>
                </a:lnTo>
                <a:lnTo>
                  <a:pt x="630882" y="963463"/>
                </a:lnTo>
                <a:lnTo>
                  <a:pt x="0" y="0"/>
                </a:lnTo>
                <a:lnTo>
                  <a:pt x="1261764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751" tIns="31750" rIns="31750" bIns="317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 dirty="0">
                <a:solidFill>
                  <a:schemeClr val="tx1"/>
                </a:solidFill>
              </a:rPr>
              <a:t>Variables</a:t>
            </a:r>
          </a:p>
        </p:txBody>
      </p:sp>
      <p:sp>
        <p:nvSpPr>
          <p:cNvPr id="12" name="Freeform: Shape 9">
            <a:extLst>
              <a:ext uri="{FF2B5EF4-FFF2-40B4-BE49-F238E27FC236}">
                <a16:creationId xmlns:a16="http://schemas.microsoft.com/office/drawing/2014/main" id="{91C5B6AE-7AA7-4517-B26B-81B923351913}"/>
              </a:ext>
            </a:extLst>
          </p:cNvPr>
          <p:cNvSpPr>
            <a:spLocks noChangeAspect="1"/>
          </p:cNvSpPr>
          <p:nvPr/>
        </p:nvSpPr>
        <p:spPr>
          <a:xfrm>
            <a:off x="8203822" y="4730397"/>
            <a:ext cx="2271179" cy="867118"/>
          </a:xfrm>
          <a:custGeom>
            <a:avLst/>
            <a:gdLst>
              <a:gd name="connsiteX0" fmla="*/ 0 w 2523528"/>
              <a:gd name="connsiteY0" fmla="*/ 963463 h 963463"/>
              <a:gd name="connsiteX1" fmla="*/ 630885 w 2523528"/>
              <a:gd name="connsiteY1" fmla="*/ 0 h 963463"/>
              <a:gd name="connsiteX2" fmla="*/ 1892643 w 2523528"/>
              <a:gd name="connsiteY2" fmla="*/ 0 h 963463"/>
              <a:gd name="connsiteX3" fmla="*/ 2523528 w 2523528"/>
              <a:gd name="connsiteY3" fmla="*/ 963463 h 963463"/>
              <a:gd name="connsiteX4" fmla="*/ 0 w 2523528"/>
              <a:gd name="connsiteY4" fmla="*/ 963463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3528" h="963463">
                <a:moveTo>
                  <a:pt x="2523528" y="1"/>
                </a:moveTo>
                <a:lnTo>
                  <a:pt x="1892643" y="963462"/>
                </a:lnTo>
                <a:lnTo>
                  <a:pt x="630885" y="963462"/>
                </a:lnTo>
                <a:lnTo>
                  <a:pt x="0" y="1"/>
                </a:lnTo>
                <a:lnTo>
                  <a:pt x="2523528" y="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73369" tIns="31750" rIns="473367" bIns="317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 dirty="0">
                <a:solidFill>
                  <a:schemeClr val="tx1"/>
                </a:solidFill>
              </a:rPr>
              <a:t>Control structures</a:t>
            </a:r>
          </a:p>
        </p:txBody>
      </p:sp>
      <p:sp>
        <p:nvSpPr>
          <p:cNvPr id="13" name="Freeform: Shape 8">
            <a:extLst>
              <a:ext uri="{FF2B5EF4-FFF2-40B4-BE49-F238E27FC236}">
                <a16:creationId xmlns:a16="http://schemas.microsoft.com/office/drawing/2014/main" id="{24649E6C-DB89-4BC4-904B-051964189C89}"/>
              </a:ext>
            </a:extLst>
          </p:cNvPr>
          <p:cNvSpPr>
            <a:spLocks noChangeAspect="1"/>
          </p:cNvSpPr>
          <p:nvPr/>
        </p:nvSpPr>
        <p:spPr>
          <a:xfrm>
            <a:off x="7636028" y="3857983"/>
            <a:ext cx="3406766" cy="867118"/>
          </a:xfrm>
          <a:custGeom>
            <a:avLst/>
            <a:gdLst>
              <a:gd name="connsiteX0" fmla="*/ 0 w 3785293"/>
              <a:gd name="connsiteY0" fmla="*/ 963463 h 963463"/>
              <a:gd name="connsiteX1" fmla="*/ 630885 w 3785293"/>
              <a:gd name="connsiteY1" fmla="*/ 0 h 963463"/>
              <a:gd name="connsiteX2" fmla="*/ 3154408 w 3785293"/>
              <a:gd name="connsiteY2" fmla="*/ 0 h 963463"/>
              <a:gd name="connsiteX3" fmla="*/ 3785293 w 3785293"/>
              <a:gd name="connsiteY3" fmla="*/ 963463 h 963463"/>
              <a:gd name="connsiteX4" fmla="*/ 0 w 3785293"/>
              <a:gd name="connsiteY4" fmla="*/ 963463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5293" h="963463">
                <a:moveTo>
                  <a:pt x="3785293" y="1"/>
                </a:moveTo>
                <a:lnTo>
                  <a:pt x="3154408" y="963462"/>
                </a:lnTo>
                <a:lnTo>
                  <a:pt x="630885" y="963462"/>
                </a:lnTo>
                <a:lnTo>
                  <a:pt x="0" y="1"/>
                </a:lnTo>
                <a:lnTo>
                  <a:pt x="3785293" y="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4176" tIns="31750" rIns="694177" bIns="317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 dirty="0">
                <a:solidFill>
                  <a:schemeClr val="tx1"/>
                </a:solidFill>
              </a:rPr>
              <a:t>Functions</a:t>
            </a:r>
          </a:p>
        </p:txBody>
      </p:sp>
      <p:sp>
        <p:nvSpPr>
          <p:cNvPr id="14" name="Freeform: Shape 7">
            <a:extLst>
              <a:ext uri="{FF2B5EF4-FFF2-40B4-BE49-F238E27FC236}">
                <a16:creationId xmlns:a16="http://schemas.microsoft.com/office/drawing/2014/main" id="{DFFD8D4E-9392-49F3-B97E-42CE25CAA0E0}"/>
              </a:ext>
            </a:extLst>
          </p:cNvPr>
          <p:cNvSpPr>
            <a:spLocks noChangeAspect="1"/>
          </p:cNvSpPr>
          <p:nvPr/>
        </p:nvSpPr>
        <p:spPr>
          <a:xfrm>
            <a:off x="7082364" y="2969109"/>
            <a:ext cx="4542355" cy="867118"/>
          </a:xfrm>
          <a:custGeom>
            <a:avLst/>
            <a:gdLst>
              <a:gd name="connsiteX0" fmla="*/ 0 w 5047057"/>
              <a:gd name="connsiteY0" fmla="*/ 963463 h 963463"/>
              <a:gd name="connsiteX1" fmla="*/ 630885 w 5047057"/>
              <a:gd name="connsiteY1" fmla="*/ 0 h 963463"/>
              <a:gd name="connsiteX2" fmla="*/ 4416172 w 5047057"/>
              <a:gd name="connsiteY2" fmla="*/ 0 h 963463"/>
              <a:gd name="connsiteX3" fmla="*/ 5047057 w 5047057"/>
              <a:gd name="connsiteY3" fmla="*/ 963463 h 963463"/>
              <a:gd name="connsiteX4" fmla="*/ 0 w 5047057"/>
              <a:gd name="connsiteY4" fmla="*/ 963463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7057" h="963463">
                <a:moveTo>
                  <a:pt x="5047057" y="1"/>
                </a:moveTo>
                <a:lnTo>
                  <a:pt x="4416172" y="963462"/>
                </a:lnTo>
                <a:lnTo>
                  <a:pt x="630885" y="963462"/>
                </a:lnTo>
                <a:lnTo>
                  <a:pt x="0" y="1"/>
                </a:lnTo>
                <a:lnTo>
                  <a:pt x="5047057" y="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985" tIns="31751" rIns="914985" bIns="317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 dirty="0">
                <a:solidFill>
                  <a:schemeClr val="tx1"/>
                </a:solidFill>
              </a:rPr>
              <a:t>Classes</a:t>
            </a:r>
          </a:p>
        </p:txBody>
      </p:sp>
      <p:sp>
        <p:nvSpPr>
          <p:cNvPr id="15" name="Freeform: Shape 35">
            <a:extLst>
              <a:ext uri="{FF2B5EF4-FFF2-40B4-BE49-F238E27FC236}">
                <a16:creationId xmlns:a16="http://schemas.microsoft.com/office/drawing/2014/main" id="{25F4FF33-92E6-4494-BCEA-C617B3733535}"/>
              </a:ext>
            </a:extLst>
          </p:cNvPr>
          <p:cNvSpPr>
            <a:spLocks noChangeAspect="1"/>
          </p:cNvSpPr>
          <p:nvPr/>
        </p:nvSpPr>
        <p:spPr>
          <a:xfrm>
            <a:off x="6533095" y="2065328"/>
            <a:ext cx="1553063" cy="867117"/>
          </a:xfrm>
          <a:custGeom>
            <a:avLst/>
            <a:gdLst>
              <a:gd name="connsiteX0" fmla="*/ 0 w 1725625"/>
              <a:gd name="connsiteY0" fmla="*/ 0 h 963463"/>
              <a:gd name="connsiteX1" fmla="*/ 1725625 w 1725625"/>
              <a:gd name="connsiteY1" fmla="*/ 0 h 963463"/>
              <a:gd name="connsiteX2" fmla="*/ 1725625 w 1725625"/>
              <a:gd name="connsiteY2" fmla="*/ 963463 h 963463"/>
              <a:gd name="connsiteX3" fmla="*/ 630885 w 1725625"/>
              <a:gd name="connsiteY3" fmla="*/ 963463 h 963463"/>
              <a:gd name="connsiteX4" fmla="*/ 0 w 1725625"/>
              <a:gd name="connsiteY4" fmla="*/ 0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5625" h="963463">
                <a:moveTo>
                  <a:pt x="0" y="0"/>
                </a:moveTo>
                <a:lnTo>
                  <a:pt x="1725625" y="0"/>
                </a:lnTo>
                <a:lnTo>
                  <a:pt x="1725625" y="963463"/>
                </a:lnTo>
                <a:lnTo>
                  <a:pt x="630885" y="96346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5793" tIns="31751" rIns="1135795" bIns="31751" numCol="1" spcCol="1270" anchor="ctr" anchorCtr="0">
            <a:noAutofit/>
          </a:bodyPr>
          <a:lstStyle/>
          <a:p>
            <a:pPr lvl="0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2500" kern="12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7266575" y="5841609"/>
            <a:ext cx="1956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Lecture 3</a:t>
            </a:r>
          </a:p>
        </p:txBody>
      </p:sp>
      <p:sp>
        <p:nvSpPr>
          <p:cNvPr id="17" name="Freeform: Shape 32">
            <a:extLst>
              <a:ext uri="{FF2B5EF4-FFF2-40B4-BE49-F238E27FC236}">
                <a16:creationId xmlns:a16="http://schemas.microsoft.com/office/drawing/2014/main" id="{E9EAC926-1344-4046-AA04-99E99795D1FC}"/>
              </a:ext>
            </a:extLst>
          </p:cNvPr>
          <p:cNvSpPr>
            <a:spLocks noChangeAspect="1"/>
          </p:cNvSpPr>
          <p:nvPr/>
        </p:nvSpPr>
        <p:spPr>
          <a:xfrm>
            <a:off x="10671255" y="2085883"/>
            <a:ext cx="1554234" cy="867117"/>
          </a:xfrm>
          <a:custGeom>
            <a:avLst/>
            <a:gdLst>
              <a:gd name="connsiteX0" fmla="*/ 0 w 1726927"/>
              <a:gd name="connsiteY0" fmla="*/ 0 h 963463"/>
              <a:gd name="connsiteX1" fmla="*/ 1726927 w 1726927"/>
              <a:gd name="connsiteY1" fmla="*/ 0 h 963463"/>
              <a:gd name="connsiteX2" fmla="*/ 1096042 w 1726927"/>
              <a:gd name="connsiteY2" fmla="*/ 963463 h 963463"/>
              <a:gd name="connsiteX3" fmla="*/ 0 w 1726927"/>
              <a:gd name="connsiteY3" fmla="*/ 963463 h 963463"/>
              <a:gd name="connsiteX4" fmla="*/ 0 w 1726927"/>
              <a:gd name="connsiteY4" fmla="*/ 0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6927" h="963463">
                <a:moveTo>
                  <a:pt x="0" y="0"/>
                </a:moveTo>
                <a:lnTo>
                  <a:pt x="1726927" y="0"/>
                </a:lnTo>
                <a:lnTo>
                  <a:pt x="1096042" y="963463"/>
                </a:lnTo>
                <a:lnTo>
                  <a:pt x="0" y="96346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5793" tIns="31751" rIns="1135795" bIns="31751" numCol="1" spcCol="1270" anchor="ctr" anchorCtr="0">
            <a:noAutofit/>
          </a:bodyPr>
          <a:lstStyle/>
          <a:p>
            <a:pPr lvl="0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2500" kern="12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7197775" y="5016669"/>
            <a:ext cx="1474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Lecture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6627689" y="4167392"/>
            <a:ext cx="1474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Lecture 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5543995" y="3271202"/>
            <a:ext cx="2092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Lectures 6-9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4856228" y="2407635"/>
            <a:ext cx="2092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Lectures 10-18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FC7C7D-6F03-48D7-9C59-59780F63790E}"/>
              </a:ext>
            </a:extLst>
          </p:cNvPr>
          <p:cNvSpPr txBox="1"/>
          <p:nvPr/>
        </p:nvSpPr>
        <p:spPr>
          <a:xfrm>
            <a:off x="7970386" y="2034901"/>
            <a:ext cx="1474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Data Structure</a:t>
            </a:r>
          </a:p>
          <a:p>
            <a:pPr algn="ctr"/>
            <a:r>
              <a:rPr lang="en-GB" dirty="0"/>
              <a:t>Libraries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6653663" y="2006135"/>
            <a:ext cx="1591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GUI Development</a:t>
            </a:r>
          </a:p>
          <a:p>
            <a:pPr algn="ctr"/>
            <a:r>
              <a:rPr lang="en-GB" dirty="0"/>
              <a:t>Libraries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1FD32E-1BC7-4675-BF0E-A2E919E70AA2}"/>
              </a:ext>
            </a:extLst>
          </p:cNvPr>
          <p:cNvSpPr txBox="1"/>
          <p:nvPr/>
        </p:nvSpPr>
        <p:spPr>
          <a:xfrm>
            <a:off x="9277001" y="2074942"/>
            <a:ext cx="1474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Games</a:t>
            </a:r>
          </a:p>
          <a:p>
            <a:pPr algn="ctr"/>
            <a:r>
              <a:rPr lang="en-GB" dirty="0"/>
              <a:t>Engines</a:t>
            </a:r>
          </a:p>
          <a:p>
            <a:pPr algn="ctr"/>
            <a:r>
              <a:rPr lang="en-GB" dirty="0"/>
              <a:t>Libraries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615685-B919-4929-9730-BF2560FED671}"/>
              </a:ext>
            </a:extLst>
          </p:cNvPr>
          <p:cNvSpPr txBox="1"/>
          <p:nvPr/>
        </p:nvSpPr>
        <p:spPr>
          <a:xfrm>
            <a:off x="10517311" y="2071091"/>
            <a:ext cx="1474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Scientific </a:t>
            </a:r>
          </a:p>
          <a:p>
            <a:pPr algn="ctr"/>
            <a:r>
              <a:rPr lang="en-GB" dirty="0"/>
              <a:t>Computing</a:t>
            </a:r>
          </a:p>
          <a:p>
            <a:pPr algn="ctr"/>
            <a:r>
              <a:rPr lang="en-GB" dirty="0"/>
              <a:t>Libraries</a:t>
            </a:r>
          </a:p>
        </p:txBody>
      </p:sp>
    </p:spTree>
    <p:extLst>
      <p:ext uri="{BB962C8B-B14F-4D97-AF65-F5344CB8AC3E}">
        <p14:creationId xmlns:p14="http://schemas.microsoft.com/office/powerpoint/2010/main" val="1446118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03" y="1483567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Libraries can be categorized into static libraries and dynamic libraries. 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Static libraries (has .lib extension) create a copy of their code into the code under development, at compile time, leading to large executable file with minimal dependencies.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Dynamic libraries (has .</a:t>
            </a:r>
            <a:r>
              <a:rPr lang="en-US" sz="2400" dirty="0" err="1"/>
              <a:t>dll</a:t>
            </a:r>
            <a:r>
              <a:rPr lang="en-US" sz="2400" dirty="0"/>
              <a:t> extension) do not copy the code, they are linked at run time to the main executable, leading to small executable file but with many dependencies. 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Whether the linking is static or dynamic, the header of the library must be included in the source code.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Demonstration: </a:t>
            </a:r>
            <a:r>
              <a:rPr lang="en-GB" sz="2400" dirty="0">
                <a:hlinkClick r:id="rId3"/>
              </a:rPr>
              <a:t>http://glew.sourceforge.net/</a:t>
            </a: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Linking libraries to a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14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95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03" y="1483567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First step: consult the library’s documentation on how to install/use.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Linking could be done manually or through a package manager.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For Visual Studio, there is VCPKG package manager: </a:t>
            </a:r>
            <a:r>
              <a:rPr lang="en-GB" sz="2400" dirty="0">
                <a:hlinkClick r:id="rId3"/>
              </a:rPr>
              <a:t>https://vcpkg.io/en/index.html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L9D3.cpp</a:t>
            </a: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Linking libraries to a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15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26434" y="4324368"/>
            <a:ext cx="985342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926433" y="4288180"/>
            <a:ext cx="91355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Practice note: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When adding a 3</a:t>
            </a:r>
            <a:r>
              <a:rPr lang="en-GB" sz="2400" baseline="30000" dirty="0"/>
              <a:t>rd</a:t>
            </a:r>
            <a:r>
              <a:rPr lang="en-GB" sz="2400" dirty="0"/>
              <a:t> party library check what are its requirements before adding it to your project.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If a library is available through a package manager, use that instead of manual linking. </a:t>
            </a:r>
          </a:p>
        </p:txBody>
      </p:sp>
    </p:spTree>
    <p:extLst>
      <p:ext uri="{BB962C8B-B14F-4D97-AF65-F5344CB8AC3E}">
        <p14:creationId xmlns:p14="http://schemas.microsoft.com/office/powerpoint/2010/main" val="2632785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79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dirty="0"/>
              <a:t>The concept of class Inheritance was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Different types of class inherence were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An introduction to C++ libraries was given, and the different types of linking were discussed.</a:t>
            </a:r>
          </a:p>
          <a:p>
            <a:pPr>
              <a:lnSpc>
                <a:spcPct val="170000"/>
              </a:lnSpc>
            </a:pPr>
            <a:endParaRPr lang="en-GB" sz="2400" dirty="0"/>
          </a:p>
          <a:p>
            <a:pPr marL="0" indent="0">
              <a:lnSpc>
                <a:spcPct val="170000"/>
              </a:lnSpc>
              <a:buNone/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16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071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6337</TotalTime>
  <Words>1178</Words>
  <Application>Microsoft Office PowerPoint</Application>
  <PresentationFormat>Widescreen</PresentationFormat>
  <Paragraphs>557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Courier</vt:lpstr>
      <vt:lpstr>Courier New</vt:lpstr>
      <vt:lpstr>Office Theme</vt:lpstr>
      <vt:lpstr>Application Development with C++ (ELEC362)</vt:lpstr>
      <vt:lpstr>Previous lecture </vt:lpstr>
      <vt:lpstr>This lecture</vt:lpstr>
      <vt:lpstr>Object Oriented concepts revisited</vt:lpstr>
      <vt:lpstr>Class Inheritance</vt:lpstr>
      <vt:lpstr>Class Inheritance</vt:lpstr>
      <vt:lpstr>Super class</vt:lpstr>
      <vt:lpstr>Class inheritance syntax</vt:lpstr>
      <vt:lpstr>Access specifiers revisited</vt:lpstr>
      <vt:lpstr>Access specifiers revisited</vt:lpstr>
      <vt:lpstr>Preventing class derivation</vt:lpstr>
      <vt:lpstr>Dynamic binding and virtual functions</vt:lpstr>
      <vt:lpstr>C++ Libraries</vt:lpstr>
      <vt:lpstr>Linking libraries to a code</vt:lpstr>
      <vt:lpstr>Linking libraries to a code</vt:lpstr>
      <vt:lpstr>Summary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654</cp:revision>
  <dcterms:created xsi:type="dcterms:W3CDTF">2019-05-09T14:26:54Z</dcterms:created>
  <dcterms:modified xsi:type="dcterms:W3CDTF">2026-09-28T09:23:21Z</dcterms:modified>
</cp:coreProperties>
</file>