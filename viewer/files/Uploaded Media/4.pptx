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303" r:id="rId3"/>
    <p:sldId id="257" r:id="rId4"/>
    <p:sldId id="304" r:id="rId5"/>
    <p:sldId id="258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4" r:id="rId14"/>
    <p:sldId id="290" r:id="rId15"/>
    <p:sldId id="312" r:id="rId16"/>
    <p:sldId id="315" r:id="rId17"/>
    <p:sldId id="316" r:id="rId18"/>
    <p:sldId id="317" r:id="rId19"/>
    <p:sldId id="318" r:id="rId20"/>
    <p:sldId id="31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E7"/>
    <a:srgbClr val="E9EDB5"/>
    <a:srgbClr val="0000FF"/>
    <a:srgbClr val="008000"/>
    <a:srgbClr val="6F008A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58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6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1074BA-FB03-4330-B6D5-D4E5FA218414}" type="datetimeFigureOut">
              <a:rPr lang="en-GB" smtClean="0"/>
              <a:t>27/09/2024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56E79A-B420-420D-963A-E7DA074E8CA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0279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4846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0159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67499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40576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29586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52197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96871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07544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17166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19359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30661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46576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91352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87262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E79A-B420-420D-963A-E7DA074E8CA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91352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E79A-B420-420D-963A-E7DA074E8CA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42304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E79A-B420-420D-963A-E7DA074E8CA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54581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E79A-B420-420D-963A-E7DA074E8CA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07520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1235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0A4CF-2717-43E3-825E-373FCAF8CACA}" type="datetime1">
              <a:rPr lang="en-GB" smtClean="0"/>
              <a:t>27/09/2024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9440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6B0B5-D2C5-451B-BB87-3C1CFDD20804}" type="datetime1">
              <a:rPr lang="en-GB" smtClean="0"/>
              <a:t>27/09/2024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0092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C933E-6ACF-4BB5-897C-C6A0A52DD82E}" type="datetime1">
              <a:rPr lang="en-GB" smtClean="0"/>
              <a:t>27/09/2024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9223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3D5C-DF01-4C10-9D18-B3DE3D921135}" type="datetime1">
              <a:rPr lang="en-GB" smtClean="0"/>
              <a:t>27/09/2024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5689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047ED-C601-47CB-8D5C-4ECECC17B65B}" type="datetime1">
              <a:rPr lang="en-GB" smtClean="0"/>
              <a:t>27/09/2024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7478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CE9AF-161C-412D-BD00-75CE1DCC1DF7}" type="datetime1">
              <a:rPr lang="en-GB" smtClean="0"/>
              <a:t>27/09/2024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646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2656-4D19-4DEB-807B-1CF4EDC253D6}" type="datetime1">
              <a:rPr lang="en-GB" smtClean="0"/>
              <a:t>27/09/2024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6572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7A24E-4829-479F-A19E-280D0A836AA5}" type="datetime1">
              <a:rPr lang="en-GB" smtClean="0"/>
              <a:t>27/09/2024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5824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BB24F-C214-4E3A-A5E5-E9173E3D1D83}" type="datetime1">
              <a:rPr lang="en-GB" smtClean="0"/>
              <a:t>27/09/2024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2035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FAC9A-9164-4283-9229-F1A5E788ED22}" type="datetime1">
              <a:rPr lang="en-GB" smtClean="0"/>
              <a:t>27/09/2024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1793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6F9B7-246B-4E64-87D5-D2F2416C2D2A}" type="datetime1">
              <a:rPr lang="en-GB" smtClean="0"/>
              <a:t>27/09/2024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4651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6D058-F21A-4AF4-A0C5-0F6F3323CC21}" type="datetime1">
              <a:rPr lang="en-GB" smtClean="0"/>
              <a:t>27/09/2024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761D7-3DCA-48D0-8D79-89DA2676C306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3529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mihasan@liverpool.ac.u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plusplus.com/doc/tutorial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Application Development with C++ (ELEC362)</a:t>
            </a:r>
            <a:endParaRPr lang="en-GB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474912"/>
          </a:xfrm>
        </p:spPr>
        <p:txBody>
          <a:bodyPr anchor="ctr">
            <a:normAutofit/>
          </a:bodyPr>
          <a:lstStyle/>
          <a:p>
            <a:r>
              <a:rPr lang="en-GB" sz="3600" dirty="0"/>
              <a:t>Lecture 4: Non-sequential codes</a:t>
            </a:r>
          </a:p>
          <a:p>
            <a:r>
              <a:rPr lang="en-GB" sz="3200" dirty="0">
                <a:hlinkClick r:id="rId2"/>
              </a:rPr>
              <a:t>mihasan@liverpool.ac.uk</a:t>
            </a:r>
            <a:endParaRPr lang="en-GB" sz="3200" dirty="0"/>
          </a:p>
          <a:p>
            <a:endParaRPr lang="en-GB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275" y="-417339"/>
            <a:ext cx="7543800" cy="3079403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7943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Previous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03879"/>
            <a:ext cx="11075437" cy="4895850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GB" sz="2400" dirty="0"/>
              <a:t>The data types of variables, their declaration and initialisation methods were discussed.</a:t>
            </a:r>
          </a:p>
          <a:p>
            <a:pPr>
              <a:lnSpc>
                <a:spcPct val="200000"/>
              </a:lnSpc>
            </a:pPr>
            <a:r>
              <a:rPr lang="en-GB" sz="2400" dirty="0"/>
              <a:t>Operators in C++ and their precedence were discussed.</a:t>
            </a:r>
          </a:p>
          <a:p>
            <a:pPr>
              <a:lnSpc>
                <a:spcPct val="200000"/>
              </a:lnSpc>
            </a:pPr>
            <a:r>
              <a:rPr lang="en-GB" sz="2400" dirty="0"/>
              <a:t>Variable casting was discussed.</a:t>
            </a:r>
          </a:p>
          <a:p>
            <a:pPr>
              <a:lnSpc>
                <a:spcPct val="200000"/>
              </a:lnSpc>
            </a:pPr>
            <a:r>
              <a:rPr lang="en-GB" sz="2400" dirty="0"/>
              <a:t>Arrays declarations and initialisations were discussed.</a:t>
            </a:r>
          </a:p>
          <a:p>
            <a:pPr>
              <a:lnSpc>
                <a:spcPct val="170000"/>
              </a:lnSpc>
            </a:pPr>
            <a:r>
              <a:rPr lang="en-GB" sz="2400" dirty="0"/>
              <a:t>Further reading: </a:t>
            </a:r>
            <a:r>
              <a:rPr lang="en-GB" sz="2400" dirty="0">
                <a:hlinkClick r:id="rId3"/>
              </a:rPr>
              <a:t>http://www.cplusplus.com/doc/tutorial/</a:t>
            </a:r>
            <a:endParaRPr lang="en-GB" sz="2400" dirty="0"/>
          </a:p>
          <a:p>
            <a:pPr marL="0" indent="0">
              <a:lnSpc>
                <a:spcPct val="170000"/>
              </a:lnSpc>
              <a:buNone/>
            </a:pPr>
            <a:endParaRPr lang="en-GB" sz="2400" dirty="0"/>
          </a:p>
          <a:p>
            <a:pPr>
              <a:lnSpc>
                <a:spcPct val="170000"/>
              </a:lnSpc>
            </a:pPr>
            <a:endParaRPr lang="en-GB" sz="2400" dirty="0"/>
          </a:p>
          <a:p>
            <a:pPr>
              <a:lnSpc>
                <a:spcPct val="170000"/>
              </a:lnSpc>
            </a:pPr>
            <a:endParaRPr lang="en-GB" sz="2400" dirty="0"/>
          </a:p>
          <a:p>
            <a:pPr>
              <a:lnSpc>
                <a:spcPct val="17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n-GB" sz="9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GB" sz="3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3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2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4FB17-C223-444F-A237-84ECC72DDE4B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5071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This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What is covered in this lecture?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Situations where the code does not follow the order of appearance 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Why is it covered?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Because it provides large flexibility in the flow of the programme. 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How are topics covered in this lecture: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5 source codes and a practical example.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3</a:t>
            </a:fld>
            <a:endParaRPr lang="en-GB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8A95AE-9713-46FC-B847-421EF800AD12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798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Sequential vs non- sequential codes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Up until this point all the codes we have seen are </a:t>
            </a:r>
            <a:r>
              <a:rPr lang="en-GB" sz="2400" i="1" dirty="0"/>
              <a:t>sequential</a:t>
            </a:r>
            <a:r>
              <a:rPr lang="en-GB" sz="2400" dirty="0"/>
              <a:t>                                      (i.e. executes one statement after another as they appear). 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There are three cases where the code runs non-sequentially: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GB" sz="2400" dirty="0"/>
              <a:t>When using a control structure (</a:t>
            </a:r>
            <a:r>
              <a:rPr lang="en-GB" sz="2400" i="1" dirty="0"/>
              <a:t>selection </a:t>
            </a:r>
            <a:r>
              <a:rPr lang="en-GB" sz="2400" dirty="0"/>
              <a:t>or</a:t>
            </a:r>
            <a:r>
              <a:rPr lang="en-GB" sz="2400" i="1" dirty="0"/>
              <a:t> repetition</a:t>
            </a:r>
            <a:r>
              <a:rPr lang="en-GB" sz="2400" dirty="0"/>
              <a:t>)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GB" sz="2400" dirty="0"/>
              <a:t>When calling a function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GB" sz="2400" dirty="0"/>
              <a:t>When handling an error.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4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9666688" y="2718149"/>
            <a:ext cx="20807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Statement 1</a:t>
            </a:r>
          </a:p>
        </p:txBody>
      </p:sp>
      <p:sp>
        <p:nvSpPr>
          <p:cNvPr id="21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9787479" y="2718149"/>
            <a:ext cx="1888066" cy="46166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 flipV="1">
            <a:off x="10692545" y="3240310"/>
            <a:ext cx="30564" cy="686593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9787479" y="3957480"/>
            <a:ext cx="1888066" cy="46166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 flipV="1">
            <a:off x="10689260" y="4449393"/>
            <a:ext cx="30564" cy="686593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9822348" y="3942192"/>
            <a:ext cx="17949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Statement 2</a:t>
            </a:r>
          </a:p>
        </p:txBody>
      </p:sp>
      <p:sp>
        <p:nvSpPr>
          <p:cNvPr id="27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9812881" y="5185147"/>
            <a:ext cx="1888066" cy="46166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 flipV="1">
            <a:off x="10689260" y="5682892"/>
            <a:ext cx="30564" cy="686593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9847750" y="5169859"/>
            <a:ext cx="17949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Statement 3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 flipV="1">
            <a:off x="10745225" y="2016268"/>
            <a:ext cx="30564" cy="686593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9679460" y="1532610"/>
            <a:ext cx="20807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Entry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5288217"/>
            <a:ext cx="8096076" cy="11183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838198" y="5184580"/>
            <a:ext cx="82519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Practical note:</a:t>
            </a:r>
          </a:p>
          <a:p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When explaining algorithms always use flow charts.</a:t>
            </a:r>
          </a:p>
          <a:p>
            <a:r>
              <a:rPr lang="en-GB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63389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Selection structure : if-else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The main selection structures in C++ are </a:t>
            </a:r>
            <a:r>
              <a:rPr lang="en-GB" sz="2400" i="1" dirty="0"/>
              <a:t>if-else</a:t>
            </a:r>
            <a:r>
              <a:rPr lang="en-GB" sz="2400" dirty="0"/>
              <a:t>                                                           and </a:t>
            </a:r>
            <a:r>
              <a:rPr lang="en-GB" sz="2400" i="1" dirty="0"/>
              <a:t>switch</a:t>
            </a:r>
            <a:r>
              <a:rPr lang="en-GB" sz="2400" dirty="0"/>
              <a:t> statements.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The syntax of if-else structure is as follows: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Conditions can be Boolean variables or expressions.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5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8921360" y="3003430"/>
            <a:ext cx="1458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Condition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 flipV="1">
            <a:off x="9657443" y="1946540"/>
            <a:ext cx="30564" cy="686593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7333132" y="4449526"/>
            <a:ext cx="1588228" cy="46166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9223476" y="1498374"/>
            <a:ext cx="898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Entry</a:t>
            </a:r>
          </a:p>
        </p:txBody>
      </p:sp>
      <p:sp>
        <p:nvSpPr>
          <p:cNvPr id="27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9107884" y="5297114"/>
            <a:ext cx="1176886" cy="99977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lowchart: Decision 11"/>
          <p:cNvSpPr/>
          <p:nvPr/>
        </p:nvSpPr>
        <p:spPr>
          <a:xfrm>
            <a:off x="8675740" y="2633133"/>
            <a:ext cx="1949945" cy="1227667"/>
          </a:xfrm>
          <a:prstGeom prst="flowChartDecision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4" name="Elbow Connector 33"/>
          <p:cNvCxnSpPr/>
          <p:nvPr/>
        </p:nvCxnSpPr>
        <p:spPr>
          <a:xfrm>
            <a:off x="10635181" y="3234263"/>
            <a:ext cx="692019" cy="1198033"/>
          </a:xfrm>
          <a:prstGeom prst="bentConnector2">
            <a:avLst/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/>
          <p:cNvCxnSpPr/>
          <p:nvPr/>
        </p:nvCxnSpPr>
        <p:spPr>
          <a:xfrm flipH="1">
            <a:off x="8010244" y="3261783"/>
            <a:ext cx="692019" cy="1198033"/>
          </a:xfrm>
          <a:prstGeom prst="bentConnector2">
            <a:avLst/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7233051" y="4437629"/>
            <a:ext cx="1761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Statement 1</a:t>
            </a:r>
          </a:p>
        </p:txBody>
      </p:sp>
      <p:sp>
        <p:nvSpPr>
          <p:cNvPr id="38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10476005" y="4428057"/>
            <a:ext cx="1648263" cy="46166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10425959" y="4426732"/>
            <a:ext cx="1761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Statement 2</a:t>
            </a:r>
          </a:p>
        </p:txBody>
      </p:sp>
      <p:cxnSp>
        <p:nvCxnSpPr>
          <p:cNvPr id="40" name="Elbow Connector 39"/>
          <p:cNvCxnSpPr>
            <a:endCxn id="42" idx="1"/>
          </p:cNvCxnSpPr>
          <p:nvPr/>
        </p:nvCxnSpPr>
        <p:spPr>
          <a:xfrm>
            <a:off x="8062290" y="4975224"/>
            <a:ext cx="969575" cy="791265"/>
          </a:xfrm>
          <a:prstGeom prst="bentConnector3">
            <a:avLst>
              <a:gd name="adj1" fmla="val -648"/>
            </a:avLst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/>
          <p:cNvCxnSpPr/>
          <p:nvPr/>
        </p:nvCxnSpPr>
        <p:spPr>
          <a:xfrm rot="10800000" flipV="1">
            <a:off x="10286485" y="4941044"/>
            <a:ext cx="1040716" cy="700712"/>
          </a:xfrm>
          <a:prstGeom prst="bentConnector3">
            <a:avLst>
              <a:gd name="adj1" fmla="val -2067"/>
            </a:avLst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9031865" y="5350990"/>
            <a:ext cx="13289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Rest </a:t>
            </a:r>
          </a:p>
          <a:p>
            <a:pPr algn="ctr"/>
            <a:r>
              <a:rPr lang="en-GB" sz="2400" dirty="0"/>
              <a:t>of code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861091" y="3416692"/>
            <a:ext cx="6132374" cy="168982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8" name="Rectangle 47"/>
          <p:cNvSpPr/>
          <p:nvPr/>
        </p:nvSpPr>
        <p:spPr>
          <a:xfrm>
            <a:off x="920357" y="3475302"/>
            <a:ext cx="685204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if</a:t>
            </a:r>
            <a:r>
              <a:rPr lang="en-US" sz="2000" b="1" dirty="0">
                <a:latin typeface="Courier New"/>
                <a:cs typeface="Courier New"/>
              </a:rPr>
              <a:t> (condition) 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{ 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//statements (condition is true);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}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else</a:t>
            </a:r>
            <a:r>
              <a:rPr lang="en-US" sz="2000" b="1" dirty="0">
                <a:latin typeface="Courier New"/>
                <a:cs typeface="Courier New"/>
              </a:rPr>
              <a:t> {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//statements(condition is false);</a:t>
            </a:r>
          </a:p>
          <a:p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     </a:t>
            </a:r>
            <a:r>
              <a:rPr lang="en-US" sz="2000" b="1" dirty="0">
                <a:latin typeface="Courier New"/>
                <a:cs typeface="Courier New"/>
              </a:rPr>
              <a:t>}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821500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Selection structure: if-else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585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i="1" dirty="0"/>
              <a:t>if-else </a:t>
            </a:r>
            <a:r>
              <a:rPr lang="en-GB" sz="2400" dirty="0"/>
              <a:t>structure can be nested.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A compact way to write if-else is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using the operator “?”: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6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8900729" y="1834336"/>
            <a:ext cx="1458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Condition 1</a:t>
            </a:r>
          </a:p>
        </p:txBody>
      </p:sp>
      <p:sp>
        <p:nvSpPr>
          <p:cNvPr id="27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7394865" y="5389299"/>
            <a:ext cx="1176886" cy="99977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lowchart: Decision 11"/>
          <p:cNvSpPr/>
          <p:nvPr/>
        </p:nvSpPr>
        <p:spPr>
          <a:xfrm>
            <a:off x="8675735" y="1532455"/>
            <a:ext cx="1949945" cy="1227667"/>
          </a:xfrm>
          <a:prstGeom prst="flowChartDecision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4" name="Elbow Connector 33"/>
          <p:cNvCxnSpPr/>
          <p:nvPr/>
        </p:nvCxnSpPr>
        <p:spPr>
          <a:xfrm>
            <a:off x="10614468" y="2152635"/>
            <a:ext cx="692019" cy="1198033"/>
          </a:xfrm>
          <a:prstGeom prst="bentConnector2">
            <a:avLst/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/>
          <p:cNvCxnSpPr/>
          <p:nvPr/>
        </p:nvCxnSpPr>
        <p:spPr>
          <a:xfrm rot="5400000">
            <a:off x="7918525" y="2160541"/>
            <a:ext cx="773380" cy="754639"/>
          </a:xfrm>
          <a:prstGeom prst="bentConnector3">
            <a:avLst>
              <a:gd name="adj1" fmla="val -1454"/>
            </a:avLst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10476000" y="3327379"/>
            <a:ext cx="1648263" cy="46166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10667120" y="1595219"/>
            <a:ext cx="912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Yes</a:t>
            </a:r>
          </a:p>
        </p:txBody>
      </p:sp>
      <p:cxnSp>
        <p:nvCxnSpPr>
          <p:cNvPr id="41" name="Elbow Connector 40"/>
          <p:cNvCxnSpPr/>
          <p:nvPr/>
        </p:nvCxnSpPr>
        <p:spPr>
          <a:xfrm rot="10800000" flipV="1">
            <a:off x="8563965" y="5188472"/>
            <a:ext cx="1040716" cy="700712"/>
          </a:xfrm>
          <a:prstGeom prst="bentConnector3">
            <a:avLst>
              <a:gd name="adj1" fmla="val -2067"/>
            </a:avLst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7294768" y="5473686"/>
            <a:ext cx="13289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Rest </a:t>
            </a:r>
          </a:p>
          <a:p>
            <a:pPr algn="ctr"/>
            <a:r>
              <a:rPr lang="en-GB" sz="2400" dirty="0"/>
              <a:t>of code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7198453" y="3190805"/>
            <a:ext cx="1458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Condition 2</a:t>
            </a:r>
          </a:p>
        </p:txBody>
      </p:sp>
      <p:sp>
        <p:nvSpPr>
          <p:cNvPr id="25" name="Flowchart: Decision 24"/>
          <p:cNvSpPr/>
          <p:nvPr/>
        </p:nvSpPr>
        <p:spPr>
          <a:xfrm>
            <a:off x="6982392" y="2904056"/>
            <a:ext cx="1949945" cy="1227667"/>
          </a:xfrm>
          <a:prstGeom prst="flowChartDecision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8" name="Elbow Connector 27"/>
          <p:cNvCxnSpPr/>
          <p:nvPr/>
        </p:nvCxnSpPr>
        <p:spPr>
          <a:xfrm>
            <a:off x="8929129" y="3505993"/>
            <a:ext cx="692019" cy="1198033"/>
          </a:xfrm>
          <a:prstGeom prst="bentConnector2">
            <a:avLst/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8799594" y="4715913"/>
            <a:ext cx="1648263" cy="46166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8749548" y="4714588"/>
            <a:ext cx="1761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Statement 2</a:t>
            </a:r>
          </a:p>
        </p:txBody>
      </p:sp>
      <p:cxnSp>
        <p:nvCxnSpPr>
          <p:cNvPr id="31" name="Elbow Connector 30"/>
          <p:cNvCxnSpPr/>
          <p:nvPr/>
        </p:nvCxnSpPr>
        <p:spPr>
          <a:xfrm rot="5400000">
            <a:off x="9503714" y="3993409"/>
            <a:ext cx="2053345" cy="1713766"/>
          </a:xfrm>
          <a:prstGeom prst="bentConnector3">
            <a:avLst>
              <a:gd name="adj1" fmla="val 100305"/>
            </a:avLst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/>
          <p:cNvCxnSpPr/>
          <p:nvPr/>
        </p:nvCxnSpPr>
        <p:spPr>
          <a:xfrm flipH="1">
            <a:off x="6309105" y="3532706"/>
            <a:ext cx="692019" cy="1198033"/>
          </a:xfrm>
          <a:prstGeom prst="bentConnector2">
            <a:avLst/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5890245" y="4714587"/>
            <a:ext cx="1648263" cy="46166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5833842" y="4730739"/>
            <a:ext cx="1761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Statement 3</a:t>
            </a:r>
          </a:p>
        </p:txBody>
      </p:sp>
      <p:cxnSp>
        <p:nvCxnSpPr>
          <p:cNvPr id="44" name="Elbow Connector 43"/>
          <p:cNvCxnSpPr/>
          <p:nvPr/>
        </p:nvCxnSpPr>
        <p:spPr>
          <a:xfrm rot="10800000" flipH="1" flipV="1">
            <a:off x="6361934" y="5220370"/>
            <a:ext cx="1040716" cy="700712"/>
          </a:xfrm>
          <a:prstGeom prst="bentConnector3">
            <a:avLst>
              <a:gd name="adj1" fmla="val -2067"/>
            </a:avLst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10447857" y="3343749"/>
            <a:ext cx="1761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Statement 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7892652" y="1595219"/>
            <a:ext cx="624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No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8910686" y="2990478"/>
            <a:ext cx="912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Yes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6327469" y="3003572"/>
            <a:ext cx="624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No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915658" y="2330739"/>
            <a:ext cx="4291283" cy="230537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2" name="Rectangle 51"/>
          <p:cNvSpPr/>
          <p:nvPr/>
        </p:nvSpPr>
        <p:spPr>
          <a:xfrm>
            <a:off x="974924" y="2389350"/>
            <a:ext cx="440558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if</a:t>
            </a:r>
            <a:r>
              <a:rPr lang="en-US" sz="2000" b="1" dirty="0">
                <a:latin typeface="Courier New"/>
                <a:cs typeface="Courier New"/>
              </a:rPr>
              <a:t> (condition1) 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{ 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//Statement1 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}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else</a:t>
            </a:r>
            <a:r>
              <a:rPr lang="en-US" sz="2000" b="1" dirty="0">
                <a:latin typeface="Courier New"/>
                <a:cs typeface="Courier New"/>
              </a:rPr>
              <a:t> 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if</a:t>
            </a:r>
            <a:r>
              <a:rPr lang="en-US" sz="2000" b="1" dirty="0">
                <a:latin typeface="Courier New"/>
                <a:cs typeface="Courier New"/>
              </a:rPr>
              <a:t> (condition2)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     {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//Statement2 </a:t>
            </a:r>
          </a:p>
          <a:p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         </a:t>
            </a:r>
            <a:r>
              <a:rPr lang="en-US" sz="2000" b="1" dirty="0">
                <a:latin typeface="Courier New"/>
                <a:cs typeface="Courier New"/>
              </a:rPr>
              <a:t>}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 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else </a:t>
            </a:r>
            <a:r>
              <a:rPr lang="en-US" sz="2000" b="1" dirty="0">
                <a:latin typeface="Courier New"/>
                <a:cs typeface="Courier New"/>
              </a:rPr>
              <a:t>{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//Statement3 </a:t>
            </a:r>
            <a:r>
              <a:rPr lang="en-US" sz="2000" b="1" dirty="0">
                <a:latin typeface="Courier New"/>
                <a:cs typeface="Courier New"/>
              </a:rPr>
              <a:t>}</a:t>
            </a:r>
          </a:p>
          <a:p>
            <a:endParaRPr lang="en-GB" sz="20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909494" y="5854311"/>
            <a:ext cx="4636155" cy="50204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4" name="Rectangle 53"/>
          <p:cNvSpPr/>
          <p:nvPr/>
        </p:nvSpPr>
        <p:spPr>
          <a:xfrm>
            <a:off x="917397" y="5889184"/>
            <a:ext cx="46740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ourier New"/>
                <a:cs typeface="Courier New"/>
              </a:rPr>
              <a:t>Condition? If_true : If_false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741023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Selection structure: switch-case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99497"/>
            <a:ext cx="10515600" cy="499923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i="1" dirty="0"/>
              <a:t>Switch-case </a:t>
            </a:r>
            <a:r>
              <a:rPr lang="en-GB" sz="2400" dirty="0"/>
              <a:t>is more efficient than nested </a:t>
            </a:r>
            <a:r>
              <a:rPr lang="en-GB" sz="2400" i="1" dirty="0"/>
              <a:t>if-else.</a:t>
            </a: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The syntax of switch-case structure is as follows: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200000"/>
              </a:lnSpc>
            </a:pPr>
            <a:r>
              <a:rPr lang="en-GB" sz="2400" dirty="0"/>
              <a:t>Go to </a:t>
            </a:r>
            <a:r>
              <a:rPr lang="en-GB" sz="2400" dirty="0">
                <a:solidFill>
                  <a:srgbClr val="00B050"/>
                </a:solidFill>
              </a:rPr>
              <a:t>L4D1.cpp</a:t>
            </a:r>
          </a:p>
          <a:p>
            <a:pPr>
              <a:lnSpc>
                <a:spcPct val="20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   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7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7874469" y="1521445"/>
            <a:ext cx="1262743" cy="42074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lowchart: Decision 11"/>
          <p:cNvSpPr/>
          <p:nvPr/>
        </p:nvSpPr>
        <p:spPr>
          <a:xfrm>
            <a:off x="7976586" y="2308174"/>
            <a:ext cx="1045812" cy="990693"/>
          </a:xfrm>
          <a:prstGeom prst="flowChartDecision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8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9627977" y="2588135"/>
            <a:ext cx="1648263" cy="46166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9555398" y="2622231"/>
            <a:ext cx="1761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Statement 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926683" y="2858343"/>
            <a:ext cx="6238965" cy="308437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8" name="Rectangle 47"/>
          <p:cNvSpPr/>
          <p:nvPr/>
        </p:nvSpPr>
        <p:spPr>
          <a:xfrm>
            <a:off x="933320" y="2822542"/>
            <a:ext cx="5889749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switch</a:t>
            </a:r>
            <a:r>
              <a:rPr lang="en-US" sz="2000" b="1" dirty="0">
                <a:latin typeface="Courier New"/>
                <a:cs typeface="Courier New"/>
              </a:rPr>
              <a:t> (variable) 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       </a:t>
            </a:r>
            <a:r>
              <a:rPr lang="en-US" sz="2000" b="1" dirty="0">
                <a:latin typeface="Courier New"/>
                <a:cs typeface="Courier New"/>
              </a:rPr>
              <a:t>{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case 1: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      </a:t>
            </a:r>
            <a:r>
              <a:rPr lang="en-US" sz="2000" b="1" dirty="0">
                <a:latin typeface="Courier New"/>
                <a:cs typeface="Courier New"/>
              </a:rPr>
              <a:t> 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//do something</a:t>
            </a:r>
          </a:p>
          <a:p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       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break;</a:t>
            </a:r>
          </a:p>
          <a:p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       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case 2: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</a:p>
          <a:p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       // do something else</a:t>
            </a:r>
          </a:p>
          <a:p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       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break;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       default: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       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// do this when out of options</a:t>
            </a:r>
          </a:p>
          <a:p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       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break;</a:t>
            </a:r>
            <a:r>
              <a:rPr lang="en-US" sz="2000" b="1" dirty="0">
                <a:latin typeface="Courier New"/>
                <a:cs typeface="Courier New"/>
              </a:rPr>
              <a:t>}</a:t>
            </a:r>
            <a:endParaRPr lang="en-GB" sz="20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 flipH="1" flipV="1">
            <a:off x="8495619" y="1936779"/>
            <a:ext cx="10452" cy="382188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7909025" y="1505365"/>
            <a:ext cx="1193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Variable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7618958" y="2565277"/>
            <a:ext cx="1761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case 1</a:t>
            </a:r>
          </a:p>
        </p:txBody>
      </p:sp>
      <p:sp>
        <p:nvSpPr>
          <p:cNvPr id="29" name="Flowchart: Decision 28"/>
          <p:cNvSpPr/>
          <p:nvPr/>
        </p:nvSpPr>
        <p:spPr>
          <a:xfrm>
            <a:off x="7972713" y="3860963"/>
            <a:ext cx="1045812" cy="990693"/>
          </a:xfrm>
          <a:prstGeom prst="flowChartDecision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 flipV="1">
            <a:off x="8489042" y="3318812"/>
            <a:ext cx="0" cy="523130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7608509" y="4139556"/>
            <a:ext cx="1761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case 2</a:t>
            </a:r>
          </a:p>
        </p:txBody>
      </p:sp>
      <p:sp>
        <p:nvSpPr>
          <p:cNvPr id="32" name="Flowchart: Decision 31"/>
          <p:cNvSpPr/>
          <p:nvPr/>
        </p:nvSpPr>
        <p:spPr>
          <a:xfrm>
            <a:off x="7982935" y="5319533"/>
            <a:ext cx="1045812" cy="990693"/>
          </a:xfrm>
          <a:prstGeom prst="flowChartDecision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7615085" y="5565983"/>
            <a:ext cx="1761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default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 flipH="1" flipV="1">
            <a:off x="9011949" y="2800709"/>
            <a:ext cx="606315" cy="15844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9542082" y="4139556"/>
            <a:ext cx="1761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Statement 2</a:t>
            </a:r>
          </a:p>
        </p:txBody>
      </p:sp>
      <p:sp>
        <p:nvSpPr>
          <p:cNvPr id="46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9618264" y="4125378"/>
            <a:ext cx="1648263" cy="46166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 flipH="1">
            <a:off x="9018525" y="4336898"/>
            <a:ext cx="599739" cy="19313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 flipV="1">
            <a:off x="8495619" y="4786206"/>
            <a:ext cx="0" cy="523130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 flipH="1">
            <a:off x="9004195" y="5779735"/>
            <a:ext cx="599739" cy="19313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9579863" y="5502291"/>
            <a:ext cx="17610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Default statement</a:t>
            </a:r>
          </a:p>
        </p:txBody>
      </p:sp>
      <p:sp>
        <p:nvSpPr>
          <p:cNvPr id="53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9646557" y="5530976"/>
            <a:ext cx="1648263" cy="82537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54" name="Elbow Connector 53"/>
          <p:cNvCxnSpPr/>
          <p:nvPr/>
        </p:nvCxnSpPr>
        <p:spPr>
          <a:xfrm rot="16200000" flipH="1">
            <a:off x="10808658" y="3304537"/>
            <a:ext cx="1520273" cy="468883"/>
          </a:xfrm>
          <a:prstGeom prst="bentConnector3">
            <a:avLst>
              <a:gd name="adj1" fmla="val 434"/>
            </a:avLst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/>
          <p:cNvCxnSpPr/>
          <p:nvPr/>
        </p:nvCxnSpPr>
        <p:spPr>
          <a:xfrm rot="16200000" flipH="1">
            <a:off x="10871313" y="4745656"/>
            <a:ext cx="1394962" cy="468879"/>
          </a:xfrm>
          <a:prstGeom prst="bentConnector3">
            <a:avLst>
              <a:gd name="adj1" fmla="val 2051"/>
            </a:avLst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Elbow Connector 61"/>
          <p:cNvCxnSpPr/>
          <p:nvPr/>
        </p:nvCxnSpPr>
        <p:spPr>
          <a:xfrm rot="16200000" flipH="1">
            <a:off x="11240397" y="5857370"/>
            <a:ext cx="646588" cy="468881"/>
          </a:xfrm>
          <a:prstGeom prst="bentConnector3">
            <a:avLst>
              <a:gd name="adj1" fmla="val -2378"/>
            </a:avLst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8836246" y="2203159"/>
            <a:ext cx="888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True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8836246" y="3708123"/>
            <a:ext cx="888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True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8930770" y="5173555"/>
            <a:ext cx="888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True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7566497" y="3254212"/>
            <a:ext cx="888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False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7566497" y="4766801"/>
            <a:ext cx="888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False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83B0867-1687-4C3A-BE98-FCF7AC35817C}"/>
              </a:ext>
            </a:extLst>
          </p:cNvPr>
          <p:cNvCxnSpPr/>
          <p:nvPr/>
        </p:nvCxnSpPr>
        <p:spPr>
          <a:xfrm flipH="1" flipV="1">
            <a:off x="3462404" y="3083896"/>
            <a:ext cx="1293962" cy="3451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538F89A-F061-495C-996B-E147BA3675FE}"/>
              </a:ext>
            </a:extLst>
          </p:cNvPr>
          <p:cNvSpPr txBox="1"/>
          <p:nvPr/>
        </p:nvSpPr>
        <p:spPr>
          <a:xfrm>
            <a:off x="4619676" y="3231881"/>
            <a:ext cx="25393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Can be a </a:t>
            </a:r>
            <a:r>
              <a:rPr lang="en-GB" sz="2400" dirty="0">
                <a:latin typeface="Consolas" panose="020B0609020204030204" pitchFamily="49" charset="0"/>
              </a:rPr>
              <a:t>char</a:t>
            </a:r>
            <a:r>
              <a:rPr lang="en-GB" sz="2400" dirty="0"/>
              <a:t> or </a:t>
            </a:r>
            <a:r>
              <a:rPr lang="en-GB" sz="2400" dirty="0">
                <a:latin typeface="Consolas" panose="020B0609020204030204" pitchFamily="49" charset="0"/>
              </a:rPr>
              <a:t>int</a:t>
            </a:r>
            <a:r>
              <a:rPr lang="en-GB" sz="2400" dirty="0"/>
              <a:t> datatypes only </a:t>
            </a:r>
          </a:p>
        </p:txBody>
      </p:sp>
    </p:spTree>
    <p:extLst>
      <p:ext uri="{BB962C8B-B14F-4D97-AF65-F5344CB8AC3E}">
        <p14:creationId xmlns:p14="http://schemas.microsoft.com/office/powerpoint/2010/main" val="1443068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Repetition structure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Repetition structures are used when a part of the code needs                                         to be repeated. 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The most common repetition structures in C++ are: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GB" sz="2400" dirty="0"/>
              <a:t>For loops: controlled by the number of runs.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GB" sz="2400" dirty="0"/>
              <a:t>While loops: controlled by a condition.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GB" sz="2400" dirty="0"/>
              <a:t>Do-while loops: a modified version of a while loop.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8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9644466" y="2621174"/>
            <a:ext cx="1458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Condition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 flipV="1">
            <a:off x="10343254" y="1913222"/>
            <a:ext cx="0" cy="454796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9549138" y="4076141"/>
            <a:ext cx="1588228" cy="82235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9894005" y="1513409"/>
            <a:ext cx="8984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Entry</a:t>
            </a:r>
          </a:p>
        </p:txBody>
      </p:sp>
      <p:sp>
        <p:nvSpPr>
          <p:cNvPr id="27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8126988" y="5679588"/>
            <a:ext cx="1176886" cy="85932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lowchart: Decision 11"/>
          <p:cNvSpPr/>
          <p:nvPr/>
        </p:nvSpPr>
        <p:spPr>
          <a:xfrm>
            <a:off x="9443239" y="2378070"/>
            <a:ext cx="1800030" cy="961399"/>
          </a:xfrm>
          <a:prstGeom prst="flowChartDecision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6" name="Elbow Connector 35"/>
          <p:cNvCxnSpPr/>
          <p:nvPr/>
        </p:nvCxnSpPr>
        <p:spPr>
          <a:xfrm rot="5400000">
            <a:off x="10012336" y="3696753"/>
            <a:ext cx="661834" cy="1"/>
          </a:xfrm>
          <a:prstGeom prst="bentConnector3">
            <a:avLst>
              <a:gd name="adj1" fmla="val 106288"/>
            </a:avLst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9482202" y="4077547"/>
            <a:ext cx="17610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Block of statements</a:t>
            </a:r>
          </a:p>
        </p:txBody>
      </p:sp>
      <p:cxnSp>
        <p:nvCxnSpPr>
          <p:cNvPr id="40" name="Elbow Connector 39"/>
          <p:cNvCxnSpPr/>
          <p:nvPr/>
        </p:nvCxnSpPr>
        <p:spPr>
          <a:xfrm rot="5400000">
            <a:off x="7671054" y="3916374"/>
            <a:ext cx="2811723" cy="724769"/>
          </a:xfrm>
          <a:prstGeom prst="bentConnector3">
            <a:avLst>
              <a:gd name="adj1" fmla="val -889"/>
            </a:avLst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8042339" y="5707915"/>
            <a:ext cx="13289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Rest </a:t>
            </a:r>
          </a:p>
          <a:p>
            <a:pPr algn="ctr"/>
            <a:r>
              <a:rPr lang="en-GB" sz="2400" dirty="0"/>
              <a:t>of code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10343252" y="3408668"/>
            <a:ext cx="888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True</a:t>
            </a:r>
          </a:p>
        </p:txBody>
      </p:sp>
      <p:cxnSp>
        <p:nvCxnSpPr>
          <p:cNvPr id="24" name="Straight Connector 23"/>
          <p:cNvCxnSpPr/>
          <p:nvPr/>
        </p:nvCxnSpPr>
        <p:spPr>
          <a:xfrm>
            <a:off x="10343252" y="4908544"/>
            <a:ext cx="0" cy="846695"/>
          </a:xfrm>
          <a:prstGeom prst="line">
            <a:avLst/>
          </a:prstGeom>
          <a:ln w="571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H="1">
            <a:off x="10317851" y="5765291"/>
            <a:ext cx="1603215" cy="6855"/>
          </a:xfrm>
          <a:prstGeom prst="line">
            <a:avLst/>
          </a:prstGeom>
          <a:ln w="571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11918052" y="2852006"/>
            <a:ext cx="0" cy="2945542"/>
          </a:xfrm>
          <a:prstGeom prst="line">
            <a:avLst/>
          </a:prstGeom>
          <a:ln w="571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>
            <a:off x="11231884" y="2832899"/>
            <a:ext cx="686168" cy="19107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8650702" y="2365842"/>
            <a:ext cx="888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897856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For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4691"/>
            <a:ext cx="10515600" cy="5166783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Syntax: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Mechanism:      1. Loop counter is initialised.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                           2. Condition is checked.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                           3. If true, Statements in the loop’s body are executed.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                           4. Counter handling.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                           5. Repeat steps 2 to 5.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9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920360" y="2096626"/>
            <a:ext cx="10738240" cy="98120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Rectangle 28"/>
          <p:cNvSpPr/>
          <p:nvPr/>
        </p:nvSpPr>
        <p:spPr>
          <a:xfrm>
            <a:off x="920360" y="2104919"/>
            <a:ext cx="1094144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for</a:t>
            </a:r>
            <a:r>
              <a:rPr lang="en-US" sz="2000" b="1" dirty="0">
                <a:latin typeface="Courier New"/>
                <a:cs typeface="Courier New"/>
              </a:rPr>
              <a:t> (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unsigned int </a:t>
            </a:r>
            <a:r>
              <a:rPr lang="en-US" sz="2000" b="1" dirty="0">
                <a:latin typeface="Courier New"/>
                <a:cs typeface="Courier New"/>
              </a:rPr>
              <a:t>counter = 0; counter &lt; N; counter++)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 { 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// statements;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 }</a:t>
            </a:r>
            <a:endParaRPr lang="en-GB" sz="2000" dirty="0"/>
          </a:p>
        </p:txBody>
      </p:sp>
      <p:cxnSp>
        <p:nvCxnSpPr>
          <p:cNvPr id="30" name="Straight Arrow Connector 29"/>
          <p:cNvCxnSpPr>
            <a:stCxn id="31" idx="1"/>
          </p:cNvCxnSpPr>
          <p:nvPr/>
        </p:nvCxnSpPr>
        <p:spPr>
          <a:xfrm flipH="1" flipV="1">
            <a:off x="5305178" y="2495272"/>
            <a:ext cx="765422" cy="39447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070600" y="2658917"/>
            <a:ext cx="4852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Counter variable initialisation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6574399" y="2465060"/>
            <a:ext cx="629955" cy="68814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005420" y="3142124"/>
            <a:ext cx="2663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Condition checking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9091521" y="2471894"/>
            <a:ext cx="629955" cy="68814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522542" y="3148958"/>
            <a:ext cx="2663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Counter handling</a:t>
            </a:r>
          </a:p>
        </p:txBody>
      </p:sp>
    </p:spTree>
    <p:extLst>
      <p:ext uri="{BB962C8B-B14F-4D97-AF65-F5344CB8AC3E}">
        <p14:creationId xmlns:p14="http://schemas.microsoft.com/office/powerpoint/2010/main" val="1968708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1" grpId="1"/>
      <p:bldP spid="11" grpId="0"/>
      <p:bldP spid="11" grpId="1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Management of For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54691"/>
            <a:ext cx="10989733" cy="5166783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The execution of a For loop can be altered by using </a:t>
            </a:r>
            <a:r>
              <a:rPr lang="en-US" sz="2400" b="1" dirty="0">
                <a:solidFill>
                  <a:srgbClr val="0000FF"/>
                </a:solidFill>
                <a:latin typeface="Courier New"/>
                <a:cs typeface="Courier New"/>
              </a:rPr>
              <a:t>break </a:t>
            </a:r>
            <a:r>
              <a:rPr lang="en-US" sz="2400" dirty="0">
                <a:latin typeface="+mj-lt"/>
                <a:cs typeface="Courier New"/>
              </a:rPr>
              <a:t>, </a:t>
            </a:r>
            <a:r>
              <a:rPr lang="en-US" sz="2400" b="1" dirty="0">
                <a:solidFill>
                  <a:srgbClr val="0000FF"/>
                </a:solidFill>
                <a:latin typeface="Courier New"/>
                <a:cs typeface="Courier New"/>
              </a:rPr>
              <a:t>continue</a:t>
            </a:r>
            <a:r>
              <a:rPr lang="en-US" sz="2400" dirty="0">
                <a:cs typeface="Courier New"/>
              </a:rPr>
              <a:t>,</a:t>
            </a:r>
            <a:r>
              <a:rPr lang="en-US" sz="2400" b="1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lang="en-US" sz="2400" dirty="0">
                <a:cs typeface="Courier New"/>
              </a:rPr>
              <a:t>or</a:t>
            </a:r>
            <a:r>
              <a:rPr lang="en-US" sz="2400" b="1" dirty="0">
                <a:solidFill>
                  <a:srgbClr val="0000FF"/>
                </a:solidFill>
                <a:latin typeface="Courier New"/>
                <a:cs typeface="Courier New"/>
              </a:rPr>
              <a:t> goto</a:t>
            </a:r>
            <a:r>
              <a:rPr lang="en-US" sz="2400" dirty="0">
                <a:cs typeface="Courier New"/>
              </a:rPr>
              <a:t>.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Statements including </a:t>
            </a:r>
            <a:r>
              <a:rPr lang="en-US" sz="2400" b="1" dirty="0">
                <a:solidFill>
                  <a:srgbClr val="0000FF"/>
                </a:solidFill>
                <a:latin typeface="Courier New"/>
                <a:cs typeface="Courier New"/>
              </a:rPr>
              <a:t>break </a:t>
            </a:r>
            <a:r>
              <a:rPr lang="en-US" sz="2400" dirty="0">
                <a:cs typeface="Courier New"/>
              </a:rPr>
              <a:t>and</a:t>
            </a:r>
            <a:r>
              <a:rPr lang="en-US" sz="2400" b="1" dirty="0">
                <a:solidFill>
                  <a:srgbClr val="0000FF"/>
                </a:solidFill>
                <a:latin typeface="Courier New"/>
                <a:cs typeface="Courier New"/>
              </a:rPr>
              <a:t> goto</a:t>
            </a:r>
            <a:r>
              <a:rPr lang="en-US" sz="2400" dirty="0">
                <a:cs typeface="Courier New"/>
              </a:rPr>
              <a:t> can appear anywhere in the code (not necessarily in a loop). </a:t>
            </a: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10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C89B2AE-2D2E-4507-8E92-F853796E6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545532"/>
              </p:ext>
            </p:extLst>
          </p:nvPr>
        </p:nvGraphicFramePr>
        <p:xfrm>
          <a:off x="838198" y="2141806"/>
          <a:ext cx="10583334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900">
                  <a:extLst>
                    <a:ext uri="{9D8B030D-6E8A-4147-A177-3AD203B41FA5}">
                      <a16:colId xmlns:a16="http://schemas.microsoft.com/office/drawing/2014/main" val="3047013590"/>
                    </a:ext>
                  </a:extLst>
                </a:gridCol>
                <a:gridCol w="8023434">
                  <a:extLst>
                    <a:ext uri="{9D8B030D-6E8A-4147-A177-3AD203B41FA5}">
                      <a16:colId xmlns:a16="http://schemas.microsoft.com/office/drawing/2014/main" val="2912834338"/>
                    </a:ext>
                  </a:extLst>
                </a:gridCol>
              </a:tblGrid>
              <a:tr h="310463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solidFill>
                            <a:schemeClr val="bg1"/>
                          </a:solidFill>
                        </a:rPr>
                        <a:t>functionality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438744"/>
                  </a:ext>
                </a:extLst>
              </a:tr>
              <a:tr h="310463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nsolas" panose="020B0609020204030204" pitchFamily="49" charset="0"/>
                        </a:rPr>
                        <a:t>break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Terminates the loop even if the condition on the loop counter is 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244492"/>
                  </a:ext>
                </a:extLst>
              </a:tr>
              <a:tr h="310463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nsolas" panose="020B0609020204030204" pitchFamily="49" charset="0"/>
                        </a:rPr>
                        <a:t>continue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Starts</a:t>
                      </a:r>
                      <a:r>
                        <a:rPr lang="en-GB" sz="2000" baseline="0" dirty="0"/>
                        <a:t> a new iteration in the loop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81775"/>
                  </a:ext>
                </a:extLst>
              </a:tr>
              <a:tr h="310463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>
                          <a:latin typeface="Consolas" panose="020B0609020204030204" pitchFamily="49" charset="0"/>
                        </a:rPr>
                        <a:t>goto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Can be used to jump</a:t>
                      </a:r>
                      <a:r>
                        <a:rPr lang="en-GB" sz="2000" baseline="0" dirty="0"/>
                        <a:t> from any part of the code to another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60587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66743" y="4820897"/>
            <a:ext cx="9922935" cy="14472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966745" y="4732692"/>
            <a:ext cx="951837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Practical note:</a:t>
            </a:r>
          </a:p>
          <a:p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FF"/>
                </a:solidFill>
                <a:latin typeface="Courier New"/>
                <a:cs typeface="Courier New"/>
              </a:rPr>
              <a:t>goto </a:t>
            </a:r>
            <a:r>
              <a:rPr lang="en-US" sz="2400" dirty="0">
                <a:cs typeface="Courier New"/>
              </a:rPr>
              <a:t>is a depreciated statement and is no longer in use by professional C++ developers.</a:t>
            </a:r>
            <a:endParaRPr lang="en-GB" sz="2400" dirty="0"/>
          </a:p>
          <a:p>
            <a:r>
              <a:rPr lang="en-GB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73094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Management of For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54691"/>
            <a:ext cx="10989733" cy="5166783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Example:</a:t>
            </a:r>
            <a:endParaRPr lang="en-US" sz="2400" dirty="0">
              <a:cs typeface="Courier New"/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11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838198" y="2144719"/>
            <a:ext cx="11167535" cy="348616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12"/>
          <p:cNvSpPr/>
          <p:nvPr/>
        </p:nvSpPr>
        <p:spPr>
          <a:xfrm>
            <a:off x="838198" y="2130693"/>
            <a:ext cx="11252202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for</a:t>
            </a:r>
            <a:r>
              <a:rPr lang="en-US" sz="2000" b="1" dirty="0">
                <a:latin typeface="Courier New"/>
                <a:cs typeface="Courier New"/>
              </a:rPr>
              <a:t> (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unsigned int </a:t>
            </a:r>
            <a:r>
              <a:rPr lang="en-US" sz="2000" b="1" dirty="0">
                <a:latin typeface="Courier New"/>
                <a:cs typeface="Courier New"/>
              </a:rPr>
              <a:t>counter = 0; counter &lt; 10; counter++)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{  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          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  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if</a:t>
            </a:r>
            <a:r>
              <a:rPr lang="en-US" sz="2000" b="1" dirty="0">
                <a:latin typeface="Courier New"/>
                <a:cs typeface="Courier New"/>
              </a:rPr>
              <a:t> ( counter == 5) 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continue</a:t>
            </a:r>
            <a:r>
              <a:rPr lang="en-US" sz="2000" b="1" dirty="0">
                <a:latin typeface="Courier New"/>
                <a:cs typeface="Courier New"/>
              </a:rPr>
              <a:t>; 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// Skips 5</a:t>
            </a:r>
          </a:p>
          <a:p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      </a:t>
            </a:r>
          </a:p>
          <a:p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      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if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lang="en-US" sz="2000" b="1" dirty="0">
                <a:latin typeface="Courier New"/>
                <a:cs typeface="Courier New"/>
              </a:rPr>
              <a:t>(counter &gt; 6 ) 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goto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lang="en-US" sz="2000" b="1" dirty="0">
                <a:latin typeface="Courier New"/>
                <a:cs typeface="Courier New"/>
              </a:rPr>
              <a:t>Last;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 //Moves execution to “Last” statement       </a:t>
            </a:r>
          </a:p>
          <a:p>
            <a:endParaRPr lang="en-US" sz="2000" b="1" dirty="0">
              <a:solidFill>
                <a:srgbClr val="008000"/>
              </a:solidFill>
              <a:latin typeface="Courier New"/>
              <a:cs typeface="Courier New"/>
            </a:endParaRPr>
          </a:p>
          <a:p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      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if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lang="en-US" sz="2000" b="1" dirty="0">
                <a:latin typeface="Courier New"/>
                <a:cs typeface="Courier New"/>
              </a:rPr>
              <a:t>(counter == 9) </a:t>
            </a:r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break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; </a:t>
            </a:r>
          </a:p>
          <a:p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      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 Last: std::cout &lt;&lt; counter &lt;&lt;endl;</a:t>
            </a:r>
            <a:endParaRPr lang="en-US" sz="2000" b="1" dirty="0">
              <a:solidFill>
                <a:srgbClr val="008000"/>
              </a:solidFill>
              <a:latin typeface="Courier New"/>
              <a:cs typeface="Courier New"/>
            </a:endParaRPr>
          </a:p>
          <a:p>
            <a:r>
              <a:rPr lang="en-US" sz="2000" b="1" dirty="0">
                <a:latin typeface="Courier New"/>
                <a:cs typeface="Courier New"/>
              </a:rPr>
              <a:t>     }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783369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While loop and Do-while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4691"/>
            <a:ext cx="10515600" cy="5166783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Syntax: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Remember to control the condition from within the loop to avoid infinite loop. 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Go to </a:t>
            </a:r>
            <a:r>
              <a:rPr lang="en-GB" sz="2400" dirty="0">
                <a:solidFill>
                  <a:srgbClr val="00B050"/>
                </a:solidFill>
              </a:rPr>
              <a:t>L4D2.cpp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12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928671" y="2024365"/>
            <a:ext cx="3320714" cy="123004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Rectangle 28"/>
          <p:cNvSpPr/>
          <p:nvPr/>
        </p:nvSpPr>
        <p:spPr>
          <a:xfrm>
            <a:off x="911760" y="2047845"/>
            <a:ext cx="363422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while</a:t>
            </a:r>
            <a:r>
              <a:rPr lang="en-US" sz="2000" b="1" dirty="0">
                <a:latin typeface="Courier New"/>
                <a:cs typeface="Courier New"/>
              </a:rPr>
              <a:t> (condition)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 { 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// statements;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 }</a:t>
            </a:r>
            <a:endParaRPr lang="en-GB" sz="2000" dirty="0"/>
          </a:p>
        </p:txBody>
      </p:sp>
      <p:cxnSp>
        <p:nvCxnSpPr>
          <p:cNvPr id="30" name="Straight Arrow Connector 29"/>
          <p:cNvCxnSpPr/>
          <p:nvPr/>
        </p:nvCxnSpPr>
        <p:spPr>
          <a:xfrm flipH="1" flipV="1">
            <a:off x="3563898" y="2230144"/>
            <a:ext cx="1606593" cy="70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91256" y="1940766"/>
            <a:ext cx="16266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Boolean </a:t>
            </a:r>
          </a:p>
          <a:p>
            <a:pPr algn="ctr"/>
            <a:r>
              <a:rPr lang="en-US" sz="2400" dirty="0"/>
              <a:t>expressions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7660570" y="1973496"/>
            <a:ext cx="3320714" cy="125182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12"/>
          <p:cNvSpPr/>
          <p:nvPr/>
        </p:nvSpPr>
        <p:spPr>
          <a:xfrm>
            <a:off x="7660570" y="2031348"/>
            <a:ext cx="363422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do</a:t>
            </a:r>
            <a:r>
              <a:rPr lang="en-US" sz="2000" b="1" dirty="0">
                <a:latin typeface="Courier New"/>
                <a:cs typeface="Courier New"/>
              </a:rPr>
              <a:t> { </a:t>
            </a:r>
            <a:r>
              <a:rPr lang="en-US" sz="2000" b="1" dirty="0">
                <a:solidFill>
                  <a:srgbClr val="008000"/>
                </a:solidFill>
                <a:latin typeface="Courier New"/>
                <a:cs typeface="Courier New"/>
              </a:rPr>
              <a:t>// statements;</a:t>
            </a:r>
          </a:p>
          <a:p>
            <a:r>
              <a:rPr lang="en-US" sz="2000" b="1" dirty="0">
                <a:latin typeface="Courier New"/>
                <a:cs typeface="Courier New"/>
              </a:rPr>
              <a:t>    }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urier New"/>
                <a:cs typeface="Courier New"/>
              </a:rPr>
              <a:t>while</a:t>
            </a:r>
            <a:r>
              <a:rPr lang="en-US" sz="2000" b="1" dirty="0">
                <a:latin typeface="Courier New"/>
                <a:cs typeface="Courier New"/>
              </a:rPr>
              <a:t> (condition)</a:t>
            </a:r>
            <a:endParaRPr lang="en-GB" sz="2000" dirty="0"/>
          </a:p>
        </p:txBody>
      </p:sp>
      <p:cxnSp>
        <p:nvCxnSpPr>
          <p:cNvPr id="14" name="Straight Arrow Connector 13"/>
          <p:cNvCxnSpPr>
            <a:stCxn id="31" idx="3"/>
          </p:cNvCxnSpPr>
          <p:nvPr/>
        </p:nvCxnSpPr>
        <p:spPr>
          <a:xfrm>
            <a:off x="6717927" y="2356265"/>
            <a:ext cx="2017658" cy="38554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911760" y="3219104"/>
            <a:ext cx="42530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While loop Mechanism: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cs typeface="Courier New"/>
              </a:rPr>
              <a:t>1. Check condition.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cs typeface="Courier New"/>
              </a:rPr>
              <a:t>2. If true, execute statements.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cs typeface="Courier New"/>
              </a:rPr>
              <a:t>3. Repeat steps 1-2. </a:t>
            </a:r>
            <a:r>
              <a:rPr lang="en-GB" sz="2400" dirty="0"/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7475524" y="3219104"/>
            <a:ext cx="42530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Do-while loop Mechanism: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cs typeface="Courier New"/>
              </a:rPr>
              <a:t>1. Execute statements.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cs typeface="Courier New"/>
              </a:rPr>
              <a:t>2. Check condition.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cs typeface="Courier New"/>
              </a:rPr>
              <a:t>3. If true, Repeat steps 1-2. 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802371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b="1" dirty="0"/>
              <a:t>How L4D2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4691"/>
            <a:ext cx="10515600" cy="5166783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628650" indent="-62865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13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6E0D27-0BEA-4CB5-9444-FF650B37271A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5">
            <a:extLst>
              <a:ext uri="{FF2B5EF4-FFF2-40B4-BE49-F238E27FC236}">
                <a16:creationId xmlns:a16="http://schemas.microsoft.com/office/drawing/2014/main" id="{88A365A8-A084-4BA8-BBE5-C4AFFEC264F4}"/>
              </a:ext>
            </a:extLst>
          </p:cNvPr>
          <p:cNvSpPr/>
          <p:nvPr/>
        </p:nvSpPr>
        <p:spPr>
          <a:xfrm>
            <a:off x="1142461" y="1711835"/>
            <a:ext cx="2540301" cy="83395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Flowchart: Decision 15">
            <a:extLst>
              <a:ext uri="{FF2B5EF4-FFF2-40B4-BE49-F238E27FC236}">
                <a16:creationId xmlns:a16="http://schemas.microsoft.com/office/drawing/2014/main" id="{C6625BFD-47C4-4073-B929-0279AB8D4D59}"/>
              </a:ext>
            </a:extLst>
          </p:cNvPr>
          <p:cNvSpPr/>
          <p:nvPr/>
        </p:nvSpPr>
        <p:spPr>
          <a:xfrm>
            <a:off x="1448310" y="3122594"/>
            <a:ext cx="1928600" cy="1557264"/>
          </a:xfrm>
          <a:prstGeom prst="flowChartDecision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2E68F25-F74A-407E-8F7D-B47E0E18C9C1}"/>
              </a:ext>
            </a:extLst>
          </p:cNvPr>
          <p:cNvCxnSpPr>
            <a:cxnSpLocks/>
          </p:cNvCxnSpPr>
          <p:nvPr/>
        </p:nvCxnSpPr>
        <p:spPr>
          <a:xfrm flipV="1">
            <a:off x="2412610" y="2545789"/>
            <a:ext cx="0" cy="566527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DD8DDFF-72C7-471C-BEE0-DAFB6368BFB9}"/>
              </a:ext>
            </a:extLst>
          </p:cNvPr>
          <p:cNvSpPr txBox="1"/>
          <p:nvPr/>
        </p:nvSpPr>
        <p:spPr>
          <a:xfrm>
            <a:off x="1311080" y="1735939"/>
            <a:ext cx="22030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Add a random number to array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8A13CF-F64D-4D10-8BAC-E3DB4951CDBD}"/>
              </a:ext>
            </a:extLst>
          </p:cNvPr>
          <p:cNvSpPr txBox="1"/>
          <p:nvPr/>
        </p:nvSpPr>
        <p:spPr>
          <a:xfrm>
            <a:off x="1529809" y="3538602"/>
            <a:ext cx="18231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Is the sum 100000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AA96093-8126-46B5-9781-AF54C1D0169B}"/>
              </a:ext>
            </a:extLst>
          </p:cNvPr>
          <p:cNvCxnSpPr>
            <a:cxnSpLocks/>
          </p:cNvCxnSpPr>
          <p:nvPr/>
        </p:nvCxnSpPr>
        <p:spPr>
          <a:xfrm flipH="1">
            <a:off x="392333" y="2069731"/>
            <a:ext cx="750127" cy="38641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E7D62B3-8D69-483D-90D8-949C78F3BC48}"/>
              </a:ext>
            </a:extLst>
          </p:cNvPr>
          <p:cNvSpPr txBox="1"/>
          <p:nvPr/>
        </p:nvSpPr>
        <p:spPr>
          <a:xfrm>
            <a:off x="3850107" y="3455418"/>
            <a:ext cx="888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True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BD363B-54EE-4599-A399-7A9F97EE980F}"/>
              </a:ext>
            </a:extLst>
          </p:cNvPr>
          <p:cNvSpPr txBox="1"/>
          <p:nvPr/>
        </p:nvSpPr>
        <p:spPr>
          <a:xfrm>
            <a:off x="2545813" y="4777474"/>
            <a:ext cx="888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False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6CF5F2D-4255-45F8-9C55-44F8A63D62DD}"/>
              </a:ext>
            </a:extLst>
          </p:cNvPr>
          <p:cNvCxnSpPr>
            <a:cxnSpLocks/>
          </p:cNvCxnSpPr>
          <p:nvPr/>
        </p:nvCxnSpPr>
        <p:spPr>
          <a:xfrm flipV="1">
            <a:off x="2412610" y="4649542"/>
            <a:ext cx="0" cy="717528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5">
            <a:extLst>
              <a:ext uri="{FF2B5EF4-FFF2-40B4-BE49-F238E27FC236}">
                <a16:creationId xmlns:a16="http://schemas.microsoft.com/office/drawing/2014/main" id="{07835DB2-D98A-408D-A647-23F5DA1B2077}"/>
              </a:ext>
            </a:extLst>
          </p:cNvPr>
          <p:cNvSpPr/>
          <p:nvPr/>
        </p:nvSpPr>
        <p:spPr>
          <a:xfrm>
            <a:off x="5551218" y="3595949"/>
            <a:ext cx="2540301" cy="83395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EBF411-0985-420B-BD8F-7A169A65D066}"/>
              </a:ext>
            </a:extLst>
          </p:cNvPr>
          <p:cNvSpPr txBox="1"/>
          <p:nvPr/>
        </p:nvSpPr>
        <p:spPr>
          <a:xfrm>
            <a:off x="5489892" y="3610646"/>
            <a:ext cx="25358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Display “position i adds to “ SUM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B35BD3F-ACFB-4437-BB5D-E391F9B57880}"/>
              </a:ext>
            </a:extLst>
          </p:cNvPr>
          <p:cNvCxnSpPr>
            <a:cxnSpLocks/>
            <a:endCxn id="16" idx="3"/>
          </p:cNvCxnSpPr>
          <p:nvPr/>
        </p:nvCxnSpPr>
        <p:spPr>
          <a:xfrm flipH="1">
            <a:off x="3376910" y="3901226"/>
            <a:ext cx="2163437" cy="0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lowchart: Decision 37">
            <a:extLst>
              <a:ext uri="{FF2B5EF4-FFF2-40B4-BE49-F238E27FC236}">
                <a16:creationId xmlns:a16="http://schemas.microsoft.com/office/drawing/2014/main" id="{C14168EC-3482-48AC-899D-7FC3295B6279}"/>
              </a:ext>
            </a:extLst>
          </p:cNvPr>
          <p:cNvSpPr/>
          <p:nvPr/>
        </p:nvSpPr>
        <p:spPr>
          <a:xfrm>
            <a:off x="1598086" y="5364625"/>
            <a:ext cx="1629047" cy="1385584"/>
          </a:xfrm>
          <a:prstGeom prst="flowChartDecision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39E1DD4-0AF0-4C7A-B954-062008698DD6}"/>
              </a:ext>
            </a:extLst>
          </p:cNvPr>
          <p:cNvSpPr txBox="1"/>
          <p:nvPr/>
        </p:nvSpPr>
        <p:spPr>
          <a:xfrm>
            <a:off x="1529809" y="5754272"/>
            <a:ext cx="18231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Is the array  </a:t>
            </a:r>
          </a:p>
          <a:p>
            <a:pPr algn="ctr"/>
            <a:r>
              <a:rPr lang="en-GB" sz="2400" dirty="0"/>
              <a:t>full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CF3BFF9-BC6B-408D-BD34-7CF3883AAD27}"/>
              </a:ext>
            </a:extLst>
          </p:cNvPr>
          <p:cNvCxnSpPr>
            <a:cxnSpLocks/>
          </p:cNvCxnSpPr>
          <p:nvPr/>
        </p:nvCxnSpPr>
        <p:spPr>
          <a:xfrm flipH="1" flipV="1">
            <a:off x="3234124" y="6053314"/>
            <a:ext cx="2317096" cy="31482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614C07A-5CD3-4FA6-8C36-7620A2632987}"/>
              </a:ext>
            </a:extLst>
          </p:cNvPr>
          <p:cNvSpPr txBox="1"/>
          <p:nvPr/>
        </p:nvSpPr>
        <p:spPr>
          <a:xfrm>
            <a:off x="3507429" y="5595752"/>
            <a:ext cx="888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True</a:t>
            </a:r>
          </a:p>
        </p:txBody>
      </p:sp>
      <p:sp>
        <p:nvSpPr>
          <p:cNvPr id="43" name="Rectangle: Rounded Corners 5">
            <a:extLst>
              <a:ext uri="{FF2B5EF4-FFF2-40B4-BE49-F238E27FC236}">
                <a16:creationId xmlns:a16="http://schemas.microsoft.com/office/drawing/2014/main" id="{2A3D2487-8892-410B-B880-3F1449D523F4}"/>
              </a:ext>
            </a:extLst>
          </p:cNvPr>
          <p:cNvSpPr/>
          <p:nvPr/>
        </p:nvSpPr>
        <p:spPr>
          <a:xfrm>
            <a:off x="5544227" y="5613163"/>
            <a:ext cx="2540301" cy="83395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F8339F-818B-45A1-B8C4-9524B7973F27}"/>
              </a:ext>
            </a:extLst>
          </p:cNvPr>
          <p:cNvSpPr txBox="1"/>
          <p:nvPr/>
        </p:nvSpPr>
        <p:spPr>
          <a:xfrm>
            <a:off x="5489891" y="5630487"/>
            <a:ext cx="25358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Display “the total array is ..”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75A8205-551F-4C3E-B7D3-41926A54971C}"/>
              </a:ext>
            </a:extLst>
          </p:cNvPr>
          <p:cNvCxnSpPr>
            <a:cxnSpLocks/>
          </p:cNvCxnSpPr>
          <p:nvPr/>
        </p:nvCxnSpPr>
        <p:spPr>
          <a:xfrm rot="10800000" flipH="1">
            <a:off x="8102390" y="3954102"/>
            <a:ext cx="1603215" cy="6855"/>
          </a:xfrm>
          <a:prstGeom prst="line">
            <a:avLst/>
          </a:prstGeom>
          <a:ln w="571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7C8C6DC-951C-4F94-95C8-C4E5E7285896}"/>
              </a:ext>
            </a:extLst>
          </p:cNvPr>
          <p:cNvCxnSpPr>
            <a:cxnSpLocks/>
          </p:cNvCxnSpPr>
          <p:nvPr/>
        </p:nvCxnSpPr>
        <p:spPr>
          <a:xfrm rot="10800000" flipH="1">
            <a:off x="8091519" y="6026712"/>
            <a:ext cx="1603215" cy="6855"/>
          </a:xfrm>
          <a:prstGeom prst="line">
            <a:avLst/>
          </a:prstGeom>
          <a:ln w="571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0ED8E34-C14D-4995-8A5B-6238E9DBE898}"/>
              </a:ext>
            </a:extLst>
          </p:cNvPr>
          <p:cNvCxnSpPr>
            <a:cxnSpLocks/>
          </p:cNvCxnSpPr>
          <p:nvPr/>
        </p:nvCxnSpPr>
        <p:spPr>
          <a:xfrm flipV="1">
            <a:off x="9705605" y="3931820"/>
            <a:ext cx="0" cy="675014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65C4B01-AE3E-46A5-B5E0-741D8F5FD3AF}"/>
              </a:ext>
            </a:extLst>
          </p:cNvPr>
          <p:cNvCxnSpPr>
            <a:cxnSpLocks/>
          </p:cNvCxnSpPr>
          <p:nvPr/>
        </p:nvCxnSpPr>
        <p:spPr>
          <a:xfrm>
            <a:off x="9689768" y="5440788"/>
            <a:ext cx="0" cy="612526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: Rounded Corners 5">
            <a:extLst>
              <a:ext uri="{FF2B5EF4-FFF2-40B4-BE49-F238E27FC236}">
                <a16:creationId xmlns:a16="http://schemas.microsoft.com/office/drawing/2014/main" id="{AFE3EF75-C11A-42BC-B74B-E14C41FBEB87}"/>
              </a:ext>
            </a:extLst>
          </p:cNvPr>
          <p:cNvSpPr/>
          <p:nvPr/>
        </p:nvSpPr>
        <p:spPr>
          <a:xfrm>
            <a:off x="8509239" y="4606834"/>
            <a:ext cx="2540301" cy="83395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976816F-5B90-45DA-859F-6ED591A6AEC9}"/>
              </a:ext>
            </a:extLst>
          </p:cNvPr>
          <p:cNvSpPr txBox="1"/>
          <p:nvPr/>
        </p:nvSpPr>
        <p:spPr>
          <a:xfrm>
            <a:off x="8557659" y="4770994"/>
            <a:ext cx="2535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End program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F701785-FB51-4722-8142-642544E50F91}"/>
              </a:ext>
            </a:extLst>
          </p:cNvPr>
          <p:cNvCxnSpPr>
            <a:cxnSpLocks/>
          </p:cNvCxnSpPr>
          <p:nvPr/>
        </p:nvCxnSpPr>
        <p:spPr>
          <a:xfrm flipV="1">
            <a:off x="450674" y="6077941"/>
            <a:ext cx="1152541" cy="6854"/>
          </a:xfrm>
          <a:prstGeom prst="line">
            <a:avLst/>
          </a:prstGeom>
          <a:ln w="571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0A91A5F-4F9E-4C66-BC71-BF1279D6CADA}"/>
              </a:ext>
            </a:extLst>
          </p:cNvPr>
          <p:cNvCxnSpPr>
            <a:cxnSpLocks/>
          </p:cNvCxnSpPr>
          <p:nvPr/>
        </p:nvCxnSpPr>
        <p:spPr>
          <a:xfrm flipH="1" flipV="1">
            <a:off x="454100" y="2151437"/>
            <a:ext cx="1" cy="3938850"/>
          </a:xfrm>
          <a:prstGeom prst="line">
            <a:avLst/>
          </a:prstGeom>
          <a:ln w="571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564EA94B-D5E9-470A-A6E4-15517E7A9964}"/>
              </a:ext>
            </a:extLst>
          </p:cNvPr>
          <p:cNvSpPr txBox="1"/>
          <p:nvPr/>
        </p:nvSpPr>
        <p:spPr>
          <a:xfrm>
            <a:off x="568888" y="5577467"/>
            <a:ext cx="888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False</a:t>
            </a:r>
          </a:p>
        </p:txBody>
      </p:sp>
      <p:sp>
        <p:nvSpPr>
          <p:cNvPr id="69" name="Rectangle: Rounded Corners 5">
            <a:extLst>
              <a:ext uri="{FF2B5EF4-FFF2-40B4-BE49-F238E27FC236}">
                <a16:creationId xmlns:a16="http://schemas.microsoft.com/office/drawing/2014/main" id="{C3A527CF-8939-4216-A95C-32C23DCFAA37}"/>
              </a:ext>
            </a:extLst>
          </p:cNvPr>
          <p:cNvSpPr/>
          <p:nvPr/>
        </p:nvSpPr>
        <p:spPr>
          <a:xfrm>
            <a:off x="5800993" y="1672074"/>
            <a:ext cx="2540301" cy="83395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18EA2B6-7D7E-431C-8303-0408A690EEFA}"/>
              </a:ext>
            </a:extLst>
          </p:cNvPr>
          <p:cNvSpPr txBox="1"/>
          <p:nvPr/>
        </p:nvSpPr>
        <p:spPr>
          <a:xfrm>
            <a:off x="5800993" y="1827898"/>
            <a:ext cx="2535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Start of program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5B1EF98C-0E53-44D7-BBCD-C8D2332941FA}"/>
              </a:ext>
            </a:extLst>
          </p:cNvPr>
          <p:cNvCxnSpPr>
            <a:cxnSpLocks/>
          </p:cNvCxnSpPr>
          <p:nvPr/>
        </p:nvCxnSpPr>
        <p:spPr>
          <a:xfrm>
            <a:off x="3682762" y="2079594"/>
            <a:ext cx="2113757" cy="12192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6087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8" grpId="0"/>
      <p:bldP spid="21" grpId="0"/>
      <p:bldP spid="23" grpId="0"/>
      <p:bldP spid="25" grpId="0"/>
      <p:bldP spid="34" grpId="0" animBg="1"/>
      <p:bldP spid="35" grpId="0"/>
      <p:bldP spid="38" grpId="0" animBg="1"/>
      <p:bldP spid="39" grpId="0"/>
      <p:bldP spid="42" grpId="0"/>
      <p:bldP spid="43" grpId="0" animBg="1"/>
      <p:bldP spid="44" grpId="0"/>
      <p:bldP spid="55" grpId="0" animBg="1"/>
      <p:bldP spid="58" grpId="0"/>
      <p:bldP spid="6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Practical Example: Event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1075437" cy="489585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The core of any programme is a code structure known as “Event loop”. 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 When the programme starts, an infinite loop is initialised.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The body of the loop waits for the user’s input (events).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When users input something, their input is dealt with by a switch-case structure.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For every possible input, there is one case in the switch-case structure that handles the input (this is known as event handler). 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One of the cases is assigned to terminate the loop (i.e. close the programme). 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Example :cmd.exe (in Windows).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Go to </a:t>
            </a:r>
            <a:r>
              <a:rPr lang="en-GB" sz="2400" dirty="0">
                <a:solidFill>
                  <a:srgbClr val="00B050"/>
                </a:solidFill>
              </a:rPr>
              <a:t>L4D5.cpp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14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4FB17-C223-444F-A237-84ECC72DDE4B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1912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ounded Rectangle 80"/>
          <p:cNvSpPr/>
          <p:nvPr/>
        </p:nvSpPr>
        <p:spPr>
          <a:xfrm>
            <a:off x="1836429" y="1742176"/>
            <a:ext cx="9030145" cy="427211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0" name="Rounded Rectangle 79"/>
          <p:cNvSpPr/>
          <p:nvPr/>
        </p:nvSpPr>
        <p:spPr>
          <a:xfrm>
            <a:off x="5329417" y="2027669"/>
            <a:ext cx="5468923" cy="314546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Practical Example: Event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1075437" cy="489585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15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4FB17-C223-444F-A237-84ECC72DDE4B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lowchart: Decision 16"/>
          <p:cNvSpPr/>
          <p:nvPr/>
        </p:nvSpPr>
        <p:spPr>
          <a:xfrm>
            <a:off x="5858981" y="2293029"/>
            <a:ext cx="1045812" cy="990693"/>
          </a:xfrm>
          <a:prstGeom prst="flowChartDecision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5557753" y="4114582"/>
            <a:ext cx="1761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Statements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 flipH="1" flipV="1">
            <a:off x="1219824" y="2791896"/>
            <a:ext cx="641879" cy="1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82594" y="2392262"/>
            <a:ext cx="1193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Start</a:t>
            </a:r>
          </a:p>
        </p:txBody>
      </p:sp>
      <p:sp>
        <p:nvSpPr>
          <p:cNvPr id="22" name="Flowchart: Decision 21"/>
          <p:cNvSpPr/>
          <p:nvPr/>
        </p:nvSpPr>
        <p:spPr>
          <a:xfrm>
            <a:off x="7795494" y="2268751"/>
            <a:ext cx="1045812" cy="990693"/>
          </a:xfrm>
          <a:prstGeom prst="flowChartDecision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9565117" y="2512688"/>
            <a:ext cx="1101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default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6866184" y="2764098"/>
            <a:ext cx="929310" cy="20574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 flipH="1" flipV="1">
            <a:off x="3329249" y="2776762"/>
            <a:ext cx="875079" cy="14368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4213056" y="2385683"/>
            <a:ext cx="1011256" cy="74675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3272381" y="1602007"/>
            <a:ext cx="888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False</a:t>
            </a:r>
          </a:p>
        </p:txBody>
      </p:sp>
      <p:sp>
        <p:nvSpPr>
          <p:cNvPr id="38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181540" y="2432263"/>
            <a:ext cx="989442" cy="83093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9" name="Flowchart: Decision 38"/>
          <p:cNvSpPr/>
          <p:nvPr/>
        </p:nvSpPr>
        <p:spPr>
          <a:xfrm>
            <a:off x="1857033" y="2295784"/>
            <a:ext cx="1456594" cy="990693"/>
          </a:xfrm>
          <a:prstGeom prst="flowChartDecision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5878253" y="2533870"/>
            <a:ext cx="965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case 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1193" y="2606464"/>
            <a:ext cx="1425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while</a:t>
            </a:r>
            <a:r>
              <a:rPr lang="en-US" b="1" dirty="0">
                <a:latin typeface="Courier New"/>
                <a:cs typeface="Courier New"/>
              </a:rPr>
              <a:t> (i)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  <a:stCxn id="43" idx="1"/>
            <a:endCxn id="22" idx="3"/>
          </p:cNvCxnSpPr>
          <p:nvPr/>
        </p:nvCxnSpPr>
        <p:spPr>
          <a:xfrm flipH="1">
            <a:off x="8841306" y="2743522"/>
            <a:ext cx="756849" cy="20576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7832717" y="2533870"/>
            <a:ext cx="965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case</a:t>
            </a:r>
          </a:p>
        </p:txBody>
      </p:sp>
      <p:sp>
        <p:nvSpPr>
          <p:cNvPr id="43" name="Flowchart: Decision 42"/>
          <p:cNvSpPr/>
          <p:nvPr/>
        </p:nvSpPr>
        <p:spPr>
          <a:xfrm>
            <a:off x="9598155" y="2248175"/>
            <a:ext cx="1045812" cy="990693"/>
          </a:xfrm>
          <a:prstGeom prst="flowChartDecision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 flipH="1" flipV="1">
            <a:off x="6371741" y="3306134"/>
            <a:ext cx="10144" cy="795699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5614154" y="4114580"/>
            <a:ext cx="1648263" cy="46166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 flipH="1" flipV="1">
            <a:off x="8319077" y="3263800"/>
            <a:ext cx="10144" cy="795699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7510810" y="4114581"/>
            <a:ext cx="1648263" cy="46166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9" name="Rectangle 48"/>
          <p:cNvSpPr/>
          <p:nvPr/>
        </p:nvSpPr>
        <p:spPr>
          <a:xfrm>
            <a:off x="357237" y="2814307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urier New"/>
                <a:cs typeface="Courier New"/>
              </a:rPr>
              <a:t>i=1;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4274368" y="2345412"/>
            <a:ext cx="8886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User</a:t>
            </a:r>
          </a:p>
          <a:p>
            <a:pPr algn="ctr"/>
            <a:r>
              <a:rPr lang="en-GB" sz="2400" dirty="0"/>
              <a:t>input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19259" y="4116347"/>
            <a:ext cx="9220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Courier New"/>
                <a:cs typeface="Courier New"/>
              </a:rPr>
              <a:t>i=0;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 flipH="1" flipV="1">
            <a:off x="5240455" y="2791130"/>
            <a:ext cx="641879" cy="1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3272381" y="2797161"/>
            <a:ext cx="757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True</a:t>
            </a:r>
          </a:p>
        </p:txBody>
      </p:sp>
      <p:cxnSp>
        <p:nvCxnSpPr>
          <p:cNvPr id="55" name="Elbow Connector 54"/>
          <p:cNvCxnSpPr/>
          <p:nvPr/>
        </p:nvCxnSpPr>
        <p:spPr>
          <a:xfrm rot="5400000">
            <a:off x="8753324" y="4343802"/>
            <a:ext cx="2400400" cy="325062"/>
          </a:xfrm>
          <a:prstGeom prst="bentConnector3">
            <a:avLst>
              <a:gd name="adj1" fmla="val 99381"/>
            </a:avLst>
          </a:prstGeom>
          <a:ln w="571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3183703" y="5431741"/>
            <a:ext cx="6607290" cy="46166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2" name="Rectangle 61"/>
          <p:cNvSpPr/>
          <p:nvPr/>
        </p:nvSpPr>
        <p:spPr>
          <a:xfrm>
            <a:off x="3151662" y="5484460"/>
            <a:ext cx="58368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urier New"/>
                <a:cs typeface="Courier New"/>
              </a:rPr>
              <a:t>std::cout &lt;&lt; “Unknown command, try again”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  <a:stCxn id="29" idx="2"/>
          </p:cNvCxnSpPr>
          <p:nvPr/>
        </p:nvCxnSpPr>
        <p:spPr>
          <a:xfrm flipH="1">
            <a:off x="4712478" y="3132439"/>
            <a:ext cx="6206" cy="2262073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: Rounded Corners 5">
            <a:extLst>
              <a:ext uri="{FF2B5EF4-FFF2-40B4-BE49-F238E27FC236}">
                <a16:creationId xmlns:a16="http://schemas.microsoft.com/office/drawing/2014/main" id="{5056FDB1-32D9-416E-A175-EDDF2BED1DE3}"/>
              </a:ext>
            </a:extLst>
          </p:cNvPr>
          <p:cNvSpPr/>
          <p:nvPr/>
        </p:nvSpPr>
        <p:spPr>
          <a:xfrm>
            <a:off x="10880173" y="2406419"/>
            <a:ext cx="1167227" cy="80981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2" name="Rectangle 71"/>
          <p:cNvSpPr/>
          <p:nvPr/>
        </p:nvSpPr>
        <p:spPr>
          <a:xfrm>
            <a:off x="10866574" y="2406307"/>
            <a:ext cx="124906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cs typeface="Courier New"/>
              </a:rPr>
              <a:t>End </a:t>
            </a:r>
          </a:p>
          <a:p>
            <a:pPr algn="ctr"/>
            <a:r>
              <a:rPr lang="en-US" sz="2400" dirty="0">
                <a:cs typeface="Courier New"/>
              </a:rPr>
              <a:t>program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2258715" y="1947811"/>
            <a:ext cx="641879" cy="1"/>
          </a:xfrm>
          <a:prstGeom prst="line">
            <a:avLst/>
          </a:prstGeom>
          <a:ln w="57150"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>
            <a:off x="2579654" y="1644111"/>
            <a:ext cx="8878314" cy="0"/>
          </a:xfrm>
          <a:prstGeom prst="line">
            <a:avLst/>
          </a:prstGeom>
          <a:ln w="57150"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C127980-D6AF-4F31-8186-8C7BB8F701B1}"/>
              </a:ext>
            </a:extLst>
          </p:cNvPr>
          <p:cNvCxnSpPr>
            <a:cxnSpLocks/>
          </p:cNvCxnSpPr>
          <p:nvPr/>
        </p:nvCxnSpPr>
        <p:spPr>
          <a:xfrm flipV="1">
            <a:off x="11463787" y="1633721"/>
            <a:ext cx="2252" cy="793655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43504" y="4305549"/>
            <a:ext cx="478735" cy="49780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3" name="Rounded Rectangle 82"/>
          <p:cNvSpPr/>
          <p:nvPr/>
        </p:nvSpPr>
        <p:spPr>
          <a:xfrm>
            <a:off x="37644" y="4841060"/>
            <a:ext cx="482788" cy="49780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229634" y="4374179"/>
            <a:ext cx="17610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Event loop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87432F4-0E15-4963-88F9-2E9421C2B8B9}"/>
              </a:ext>
            </a:extLst>
          </p:cNvPr>
          <p:cNvSpPr txBox="1"/>
          <p:nvPr/>
        </p:nvSpPr>
        <p:spPr>
          <a:xfrm>
            <a:off x="448247" y="4915799"/>
            <a:ext cx="3202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Switch-case (event handling)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1522" y="6090992"/>
            <a:ext cx="10894210" cy="7107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668841" y="6053260"/>
            <a:ext cx="10946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Practical note: </a:t>
            </a:r>
            <a:r>
              <a:rPr lang="en-GB" sz="2400" dirty="0"/>
              <a:t>Implement an event loop for any console based application you develop. 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24E93F1-EE59-40F7-BDEE-C35F538D3504}"/>
              </a:ext>
            </a:extLst>
          </p:cNvPr>
          <p:cNvCxnSpPr>
            <a:cxnSpLocks/>
          </p:cNvCxnSpPr>
          <p:nvPr/>
        </p:nvCxnSpPr>
        <p:spPr>
          <a:xfrm flipH="1">
            <a:off x="2579654" y="3334650"/>
            <a:ext cx="1" cy="643669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E0F142DE-4B2E-4747-99B8-D9EA5C6AE796}"/>
              </a:ext>
            </a:extLst>
          </p:cNvPr>
          <p:cNvSpPr txBox="1"/>
          <p:nvPr/>
        </p:nvSpPr>
        <p:spPr>
          <a:xfrm>
            <a:off x="1525232" y="3837249"/>
            <a:ext cx="21947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After event handling</a:t>
            </a:r>
          </a:p>
        </p:txBody>
      </p:sp>
    </p:spTree>
    <p:extLst>
      <p:ext uri="{BB962C8B-B14F-4D97-AF65-F5344CB8AC3E}">
        <p14:creationId xmlns:p14="http://schemas.microsoft.com/office/powerpoint/2010/main" val="1656341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Functions in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94697"/>
            <a:ext cx="11075437" cy="489585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A function is a group of statements that together perform a defined task.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Syntax: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Naming convention follows Google C++ style code (every word starts with capital).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Few rules:  1. Functions has to be declared before main function.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                   2. Every function only returns </a:t>
            </a:r>
            <a:r>
              <a:rPr lang="en-GB" sz="2400" u="sng" dirty="0"/>
              <a:t>one</a:t>
            </a:r>
            <a:r>
              <a:rPr lang="en-GB" sz="2400" dirty="0"/>
              <a:t> value.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                   3. The datatype of the output has to match the return type of the function.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                   4. Return type of </a:t>
            </a:r>
            <a:r>
              <a:rPr lang="en-GB" sz="2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GB" sz="2400" dirty="0"/>
              <a:t> is used when the function has no return.                                                            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1761D7-3DCA-48D0-8D79-89DA2676C30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4FB17-C223-444F-A237-84ECC72DDE4B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80892" y="2401403"/>
            <a:ext cx="1026745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return_type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FunctionName(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datatype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argument1, …,…)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           {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// Statements;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          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return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output;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}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974685" y="2536340"/>
            <a:ext cx="10279863" cy="125188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20274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01372" y="2611166"/>
            <a:ext cx="5880828" cy="10125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10415" y="2070475"/>
            <a:ext cx="624965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int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MyFun(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int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argument);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//declaration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int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main ()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          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//Statements;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        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int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MyFun(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int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argument){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                    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//Statements;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                      }            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94697"/>
            <a:ext cx="11075437" cy="489585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There are two styles of declaring a function (with or without function declaration):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It is more common in codes to follow function declaration style.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Only one variable is allowed as a return, for more advanced options watch out for Lecture 5!!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                                                       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7" name="Rounded Rectangle 6"/>
          <p:cNvSpPr/>
          <p:nvPr/>
        </p:nvSpPr>
        <p:spPr>
          <a:xfrm>
            <a:off x="6375916" y="3090687"/>
            <a:ext cx="5731435" cy="126153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Functions declarations and arguments passing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1761D7-3DCA-48D0-8D79-89DA2676C30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4FB17-C223-444F-A237-84ECC72DDE4B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238600" y="2070475"/>
            <a:ext cx="6001329" cy="248459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306443" y="2070475"/>
            <a:ext cx="59436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int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MyFun(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int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argument){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                    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//Statements;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              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int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main ()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          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//Statements;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        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}            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6306443" y="2070475"/>
            <a:ext cx="5800909" cy="248459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21943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290" y="3065121"/>
            <a:ext cx="4095750" cy="319087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94697"/>
            <a:ext cx="11075437" cy="489585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It is possible to run programmes in batch mode (running a programme simply by calling it from a command line).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In such context, the main function can have parameters, most commonly: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r>
              <a:rPr lang="en-US" sz="2400" b="1" dirty="0" err="1">
                <a:latin typeface="Courier New"/>
                <a:cs typeface="Courier New"/>
              </a:rPr>
              <a:t>argc</a:t>
            </a:r>
            <a:r>
              <a:rPr lang="en-GB" sz="2400" dirty="0"/>
              <a:t> is a variable containing the number of                                                                           arguments passed to the programme through                                                             command line. </a:t>
            </a:r>
            <a:r>
              <a:rPr lang="en-US" sz="2400" b="1" dirty="0" err="1">
                <a:latin typeface="Courier New"/>
                <a:cs typeface="Courier New"/>
              </a:rPr>
              <a:t>argv</a:t>
            </a:r>
            <a:r>
              <a:rPr lang="en-US" sz="2400" b="1" dirty="0">
                <a:latin typeface="Courier New"/>
                <a:cs typeface="Courier New"/>
              </a:rPr>
              <a:t>[]</a:t>
            </a:r>
            <a:r>
              <a:rPr lang="en-GB" sz="2400" dirty="0"/>
              <a:t> is an array of character                                                                        set, each set describe one word of the input                                                                             sequence 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Go to </a:t>
            </a:r>
            <a:r>
              <a:rPr lang="en-GB" sz="2400" dirty="0">
                <a:solidFill>
                  <a:srgbClr val="00B050"/>
                </a:solidFill>
              </a:rPr>
              <a:t>L4D4.cpp</a:t>
            </a: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                                                       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Arguments of the </a:t>
            </a:r>
            <a:r>
              <a:rPr lang="en-GB" b="1" dirty="0">
                <a:latin typeface="Consolas" panose="020B0609020204030204" pitchFamily="49" charset="0"/>
              </a:rPr>
              <a:t>main</a:t>
            </a:r>
            <a:r>
              <a:rPr lang="en-GB" b="1" dirty="0"/>
              <a:t>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1761D7-3DCA-48D0-8D79-89DA2676C30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4FB17-C223-444F-A237-84ECC72DDE4B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838198" y="3098944"/>
            <a:ext cx="6215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int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main (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int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argc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,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char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 *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argv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/>
                <a:ea typeface="+mn-ea"/>
                <a:cs typeface="Courier New"/>
              </a:rPr>
              <a:t>[])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Courier New"/>
              <a:ea typeface="+mn-ea"/>
              <a:cs typeface="Courier New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838198" y="3065121"/>
            <a:ext cx="6215757" cy="52931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7053955" y="3914377"/>
            <a:ext cx="1711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argc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7218530" y="4357936"/>
            <a:ext cx="413527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argv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[0]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MyProg.exe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argv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[1]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argv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[2]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argv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[3]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z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49404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44107" y="5943738"/>
            <a:ext cx="10304194" cy="7777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94697"/>
            <a:ext cx="11075437" cy="489585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Exceptions are run-time anomalies or errors a program encounters during execution.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Exception handling simply means telling the code what to do when an exception occurs.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Exception handling can be done using three keywords: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GB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GB" sz="2400" dirty="0"/>
              <a:t>: Defines the code block where the exception may occur (be thrown).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GB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throw</a:t>
            </a:r>
            <a:r>
              <a:rPr lang="en-GB" sz="2400" dirty="0"/>
              <a:t>: Used to declares the exception.</a:t>
            </a:r>
          </a:p>
          <a:p>
            <a:pPr marL="457200" indent="-457200">
              <a:lnSpc>
                <a:spcPct val="120000"/>
              </a:lnSpc>
              <a:buAutoNum type="arabicPeriod"/>
            </a:pPr>
            <a:r>
              <a:rPr lang="en-GB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en-GB" sz="2400" dirty="0"/>
              <a:t>: Defines the response of the program if a particular exception occurs.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Go to </a:t>
            </a:r>
            <a:r>
              <a:rPr lang="en-GB" sz="2400" dirty="0">
                <a:solidFill>
                  <a:srgbClr val="00B050"/>
                </a:solidFill>
              </a:rPr>
              <a:t>L4D5.cpp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>
              <a:solidFill>
                <a:srgbClr val="00B050"/>
              </a:solidFill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                                                       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Exceptions and error handling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1761D7-3DCA-48D0-8D79-89DA2676C30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4FB17-C223-444F-A237-84ECC72DDE4B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898AA5B-F640-4621-A955-6B998AC81A7C}"/>
              </a:ext>
            </a:extLst>
          </p:cNvPr>
          <p:cNvSpPr txBox="1"/>
          <p:nvPr/>
        </p:nvSpPr>
        <p:spPr>
          <a:xfrm>
            <a:off x="838198" y="5936852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Practical note: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●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Handle errors using try-throw-catch structure in your code.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          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●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Give numbers to exceptions and keep a table of what they mean.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0012479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1075437" cy="489585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Cases where the code may not run sequentially were discussed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If-else and switch-case structures were discussed under selection structures.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For loop, While and Do-while loops were discussed under repetition structures.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The concept of event loops was discussed.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The definition of functions and howe they work was discussed.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Error handling was discussed. </a:t>
            </a:r>
          </a:p>
          <a:p>
            <a:pPr>
              <a:lnSpc>
                <a:spcPct val="120000"/>
              </a:lnSpc>
            </a:pPr>
            <a:endParaRPr lang="en-US" sz="2400" dirty="0">
              <a:highlight>
                <a:srgbClr val="FFFF00"/>
              </a:highlight>
            </a:endParaRP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20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4FB17-C223-444F-A237-84ECC72DDE4B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661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2573</TotalTime>
  <Words>1640</Words>
  <Application>Microsoft Office PowerPoint</Application>
  <PresentationFormat>Widescreen</PresentationFormat>
  <Paragraphs>666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Consolas</vt:lpstr>
      <vt:lpstr>Courier New</vt:lpstr>
      <vt:lpstr>Office Theme</vt:lpstr>
      <vt:lpstr>Application Development with C++ (ELEC362)</vt:lpstr>
      <vt:lpstr>Previous lecture</vt:lpstr>
      <vt:lpstr>This lecture</vt:lpstr>
      <vt:lpstr>Sequential vs non- sequential codes</vt:lpstr>
      <vt:lpstr>Selection structure : if-else</vt:lpstr>
      <vt:lpstr>Selection structure: if-else</vt:lpstr>
      <vt:lpstr>Selection structure: switch-case</vt:lpstr>
      <vt:lpstr>Repetition structure </vt:lpstr>
      <vt:lpstr>For loop</vt:lpstr>
      <vt:lpstr>Management of For loops</vt:lpstr>
      <vt:lpstr>Management of For loops</vt:lpstr>
      <vt:lpstr>While loop and Do-while loop</vt:lpstr>
      <vt:lpstr>How L4D2 works</vt:lpstr>
      <vt:lpstr>Practical Example: Event loop</vt:lpstr>
      <vt:lpstr>Practical Example: Event loop</vt:lpstr>
      <vt:lpstr>Functions in C++</vt:lpstr>
      <vt:lpstr>Functions declarations and arguments passing</vt:lpstr>
      <vt:lpstr>Arguments of the main function</vt:lpstr>
      <vt:lpstr>Exceptions and error handling</vt:lpstr>
      <vt:lpstr>Summary</vt:lpstr>
    </vt:vector>
  </TitlesOfParts>
  <Company>The University of Liverpool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Development with C++ (ELEC362)</dc:title>
  <dc:creator>Hasan, Mohammad [mihasan]</dc:creator>
  <cp:lastModifiedBy>Hasan, Mohammad [mihasan]</cp:lastModifiedBy>
  <cp:revision>517</cp:revision>
  <dcterms:created xsi:type="dcterms:W3CDTF">2019-05-09T14:26:54Z</dcterms:created>
  <dcterms:modified xsi:type="dcterms:W3CDTF">2024-09-27T13:45:12Z</dcterms:modified>
</cp:coreProperties>
</file>