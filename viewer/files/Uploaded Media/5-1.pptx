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13" r:id="rId3"/>
    <p:sldId id="257" r:id="rId4"/>
    <p:sldId id="258" r:id="rId5"/>
    <p:sldId id="304" r:id="rId6"/>
    <p:sldId id="316" r:id="rId7"/>
    <p:sldId id="306" r:id="rId8"/>
    <p:sldId id="305" r:id="rId9"/>
    <p:sldId id="317" r:id="rId10"/>
    <p:sldId id="307" r:id="rId11"/>
    <p:sldId id="314" r:id="rId12"/>
    <p:sldId id="290" r:id="rId13"/>
    <p:sldId id="315" r:id="rId14"/>
    <p:sldId id="309" r:id="rId15"/>
    <p:sldId id="318" r:id="rId16"/>
    <p:sldId id="311" r:id="rId17"/>
    <p:sldId id="3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8F9E7"/>
    <a:srgbClr val="008000"/>
    <a:srgbClr val="6F008A"/>
    <a:srgbClr val="660066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235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482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720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59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233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200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859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363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135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57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333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413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620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gsl/doc/html/diff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plusplus.com/reference/string/string/getline/" TargetMode="External"/><Relationship Id="rId4" Type="http://schemas.openxmlformats.org/officeDocument/2006/relationships/hyperlink" Target="https://sundials.readthedocs.io/en/v6.5.1/arkode/ARKodeButcherTable_link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5: Memory management 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Cases where the code may not run sequentially were discussed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If-else and switch-case structures were discussed under selection structures.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For loop, While and Do-while loops were discussed under repetition structures.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concept of event loops was discussed.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definition of functions and how they work was discussed.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Error handling was discussed. </a:t>
            </a:r>
          </a:p>
          <a:p>
            <a:pPr>
              <a:lnSpc>
                <a:spcPct val="120000"/>
              </a:lnSpc>
            </a:pPr>
            <a:endParaRPr lang="en-US" sz="2400" dirty="0">
              <a:highlight>
                <a:srgbClr val="FFFF00"/>
              </a:highlight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66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Pointers.        2. Memory </a:t>
            </a:r>
            <a:r>
              <a:rPr lang="en-GB" sz="2400" dirty="0" err="1"/>
              <a:t>managment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1. Pointers are vital for efficient memory management of any programme.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2. Memory management is the ultimate point of having pointers.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2 source codes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Pointers are variables that store the memory address of a variable of the same type , or memory location.</a:t>
            </a:r>
            <a:r>
              <a:rPr lang="en-US" sz="2400" dirty="0"/>
              <a:t>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Google style code requires                                                                                               the dereferencing operator “*” to be                                                                                  attached to either the data type or the variable’s name.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Pointers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56741" y="2536957"/>
            <a:ext cx="3151492" cy="5680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18002" y="2603075"/>
            <a:ext cx="3318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Number = 10; </a:t>
            </a:r>
            <a:endParaRPr lang="en-GB" sz="2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84428" y="3686800"/>
            <a:ext cx="5065666" cy="8057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984428" y="3671475"/>
            <a:ext cx="51066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Courier New"/>
                <a:cs typeface="Courier New"/>
              </a:rPr>
              <a:t>DataType</a:t>
            </a:r>
            <a:r>
              <a:rPr lang="en-US" sz="2400" b="1" dirty="0">
                <a:latin typeface="Courier New"/>
                <a:cs typeface="Courier New"/>
              </a:rPr>
              <a:t> *</a:t>
            </a:r>
            <a:r>
              <a:rPr lang="en-US" sz="2400" b="1" dirty="0" err="1">
                <a:latin typeface="Courier New"/>
                <a:cs typeface="Courier New"/>
              </a:rPr>
              <a:t>pVariableName</a:t>
            </a:r>
            <a:r>
              <a:rPr lang="en-US" sz="2400" b="1" dirty="0">
                <a:latin typeface="Courier New"/>
                <a:cs typeface="Courier New"/>
              </a:rPr>
              <a:t>;</a:t>
            </a:r>
          </a:p>
          <a:p>
            <a:r>
              <a:rPr lang="en-US" sz="2400" b="1" dirty="0" err="1">
                <a:solidFill>
                  <a:srgbClr val="0000FF"/>
                </a:solidFill>
                <a:latin typeface="Courier New"/>
                <a:cs typeface="Courier New"/>
              </a:rPr>
              <a:t>DataType</a:t>
            </a:r>
            <a:r>
              <a:rPr lang="en-US" sz="2400" b="1" dirty="0">
                <a:latin typeface="Courier New"/>
                <a:cs typeface="Courier New"/>
              </a:rPr>
              <a:t>* </a:t>
            </a:r>
            <a:r>
              <a:rPr lang="en-US" sz="2400" b="1" dirty="0" err="1">
                <a:latin typeface="Courier New"/>
                <a:cs typeface="Courier New"/>
              </a:rPr>
              <a:t>pVariableName</a:t>
            </a:r>
            <a:r>
              <a:rPr lang="en-US" sz="2400" b="1" dirty="0">
                <a:latin typeface="Courier New"/>
                <a:cs typeface="Courier New"/>
              </a:rPr>
              <a:t>;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4229458" y="2978870"/>
            <a:ext cx="3074573" cy="230435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269199" y="2056056"/>
            <a:ext cx="213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Memory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8523590" y="2593644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8523587" y="3053592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8523587" y="3507641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038685" y="3077881"/>
            <a:ext cx="737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10 </a:t>
            </a:r>
            <a:endParaRPr lang="en-GB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091061" y="3024475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091061" y="2534422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0x0001496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091060" y="3516347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8523587" y="4135638"/>
            <a:ext cx="1621769" cy="0"/>
          </a:xfrm>
          <a:prstGeom prst="line">
            <a:avLst/>
          </a:prstGeom>
          <a:ln w="38100">
            <a:prstDash val="solid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8523587" y="4010682"/>
            <a:ext cx="101" cy="228550"/>
          </a:xfrm>
          <a:prstGeom prst="line">
            <a:avLst/>
          </a:prstGeom>
          <a:ln w="38100"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10145356" y="3994576"/>
            <a:ext cx="101" cy="228550"/>
          </a:xfrm>
          <a:prstGeom prst="line">
            <a:avLst/>
          </a:prstGeom>
          <a:ln w="38100"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269198" y="4080268"/>
            <a:ext cx="213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4 -bytes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5551318" y="4191381"/>
            <a:ext cx="1530202" cy="670660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871547" y="4627625"/>
            <a:ext cx="213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Memory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9125932" y="5064192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625239" y="5023761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0x0001600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90973" y="3045532"/>
            <a:ext cx="1353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Number</a:t>
            </a:r>
            <a:endParaRPr lang="en-GB" sz="2400" dirty="0"/>
          </a:p>
        </p:txBody>
      </p:sp>
      <p:sp>
        <p:nvSpPr>
          <p:cNvPr id="60" name="Rectangle 59"/>
          <p:cNvSpPr/>
          <p:nvPr/>
        </p:nvSpPr>
        <p:spPr>
          <a:xfrm>
            <a:off x="6421674" y="4958231"/>
            <a:ext cx="27042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/>
                <a:cs typeface="Courier New"/>
              </a:rPr>
              <a:t>pVariableName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028144" y="5046596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0x0001544</a:t>
            </a:r>
          </a:p>
        </p:txBody>
      </p:sp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It is recommended to start the name of a pointer by “p”.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To initialise a pointer, the referencing operator “&amp;” should be used.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Examples: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The datatype of the pointer must match the datatype of the variable it is pointing to.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Pointers naming and initialisation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235425" y="3507236"/>
            <a:ext cx="6156666" cy="15727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235425" y="3371840"/>
            <a:ext cx="659813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Number{99};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*</a:t>
            </a:r>
            <a:r>
              <a:rPr lang="en-US" sz="2400" b="1" dirty="0" err="1">
                <a:latin typeface="Courier New"/>
                <a:cs typeface="Courier New"/>
              </a:rPr>
              <a:t>pNumber</a:t>
            </a:r>
            <a:r>
              <a:rPr lang="en-US" sz="2400" b="1" dirty="0">
                <a:latin typeface="Courier New"/>
                <a:cs typeface="Courier New"/>
              </a:rPr>
              <a:t>;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//Declare pointer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Courier New"/>
                <a:cs typeface="Courier New"/>
              </a:rPr>
              <a:t>pNumber</a:t>
            </a:r>
            <a:r>
              <a:rPr lang="en-US" sz="2400" b="1" dirty="0">
                <a:latin typeface="Courier New"/>
                <a:cs typeface="Courier New"/>
              </a:rPr>
              <a:t> = &amp;Number;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lang="en-US" sz="2400" b="1" dirty="0" err="1">
                <a:solidFill>
                  <a:srgbClr val="008000"/>
                </a:solidFill>
                <a:latin typeface="Courier New"/>
                <a:cs typeface="Courier New"/>
              </a:rPr>
              <a:t>Initialise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 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6458465" y="3507236"/>
            <a:ext cx="5594197" cy="15727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6458465" y="3353629"/>
            <a:ext cx="566057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Number{99};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//Declaration &amp; initialization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*</a:t>
            </a:r>
            <a:r>
              <a:rPr lang="en-US" sz="2400" b="1" dirty="0" err="1">
                <a:latin typeface="Courier New"/>
                <a:cs typeface="Courier New"/>
              </a:rPr>
              <a:t>pNumber</a:t>
            </a:r>
            <a:r>
              <a:rPr lang="en-US" sz="2400" b="1" dirty="0">
                <a:latin typeface="Courier New"/>
                <a:cs typeface="Courier New"/>
              </a:rPr>
              <a:t>{&amp;Number};</a:t>
            </a:r>
            <a:endParaRPr lang="en-US" sz="24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8302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70024"/>
            <a:ext cx="11032067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The two operators to handle pointer are the reference operator “&amp;” and the dereferencing operator “*”, what they do depends on where they appear.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Referencing and Dereferencing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6DECF9-C317-724C-D5D9-7FB63DA91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644383"/>
              </p:ext>
            </p:extLst>
          </p:nvPr>
        </p:nvGraphicFramePr>
        <p:xfrm>
          <a:off x="247260" y="2490631"/>
          <a:ext cx="11887202" cy="2503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4341694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  <a:gridCol w="6082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99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dereferencing operator “*” </a:t>
                      </a:r>
                      <a:endParaRPr lang="en-GB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reference operator “&amp;” </a:t>
                      </a:r>
                      <a:endParaRPr lang="en-GB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93922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+mn-lt"/>
                        </a:rPr>
                        <a:t>In a declaration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2000" b="1" dirty="0">
                          <a:latin typeface="Courier New"/>
                          <a:cs typeface="Courier New"/>
                        </a:rPr>
                        <a:t> *</a:t>
                      </a:r>
                      <a:r>
                        <a:rPr lang="en-US" sz="2000" b="1" dirty="0" err="1">
                          <a:latin typeface="Courier New"/>
                          <a:cs typeface="Courier New"/>
                        </a:rPr>
                        <a:t>pNumber</a:t>
                      </a:r>
                      <a:r>
                        <a:rPr lang="en-US" sz="2000" b="1" dirty="0">
                          <a:latin typeface="Courier New"/>
                          <a:cs typeface="Courier New"/>
                        </a:rPr>
                        <a:t>;</a:t>
                      </a:r>
                    </a:p>
                    <a:p>
                      <a:r>
                        <a:rPr lang="en-US" sz="2000" b="0" dirty="0">
                          <a:latin typeface="+mn-lt"/>
                          <a:cs typeface="Courier New"/>
                        </a:rPr>
                        <a:t>Means the variable </a:t>
                      </a:r>
                      <a:r>
                        <a:rPr lang="en-US" sz="2000" b="0" dirty="0" err="1">
                          <a:latin typeface="+mn-lt"/>
                          <a:cs typeface="Courier New"/>
                        </a:rPr>
                        <a:t>pNumber</a:t>
                      </a:r>
                      <a:r>
                        <a:rPr lang="en-US" sz="2000" b="0" dirty="0">
                          <a:latin typeface="+mn-lt"/>
                          <a:cs typeface="Courier New"/>
                        </a:rPr>
                        <a:t> must hold a memory address </a:t>
                      </a:r>
                      <a:endParaRPr lang="en-GB" sz="2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2000" b="1" dirty="0">
                          <a:latin typeface="Courier New"/>
                          <a:cs typeface="Courier New"/>
                        </a:rPr>
                        <a:t> &amp;</a:t>
                      </a:r>
                      <a:r>
                        <a:rPr lang="en-US" sz="2000" b="1" dirty="0" err="1">
                          <a:latin typeface="Courier New"/>
                          <a:cs typeface="Courier New"/>
                        </a:rPr>
                        <a:t>rNumber</a:t>
                      </a:r>
                      <a:r>
                        <a:rPr lang="en-US" sz="2000" b="1" dirty="0">
                          <a:latin typeface="Courier New"/>
                          <a:cs typeface="Courier New"/>
                        </a:rPr>
                        <a:t>=x;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n-lt"/>
                          <a:cs typeface="Courier New"/>
                        </a:rPr>
                        <a:t>Means the variable </a:t>
                      </a:r>
                      <a:r>
                        <a:rPr lang="en-US" sz="2000" b="0" dirty="0" err="1">
                          <a:latin typeface="+mn-lt"/>
                          <a:cs typeface="Courier New"/>
                        </a:rPr>
                        <a:t>rNumber</a:t>
                      </a:r>
                      <a:r>
                        <a:rPr lang="en-US" sz="2000" b="0" dirty="0">
                          <a:latin typeface="+mn-lt"/>
                          <a:cs typeface="Courier New"/>
                        </a:rPr>
                        <a:t> is another name of the variable x  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110097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+mn-lt"/>
                        </a:rPr>
                        <a:t>Elsewhere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Courier New"/>
                          <a:cs typeface="Courier New"/>
                        </a:rPr>
                        <a:t>cout</a:t>
                      </a:r>
                      <a:r>
                        <a:rPr lang="en-US" sz="2000" b="1" dirty="0">
                          <a:latin typeface="Courier New"/>
                          <a:cs typeface="Courier New"/>
                        </a:rPr>
                        <a:t> &lt;&lt; *</a:t>
                      </a:r>
                      <a:r>
                        <a:rPr lang="en-US" sz="2000" b="1" dirty="0" err="1">
                          <a:latin typeface="Courier New"/>
                          <a:cs typeface="Courier New"/>
                        </a:rPr>
                        <a:t>pNumber</a:t>
                      </a:r>
                      <a:r>
                        <a:rPr lang="en-US" sz="2000" b="1" dirty="0">
                          <a:latin typeface="Courier New"/>
                          <a:cs typeface="Courier New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n-lt"/>
                          <a:cs typeface="Courier New"/>
                        </a:rPr>
                        <a:t>Means </a:t>
                      </a:r>
                      <a:r>
                        <a:rPr lang="en-US" sz="2000" b="0" u="sng" dirty="0">
                          <a:latin typeface="+mn-lt"/>
                          <a:cs typeface="Courier New"/>
                        </a:rPr>
                        <a:t>read the value stored </a:t>
                      </a:r>
                      <a:r>
                        <a:rPr lang="en-US" sz="2000" b="0" dirty="0">
                          <a:latin typeface="+mn-lt"/>
                          <a:cs typeface="Courier New"/>
                        </a:rPr>
                        <a:t>in the memory address held in </a:t>
                      </a:r>
                      <a:r>
                        <a:rPr lang="en-US" sz="2000" b="0" dirty="0" err="1">
                          <a:latin typeface="+mn-lt"/>
                          <a:cs typeface="Courier New"/>
                        </a:rPr>
                        <a:t>pNumber</a:t>
                      </a:r>
                      <a:r>
                        <a:rPr lang="en-US" sz="2000" b="0" dirty="0">
                          <a:latin typeface="+mn-lt"/>
                          <a:cs typeface="Courier New"/>
                        </a:rPr>
                        <a:t>. 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Courier New"/>
                          <a:cs typeface="Courier New"/>
                        </a:rPr>
                        <a:t>pNumber</a:t>
                      </a:r>
                      <a:r>
                        <a:rPr lang="en-US" sz="2000" b="1" dirty="0">
                          <a:latin typeface="Courier New"/>
                          <a:cs typeface="Courier New"/>
                        </a:rPr>
                        <a:t>=&amp;x;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n-lt"/>
                          <a:cs typeface="Courier New"/>
                        </a:rPr>
                        <a:t>Means </a:t>
                      </a:r>
                      <a:r>
                        <a:rPr lang="en-US" sz="2000" b="0" u="sng" dirty="0">
                          <a:latin typeface="+mn-lt"/>
                          <a:cs typeface="Courier New"/>
                        </a:rPr>
                        <a:t>read the memory address </a:t>
                      </a:r>
                      <a:r>
                        <a:rPr lang="en-US" sz="2000" b="0" u="none" dirty="0">
                          <a:latin typeface="+mn-lt"/>
                          <a:cs typeface="Courier New"/>
                        </a:rPr>
                        <a:t>where the variable x is stored in the </a:t>
                      </a:r>
                      <a:r>
                        <a:rPr lang="en-US" sz="2000" b="0" dirty="0">
                          <a:latin typeface="+mn-lt"/>
                          <a:cs typeface="Courier New"/>
                        </a:rPr>
                        <a:t>memory. </a:t>
                      </a:r>
                      <a:endParaRPr lang="en-US" sz="200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F14A60B-3538-470D-75EA-AB28BC5B4331}"/>
              </a:ext>
            </a:extLst>
          </p:cNvPr>
          <p:cNvSpPr/>
          <p:nvPr/>
        </p:nvSpPr>
        <p:spPr>
          <a:xfrm>
            <a:off x="608667" y="5143000"/>
            <a:ext cx="3667405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Number=99;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err="1">
                <a:latin typeface="Courier New"/>
                <a:cs typeface="Courier New"/>
              </a:rPr>
              <a:t>rNumber</a:t>
            </a:r>
            <a:r>
              <a:rPr lang="en-US" sz="2400" b="1" dirty="0">
                <a:latin typeface="Courier New"/>
                <a:cs typeface="Courier New"/>
              </a:rPr>
              <a:t>=Number;</a:t>
            </a:r>
            <a:endParaRPr lang="en-US" sz="24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54093-7D9C-8844-43C7-2F009419CD20}"/>
              </a:ext>
            </a:extLst>
          </p:cNvPr>
          <p:cNvSpPr/>
          <p:nvPr/>
        </p:nvSpPr>
        <p:spPr>
          <a:xfrm>
            <a:off x="536622" y="5231536"/>
            <a:ext cx="3861211" cy="10656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84881B3-E29E-0D6B-31D5-C7C6DEF8D5AD}"/>
              </a:ext>
            </a:extLst>
          </p:cNvPr>
          <p:cNvSpPr/>
          <p:nvPr/>
        </p:nvSpPr>
        <p:spPr>
          <a:xfrm>
            <a:off x="4507341" y="5382434"/>
            <a:ext cx="1341948" cy="8020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B46B0F-9811-ADFB-C604-D333A8966CF3}"/>
              </a:ext>
            </a:extLst>
          </p:cNvPr>
          <p:cNvSpPr txBox="1"/>
          <p:nvPr/>
        </p:nvSpPr>
        <p:spPr>
          <a:xfrm>
            <a:off x="7276730" y="5029364"/>
            <a:ext cx="213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Memory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75E193-4E52-8DC3-ACB4-B26747B2F195}"/>
              </a:ext>
            </a:extLst>
          </p:cNvPr>
          <p:cNvSpPr/>
          <p:nvPr/>
        </p:nvSpPr>
        <p:spPr>
          <a:xfrm>
            <a:off x="7610866" y="5541556"/>
            <a:ext cx="1462271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AF577C-30EE-8BC2-FD73-BD8669DD0782}"/>
              </a:ext>
            </a:extLst>
          </p:cNvPr>
          <p:cNvSpPr/>
          <p:nvPr/>
        </p:nvSpPr>
        <p:spPr>
          <a:xfrm>
            <a:off x="5929887" y="5552629"/>
            <a:ext cx="1353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Number</a:t>
            </a:r>
            <a:endParaRPr lang="en-GB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48CEB5-B88F-30D2-7CB5-800F0CF010EF}"/>
              </a:ext>
            </a:extLst>
          </p:cNvPr>
          <p:cNvSpPr/>
          <p:nvPr/>
        </p:nvSpPr>
        <p:spPr>
          <a:xfrm>
            <a:off x="8098208" y="5534432"/>
            <a:ext cx="6258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99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B4CB1-ADEB-1EA4-19B7-80F50FB089DE}"/>
              </a:ext>
            </a:extLst>
          </p:cNvPr>
          <p:cNvSpPr/>
          <p:nvPr/>
        </p:nvSpPr>
        <p:spPr>
          <a:xfrm>
            <a:off x="7615215" y="5998759"/>
            <a:ext cx="1462271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3DD12F-B8DF-F678-DD73-5BEDF6203EE3}"/>
              </a:ext>
            </a:extLst>
          </p:cNvPr>
          <p:cNvSpPr/>
          <p:nvPr/>
        </p:nvSpPr>
        <p:spPr>
          <a:xfrm>
            <a:off x="8119975" y="5991635"/>
            <a:ext cx="6258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99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3B3389-50D8-712C-6629-9167D1691878}"/>
              </a:ext>
            </a:extLst>
          </p:cNvPr>
          <p:cNvSpPr/>
          <p:nvPr/>
        </p:nvSpPr>
        <p:spPr>
          <a:xfrm>
            <a:off x="5885841" y="6031210"/>
            <a:ext cx="1498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/>
                <a:cs typeface="Courier New"/>
              </a:rPr>
              <a:t>rNumber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5BA3A9-A032-8896-BFF1-C8B03A96220A}"/>
              </a:ext>
            </a:extLst>
          </p:cNvPr>
          <p:cNvSpPr txBox="1"/>
          <p:nvPr/>
        </p:nvSpPr>
        <p:spPr>
          <a:xfrm>
            <a:off x="9073137" y="6014294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07D9E4-58AD-7091-5151-3AA0B2E85702}"/>
              </a:ext>
            </a:extLst>
          </p:cNvPr>
          <p:cNvSpPr txBox="1"/>
          <p:nvPr/>
        </p:nvSpPr>
        <p:spPr>
          <a:xfrm>
            <a:off x="9073136" y="5529970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0x0001496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F9AF23-4198-C7DD-509F-B21593B42F5C}"/>
              </a:ext>
            </a:extLst>
          </p:cNvPr>
          <p:cNvCxnSpPr/>
          <p:nvPr/>
        </p:nvCxnSpPr>
        <p:spPr>
          <a:xfrm flipV="1">
            <a:off x="7283511" y="5793630"/>
            <a:ext cx="327355" cy="5035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6D928EE-3398-45B9-2414-9F6163BE90AA}"/>
              </a:ext>
            </a:extLst>
          </p:cNvPr>
          <p:cNvSpPr/>
          <p:nvPr/>
        </p:nvSpPr>
        <p:spPr>
          <a:xfrm>
            <a:off x="612332" y="5143000"/>
            <a:ext cx="4005889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Number=99;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&amp;</a:t>
            </a:r>
            <a:r>
              <a:rPr lang="en-US" sz="2400" b="1" dirty="0" err="1">
                <a:latin typeface="Courier New"/>
                <a:cs typeface="Courier New"/>
              </a:rPr>
              <a:t>rNumber</a:t>
            </a:r>
            <a:r>
              <a:rPr lang="en-US" sz="2400" b="1" dirty="0">
                <a:latin typeface="Courier New"/>
                <a:cs typeface="Courier New"/>
              </a:rPr>
              <a:t>=Number;</a:t>
            </a:r>
            <a:endParaRPr lang="en-US" sz="24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0575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7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70024"/>
            <a:ext cx="11032067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Example: 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/>
              <a:t>QUESTION: Is it better to use pointers or references?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Referencing and Dereferencing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38199" y="2010651"/>
            <a:ext cx="7290733" cy="28949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845138" y="1997839"/>
            <a:ext cx="750045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Number = 40;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*</a:t>
            </a:r>
            <a:r>
              <a:rPr lang="en-US" sz="2000" b="1" dirty="0" err="1">
                <a:latin typeface="Courier New"/>
                <a:cs typeface="Courier New"/>
              </a:rPr>
              <a:t>pNumber</a:t>
            </a:r>
            <a:r>
              <a:rPr lang="en-US" sz="2000" b="1" dirty="0">
                <a:latin typeface="Courier New"/>
                <a:cs typeface="Courier New"/>
              </a:rPr>
              <a:t> = &amp;Number;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Say its 0x0064fd</a:t>
            </a:r>
            <a:endParaRPr lang="en-GB" sz="2000" dirty="0">
              <a:solidFill>
                <a:srgbClr val="008000"/>
              </a:solidFill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&amp;</a:t>
            </a:r>
            <a:r>
              <a:rPr lang="en-US" sz="2000" b="1" dirty="0" err="1">
                <a:latin typeface="Courier New"/>
                <a:cs typeface="Courier New"/>
              </a:rPr>
              <a:t>rNumber</a:t>
            </a:r>
            <a:r>
              <a:rPr lang="en-US" sz="2000" b="1" dirty="0">
                <a:latin typeface="Courier New"/>
                <a:cs typeface="Courier New"/>
              </a:rPr>
              <a:t> = Number;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“Alias” variable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latin typeface="Courier New"/>
                <a:cs typeface="Courier New"/>
              </a:rPr>
              <a:t>std::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Number &lt;&lt; 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>
              <a:spcAft>
                <a:spcPts val="600"/>
              </a:spcAft>
            </a:pPr>
            <a:r>
              <a:rPr lang="en-US" sz="2000" b="1" dirty="0">
                <a:latin typeface="Courier New"/>
                <a:cs typeface="Courier New"/>
              </a:rPr>
              <a:t>std::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&amp;Number &lt;&lt; 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>
              <a:spcAft>
                <a:spcPts val="600"/>
              </a:spcAft>
            </a:pPr>
            <a:r>
              <a:rPr lang="en-US" sz="2000" b="1" dirty="0">
                <a:latin typeface="Courier New"/>
                <a:cs typeface="Courier New"/>
              </a:rPr>
              <a:t>std::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</a:t>
            </a:r>
            <a:r>
              <a:rPr lang="en-US" sz="2000" b="1" dirty="0" err="1">
                <a:latin typeface="Courier New"/>
                <a:cs typeface="Courier New"/>
              </a:rPr>
              <a:t>rNumber</a:t>
            </a:r>
            <a:r>
              <a:rPr lang="en-US" sz="2000" b="1" dirty="0">
                <a:latin typeface="Courier New"/>
                <a:cs typeface="Courier New"/>
              </a:rPr>
              <a:t> &lt;&lt; 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latin typeface="Courier New"/>
                <a:cs typeface="Courier New"/>
              </a:rPr>
              <a:t>std::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</a:t>
            </a:r>
            <a:r>
              <a:rPr lang="en-US" sz="2000" b="1" dirty="0" err="1">
                <a:latin typeface="Courier New"/>
                <a:cs typeface="Courier New"/>
              </a:rPr>
              <a:t>pNumber</a:t>
            </a:r>
            <a:r>
              <a:rPr lang="en-US" sz="2000" b="1" dirty="0">
                <a:latin typeface="Courier New"/>
                <a:cs typeface="Courier New"/>
              </a:rPr>
              <a:t> &lt;&lt; 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latin typeface="Courier New"/>
                <a:cs typeface="Courier New"/>
              </a:rPr>
              <a:t>std::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*</a:t>
            </a:r>
            <a:r>
              <a:rPr lang="en-US" sz="2000" b="1" dirty="0" err="1">
                <a:latin typeface="Courier New"/>
                <a:cs typeface="Courier New"/>
              </a:rPr>
              <a:t>pNumber</a:t>
            </a:r>
            <a:r>
              <a:rPr lang="en-US" sz="2000" b="1" dirty="0">
                <a:latin typeface="Courier New"/>
                <a:cs typeface="Courier New"/>
              </a:rPr>
              <a:t> &lt;&lt; 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 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9126D-D304-4D8A-9273-80F9AFA8E31D}"/>
              </a:ext>
            </a:extLst>
          </p:cNvPr>
          <p:cNvSpPr txBox="1"/>
          <p:nvPr/>
        </p:nvSpPr>
        <p:spPr>
          <a:xfrm>
            <a:off x="9117669" y="3557916"/>
            <a:ext cx="213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2791D4-9C6A-4426-BDD4-1E262280864A}"/>
              </a:ext>
            </a:extLst>
          </p:cNvPr>
          <p:cNvSpPr/>
          <p:nvPr/>
        </p:nvSpPr>
        <p:spPr>
          <a:xfrm>
            <a:off x="9451805" y="4070108"/>
            <a:ext cx="1462271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83222-A16D-4FFF-8478-2C7111B1F458}"/>
              </a:ext>
            </a:extLst>
          </p:cNvPr>
          <p:cNvSpPr txBox="1"/>
          <p:nvPr/>
        </p:nvSpPr>
        <p:spPr>
          <a:xfrm>
            <a:off x="10717749" y="4052215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0x0064fd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5E942-743F-4FCC-A5E4-B4564C2D7B3D}"/>
              </a:ext>
            </a:extLst>
          </p:cNvPr>
          <p:cNvSpPr/>
          <p:nvPr/>
        </p:nvSpPr>
        <p:spPr>
          <a:xfrm>
            <a:off x="8196017" y="3854416"/>
            <a:ext cx="1353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Number</a:t>
            </a:r>
            <a:endParaRPr lang="en-GB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107C74-915F-405D-88EA-968213F50C79}"/>
              </a:ext>
            </a:extLst>
          </p:cNvPr>
          <p:cNvSpPr/>
          <p:nvPr/>
        </p:nvSpPr>
        <p:spPr>
          <a:xfrm>
            <a:off x="9939147" y="4062984"/>
            <a:ext cx="6258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40</a:t>
            </a:r>
            <a:endParaRPr lang="en-GB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B53B7-2D22-4A61-B6DC-F0D604192680}"/>
              </a:ext>
            </a:extLst>
          </p:cNvPr>
          <p:cNvSpPr/>
          <p:nvPr/>
        </p:nvSpPr>
        <p:spPr>
          <a:xfrm>
            <a:off x="8044494" y="4191859"/>
            <a:ext cx="14622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&amp;Number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2975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The name of any array in C++ is a memory address, which can be used to initialize a pointer to access and manipulate the elements of the array.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Example: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Pointers and arrays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28404" y="3312830"/>
            <a:ext cx="7693321" cy="22657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929692" y="3177893"/>
            <a:ext cx="768090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Data[4]{1,2,3,4};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*</a:t>
            </a:r>
            <a:r>
              <a:rPr lang="en-US" sz="2000" b="1" dirty="0" err="1">
                <a:latin typeface="Courier New"/>
                <a:cs typeface="Courier New"/>
              </a:rPr>
              <a:t>pData</a:t>
            </a:r>
            <a:r>
              <a:rPr lang="en-US" sz="2000" b="1" dirty="0">
                <a:latin typeface="Courier New"/>
                <a:cs typeface="Courier New"/>
              </a:rPr>
              <a:t>{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nullptr</a:t>
            </a:r>
            <a:r>
              <a:rPr lang="en-US" sz="2000" b="1" dirty="0">
                <a:latin typeface="Courier New"/>
                <a:cs typeface="Courier New"/>
              </a:rPr>
              <a:t>};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Points nowhere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Courier New"/>
                <a:cs typeface="Courier New"/>
              </a:rPr>
              <a:t>pData</a:t>
            </a:r>
            <a:r>
              <a:rPr lang="en-US" sz="2000" b="1" dirty="0">
                <a:latin typeface="Courier New"/>
                <a:cs typeface="Courier New"/>
              </a:rPr>
              <a:t> = Data;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Equivalent to </a:t>
            </a:r>
            <a:r>
              <a:rPr lang="en-US" sz="2000" b="1" dirty="0" err="1">
                <a:solidFill>
                  <a:srgbClr val="008000"/>
                </a:solidFill>
                <a:latin typeface="Courier New"/>
                <a:cs typeface="Courier New"/>
              </a:rPr>
              <a:t>pData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=&amp;Data[0];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Courier New"/>
                <a:cs typeface="Courier New"/>
              </a:rPr>
              <a:t>std</a:t>
            </a:r>
            <a:r>
              <a:rPr lang="en-US" sz="2000" b="1" dirty="0">
                <a:latin typeface="Courier New"/>
                <a:cs typeface="Courier New"/>
              </a:rPr>
              <a:t>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&lt;&lt;*(pData+2)&lt;&lt;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Courier New"/>
                <a:cs typeface="Courier New"/>
              </a:rPr>
              <a:t>std</a:t>
            </a:r>
            <a:r>
              <a:rPr lang="en-US" sz="2000" b="1" dirty="0">
                <a:latin typeface="Courier New"/>
                <a:cs typeface="Courier New"/>
              </a:rPr>
              <a:t>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&lt;&lt;Data&lt;&lt;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259744" y="2843650"/>
            <a:ext cx="761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8829597" y="3312830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8829594" y="3781473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8829594" y="4244245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436864" y="3800342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2 </a:t>
            </a:r>
            <a:endParaRPr lang="en-GB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397068" y="3761079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397068" y="3271026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0x0001496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397067" y="4252951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8829594" y="4709217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397066" y="4716427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36864" y="3308452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1 </a:t>
            </a:r>
            <a:endParaRPr lang="en-GB" sz="2400" dirty="0"/>
          </a:p>
        </p:txBody>
      </p:sp>
      <p:sp>
        <p:nvSpPr>
          <p:cNvPr id="31" name="Rectangle 30"/>
          <p:cNvSpPr/>
          <p:nvPr/>
        </p:nvSpPr>
        <p:spPr>
          <a:xfrm>
            <a:off x="9436864" y="4276947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3 </a:t>
            </a:r>
            <a:endParaRPr lang="en-GB" sz="2400" dirty="0"/>
          </a:p>
        </p:txBody>
      </p:sp>
      <p:sp>
        <p:nvSpPr>
          <p:cNvPr id="32" name="Rectangle 31"/>
          <p:cNvSpPr/>
          <p:nvPr/>
        </p:nvSpPr>
        <p:spPr>
          <a:xfrm>
            <a:off x="9445331" y="4732889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4 </a:t>
            </a:r>
            <a:endParaRPr lang="en-GB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828404" y="5638317"/>
            <a:ext cx="10834509" cy="1083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28404" y="5572738"/>
            <a:ext cx="10834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Make sure your code does not access memory locations beyond the array’s 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After a pointer is not needed, reinitialise it to </a:t>
            </a:r>
            <a:r>
              <a:rPr lang="en-US" sz="2400" b="1" dirty="0" err="1">
                <a:solidFill>
                  <a:srgbClr val="0000FF"/>
                </a:solidFill>
                <a:latin typeface="Courier New"/>
                <a:cs typeface="Courier New"/>
              </a:rPr>
              <a:t>nullptr</a:t>
            </a:r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282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Pointers are the key to memory management of a code.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Mostly this is done by two strategies enabled by pointers: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400" dirty="0"/>
              <a:t>Dynamic memory allocations: Leaving it to the user to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       decide how much memory is needed and for how long.</a:t>
            </a:r>
          </a:p>
          <a:p>
            <a:pPr marL="457200" indent="-457200">
              <a:lnSpc>
                <a:spcPct val="120000"/>
              </a:lnSpc>
              <a:buAutoNum type="arabicPeriod" startAt="2"/>
            </a:pPr>
            <a:r>
              <a:rPr lang="en-US" sz="2400" dirty="0"/>
              <a:t>Avoiding copying in memory: using pointer to pass data                                                            to functions prevent replication.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From Lecture 10 onwards, things will be simpler!! </a:t>
            </a: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are pointers a thing?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r/ProgrammerHumor - why c++ is so hard">
            <a:extLst>
              <a:ext uri="{FF2B5EF4-FFF2-40B4-BE49-F238E27FC236}">
                <a16:creationId xmlns:a16="http://schemas.microsoft.com/office/drawing/2014/main" id="{E42DB481-DC21-76CC-C8F4-AC155C3BF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933" y="1546951"/>
            <a:ext cx="3326675" cy="4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859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79"/>
            <a:ext cx="113538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Programs use static memory (the stack) and dynamic memory (the heap).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Pointers are the only way the programme can have access to dynamic memory.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Pointers can access dynamic memory through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2400" dirty="0"/>
              <a:t> keyword (for allocation) and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GB" sz="2400" dirty="0"/>
              <a:t> (for freeing memory).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new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delete </a:t>
            </a:r>
            <a:r>
              <a:rPr lang="en-GB" sz="2400" dirty="0"/>
              <a:t>(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delete [] </a:t>
            </a:r>
            <a:r>
              <a:rPr lang="en-GB" sz="2400" dirty="0"/>
              <a:t>for arrays) </a:t>
            </a:r>
            <a:r>
              <a:rPr lang="en-GB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must operate on the same memory location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L5D1.cpp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Dynamic memory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C89B2AE-2D2E-4507-8E92-F853796E6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430546"/>
              </p:ext>
            </p:extLst>
          </p:nvPr>
        </p:nvGraphicFramePr>
        <p:xfrm>
          <a:off x="838200" y="2605935"/>
          <a:ext cx="1118558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323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  <a:gridCol w="5723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bg1"/>
                          </a:solidFill>
                        </a:rPr>
                        <a:t>Static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bg1"/>
                          </a:solidFill>
                        </a:rPr>
                        <a:t>Dynamic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+mn-lt"/>
                        </a:rPr>
                        <a:t>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Allocation is done at compile-time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 Allocation can be done at compile time or</a:t>
                      </a:r>
                      <a:r>
                        <a:rPr lang="en-GB" sz="2000" baseline="0" dirty="0"/>
                        <a:t> run-time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+mn-lt"/>
                        </a:rPr>
                        <a:t>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As</a:t>
                      </a:r>
                      <a:r>
                        <a:rPr lang="en-GB" sz="2000" baseline="0" dirty="0"/>
                        <a:t> long as the programme is running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Can be controlled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+mn-lt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Fixed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latin typeface="+mn-lt"/>
                        </a:rPr>
                        <a:t>Variable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0587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55132" y="6287954"/>
            <a:ext cx="9127068" cy="454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38200" y="6308079"/>
            <a:ext cx="8951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 </a:t>
            </a:r>
            <a:r>
              <a:rPr lang="en-GB" sz="2400" dirty="0"/>
              <a:t>Maximise the use of dynamic memory in your code. </a:t>
            </a:r>
          </a:p>
        </p:txBody>
      </p:sp>
    </p:spTree>
    <p:extLst>
      <p:ext uri="{BB962C8B-B14F-4D97-AF65-F5344CB8AC3E}">
        <p14:creationId xmlns:p14="http://schemas.microsoft.com/office/powerpoint/2010/main" val="129698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79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This is how code L5D1 works: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Dynamic memory allocation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359264" y="2203531"/>
            <a:ext cx="154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pdynArray</a:t>
            </a:r>
            <a:endParaRPr lang="en-GB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6083742" y="2235645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55480" y="2698796"/>
            <a:ext cx="174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ptempArray</a:t>
            </a:r>
            <a:endParaRPr lang="en-GB" sz="2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1837326" y="2489802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409335" y="2258969"/>
            <a:ext cx="546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/>
              <a:t>φ</a:t>
            </a:r>
            <a:endParaRPr lang="en-GB" sz="24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1940206" y="2953762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439412" y="2720634"/>
            <a:ext cx="546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/>
              <a:t>φ</a:t>
            </a:r>
            <a:endParaRPr lang="en-GB" sz="2400" dirty="0"/>
          </a:p>
        </p:txBody>
      </p:sp>
      <p:sp>
        <p:nvSpPr>
          <p:cNvPr id="8" name="Right Arrow 7"/>
          <p:cNvSpPr/>
          <p:nvPr/>
        </p:nvSpPr>
        <p:spPr>
          <a:xfrm>
            <a:off x="3013300" y="2257165"/>
            <a:ext cx="892311" cy="842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3889872" y="2254331"/>
            <a:ext cx="154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pdynArray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3786088" y="2749596"/>
            <a:ext cx="174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ptempArray</a:t>
            </a:r>
            <a:endParaRPr lang="en-GB" sz="24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5367934" y="2540602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5470814" y="3004562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6078607" y="2881850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6596789" y="2882430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287524" y="2257165"/>
            <a:ext cx="892311" cy="842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0435620" y="2201778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241750" y="2220464"/>
            <a:ext cx="154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pdynArray</a:t>
            </a:r>
            <a:endParaRPr lang="en-GB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137966" y="2715729"/>
            <a:ext cx="174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ptempArray</a:t>
            </a:r>
            <a:endParaRPr lang="en-GB" sz="24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9719812" y="2506735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9822692" y="2970695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0430485" y="2847983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0948667" y="2848563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502647" y="2201778"/>
            <a:ext cx="403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10704150" y="2540602"/>
            <a:ext cx="0" cy="448131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502647" y="2894746"/>
            <a:ext cx="403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</a:t>
            </a:r>
          </a:p>
        </p:txBody>
      </p:sp>
      <p:sp>
        <p:nvSpPr>
          <p:cNvPr id="41" name="Right Arrow 40"/>
          <p:cNvSpPr/>
          <p:nvPr/>
        </p:nvSpPr>
        <p:spPr>
          <a:xfrm rot="5400000">
            <a:off x="9376536" y="3467461"/>
            <a:ext cx="892311" cy="842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360285" y="4413335"/>
            <a:ext cx="154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pdynArray</a:t>
            </a:r>
            <a:endParaRPr lang="en-GB" sz="2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256501" y="4908600"/>
            <a:ext cx="174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ptempArray</a:t>
            </a:r>
            <a:endParaRPr lang="en-GB" sz="24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9838347" y="4699606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9941227" y="5163566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0549020" y="5040854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1067202" y="5041434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588157" y="4421028"/>
            <a:ext cx="546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/>
              <a:t>φ</a:t>
            </a:r>
            <a:endParaRPr lang="en-GB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644030" y="5038383"/>
            <a:ext cx="403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</a:t>
            </a:r>
          </a:p>
        </p:txBody>
      </p:sp>
      <p:sp>
        <p:nvSpPr>
          <p:cNvPr id="51" name="Right Arrow 50"/>
          <p:cNvSpPr/>
          <p:nvPr/>
        </p:nvSpPr>
        <p:spPr>
          <a:xfrm rot="18740312" flipH="1">
            <a:off x="7428023" y="5000071"/>
            <a:ext cx="892311" cy="842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4380939" y="5361606"/>
            <a:ext cx="154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pdynArray</a:t>
            </a:r>
            <a:endParaRPr lang="en-GB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4277155" y="5856871"/>
            <a:ext cx="174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ptempArray</a:t>
            </a:r>
            <a:endParaRPr lang="en-GB" sz="2400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5859001" y="5647877"/>
            <a:ext cx="646027" cy="425046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5961881" y="6111837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6569674" y="5989125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7087856" y="5989705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6664684" y="5986654"/>
            <a:ext cx="403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</a:t>
            </a:r>
          </a:p>
        </p:txBody>
      </p:sp>
      <p:sp>
        <p:nvSpPr>
          <p:cNvPr id="61" name="Right Arrow 60"/>
          <p:cNvSpPr/>
          <p:nvPr/>
        </p:nvSpPr>
        <p:spPr>
          <a:xfrm flipH="1">
            <a:off x="3523738" y="5351147"/>
            <a:ext cx="892311" cy="842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9190" y="5201435"/>
            <a:ext cx="154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pdynArray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5356" y="5721282"/>
            <a:ext cx="174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ptempArray</a:t>
            </a:r>
            <a:endParaRPr lang="en-GB" sz="24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1744904" y="5978090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2336324" y="5244052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2854506" y="5244632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431334" y="5241581"/>
            <a:ext cx="403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1670919" y="5452828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342890" y="5795976"/>
            <a:ext cx="546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/>
              <a:t>φ</a:t>
            </a:r>
            <a:endParaRPr lang="en-GB" sz="2400" dirty="0"/>
          </a:p>
        </p:txBody>
      </p:sp>
      <p:sp>
        <p:nvSpPr>
          <p:cNvPr id="71" name="Right Arrow 70"/>
          <p:cNvSpPr/>
          <p:nvPr/>
        </p:nvSpPr>
        <p:spPr>
          <a:xfrm rot="8797126" flipH="1">
            <a:off x="1525555" y="4337117"/>
            <a:ext cx="892311" cy="842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459861" y="3821368"/>
            <a:ext cx="154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pdynArray</a:t>
            </a:r>
            <a:endParaRPr lang="en-GB" sz="2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396027" y="4341215"/>
            <a:ext cx="174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ptempArray</a:t>
            </a:r>
            <a:endParaRPr lang="en-GB" sz="2400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4115575" y="4598023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4706995" y="3863985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5225177" y="3864565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4041590" y="4072761"/>
            <a:ext cx="533340" cy="1874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4751897" y="3893687"/>
            <a:ext cx="403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4732391" y="4473582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5250573" y="4474162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5776498" y="4473582"/>
            <a:ext cx="508267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536671" y="1653308"/>
            <a:ext cx="20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User input: 5</a:t>
            </a:r>
          </a:p>
        </p:txBody>
      </p:sp>
      <p:sp>
        <p:nvSpPr>
          <p:cNvPr id="85" name="Right Arrow 84"/>
          <p:cNvSpPr/>
          <p:nvPr/>
        </p:nvSpPr>
        <p:spPr>
          <a:xfrm rot="9450218" flipH="1">
            <a:off x="6329369" y="3489407"/>
            <a:ext cx="2069250" cy="842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36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19" grpId="0"/>
      <p:bldP spid="20" grpId="0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6" grpId="0" animBg="1"/>
      <p:bldP spid="37" grpId="0" animBg="1"/>
      <p:bldP spid="38" grpId="0"/>
      <p:bldP spid="40" grpId="0"/>
      <p:bldP spid="41" grpId="0" animBg="1"/>
      <p:bldP spid="43" grpId="0"/>
      <p:bldP spid="44" grpId="0"/>
      <p:bldP spid="47" grpId="0" animBg="1"/>
      <p:bldP spid="48" grpId="0" animBg="1"/>
      <p:bldP spid="49" grpId="0"/>
      <p:bldP spid="50" grpId="0"/>
      <p:bldP spid="51" grpId="0" animBg="1"/>
      <p:bldP spid="52" grpId="0"/>
      <p:bldP spid="53" grpId="0"/>
      <p:bldP spid="56" grpId="0" animBg="1"/>
      <p:bldP spid="57" grpId="0" animBg="1"/>
      <p:bldP spid="59" grpId="0"/>
      <p:bldP spid="61" grpId="0" animBg="1"/>
      <p:bldP spid="62" grpId="0"/>
      <p:bldP spid="63" grpId="0"/>
      <p:bldP spid="66" grpId="0" animBg="1"/>
      <p:bldP spid="67" grpId="0" animBg="1"/>
      <p:bldP spid="68" grpId="0"/>
      <p:bldP spid="70" grpId="0"/>
      <p:bldP spid="71" grpId="0" animBg="1"/>
      <p:bldP spid="72" grpId="0"/>
      <p:bldP spid="73" grpId="0"/>
      <p:bldP spid="75" grpId="0" animBg="1"/>
      <p:bldP spid="76" grpId="0" animBg="1"/>
      <p:bldP spid="79" grpId="0"/>
      <p:bldP spid="80" grpId="0" animBg="1"/>
      <p:bldP spid="81" grpId="0" animBg="1"/>
      <p:bldP spid="83" grpId="0" animBg="1"/>
      <p:bldP spid="84" grpId="0"/>
      <p:bldP spid="8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Passing data to functions using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4697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In Lecture 4, we discussed simple functions of the type: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The main limitation of simple functions is that they can only return one variable.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use of pointers and references allow us to do this instead: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L5D2.cpp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58281" y="2117904"/>
            <a:ext cx="11075437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return_type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FunctionName</a:t>
            </a:r>
            <a:r>
              <a:rPr lang="en-US" sz="2000" b="1" dirty="0">
                <a:latin typeface="Courier New"/>
                <a:cs typeface="Courier New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datatype </a:t>
            </a:r>
            <a:r>
              <a:rPr lang="en-US" sz="2000" b="1" dirty="0">
                <a:latin typeface="Courier New"/>
                <a:cs typeface="Courier New"/>
              </a:rPr>
              <a:t>arg1,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datatype </a:t>
            </a:r>
            <a:r>
              <a:rPr lang="en-US" sz="2000" b="1" dirty="0">
                <a:latin typeface="Courier New"/>
                <a:cs typeface="Courier New"/>
              </a:rPr>
              <a:t>arg2){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latin typeface="Courier New"/>
                <a:cs typeface="Courier New"/>
              </a:rPr>
              <a:t>output;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latin typeface="Courier New"/>
                <a:cs typeface="Courier New"/>
              </a:rPr>
              <a:t>}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570043" y="2199076"/>
            <a:ext cx="10953173" cy="5155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2A420-CA44-3938-A7AD-7167EB3C1570}"/>
              </a:ext>
            </a:extLst>
          </p:cNvPr>
          <p:cNvSpPr/>
          <p:nvPr/>
        </p:nvSpPr>
        <p:spPr>
          <a:xfrm>
            <a:off x="623391" y="4224571"/>
            <a:ext cx="11075437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void </a:t>
            </a:r>
            <a:r>
              <a:rPr lang="en-US" sz="2000" b="1" dirty="0" err="1">
                <a:latin typeface="Courier New"/>
                <a:cs typeface="Courier New"/>
              </a:rPr>
              <a:t>FunctionName</a:t>
            </a:r>
            <a:r>
              <a:rPr lang="en-US" sz="2000" b="1" dirty="0">
                <a:latin typeface="Courier New"/>
                <a:cs typeface="Courier New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datatype&amp; </a:t>
            </a:r>
            <a:r>
              <a:rPr lang="en-US" sz="2000" b="1" dirty="0">
                <a:latin typeface="Courier New"/>
                <a:cs typeface="Courier New"/>
              </a:rPr>
              <a:t>arg1,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datatype&amp; </a:t>
            </a:r>
            <a:r>
              <a:rPr lang="en-US" sz="2000" b="1" dirty="0">
                <a:latin typeface="Courier New"/>
                <a:cs typeface="Courier New"/>
              </a:rPr>
              <a:t>arg2,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datatype&amp; </a:t>
            </a:r>
            <a:r>
              <a:rPr lang="en-US" sz="2000" b="1" dirty="0">
                <a:latin typeface="Courier New"/>
                <a:cs typeface="Courier New"/>
              </a:rPr>
              <a:t>arg3,..){}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1E7A6A-270E-372D-415D-699E74839A5F}"/>
              </a:ext>
            </a:extLst>
          </p:cNvPr>
          <p:cNvSpPr/>
          <p:nvPr/>
        </p:nvSpPr>
        <p:spPr>
          <a:xfrm>
            <a:off x="530848" y="4267365"/>
            <a:ext cx="10953173" cy="5155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A89CD7A-1CB7-B503-4E5D-4A393D78C17B}"/>
              </a:ext>
            </a:extLst>
          </p:cNvPr>
          <p:cNvSpPr/>
          <p:nvPr/>
        </p:nvSpPr>
        <p:spPr>
          <a:xfrm rot="5400000">
            <a:off x="6928641" y="1319862"/>
            <a:ext cx="355109" cy="7402289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38BEA4-3DB0-8AFB-9724-7719AE588AA4}"/>
              </a:ext>
            </a:extLst>
          </p:cNvPr>
          <p:cNvSpPr txBox="1"/>
          <p:nvPr/>
        </p:nvSpPr>
        <p:spPr>
          <a:xfrm>
            <a:off x="5477692" y="5230804"/>
            <a:ext cx="3257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These can be input and output at the same time!!!</a:t>
            </a:r>
          </a:p>
        </p:txBody>
      </p:sp>
    </p:spTree>
    <p:extLst>
      <p:ext uri="{BB962C8B-B14F-4D97-AF65-F5344CB8AC3E}">
        <p14:creationId xmlns:p14="http://schemas.microsoft.com/office/powerpoint/2010/main" val="135191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90">
            <a:extLst>
              <a:ext uri="{FF2B5EF4-FFF2-40B4-BE49-F238E27FC236}">
                <a16:creationId xmlns:a16="http://schemas.microsoft.com/office/drawing/2014/main" id="{A6FE92EB-2B01-484A-BB39-92F84DEE8B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3" y="2064116"/>
            <a:ext cx="2413820" cy="24138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79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This is how code L5D2 works: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Arguments passing in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209D5561-4F82-462F-AD25-071F4298FC3B}"/>
              </a:ext>
            </a:extLst>
          </p:cNvPr>
          <p:cNvSpPr/>
          <p:nvPr/>
        </p:nvSpPr>
        <p:spPr>
          <a:xfrm>
            <a:off x="3456262" y="2893380"/>
            <a:ext cx="895993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A38F674-3CDA-4066-9EA3-733AF6D5587F}"/>
              </a:ext>
            </a:extLst>
          </p:cNvPr>
          <p:cNvSpPr/>
          <p:nvPr/>
        </p:nvSpPr>
        <p:spPr>
          <a:xfrm>
            <a:off x="3456263" y="3362023"/>
            <a:ext cx="89598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5F1A452-AD99-46BE-86BB-8ECAC69FB761}"/>
              </a:ext>
            </a:extLst>
          </p:cNvPr>
          <p:cNvSpPr/>
          <p:nvPr/>
        </p:nvSpPr>
        <p:spPr>
          <a:xfrm>
            <a:off x="3669682" y="3372885"/>
            <a:ext cx="737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10 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6797B8F-6F12-4417-A2AB-22A0B6700F46}"/>
              </a:ext>
            </a:extLst>
          </p:cNvPr>
          <p:cNvSpPr txBox="1"/>
          <p:nvPr/>
        </p:nvSpPr>
        <p:spPr>
          <a:xfrm>
            <a:off x="4302489" y="3372885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F03C51-55B4-40C6-A61F-8771ACE75B94}"/>
              </a:ext>
            </a:extLst>
          </p:cNvPr>
          <p:cNvSpPr txBox="1"/>
          <p:nvPr/>
        </p:nvSpPr>
        <p:spPr>
          <a:xfrm>
            <a:off x="4302490" y="2842660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0x0001496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A9F6641-823D-44FE-A4B1-FE079658BCDE}"/>
              </a:ext>
            </a:extLst>
          </p:cNvPr>
          <p:cNvSpPr/>
          <p:nvPr/>
        </p:nvSpPr>
        <p:spPr>
          <a:xfrm>
            <a:off x="3648423" y="2887615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1 </a:t>
            </a:r>
            <a:endParaRPr lang="en-GB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DACF77-4381-4026-870B-547CCC04BA77}"/>
              </a:ext>
            </a:extLst>
          </p:cNvPr>
          <p:cNvSpPr/>
          <p:nvPr/>
        </p:nvSpPr>
        <p:spPr>
          <a:xfrm>
            <a:off x="1283516" y="2994870"/>
            <a:ext cx="457118" cy="459194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F247A1-F360-44E9-A18D-26F0D4E54605}"/>
              </a:ext>
            </a:extLst>
          </p:cNvPr>
          <p:cNvSpPr/>
          <p:nvPr/>
        </p:nvSpPr>
        <p:spPr>
          <a:xfrm>
            <a:off x="545974" y="2439131"/>
            <a:ext cx="1475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Memory </a:t>
            </a:r>
            <a:endParaRPr lang="en-GB" sz="2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548144-436D-4CF8-9B67-01A4B784E5C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512075" y="2743899"/>
            <a:ext cx="1510019" cy="2509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FFDF3A-1643-4A34-8551-469F1035A40B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512075" y="3454064"/>
            <a:ext cx="1510019" cy="20731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75D5970-F36E-4191-BD0C-0A2FD2554042}"/>
              </a:ext>
            </a:extLst>
          </p:cNvPr>
          <p:cNvSpPr/>
          <p:nvPr/>
        </p:nvSpPr>
        <p:spPr>
          <a:xfrm>
            <a:off x="3022094" y="2743899"/>
            <a:ext cx="3073906" cy="278335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F9B666F-409B-49A6-AA8A-37E3D3065F0D}"/>
              </a:ext>
            </a:extLst>
          </p:cNvPr>
          <p:cNvSpPr txBox="1"/>
          <p:nvPr/>
        </p:nvSpPr>
        <p:spPr>
          <a:xfrm>
            <a:off x="3039491" y="2893380"/>
            <a:ext cx="422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824E05E-42CF-4CCF-92CD-25619DEC89E1}"/>
              </a:ext>
            </a:extLst>
          </p:cNvPr>
          <p:cNvSpPr txBox="1"/>
          <p:nvPr/>
        </p:nvSpPr>
        <p:spPr>
          <a:xfrm>
            <a:off x="3039849" y="3355045"/>
            <a:ext cx="422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A2DE27-8393-4CCD-B9E8-1C4367BEBD46}"/>
              </a:ext>
            </a:extLst>
          </p:cNvPr>
          <p:cNvSpPr/>
          <p:nvPr/>
        </p:nvSpPr>
        <p:spPr>
          <a:xfrm>
            <a:off x="7207728" y="3875412"/>
            <a:ext cx="4458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void </a:t>
            </a:r>
            <a:r>
              <a:rPr lang="en-US" b="1" dirty="0" err="1">
                <a:latin typeface="Courier New"/>
                <a:cs typeface="Courier New"/>
              </a:rPr>
              <a:t>SwapByValue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lang="en-US" b="1" dirty="0" err="1">
                <a:latin typeface="Courier New"/>
                <a:cs typeface="Courier New"/>
              </a:rPr>
              <a:t>x,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y); </a:t>
            </a:r>
            <a:endParaRPr lang="en-GB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5B66182-DF9D-4BA5-A370-5EFF44326A26}"/>
              </a:ext>
            </a:extLst>
          </p:cNvPr>
          <p:cNvSpPr/>
          <p:nvPr/>
        </p:nvSpPr>
        <p:spPr>
          <a:xfrm>
            <a:off x="7494725" y="3866646"/>
            <a:ext cx="4458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void </a:t>
            </a:r>
            <a:r>
              <a:rPr lang="en-US" b="1" dirty="0" err="1">
                <a:latin typeface="Courier New"/>
                <a:cs typeface="Courier New"/>
              </a:rPr>
              <a:t>SwapByRef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&amp;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x,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&amp;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y); </a:t>
            </a:r>
            <a:endParaRPr lang="en-GB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A0603C4-DE3D-43E8-B8B1-25FB1F2E34C7}"/>
              </a:ext>
            </a:extLst>
          </p:cNvPr>
          <p:cNvSpPr/>
          <p:nvPr/>
        </p:nvSpPr>
        <p:spPr>
          <a:xfrm>
            <a:off x="3466049" y="4337686"/>
            <a:ext cx="895993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6708A6D-3887-4132-A791-2156970F6EB5}"/>
              </a:ext>
            </a:extLst>
          </p:cNvPr>
          <p:cNvSpPr/>
          <p:nvPr/>
        </p:nvSpPr>
        <p:spPr>
          <a:xfrm>
            <a:off x="3466050" y="4806329"/>
            <a:ext cx="89598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FFC506B-4595-4625-A7A1-3C262D3D18F7}"/>
              </a:ext>
            </a:extLst>
          </p:cNvPr>
          <p:cNvSpPr/>
          <p:nvPr/>
        </p:nvSpPr>
        <p:spPr>
          <a:xfrm>
            <a:off x="3679469" y="4817191"/>
            <a:ext cx="737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10 </a:t>
            </a:r>
            <a:endParaRPr lang="en-GB" sz="2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2AD94CA-5A33-40FB-876A-F5DB7A4940D6}"/>
              </a:ext>
            </a:extLst>
          </p:cNvPr>
          <p:cNvSpPr txBox="1"/>
          <p:nvPr/>
        </p:nvSpPr>
        <p:spPr>
          <a:xfrm>
            <a:off x="4312276" y="4817191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0x0001600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357827-277A-46D3-8473-CD832C9556E0}"/>
              </a:ext>
            </a:extLst>
          </p:cNvPr>
          <p:cNvSpPr txBox="1"/>
          <p:nvPr/>
        </p:nvSpPr>
        <p:spPr>
          <a:xfrm>
            <a:off x="4312277" y="4286966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0x0001596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10B53BE-B19C-492D-9418-C68107BA6D4F}"/>
              </a:ext>
            </a:extLst>
          </p:cNvPr>
          <p:cNvSpPr/>
          <p:nvPr/>
        </p:nvSpPr>
        <p:spPr>
          <a:xfrm>
            <a:off x="3658210" y="4331921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1 </a:t>
            </a:r>
            <a:endParaRPr lang="en-GB" sz="24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020E2E0-90FA-462A-A7A5-B15114C4DC79}"/>
              </a:ext>
            </a:extLst>
          </p:cNvPr>
          <p:cNvSpPr txBox="1"/>
          <p:nvPr/>
        </p:nvSpPr>
        <p:spPr>
          <a:xfrm>
            <a:off x="3049278" y="4337686"/>
            <a:ext cx="422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x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70CD79C-FC57-46E5-9DBA-6A308E55975D}"/>
              </a:ext>
            </a:extLst>
          </p:cNvPr>
          <p:cNvSpPr txBox="1"/>
          <p:nvPr/>
        </p:nvSpPr>
        <p:spPr>
          <a:xfrm>
            <a:off x="3049636" y="4799351"/>
            <a:ext cx="422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y</a:t>
            </a:r>
          </a:p>
        </p:txBody>
      </p: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D7AFD0BE-16A5-4079-BA61-9CFD23BBBF71}"/>
              </a:ext>
            </a:extLst>
          </p:cNvPr>
          <p:cNvCxnSpPr>
            <a:cxnSpLocks/>
          </p:cNvCxnSpPr>
          <p:nvPr/>
        </p:nvCxnSpPr>
        <p:spPr>
          <a:xfrm>
            <a:off x="4103857" y="3111629"/>
            <a:ext cx="6147490" cy="763783"/>
          </a:xfrm>
          <a:prstGeom prst="curvedConnector3">
            <a:avLst>
              <a:gd name="adj1" fmla="val 10001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8EAE0BC8-4967-4D19-9BA9-ECDF26FB4AA5}"/>
              </a:ext>
            </a:extLst>
          </p:cNvPr>
          <p:cNvCxnSpPr>
            <a:cxnSpLocks/>
          </p:cNvCxnSpPr>
          <p:nvPr/>
        </p:nvCxnSpPr>
        <p:spPr>
          <a:xfrm>
            <a:off x="4220487" y="3551654"/>
            <a:ext cx="6819425" cy="425654"/>
          </a:xfrm>
          <a:prstGeom prst="curvedConnector3">
            <a:avLst>
              <a:gd name="adj1" fmla="val 9995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Curved 121">
            <a:extLst>
              <a:ext uri="{FF2B5EF4-FFF2-40B4-BE49-F238E27FC236}">
                <a16:creationId xmlns:a16="http://schemas.microsoft.com/office/drawing/2014/main" id="{2E93A2C1-4D64-4C06-85ED-D3B2A6DF96FE}"/>
              </a:ext>
            </a:extLst>
          </p:cNvPr>
          <p:cNvCxnSpPr>
            <a:cxnSpLocks/>
          </p:cNvCxnSpPr>
          <p:nvPr/>
        </p:nvCxnSpPr>
        <p:spPr>
          <a:xfrm rot="10800000" flipV="1">
            <a:off x="5880683" y="4265054"/>
            <a:ext cx="4325146" cy="212881"/>
          </a:xfrm>
          <a:prstGeom prst="curvedConnector3">
            <a:avLst>
              <a:gd name="adj1" fmla="val -42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Curved 125">
            <a:extLst>
              <a:ext uri="{FF2B5EF4-FFF2-40B4-BE49-F238E27FC236}">
                <a16:creationId xmlns:a16="http://schemas.microsoft.com/office/drawing/2014/main" id="{A697EBA2-0F24-47DC-A687-1CBC6A70677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20861" y="4285083"/>
            <a:ext cx="5016127" cy="710193"/>
          </a:xfrm>
          <a:prstGeom prst="curvedConnector3">
            <a:avLst>
              <a:gd name="adj1" fmla="val -33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Arrow: Curved Right 134">
            <a:extLst>
              <a:ext uri="{FF2B5EF4-FFF2-40B4-BE49-F238E27FC236}">
                <a16:creationId xmlns:a16="http://schemas.microsoft.com/office/drawing/2014/main" id="{F05EED17-1B55-4409-9362-7A52357ABC90}"/>
              </a:ext>
            </a:extLst>
          </p:cNvPr>
          <p:cNvSpPr/>
          <p:nvPr/>
        </p:nvSpPr>
        <p:spPr>
          <a:xfrm>
            <a:off x="2925052" y="4567283"/>
            <a:ext cx="212310" cy="6188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6" name="Arrow: Curved Right 135">
            <a:extLst>
              <a:ext uri="{FF2B5EF4-FFF2-40B4-BE49-F238E27FC236}">
                <a16:creationId xmlns:a16="http://schemas.microsoft.com/office/drawing/2014/main" id="{CBA72CA2-3FA4-4CC8-9BDA-2B55F605F36C}"/>
              </a:ext>
            </a:extLst>
          </p:cNvPr>
          <p:cNvSpPr/>
          <p:nvPr/>
        </p:nvSpPr>
        <p:spPr>
          <a:xfrm flipV="1">
            <a:off x="2710724" y="4578208"/>
            <a:ext cx="212310" cy="6188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42" name="Connector: Curved 141">
            <a:extLst>
              <a:ext uri="{FF2B5EF4-FFF2-40B4-BE49-F238E27FC236}">
                <a16:creationId xmlns:a16="http://schemas.microsoft.com/office/drawing/2014/main" id="{4F7DD203-2A23-4906-ADC6-21518E57C5B0}"/>
              </a:ext>
            </a:extLst>
          </p:cNvPr>
          <p:cNvCxnSpPr/>
          <p:nvPr/>
        </p:nvCxnSpPr>
        <p:spPr>
          <a:xfrm>
            <a:off x="6023785" y="3073492"/>
            <a:ext cx="4182044" cy="903816"/>
          </a:xfrm>
          <a:prstGeom prst="curvedConnector3">
            <a:avLst>
              <a:gd name="adj1" fmla="val 10016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: Curved 143">
            <a:extLst>
              <a:ext uri="{FF2B5EF4-FFF2-40B4-BE49-F238E27FC236}">
                <a16:creationId xmlns:a16="http://schemas.microsoft.com/office/drawing/2014/main" id="{C65C6CD7-487A-42DF-B3D5-0114CBC7598C}"/>
              </a:ext>
            </a:extLst>
          </p:cNvPr>
          <p:cNvCxnSpPr>
            <a:cxnSpLocks/>
          </p:cNvCxnSpPr>
          <p:nvPr/>
        </p:nvCxnSpPr>
        <p:spPr>
          <a:xfrm>
            <a:off x="5880683" y="3489596"/>
            <a:ext cx="5357861" cy="396678"/>
          </a:xfrm>
          <a:prstGeom prst="curvedConnector3">
            <a:avLst>
              <a:gd name="adj1" fmla="val 9986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Curved 147">
            <a:extLst>
              <a:ext uri="{FF2B5EF4-FFF2-40B4-BE49-F238E27FC236}">
                <a16:creationId xmlns:a16="http://schemas.microsoft.com/office/drawing/2014/main" id="{F7DA579E-D5E1-41EC-AC72-F26D1B30271A}"/>
              </a:ext>
            </a:extLst>
          </p:cNvPr>
          <p:cNvCxnSpPr>
            <a:cxnSpLocks/>
          </p:cNvCxnSpPr>
          <p:nvPr/>
        </p:nvCxnSpPr>
        <p:spPr>
          <a:xfrm rot="10800000">
            <a:off x="3971365" y="3227294"/>
            <a:ext cx="6234468" cy="1008688"/>
          </a:xfrm>
          <a:prstGeom prst="curvedConnector3">
            <a:avLst>
              <a:gd name="adj1" fmla="val 10047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Curved 149">
            <a:extLst>
              <a:ext uri="{FF2B5EF4-FFF2-40B4-BE49-F238E27FC236}">
                <a16:creationId xmlns:a16="http://schemas.microsoft.com/office/drawing/2014/main" id="{85C7F722-E63F-4E1F-9DFC-2C97C49BDC37}"/>
              </a:ext>
            </a:extLst>
          </p:cNvPr>
          <p:cNvCxnSpPr>
            <a:cxnSpLocks/>
          </p:cNvCxnSpPr>
          <p:nvPr/>
        </p:nvCxnSpPr>
        <p:spPr>
          <a:xfrm rot="10800000">
            <a:off x="3774142" y="3816711"/>
            <a:ext cx="7522037" cy="518093"/>
          </a:xfrm>
          <a:prstGeom prst="curvedConnector3">
            <a:avLst>
              <a:gd name="adj1" fmla="val 10005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Arrow: Curved Right 156">
            <a:extLst>
              <a:ext uri="{FF2B5EF4-FFF2-40B4-BE49-F238E27FC236}">
                <a16:creationId xmlns:a16="http://schemas.microsoft.com/office/drawing/2014/main" id="{AE282AAB-7992-4549-B0A3-969DB7552122}"/>
              </a:ext>
            </a:extLst>
          </p:cNvPr>
          <p:cNvSpPr/>
          <p:nvPr/>
        </p:nvSpPr>
        <p:spPr>
          <a:xfrm>
            <a:off x="2640652" y="3118447"/>
            <a:ext cx="441487" cy="55620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8" name="Arrow: Curved Right 157">
            <a:extLst>
              <a:ext uri="{FF2B5EF4-FFF2-40B4-BE49-F238E27FC236}">
                <a16:creationId xmlns:a16="http://schemas.microsoft.com/office/drawing/2014/main" id="{E50FF5D1-CB68-4DD0-A59A-CAC39B96E287}"/>
              </a:ext>
            </a:extLst>
          </p:cNvPr>
          <p:cNvSpPr/>
          <p:nvPr/>
        </p:nvSpPr>
        <p:spPr>
          <a:xfrm flipV="1">
            <a:off x="2299259" y="3073492"/>
            <a:ext cx="441487" cy="55620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512AA6C-7EDC-4539-8C01-10954ACC1302}"/>
              </a:ext>
            </a:extLst>
          </p:cNvPr>
          <p:cNvSpPr txBox="1"/>
          <p:nvPr/>
        </p:nvSpPr>
        <p:spPr>
          <a:xfrm>
            <a:off x="552180" y="6077247"/>
            <a:ext cx="9837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 </a:t>
            </a:r>
            <a:r>
              <a:rPr lang="en-GB" sz="2400" dirty="0"/>
              <a:t>Pass variables by reference or pointers whenever possible. 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7A6E61F-3CE0-43DF-9A34-6913BAC0C7D0}"/>
              </a:ext>
            </a:extLst>
          </p:cNvPr>
          <p:cNvSpPr txBox="1"/>
          <p:nvPr/>
        </p:nvSpPr>
        <p:spPr>
          <a:xfrm>
            <a:off x="545974" y="6084134"/>
            <a:ext cx="9915838" cy="454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579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2" grpId="0" animBg="1"/>
      <p:bldP spid="87" grpId="0"/>
      <p:bldP spid="88" grpId="0"/>
      <p:bldP spid="89" grpId="0"/>
      <p:bldP spid="90" grpId="0"/>
      <p:bldP spid="6" grpId="0" animBg="1"/>
      <p:bldP spid="24" grpId="0" animBg="1"/>
      <p:bldP spid="93" grpId="0"/>
      <p:bldP spid="94" grpId="0"/>
      <p:bldP spid="42" grpId="0"/>
      <p:bldP spid="42" grpId="1"/>
      <p:bldP spid="95" grpId="0"/>
      <p:bldP spid="96" grpId="0" animBg="1"/>
      <p:bldP spid="96" grpId="1" animBg="1"/>
      <p:bldP spid="97" grpId="0" animBg="1"/>
      <p:bldP spid="97" grpId="1" animBg="1"/>
      <p:bldP spid="98" grpId="0"/>
      <p:bldP spid="98" grpId="1"/>
      <p:bldP spid="99" grpId="0"/>
      <p:bldP spid="99" grpId="1"/>
      <p:bldP spid="100" grpId="0"/>
      <p:bldP spid="100" grpId="1"/>
      <p:bldP spid="101" grpId="0"/>
      <p:bldP spid="101" grpId="1"/>
      <p:bldP spid="102" grpId="0"/>
      <p:bldP spid="102" grpId="1"/>
      <p:bldP spid="103" grpId="0"/>
      <p:bldP spid="103" grpId="1"/>
      <p:bldP spid="135" grpId="0" animBg="1"/>
      <p:bldP spid="135" grpId="1" animBg="1"/>
      <p:bldP spid="136" grpId="0" animBg="1"/>
      <p:bldP spid="136" grpId="1" animBg="1"/>
      <p:bldP spid="157" grpId="0" animBg="1"/>
      <p:bldP spid="15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4697"/>
            <a:ext cx="11676018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 lot of libraries written by C++ community use the memory managed style of functions: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r>
              <a:rPr lang="en-GB" sz="2400" dirty="0">
                <a:hlinkClick r:id="rId3"/>
              </a:rPr>
              <a:t>GSL Library</a:t>
            </a:r>
            <a:r>
              <a:rPr lang="en-GB" sz="2400" dirty="0"/>
              <a:t>, </a:t>
            </a:r>
            <a:r>
              <a:rPr lang="en-GB" sz="2400" dirty="0">
                <a:hlinkClick r:id="rId4"/>
              </a:rPr>
              <a:t>SUNDAILS library</a:t>
            </a:r>
            <a:r>
              <a:rPr lang="en-GB" sz="2400" dirty="0"/>
              <a:t>, even </a:t>
            </a:r>
            <a:r>
              <a:rPr lang="en-GB" sz="2400" dirty="0">
                <a:hlinkClick r:id="rId5"/>
              </a:rPr>
              <a:t>functions in C++ header files</a:t>
            </a:r>
            <a:r>
              <a:rPr lang="en-GB" sz="2400" dirty="0"/>
              <a:t>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Sometimes the return of a function is used as an error indicator.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To tell the other developers that one of the parameters is an input only, 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2400" dirty="0"/>
              <a:t> is used.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17" name="Rectangle 16"/>
          <p:cNvSpPr/>
          <p:nvPr/>
        </p:nvSpPr>
        <p:spPr>
          <a:xfrm>
            <a:off x="1045029" y="3289920"/>
            <a:ext cx="105613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lang="en-US" sz="2400" b="1" dirty="0" err="1">
                <a:latin typeface="Courier New"/>
                <a:cs typeface="Courier New"/>
              </a:rPr>
              <a:t>gsl_matrix_fwrite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>
                <a:solidFill>
                  <a:srgbClr val="00B0F0"/>
                </a:solidFill>
                <a:latin typeface="Courier New"/>
                <a:cs typeface="Courier New"/>
              </a:rPr>
              <a:t>FILE</a:t>
            </a: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 *stream, const </a:t>
            </a:r>
            <a:r>
              <a:rPr lang="en-US" sz="2400" b="1" dirty="0" err="1">
                <a:solidFill>
                  <a:srgbClr val="00B0F0"/>
                </a:solidFill>
                <a:latin typeface="Courier New"/>
                <a:cs typeface="Courier New"/>
              </a:rPr>
              <a:t>gsl_matrix</a:t>
            </a:r>
            <a:r>
              <a:rPr lang="en-US" sz="2400" b="1" dirty="0">
                <a:solidFill>
                  <a:srgbClr val="00B0F0"/>
                </a:solidFill>
                <a:latin typeface="Courier New"/>
                <a:cs typeface="Courier New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*m</a:t>
            </a:r>
            <a:r>
              <a:rPr lang="en-US" sz="2400" b="1" dirty="0">
                <a:latin typeface="Courier New"/>
                <a:cs typeface="Courier New"/>
              </a:rPr>
              <a:t>)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           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Professionally written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51257" y="3301049"/>
            <a:ext cx="10339550" cy="4795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3E4CFA-586C-47DF-1CD3-9A192B93F39F}"/>
              </a:ext>
            </a:extLst>
          </p:cNvPr>
          <p:cNvCxnSpPr>
            <a:cxnSpLocks/>
          </p:cNvCxnSpPr>
          <p:nvPr/>
        </p:nvCxnSpPr>
        <p:spPr>
          <a:xfrm flipV="1">
            <a:off x="3997235" y="3684898"/>
            <a:ext cx="0" cy="3744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8E351F-8BB9-8788-23AA-DC0658B71F1B}"/>
              </a:ext>
            </a:extLst>
          </p:cNvPr>
          <p:cNvCxnSpPr>
            <a:cxnSpLocks/>
          </p:cNvCxnSpPr>
          <p:nvPr/>
        </p:nvCxnSpPr>
        <p:spPr>
          <a:xfrm flipV="1">
            <a:off x="6826441" y="3624844"/>
            <a:ext cx="0" cy="6531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94FA1B-1CB0-3FDB-A462-BCDADCF6E15A}"/>
              </a:ext>
            </a:extLst>
          </p:cNvPr>
          <p:cNvCxnSpPr>
            <a:cxnSpLocks/>
          </p:cNvCxnSpPr>
          <p:nvPr/>
        </p:nvCxnSpPr>
        <p:spPr>
          <a:xfrm flipV="1">
            <a:off x="10911855" y="3616050"/>
            <a:ext cx="0" cy="6531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CD38F4-4498-D808-0B69-52F2AA4C2EC3}"/>
              </a:ext>
            </a:extLst>
          </p:cNvPr>
          <p:cNvCxnSpPr>
            <a:cxnSpLocks/>
          </p:cNvCxnSpPr>
          <p:nvPr/>
        </p:nvCxnSpPr>
        <p:spPr>
          <a:xfrm flipV="1">
            <a:off x="1310636" y="3704167"/>
            <a:ext cx="0" cy="4561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081A4D-5B48-491F-A2EB-355A30A558DF}"/>
              </a:ext>
            </a:extLst>
          </p:cNvPr>
          <p:cNvSpPr txBox="1"/>
          <p:nvPr/>
        </p:nvSpPr>
        <p:spPr>
          <a:xfrm>
            <a:off x="2999024" y="4066093"/>
            <a:ext cx="2551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Function to write a GSL matrix to a file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590D1-CA39-04D1-6966-F722125F4AE7}"/>
              </a:ext>
            </a:extLst>
          </p:cNvPr>
          <p:cNvSpPr txBox="1"/>
          <p:nvPr/>
        </p:nvSpPr>
        <p:spPr>
          <a:xfrm>
            <a:off x="5702488" y="4284643"/>
            <a:ext cx="2551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File to be written to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08044-8527-1DE5-3846-C80D2C082677}"/>
              </a:ext>
            </a:extLst>
          </p:cNvPr>
          <p:cNvSpPr txBox="1"/>
          <p:nvPr/>
        </p:nvSpPr>
        <p:spPr>
          <a:xfrm>
            <a:off x="9681757" y="4272651"/>
            <a:ext cx="2551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Matrix to be written in the file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9F0487-1241-B841-7FF6-D4CACB17EFEE}"/>
              </a:ext>
            </a:extLst>
          </p:cNvPr>
          <p:cNvSpPr txBox="1"/>
          <p:nvPr/>
        </p:nvSpPr>
        <p:spPr>
          <a:xfrm>
            <a:off x="292844" y="4087984"/>
            <a:ext cx="2551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Return a number to say how it went, (0 for success) </a:t>
            </a:r>
          </a:p>
        </p:txBody>
      </p:sp>
    </p:spTree>
    <p:extLst>
      <p:ext uri="{BB962C8B-B14F-4D97-AF65-F5344CB8AC3E}">
        <p14:creationId xmlns:p14="http://schemas.microsoft.com/office/powerpoint/2010/main" val="2337982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4697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Function overloading is defining multiple functions with the same name but different parameters. The compiler </a:t>
            </a:r>
            <a:r>
              <a:rPr lang="en-GB" sz="2400"/>
              <a:t>can decide </a:t>
            </a:r>
            <a:r>
              <a:rPr lang="en-GB" sz="2400" dirty="0"/>
              <a:t>which one to call based on the parameters passed at calling.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Example: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17" name="Rectangle 16"/>
          <p:cNvSpPr/>
          <p:nvPr/>
        </p:nvSpPr>
        <p:spPr>
          <a:xfrm>
            <a:off x="2366255" y="3109815"/>
            <a:ext cx="813241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Two integer version</a:t>
            </a:r>
          </a:p>
          <a:p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Max(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x,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y);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s-ES" b="1" dirty="0" err="1">
                <a:solidFill>
                  <a:srgbClr val="0E0E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(x &gt; y ? x : y);}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Three integer version</a:t>
            </a:r>
          </a:p>
          <a:p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Max(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x,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y,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z);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s-ES" b="1" dirty="0" err="1">
                <a:solidFill>
                  <a:srgbClr val="0E0E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m = (x &gt; y ? x : y); </a:t>
            </a:r>
          </a:p>
          <a:p>
            <a:r>
              <a:rPr lang="en-GB" b="1" dirty="0">
                <a:solidFill>
                  <a:srgbClr val="0E0E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</a:t>
            </a:r>
            <a:r>
              <a:rPr lang="pl-PL" b="1" dirty="0">
                <a:solidFill>
                  <a:srgbClr val="0E0E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 (z &gt; m ? z : m);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//Two double version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lang="en-US" b="1" dirty="0">
                <a:latin typeface="Courier New"/>
                <a:cs typeface="Courier New"/>
              </a:rPr>
              <a:t>Max(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lang="en-US" b="1" dirty="0" err="1">
                <a:latin typeface="Courier New"/>
                <a:cs typeface="Courier New"/>
              </a:rPr>
              <a:t>x,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y);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s-ES" b="1" dirty="0" err="1">
                <a:solidFill>
                  <a:srgbClr val="0E0E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(x &gt; y ? x : y);}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lang="en-US" b="1" dirty="0">
                <a:latin typeface="Courier New"/>
                <a:cs typeface="Courier New"/>
              </a:rPr>
              <a:t> main () {  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c = 2, d = 4;</a:t>
            </a:r>
          </a:p>
          <a:p>
            <a:r>
              <a:rPr lang="en-US" b="1" dirty="0">
                <a:latin typeface="Courier New"/>
                <a:cs typeface="Courier New"/>
              </a:rPr>
              <a:t>           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b="1" dirty="0">
                <a:latin typeface="Courier New"/>
                <a:cs typeface="Courier New"/>
              </a:rPr>
              <a:t> g = 2.3 , h = 5.2;</a:t>
            </a:r>
          </a:p>
          <a:p>
            <a:r>
              <a:rPr lang="en-US" b="1" dirty="0">
                <a:latin typeface="Courier New"/>
                <a:cs typeface="Courier New"/>
              </a:rPr>
              <a:t>               Max(</a:t>
            </a:r>
            <a:r>
              <a:rPr lang="en-US" b="1" dirty="0" err="1">
                <a:latin typeface="Courier New"/>
                <a:cs typeface="Courier New"/>
              </a:rPr>
              <a:t>g,h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              </a:t>
            </a:r>
            <a:r>
              <a:rPr lang="en-US" b="1" dirty="0">
                <a:latin typeface="Courier New"/>
                <a:cs typeface="Courier New"/>
              </a:rPr>
              <a:t>Max (</a:t>
            </a:r>
            <a:r>
              <a:rPr lang="en-US" b="1" dirty="0" err="1">
                <a:latin typeface="Courier New"/>
                <a:cs typeface="Courier New"/>
              </a:rPr>
              <a:t>c,d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           </a:t>
            </a:r>
            <a:r>
              <a:rPr lang="en-US" b="1" dirty="0">
                <a:latin typeface="Courier New"/>
                <a:cs typeface="Courier New"/>
              </a:rPr>
              <a:t>}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Function overloading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2366255" y="3109814"/>
            <a:ext cx="8598078" cy="36719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690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4697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Function templates are efficient way to generate overloaded functions for different data types.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idea is to pass the data type as it is a parameter to the function.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17" name="Rectangle 16"/>
          <p:cNvSpPr/>
          <p:nvPr/>
        </p:nvSpPr>
        <p:spPr>
          <a:xfrm>
            <a:off x="900485" y="3060465"/>
            <a:ext cx="8132412" cy="361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template </a:t>
            </a:r>
            <a:r>
              <a:rPr lang="en-US" b="1" dirty="0">
                <a:latin typeface="Courier New"/>
                <a:cs typeface="Courier New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typename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T</a:t>
            </a:r>
            <a:r>
              <a:rPr lang="en-US" b="1" dirty="0">
                <a:latin typeface="Courier New"/>
                <a:cs typeface="Courier New"/>
              </a:rPr>
              <a:t>&gt;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 is the arbitrary datatype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Max(</a:t>
            </a: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x,</a:t>
            </a:r>
            <a:r>
              <a:rPr lang="en-US" b="1" dirty="0" err="1">
                <a:solidFill>
                  <a:srgbClr val="00B0F0"/>
                </a:solidFill>
                <a:latin typeface="Courier New"/>
                <a:cs typeface="Courier New"/>
              </a:rPr>
              <a:t>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y)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s-ES" b="1" dirty="0" err="1">
                <a:solidFill>
                  <a:srgbClr val="0E0E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(x &gt; y ? x : y);}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lang="en-US" sz="2000" b="1" dirty="0">
                <a:latin typeface="Courier New"/>
                <a:cs typeface="Courier New"/>
              </a:rPr>
              <a:t>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lang="en-US" b="1" dirty="0">
                <a:latin typeface="Courier New"/>
                <a:cs typeface="Courier New"/>
              </a:rPr>
              <a:t> main () { 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c = 2, d = 4;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Courier New"/>
                <a:cs typeface="Courier New"/>
              </a:rPr>
              <a:t>           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b="1" dirty="0">
                <a:latin typeface="Courier New"/>
                <a:cs typeface="Courier New"/>
              </a:rPr>
              <a:t> g = 2.3 , h = 5.2;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Courier New"/>
                <a:cs typeface="Courier New"/>
              </a:rPr>
              <a:t>           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char</a:t>
            </a:r>
            <a:r>
              <a:rPr lang="en-US" b="1" dirty="0">
                <a:latin typeface="Courier New"/>
                <a:cs typeface="Courier New"/>
              </a:rPr>
              <a:t> j=‘y’, k=‘w’;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Courier New"/>
                <a:cs typeface="Courier New"/>
              </a:rPr>
              <a:t>               Max&lt;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b="1" dirty="0">
                <a:latin typeface="Courier New"/>
                <a:cs typeface="Courier New"/>
              </a:rPr>
              <a:t>&gt;(</a:t>
            </a:r>
            <a:r>
              <a:rPr lang="en-US" b="1" dirty="0" err="1">
                <a:latin typeface="Courier New"/>
                <a:cs typeface="Courier New"/>
              </a:rPr>
              <a:t>g,h</a:t>
            </a:r>
            <a:r>
              <a:rPr lang="en-US" b="1" dirty="0">
                <a:latin typeface="Courier New"/>
                <a:cs typeface="Courier New"/>
              </a:rPr>
              <a:t>);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 is double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              </a:t>
            </a:r>
            <a:r>
              <a:rPr lang="en-US" b="1" dirty="0">
                <a:latin typeface="Courier New"/>
                <a:cs typeface="Courier New"/>
              </a:rPr>
              <a:t>Max&lt;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&gt;(</a:t>
            </a:r>
            <a:r>
              <a:rPr lang="en-US" b="1" dirty="0" err="1">
                <a:latin typeface="Courier New"/>
                <a:cs typeface="Courier New"/>
              </a:rPr>
              <a:t>c,d</a:t>
            </a:r>
            <a:r>
              <a:rPr lang="en-US" b="1" dirty="0">
                <a:latin typeface="Courier New"/>
                <a:cs typeface="Courier New"/>
              </a:rPr>
              <a:t>);  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 is integer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Courier New"/>
                <a:cs typeface="Courier New"/>
              </a:rPr>
              <a:t>               Max&lt;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char</a:t>
            </a:r>
            <a:r>
              <a:rPr lang="en-US" b="1" dirty="0">
                <a:latin typeface="Courier New"/>
                <a:cs typeface="Courier New"/>
              </a:rPr>
              <a:t>&gt;(</a:t>
            </a:r>
            <a:r>
              <a:rPr lang="en-US" b="1" dirty="0" err="1">
                <a:latin typeface="Courier New"/>
                <a:cs typeface="Courier New"/>
              </a:rPr>
              <a:t>j,k</a:t>
            </a:r>
            <a:r>
              <a:rPr lang="en-US" b="1" dirty="0">
                <a:latin typeface="Courier New"/>
                <a:cs typeface="Courier New"/>
              </a:rPr>
              <a:t>); 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 is character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           </a:t>
            </a:r>
            <a:r>
              <a:rPr lang="en-US" b="1" dirty="0">
                <a:latin typeface="Courier New"/>
                <a:cs typeface="Courier New"/>
              </a:rPr>
              <a:t>}</a:t>
            </a:r>
            <a:r>
              <a:rPr lang="en-US" sz="2000" b="1" dirty="0">
                <a:latin typeface="Courier New"/>
                <a:cs typeface="Courier New"/>
              </a:rPr>
              <a:t>           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Function 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38198" y="3060465"/>
            <a:ext cx="10033002" cy="3616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266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definition of pointers, their use and their advantages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Differences between two types of memory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Memory efficient functions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Functions overloading and templates were discussed .</a:t>
            </a:r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1541</Words>
  <Application>Microsoft Office PowerPoint</Application>
  <PresentationFormat>Widescreen</PresentationFormat>
  <Paragraphs>603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Courier New</vt:lpstr>
      <vt:lpstr>Office Theme</vt:lpstr>
      <vt:lpstr>Application Development with C++ (ELEC362)</vt:lpstr>
      <vt:lpstr>Previous lecture </vt:lpstr>
      <vt:lpstr>This lecture</vt:lpstr>
      <vt:lpstr>Pointers definition</vt:lpstr>
      <vt:lpstr>Pointers naming and initialisation</vt:lpstr>
      <vt:lpstr>Referencing and Dereferencing operators</vt:lpstr>
      <vt:lpstr>Referencing and Dereferencing operators</vt:lpstr>
      <vt:lpstr>Pointers and arrays</vt:lpstr>
      <vt:lpstr>Why are pointers a thing?</vt:lpstr>
      <vt:lpstr>Dynamic memory allocation</vt:lpstr>
      <vt:lpstr>Dynamic memory allocation algorithm</vt:lpstr>
      <vt:lpstr>Passing data to functions using pointers</vt:lpstr>
      <vt:lpstr>Arguments passing in functions</vt:lpstr>
      <vt:lpstr>Professionally written functions</vt:lpstr>
      <vt:lpstr>Function overloading</vt:lpstr>
      <vt:lpstr>Function templates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592</cp:revision>
  <dcterms:created xsi:type="dcterms:W3CDTF">2019-05-09T14:26:54Z</dcterms:created>
  <dcterms:modified xsi:type="dcterms:W3CDTF">2026-09-28T09:20:22Z</dcterms:modified>
</cp:coreProperties>
</file>