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85" r:id="rId3"/>
    <p:sldId id="257" r:id="rId4"/>
    <p:sldId id="258" r:id="rId5"/>
    <p:sldId id="289" r:id="rId6"/>
    <p:sldId id="278" r:id="rId7"/>
    <p:sldId id="290" r:id="rId8"/>
    <p:sldId id="291" r:id="rId9"/>
    <p:sldId id="292" r:id="rId10"/>
    <p:sldId id="284" r:id="rId11"/>
    <p:sldId id="293" r:id="rId12"/>
    <p:sldId id="305" r:id="rId13"/>
    <p:sldId id="294" r:id="rId14"/>
    <p:sldId id="295" r:id="rId15"/>
    <p:sldId id="297" r:id="rId16"/>
    <p:sldId id="296" r:id="rId17"/>
    <p:sldId id="298" r:id="rId18"/>
    <p:sldId id="299" r:id="rId19"/>
    <p:sldId id="300" r:id="rId20"/>
    <p:sldId id="301" r:id="rId21"/>
    <p:sldId id="302" r:id="rId22"/>
    <p:sldId id="30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8F9E7"/>
    <a:srgbClr val="008000"/>
    <a:srgbClr val="6F008A"/>
    <a:srgbClr val="660066"/>
    <a:srgbClr val="E9ED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58" autoAdjust="0"/>
    <p:restoredTop sz="94660"/>
  </p:normalViewPr>
  <p:slideViewPr>
    <p:cSldViewPr snapToGrid="0">
      <p:cViewPr varScale="1">
        <p:scale>
          <a:sx n="107" d="100"/>
          <a:sy n="107" d="100"/>
        </p:scale>
        <p:origin x="58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1074BA-FB03-4330-B6D5-D4E5FA218414}" type="datetimeFigureOut">
              <a:rPr lang="en-GB" smtClean="0"/>
              <a:t>28/09/2026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56E79A-B420-420D-963A-E7DA074E8CA1}" type="slidenum">
              <a:rPr lang="en-GB" smtClean="0"/>
              <a:t>‹#›</a:t>
            </a:fld>
            <a:endParaRPr lang="en-GB"/>
          </a:p>
        </p:txBody>
      </p:sp>
    </p:spTree>
    <p:extLst>
      <p:ext uri="{BB962C8B-B14F-4D97-AF65-F5344CB8AC3E}">
        <p14:creationId xmlns:p14="http://schemas.microsoft.com/office/powerpoint/2010/main" val="3490279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2</a:t>
            </a:fld>
            <a:endParaRPr lang="en-GB"/>
          </a:p>
        </p:txBody>
      </p:sp>
    </p:spTree>
    <p:extLst>
      <p:ext uri="{BB962C8B-B14F-4D97-AF65-F5344CB8AC3E}">
        <p14:creationId xmlns:p14="http://schemas.microsoft.com/office/powerpoint/2010/main" val="7527682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3</a:t>
            </a:fld>
            <a:endParaRPr lang="en-GB"/>
          </a:p>
        </p:txBody>
      </p:sp>
    </p:spTree>
    <p:extLst>
      <p:ext uri="{BB962C8B-B14F-4D97-AF65-F5344CB8AC3E}">
        <p14:creationId xmlns:p14="http://schemas.microsoft.com/office/powerpoint/2010/main" val="2190159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4</a:t>
            </a:fld>
            <a:endParaRPr lang="en-GB"/>
          </a:p>
        </p:txBody>
      </p:sp>
    </p:spTree>
    <p:extLst>
      <p:ext uri="{BB962C8B-B14F-4D97-AF65-F5344CB8AC3E}">
        <p14:creationId xmlns:p14="http://schemas.microsoft.com/office/powerpoint/2010/main" val="1164057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5</a:t>
            </a:fld>
            <a:endParaRPr lang="en-GB"/>
          </a:p>
        </p:txBody>
      </p:sp>
    </p:spTree>
    <p:extLst>
      <p:ext uri="{BB962C8B-B14F-4D97-AF65-F5344CB8AC3E}">
        <p14:creationId xmlns:p14="http://schemas.microsoft.com/office/powerpoint/2010/main" val="3838793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6</a:t>
            </a:fld>
            <a:endParaRPr lang="en-GB"/>
          </a:p>
        </p:txBody>
      </p:sp>
    </p:spTree>
    <p:extLst>
      <p:ext uri="{BB962C8B-B14F-4D97-AF65-F5344CB8AC3E}">
        <p14:creationId xmlns:p14="http://schemas.microsoft.com/office/powerpoint/2010/main" val="3612263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7</a:t>
            </a:fld>
            <a:endParaRPr lang="en-GB"/>
          </a:p>
        </p:txBody>
      </p:sp>
    </p:spTree>
    <p:extLst>
      <p:ext uri="{BB962C8B-B14F-4D97-AF65-F5344CB8AC3E}">
        <p14:creationId xmlns:p14="http://schemas.microsoft.com/office/powerpoint/2010/main" val="2649135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8</a:t>
            </a:fld>
            <a:endParaRPr lang="en-GB"/>
          </a:p>
        </p:txBody>
      </p:sp>
    </p:spTree>
    <p:extLst>
      <p:ext uri="{BB962C8B-B14F-4D97-AF65-F5344CB8AC3E}">
        <p14:creationId xmlns:p14="http://schemas.microsoft.com/office/powerpoint/2010/main" val="3109445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9</a:t>
            </a:fld>
            <a:endParaRPr lang="en-GB"/>
          </a:p>
        </p:txBody>
      </p:sp>
    </p:spTree>
    <p:extLst>
      <p:ext uri="{BB962C8B-B14F-4D97-AF65-F5344CB8AC3E}">
        <p14:creationId xmlns:p14="http://schemas.microsoft.com/office/powerpoint/2010/main" val="2387801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10</a:t>
            </a:fld>
            <a:endParaRPr lang="en-GB"/>
          </a:p>
        </p:txBody>
      </p:sp>
    </p:spTree>
    <p:extLst>
      <p:ext uri="{BB962C8B-B14F-4D97-AF65-F5344CB8AC3E}">
        <p14:creationId xmlns:p14="http://schemas.microsoft.com/office/powerpoint/2010/main" val="3618299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11</a:t>
            </a:fld>
            <a:endParaRPr lang="en-GB"/>
          </a:p>
        </p:txBody>
      </p:sp>
    </p:spTree>
    <p:extLst>
      <p:ext uri="{BB962C8B-B14F-4D97-AF65-F5344CB8AC3E}">
        <p14:creationId xmlns:p14="http://schemas.microsoft.com/office/powerpoint/2010/main" val="313879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12</a:t>
            </a:fld>
            <a:endParaRPr lang="en-GB"/>
          </a:p>
        </p:txBody>
      </p:sp>
    </p:spTree>
    <p:extLst>
      <p:ext uri="{BB962C8B-B14F-4D97-AF65-F5344CB8AC3E}">
        <p14:creationId xmlns:p14="http://schemas.microsoft.com/office/powerpoint/2010/main" val="1801928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13</a:t>
            </a:fld>
            <a:endParaRPr lang="en-GB"/>
          </a:p>
        </p:txBody>
      </p:sp>
    </p:spTree>
    <p:extLst>
      <p:ext uri="{BB962C8B-B14F-4D97-AF65-F5344CB8AC3E}">
        <p14:creationId xmlns:p14="http://schemas.microsoft.com/office/powerpoint/2010/main" val="3874781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14</a:t>
            </a:fld>
            <a:endParaRPr lang="en-GB"/>
          </a:p>
        </p:txBody>
      </p:sp>
    </p:spTree>
    <p:extLst>
      <p:ext uri="{BB962C8B-B14F-4D97-AF65-F5344CB8AC3E}">
        <p14:creationId xmlns:p14="http://schemas.microsoft.com/office/powerpoint/2010/main" val="1241331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15</a:t>
            </a:fld>
            <a:endParaRPr lang="en-GB"/>
          </a:p>
        </p:txBody>
      </p:sp>
    </p:spTree>
    <p:extLst>
      <p:ext uri="{BB962C8B-B14F-4D97-AF65-F5344CB8AC3E}">
        <p14:creationId xmlns:p14="http://schemas.microsoft.com/office/powerpoint/2010/main" val="3290063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16</a:t>
            </a:fld>
            <a:endParaRPr lang="en-GB"/>
          </a:p>
        </p:txBody>
      </p:sp>
    </p:spTree>
    <p:extLst>
      <p:ext uri="{BB962C8B-B14F-4D97-AF65-F5344CB8AC3E}">
        <p14:creationId xmlns:p14="http://schemas.microsoft.com/office/powerpoint/2010/main" val="7674991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17</a:t>
            </a:fld>
            <a:endParaRPr lang="en-GB"/>
          </a:p>
        </p:txBody>
      </p:sp>
    </p:spTree>
    <p:extLst>
      <p:ext uri="{BB962C8B-B14F-4D97-AF65-F5344CB8AC3E}">
        <p14:creationId xmlns:p14="http://schemas.microsoft.com/office/powerpoint/2010/main" val="41641456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18</a:t>
            </a:fld>
            <a:endParaRPr lang="en-GB"/>
          </a:p>
        </p:txBody>
      </p:sp>
    </p:spTree>
    <p:extLst>
      <p:ext uri="{BB962C8B-B14F-4D97-AF65-F5344CB8AC3E}">
        <p14:creationId xmlns:p14="http://schemas.microsoft.com/office/powerpoint/2010/main" val="1910396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19</a:t>
            </a:fld>
            <a:endParaRPr lang="en-GB"/>
          </a:p>
        </p:txBody>
      </p:sp>
    </p:spTree>
    <p:extLst>
      <p:ext uri="{BB962C8B-B14F-4D97-AF65-F5344CB8AC3E}">
        <p14:creationId xmlns:p14="http://schemas.microsoft.com/office/powerpoint/2010/main" val="1074871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20</a:t>
            </a:fld>
            <a:endParaRPr lang="en-GB"/>
          </a:p>
        </p:txBody>
      </p:sp>
    </p:spTree>
    <p:extLst>
      <p:ext uri="{BB962C8B-B14F-4D97-AF65-F5344CB8AC3E}">
        <p14:creationId xmlns:p14="http://schemas.microsoft.com/office/powerpoint/2010/main" val="13123848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21</a:t>
            </a:fld>
            <a:endParaRPr lang="en-GB"/>
          </a:p>
        </p:txBody>
      </p:sp>
    </p:spTree>
    <p:extLst>
      <p:ext uri="{BB962C8B-B14F-4D97-AF65-F5344CB8AC3E}">
        <p14:creationId xmlns:p14="http://schemas.microsoft.com/office/powerpoint/2010/main" val="7646794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56E79A-B420-420D-963A-E7DA074E8CA1}" type="slidenum">
              <a:rPr lang="en-GB" smtClean="0"/>
              <a:t>22</a:t>
            </a:fld>
            <a:endParaRPr lang="en-GB"/>
          </a:p>
        </p:txBody>
      </p:sp>
    </p:spTree>
    <p:extLst>
      <p:ext uri="{BB962C8B-B14F-4D97-AF65-F5344CB8AC3E}">
        <p14:creationId xmlns:p14="http://schemas.microsoft.com/office/powerpoint/2010/main" val="2634846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7ED0A4CF-2717-43E3-825E-373FCAF8CACA}" type="datetime1">
              <a:rPr lang="en-GB" smtClean="0"/>
              <a:t>28/09/2026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1761D7-3DCA-48D0-8D79-89DA2676C306}" type="slidenum">
              <a:rPr lang="en-GB" smtClean="0"/>
              <a:t>‹#›</a:t>
            </a:fld>
            <a:endParaRPr lang="en-GB"/>
          </a:p>
        </p:txBody>
      </p:sp>
    </p:spTree>
    <p:extLst>
      <p:ext uri="{BB962C8B-B14F-4D97-AF65-F5344CB8AC3E}">
        <p14:creationId xmlns:p14="http://schemas.microsoft.com/office/powerpoint/2010/main" val="2659440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216B0B5-D2C5-451B-BB87-3C1CFDD20804}" type="datetime1">
              <a:rPr lang="en-GB" smtClean="0"/>
              <a:t>28/09/2026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1761D7-3DCA-48D0-8D79-89DA2676C306}" type="slidenum">
              <a:rPr lang="en-GB" smtClean="0"/>
              <a:t>‹#›</a:t>
            </a:fld>
            <a:endParaRPr lang="en-GB"/>
          </a:p>
        </p:txBody>
      </p:sp>
    </p:spTree>
    <p:extLst>
      <p:ext uri="{BB962C8B-B14F-4D97-AF65-F5344CB8AC3E}">
        <p14:creationId xmlns:p14="http://schemas.microsoft.com/office/powerpoint/2010/main" val="880092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EC933E-6ACF-4BB5-897C-C6A0A52DD82E}" type="datetime1">
              <a:rPr lang="en-GB" smtClean="0"/>
              <a:t>28/09/2026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1761D7-3DCA-48D0-8D79-89DA2676C306}" type="slidenum">
              <a:rPr lang="en-GB" smtClean="0"/>
              <a:t>‹#›</a:t>
            </a:fld>
            <a:endParaRPr lang="en-GB"/>
          </a:p>
        </p:txBody>
      </p:sp>
    </p:spTree>
    <p:extLst>
      <p:ext uri="{BB962C8B-B14F-4D97-AF65-F5344CB8AC3E}">
        <p14:creationId xmlns:p14="http://schemas.microsoft.com/office/powerpoint/2010/main" val="2339223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6EF3D5C-DF01-4C10-9D18-B3DE3D921135}" type="datetime1">
              <a:rPr lang="en-GB" smtClean="0"/>
              <a:t>28/09/2026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41761D7-3DCA-48D0-8D79-89DA2676C306}" type="slidenum">
              <a:rPr lang="en-GB" smtClean="0"/>
              <a:t>‹#›</a:t>
            </a:fld>
            <a:endParaRPr lang="en-GB"/>
          </a:p>
        </p:txBody>
      </p:sp>
    </p:spTree>
    <p:extLst>
      <p:ext uri="{BB962C8B-B14F-4D97-AF65-F5344CB8AC3E}">
        <p14:creationId xmlns:p14="http://schemas.microsoft.com/office/powerpoint/2010/main" val="1285689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C0047ED-C601-47CB-8D5C-4ECECC17B65B}" type="datetime1">
              <a:rPr lang="en-GB" smtClean="0"/>
              <a:t>28/09/2026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41761D7-3DCA-48D0-8D79-89DA2676C306}" type="slidenum">
              <a:rPr lang="en-GB" smtClean="0"/>
              <a:t>‹#›</a:t>
            </a:fld>
            <a:endParaRPr lang="en-GB"/>
          </a:p>
        </p:txBody>
      </p:sp>
    </p:spTree>
    <p:extLst>
      <p:ext uri="{BB962C8B-B14F-4D97-AF65-F5344CB8AC3E}">
        <p14:creationId xmlns:p14="http://schemas.microsoft.com/office/powerpoint/2010/main" val="3527478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F01CE9AF-161C-412D-BD00-75CE1DCC1DF7}" type="datetime1">
              <a:rPr lang="en-GB" smtClean="0"/>
              <a:t>28/09/2026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41761D7-3DCA-48D0-8D79-89DA2676C306}" type="slidenum">
              <a:rPr lang="en-GB" smtClean="0"/>
              <a:t>‹#›</a:t>
            </a:fld>
            <a:endParaRPr lang="en-GB"/>
          </a:p>
        </p:txBody>
      </p:sp>
    </p:spTree>
    <p:extLst>
      <p:ext uri="{BB962C8B-B14F-4D97-AF65-F5344CB8AC3E}">
        <p14:creationId xmlns:p14="http://schemas.microsoft.com/office/powerpoint/2010/main" val="1996462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222656-4D19-4DEB-807B-1CF4EDC253D6}" type="datetime1">
              <a:rPr lang="en-GB" smtClean="0"/>
              <a:t>28/09/2026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41761D7-3DCA-48D0-8D79-89DA2676C306}" type="slidenum">
              <a:rPr lang="en-GB" smtClean="0"/>
              <a:t>‹#›</a:t>
            </a:fld>
            <a:endParaRPr lang="en-GB"/>
          </a:p>
        </p:txBody>
      </p:sp>
    </p:spTree>
    <p:extLst>
      <p:ext uri="{BB962C8B-B14F-4D97-AF65-F5344CB8AC3E}">
        <p14:creationId xmlns:p14="http://schemas.microsoft.com/office/powerpoint/2010/main" val="3036572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47A24E-4829-479F-A19E-280D0A836AA5}" type="datetime1">
              <a:rPr lang="en-GB" smtClean="0"/>
              <a:t>28/09/2026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41761D7-3DCA-48D0-8D79-89DA2676C306}" type="slidenum">
              <a:rPr lang="en-GB" smtClean="0"/>
              <a:t>‹#›</a:t>
            </a:fld>
            <a:endParaRPr lang="en-GB"/>
          </a:p>
        </p:txBody>
      </p:sp>
    </p:spTree>
    <p:extLst>
      <p:ext uri="{BB962C8B-B14F-4D97-AF65-F5344CB8AC3E}">
        <p14:creationId xmlns:p14="http://schemas.microsoft.com/office/powerpoint/2010/main" val="3185824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5BB24F-C214-4E3A-A5E5-E9173E3D1D83}" type="datetime1">
              <a:rPr lang="en-GB" smtClean="0"/>
              <a:t>28/09/2026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41761D7-3DCA-48D0-8D79-89DA2676C306}" type="slidenum">
              <a:rPr lang="en-GB" smtClean="0"/>
              <a:t>‹#›</a:t>
            </a:fld>
            <a:endParaRPr lang="en-GB"/>
          </a:p>
        </p:txBody>
      </p:sp>
    </p:spTree>
    <p:extLst>
      <p:ext uri="{BB962C8B-B14F-4D97-AF65-F5344CB8AC3E}">
        <p14:creationId xmlns:p14="http://schemas.microsoft.com/office/powerpoint/2010/main" val="1312035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18FAC9A-9164-4283-9229-F1A5E788ED22}" type="datetime1">
              <a:rPr lang="en-GB" smtClean="0"/>
              <a:t>28/09/2026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1761D7-3DCA-48D0-8D79-89DA2676C306}" type="slidenum">
              <a:rPr lang="en-GB" smtClean="0"/>
              <a:t>‹#›</a:t>
            </a:fld>
            <a:endParaRPr lang="en-GB"/>
          </a:p>
        </p:txBody>
      </p:sp>
    </p:spTree>
    <p:extLst>
      <p:ext uri="{BB962C8B-B14F-4D97-AF65-F5344CB8AC3E}">
        <p14:creationId xmlns:p14="http://schemas.microsoft.com/office/powerpoint/2010/main" val="2961793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BD6F9B7-246B-4E64-87D5-D2F2416C2D2A}" type="datetime1">
              <a:rPr lang="en-GB" smtClean="0"/>
              <a:t>28/09/2026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1761D7-3DCA-48D0-8D79-89DA2676C306}" type="slidenum">
              <a:rPr lang="en-GB" smtClean="0"/>
              <a:t>‹#›</a:t>
            </a:fld>
            <a:endParaRPr lang="en-GB"/>
          </a:p>
        </p:txBody>
      </p:sp>
    </p:spTree>
    <p:extLst>
      <p:ext uri="{BB962C8B-B14F-4D97-AF65-F5344CB8AC3E}">
        <p14:creationId xmlns:p14="http://schemas.microsoft.com/office/powerpoint/2010/main" val="754651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06D058-F21A-4AF4-A0C5-0F6F3323CC21}" type="datetime1">
              <a:rPr lang="en-GB" smtClean="0"/>
              <a:t>28/09/2026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1761D7-3DCA-48D0-8D79-89DA2676C306}" type="slidenum">
              <a:rPr lang="en-GB" smtClean="0"/>
              <a:t>‹#›</a:t>
            </a:fld>
            <a:endParaRPr lang="en-GB"/>
          </a:p>
        </p:txBody>
      </p:sp>
    </p:spTree>
    <p:extLst>
      <p:ext uri="{BB962C8B-B14F-4D97-AF65-F5344CB8AC3E}">
        <p14:creationId xmlns:p14="http://schemas.microsoft.com/office/powerpoint/2010/main" val="1883529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mihasan@liverpool.ac.u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n.cppreference.com/w/cpp/language/type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wvtFGa6XJDU"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oogle.github.io/styleguide/cppguide.ht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cplusplus.com/doc/tutorial/operator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cplusplus.com/doc/tutoria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a:t>Application Development with C++ (ELEC362)</a:t>
            </a:r>
            <a:endParaRPr lang="en-GB" sz="4800" dirty="0"/>
          </a:p>
        </p:txBody>
      </p:sp>
      <p:sp>
        <p:nvSpPr>
          <p:cNvPr id="3" name="Subtitle 2"/>
          <p:cNvSpPr>
            <a:spLocks noGrp="1"/>
          </p:cNvSpPr>
          <p:nvPr>
            <p:ph type="subTitle" idx="1"/>
          </p:nvPr>
        </p:nvSpPr>
        <p:spPr>
          <a:xfrm>
            <a:off x="1524000" y="3602038"/>
            <a:ext cx="9144000" cy="2474912"/>
          </a:xfrm>
        </p:spPr>
        <p:txBody>
          <a:bodyPr anchor="ctr">
            <a:normAutofit/>
          </a:bodyPr>
          <a:lstStyle/>
          <a:p>
            <a:r>
              <a:rPr lang="en-GB" sz="3600" dirty="0"/>
              <a:t>Lecture 3: Variables and Data types</a:t>
            </a:r>
          </a:p>
          <a:p>
            <a:r>
              <a:rPr lang="en-GB" sz="3200" dirty="0">
                <a:hlinkClick r:id="rId2"/>
              </a:rPr>
              <a:t>mihasan@liverpool.ac.uk</a:t>
            </a:r>
            <a:endParaRPr lang="en-GB" sz="3200" dirty="0"/>
          </a:p>
          <a:p>
            <a:endParaRPr lang="en-GB" sz="32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0275" y="-417339"/>
            <a:ext cx="7543800" cy="3079403"/>
          </a:xfrm>
          <a:prstGeom prst="rect">
            <a:avLst/>
          </a:prstGeom>
        </p:spPr>
      </p:pic>
      <p:sp>
        <p:nvSpPr>
          <p:cNvPr id="7" name="Slide Number Placeholder 6"/>
          <p:cNvSpPr>
            <a:spLocks noGrp="1"/>
          </p:cNvSpPr>
          <p:nvPr>
            <p:ph type="sldNum" sz="quarter" idx="12"/>
          </p:nvPr>
        </p:nvSpPr>
        <p:spPr/>
        <p:txBody>
          <a:bodyPr/>
          <a:lstStyle/>
          <a:p>
            <a:fld id="{B41761D7-3DCA-48D0-8D79-89DA2676C306}" type="slidenum">
              <a:rPr lang="en-GB" smtClean="0"/>
              <a:t>1</a:t>
            </a:fld>
            <a:endParaRPr lang="en-GB" dirty="0"/>
          </a:p>
        </p:txBody>
      </p:sp>
    </p:spTree>
    <p:extLst>
      <p:ext uri="{BB962C8B-B14F-4D97-AF65-F5344CB8AC3E}">
        <p14:creationId xmlns:p14="http://schemas.microsoft.com/office/powerpoint/2010/main" val="3927943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Previous lecture </a:t>
            </a:r>
          </a:p>
        </p:txBody>
      </p:sp>
      <p:sp>
        <p:nvSpPr>
          <p:cNvPr id="3" name="Content Placeholder 2"/>
          <p:cNvSpPr>
            <a:spLocks noGrp="1"/>
          </p:cNvSpPr>
          <p:nvPr>
            <p:ph idx="1"/>
          </p:nvPr>
        </p:nvSpPr>
        <p:spPr>
          <a:xfrm>
            <a:off x="838199" y="1481676"/>
            <a:ext cx="11075437" cy="4895850"/>
          </a:xfrm>
        </p:spPr>
        <p:txBody>
          <a:bodyPr>
            <a:noAutofit/>
          </a:bodyPr>
          <a:lstStyle/>
          <a:p>
            <a:pPr>
              <a:lnSpc>
                <a:spcPct val="150000"/>
              </a:lnSpc>
            </a:pPr>
            <a:r>
              <a:rPr lang="en-GB" sz="2400" dirty="0"/>
              <a:t>C++ components were discussed, which consist of keywords, syntax rules, and developers statements.</a:t>
            </a:r>
          </a:p>
          <a:p>
            <a:pPr>
              <a:lnSpc>
                <a:spcPct val="150000"/>
              </a:lnSpc>
            </a:pPr>
            <a:r>
              <a:rPr lang="en-GB" sz="2400" dirty="0"/>
              <a:t>The role of  pre-processor directives and header files in a programme was discussed.</a:t>
            </a:r>
          </a:p>
          <a:p>
            <a:pPr>
              <a:lnSpc>
                <a:spcPct val="150000"/>
              </a:lnSpc>
            </a:pPr>
            <a:r>
              <a:rPr lang="en-GB" sz="2400" dirty="0"/>
              <a:t>The libraries </a:t>
            </a:r>
            <a:r>
              <a:rPr lang="en-GB" sz="2400" dirty="0">
                <a:latin typeface="Consolas" panose="020B0609020204030204" pitchFamily="49" charset="0"/>
              </a:rPr>
              <a:t>&lt;iostream&gt;, &lt;string&gt;, &lt;</a:t>
            </a:r>
            <a:r>
              <a:rPr lang="en-GB" sz="2400" dirty="0" err="1">
                <a:latin typeface="Consolas" panose="020B0609020204030204" pitchFamily="49" charset="0"/>
              </a:rPr>
              <a:t>fstream</a:t>
            </a:r>
            <a:r>
              <a:rPr lang="en-GB" sz="2400" dirty="0">
                <a:latin typeface="Consolas" panose="020B0609020204030204" pitchFamily="49" charset="0"/>
              </a:rPr>
              <a:t>&gt;, and &lt;</a:t>
            </a:r>
            <a:r>
              <a:rPr lang="en-GB" sz="2400" dirty="0" err="1">
                <a:latin typeface="Consolas" panose="020B0609020204030204" pitchFamily="49" charset="0"/>
              </a:rPr>
              <a:t>chrono</a:t>
            </a:r>
            <a:r>
              <a:rPr lang="en-GB" sz="2400" dirty="0">
                <a:latin typeface="Consolas" panose="020B0609020204030204" pitchFamily="49" charset="0"/>
              </a:rPr>
              <a:t>&gt; </a:t>
            </a:r>
            <a:r>
              <a:rPr lang="en-GB" sz="2400" dirty="0"/>
              <a:t>were discussed.</a:t>
            </a:r>
            <a:r>
              <a:rPr lang="en-GB" sz="2400" dirty="0">
                <a:latin typeface="Consolas" panose="020B0609020204030204" pitchFamily="49" charset="0"/>
              </a:rPr>
              <a:t> </a:t>
            </a:r>
          </a:p>
          <a:p>
            <a:pPr>
              <a:lnSpc>
                <a:spcPct val="150000"/>
              </a:lnSpc>
            </a:pPr>
            <a:r>
              <a:rPr lang="en-GB" sz="2400" dirty="0"/>
              <a:t>The types of errors where discussed and examples of such errors were given.  </a:t>
            </a: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3400" dirty="0"/>
          </a:p>
          <a:p>
            <a:pPr marL="0" indent="0">
              <a:lnSpc>
                <a:spcPct val="120000"/>
              </a:lnSpc>
              <a:buNone/>
            </a:pPr>
            <a:r>
              <a:rPr lang="en-GB" sz="3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2</a:t>
            </a:fld>
            <a:endParaRPr lang="en-GB"/>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988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This lecture</a:t>
            </a:r>
          </a:p>
        </p:txBody>
      </p:sp>
      <p:sp>
        <p:nvSpPr>
          <p:cNvPr id="3" name="Content Placeholder 2"/>
          <p:cNvSpPr>
            <a:spLocks noGrp="1"/>
          </p:cNvSpPr>
          <p:nvPr>
            <p:ph idx="1"/>
          </p:nvPr>
        </p:nvSpPr>
        <p:spPr>
          <a:xfrm>
            <a:off x="838200" y="1481676"/>
            <a:ext cx="10515600" cy="4351338"/>
          </a:xfrm>
        </p:spPr>
        <p:txBody>
          <a:bodyPr>
            <a:noAutofit/>
          </a:bodyPr>
          <a:lstStyle/>
          <a:p>
            <a:pPr>
              <a:lnSpc>
                <a:spcPct val="120000"/>
              </a:lnSpc>
            </a:pPr>
            <a:r>
              <a:rPr lang="en-GB" sz="2400" dirty="0"/>
              <a:t>What is covered in this lecture?</a:t>
            </a:r>
          </a:p>
          <a:p>
            <a:pPr marL="0" indent="0">
              <a:lnSpc>
                <a:spcPct val="120000"/>
              </a:lnSpc>
              <a:buNone/>
            </a:pPr>
            <a:r>
              <a:rPr lang="en-GB" sz="2400" dirty="0"/>
              <a:t>   1. Data types of simple variables         2. Arrays        3. Operators and precedence</a:t>
            </a:r>
          </a:p>
          <a:p>
            <a:pPr>
              <a:lnSpc>
                <a:spcPct val="120000"/>
              </a:lnSpc>
            </a:pPr>
            <a:r>
              <a:rPr lang="en-GB" sz="2400" dirty="0"/>
              <a:t>Why is it covered?</a:t>
            </a:r>
          </a:p>
          <a:p>
            <a:pPr marL="0" indent="0">
              <a:lnSpc>
                <a:spcPct val="120000"/>
              </a:lnSpc>
              <a:buNone/>
            </a:pPr>
            <a:r>
              <a:rPr lang="en-GB" sz="2400" dirty="0"/>
              <a:t>  1. Variables are the basic building block of any code/programme.</a:t>
            </a:r>
          </a:p>
          <a:p>
            <a:pPr marL="177800" indent="-177800">
              <a:lnSpc>
                <a:spcPct val="120000"/>
              </a:lnSpc>
              <a:buNone/>
            </a:pPr>
            <a:r>
              <a:rPr lang="en-GB" sz="2400" dirty="0"/>
              <a:t>  2. Operators are the foundation of any programming language.</a:t>
            </a:r>
          </a:p>
          <a:p>
            <a:pPr>
              <a:lnSpc>
                <a:spcPct val="120000"/>
              </a:lnSpc>
            </a:pPr>
            <a:r>
              <a:rPr lang="en-GB" sz="2400" dirty="0"/>
              <a:t>How are topics covered in this lecture:</a:t>
            </a:r>
          </a:p>
          <a:p>
            <a:pPr marL="0" indent="0">
              <a:lnSpc>
                <a:spcPct val="120000"/>
              </a:lnSpc>
              <a:buNone/>
            </a:pPr>
            <a:r>
              <a:rPr lang="en-GB" sz="2400" dirty="0"/>
              <a:t>   3 source codes</a:t>
            </a:r>
          </a:p>
          <a:p>
            <a:pPr marL="0" indent="0">
              <a:lnSpc>
                <a:spcPct val="120000"/>
              </a:lnSpc>
              <a:buNone/>
            </a:pPr>
            <a:r>
              <a:rPr lang="en-GB" sz="2400" dirty="0"/>
              <a:t>   </a:t>
            </a:r>
          </a:p>
          <a:p>
            <a:pPr marL="0" indent="0">
              <a:lnSpc>
                <a:spcPct val="120000"/>
              </a:lnSpc>
              <a:buNone/>
            </a:pPr>
            <a:r>
              <a:rPr lang="en-GB" sz="2400" dirty="0"/>
              <a:t>   </a:t>
            </a:r>
            <a:endParaRPr lang="en-GB" dirty="0"/>
          </a:p>
          <a:p>
            <a:pPr marL="0" indent="0">
              <a:buNone/>
            </a:pPr>
            <a:r>
              <a:rPr lang="en-GB" dirty="0"/>
              <a:t> </a:t>
            </a:r>
          </a:p>
        </p:txBody>
      </p:sp>
      <p:sp>
        <p:nvSpPr>
          <p:cNvPr id="4" name="Slide Number Placeholder 3"/>
          <p:cNvSpPr>
            <a:spLocks noGrp="1"/>
          </p:cNvSpPr>
          <p:nvPr>
            <p:ph type="sldNum" sz="quarter" idx="12"/>
          </p:nvPr>
        </p:nvSpPr>
        <p:spPr/>
        <p:txBody>
          <a:bodyPr/>
          <a:lstStyle/>
          <a:p>
            <a:fld id="{B41761D7-3DCA-48D0-8D79-89DA2676C306}" type="slidenum">
              <a:rPr lang="en-GB" smtClean="0"/>
              <a:t>3</a:t>
            </a:fld>
            <a:endParaRPr lang="en-GB"/>
          </a:p>
        </p:txBody>
      </p:sp>
      <p:cxnSp>
        <p:nvCxnSpPr>
          <p:cNvPr id="6" name="Straight Connector 5">
            <a:extLst>
              <a:ext uri="{FF2B5EF4-FFF2-40B4-BE49-F238E27FC236}">
                <a16:creationId xmlns:a16="http://schemas.microsoft.com/office/drawing/2014/main" id="{1A8A95AE-9713-46FC-B847-421EF800AD12}"/>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5798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Variables and Data types</a:t>
            </a:r>
          </a:p>
        </p:txBody>
      </p:sp>
      <p:sp>
        <p:nvSpPr>
          <p:cNvPr id="3" name="Content Placeholder 2"/>
          <p:cNvSpPr>
            <a:spLocks noGrp="1"/>
          </p:cNvSpPr>
          <p:nvPr>
            <p:ph idx="1"/>
          </p:nvPr>
        </p:nvSpPr>
        <p:spPr>
          <a:xfrm>
            <a:off x="838200" y="1506843"/>
            <a:ext cx="10515600" cy="4351338"/>
          </a:xfrm>
        </p:spPr>
        <p:txBody>
          <a:bodyPr>
            <a:noAutofit/>
          </a:bodyPr>
          <a:lstStyle/>
          <a:p>
            <a:pPr>
              <a:lnSpc>
                <a:spcPct val="120000"/>
              </a:lnSpc>
            </a:pPr>
            <a:r>
              <a:rPr lang="en-GB" sz="2400" dirty="0"/>
              <a:t>Variables are </a:t>
            </a:r>
            <a:r>
              <a:rPr lang="en-GB" sz="2400" i="1" dirty="0"/>
              <a:t>volatile (or temporary) </a:t>
            </a:r>
            <a:r>
              <a:rPr lang="en-US" sz="2400" dirty="0"/>
              <a:t>storage for keeping data that a program uses, where the storage has a certain size and location in the memory.  </a:t>
            </a:r>
          </a:p>
          <a:p>
            <a:pPr>
              <a:lnSpc>
                <a:spcPct val="120000"/>
              </a:lnSpc>
            </a:pPr>
            <a:r>
              <a:rPr lang="en-GB" sz="2400" dirty="0"/>
              <a:t> The syntax of defining a variable is as follows: </a:t>
            </a:r>
          </a:p>
          <a:p>
            <a:pPr>
              <a:lnSpc>
                <a:spcPct val="120000"/>
              </a:lnSpc>
            </a:pPr>
            <a:endParaRPr lang="en-GB" sz="2400" dirty="0"/>
          </a:p>
          <a:p>
            <a:pPr>
              <a:lnSpc>
                <a:spcPct val="120000"/>
              </a:lnSpc>
            </a:pPr>
            <a:endParaRPr lang="en-GB" sz="2400" dirty="0"/>
          </a:p>
          <a:p>
            <a:pPr>
              <a:lnSpc>
                <a:spcPct val="120000"/>
              </a:lnSpc>
            </a:pPr>
            <a:endParaRPr lang="en-GB" sz="2400" dirty="0"/>
          </a:p>
          <a:p>
            <a:pPr>
              <a:lnSpc>
                <a:spcPct val="120000"/>
              </a:lnSpc>
            </a:pPr>
            <a:r>
              <a:rPr lang="en-GB" sz="2400" dirty="0"/>
              <a:t>Variable's declaration and initialisation can be independent steps. </a:t>
            </a:r>
          </a:p>
          <a:p>
            <a:pPr>
              <a:lnSpc>
                <a:spcPct val="120000"/>
              </a:lnSpc>
            </a:pPr>
            <a:endParaRPr lang="en-GB" sz="2400" dirty="0"/>
          </a:p>
          <a:p>
            <a:pPr>
              <a:lnSpc>
                <a:spcPct val="120000"/>
              </a:lnSpc>
            </a:pPr>
            <a:endParaRPr lang="en-GB" sz="2400" dirty="0"/>
          </a:p>
          <a:p>
            <a:pPr>
              <a:lnSpc>
                <a:spcPct val="120000"/>
              </a:lnSpc>
            </a:pPr>
            <a:endParaRPr lang="en-GB" sz="2400" dirty="0"/>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marL="0" indent="0">
              <a:lnSpc>
                <a:spcPct val="120000"/>
              </a:lnSpc>
              <a:buNone/>
            </a:pPr>
            <a:endParaRPr lang="en-GB" sz="2400" dirty="0"/>
          </a:p>
          <a:p>
            <a:pPr marL="0" indent="0">
              <a:lnSpc>
                <a:spcPct val="120000"/>
              </a:lnSpc>
              <a:buNone/>
            </a:pPr>
            <a:endParaRPr lang="en-GB" sz="2400" dirty="0"/>
          </a:p>
          <a:p>
            <a:pPr marL="0" indent="0">
              <a:lnSpc>
                <a:spcPct val="120000"/>
              </a:lnSpc>
              <a:buNone/>
            </a:pPr>
            <a:endParaRPr lang="en-GB" sz="2400" dirty="0"/>
          </a:p>
          <a:p>
            <a:pPr marL="628650" indent="-628650">
              <a:lnSpc>
                <a:spcPct val="120000"/>
              </a:lnSpc>
              <a:buNone/>
            </a:pPr>
            <a:endParaRPr lang="en-GB" sz="2400" dirty="0"/>
          </a:p>
          <a:p>
            <a:pPr marL="0" indent="0">
              <a:lnSpc>
                <a:spcPct val="120000"/>
              </a:lnSpc>
              <a:buNone/>
            </a:pPr>
            <a:endParaRPr lang="en-GB" dirty="0"/>
          </a:p>
          <a:p>
            <a:pPr marL="0" indent="0">
              <a:buNone/>
            </a:pPr>
            <a:endParaRPr lang="en-GB" dirty="0"/>
          </a:p>
        </p:txBody>
      </p:sp>
      <p:sp>
        <p:nvSpPr>
          <p:cNvPr id="4" name="Slide Number Placeholder 3"/>
          <p:cNvSpPr>
            <a:spLocks noGrp="1"/>
          </p:cNvSpPr>
          <p:nvPr>
            <p:ph type="sldNum" sz="quarter" idx="12"/>
          </p:nvPr>
        </p:nvSpPr>
        <p:spPr/>
        <p:txBody>
          <a:bodyPr/>
          <a:lstStyle/>
          <a:p>
            <a:fld id="{B41761D7-3DCA-48D0-8D79-89DA2676C306}" type="slidenum">
              <a:rPr lang="en-GB" smtClean="0"/>
              <a:t>4</a:t>
            </a:fld>
            <a:endParaRPr lang="en-GB" dirty="0"/>
          </a:p>
        </p:txBody>
      </p:sp>
      <p:cxnSp>
        <p:nvCxnSpPr>
          <p:cNvPr id="5" name="Straight Connector 4">
            <a:extLst>
              <a:ext uri="{FF2B5EF4-FFF2-40B4-BE49-F238E27FC236}">
                <a16:creationId xmlns:a16="http://schemas.microsoft.com/office/drawing/2014/main" id="{6E6E0D27-0BEA-4CB5-9444-FF650B37271A}"/>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F6A427E7-D17A-42B1-AF02-BEB2CA44DEE3}"/>
              </a:ext>
            </a:extLst>
          </p:cNvPr>
          <p:cNvSpPr/>
          <p:nvPr/>
        </p:nvSpPr>
        <p:spPr>
          <a:xfrm>
            <a:off x="1005027" y="3033153"/>
            <a:ext cx="9336837" cy="56802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1064294" y="3103109"/>
            <a:ext cx="7374135" cy="461665"/>
          </a:xfrm>
          <a:prstGeom prst="rect">
            <a:avLst/>
          </a:prstGeom>
        </p:spPr>
        <p:txBody>
          <a:bodyPr wrap="none">
            <a:spAutoFit/>
          </a:bodyPr>
          <a:lstStyle/>
          <a:p>
            <a:r>
              <a:rPr lang="en-US" sz="2400" b="1" dirty="0" err="1">
                <a:solidFill>
                  <a:srgbClr val="0000FF"/>
                </a:solidFill>
                <a:latin typeface="Courier New"/>
                <a:cs typeface="Courier New"/>
              </a:rPr>
              <a:t>DataType</a:t>
            </a:r>
            <a:r>
              <a:rPr lang="en-US" sz="2400" b="1" dirty="0">
                <a:latin typeface="Courier New"/>
                <a:cs typeface="Courier New"/>
              </a:rPr>
              <a:t> </a:t>
            </a:r>
            <a:r>
              <a:rPr lang="en-US" sz="2400" b="1" dirty="0" err="1">
                <a:latin typeface="Courier New"/>
                <a:cs typeface="Courier New"/>
              </a:rPr>
              <a:t>VariableName</a:t>
            </a:r>
            <a:r>
              <a:rPr lang="en-US" sz="2400" b="1" dirty="0">
                <a:latin typeface="Courier New"/>
                <a:cs typeface="Courier New"/>
              </a:rPr>
              <a:t> = </a:t>
            </a:r>
            <a:r>
              <a:rPr lang="en-US" sz="2400" b="1" dirty="0" err="1">
                <a:latin typeface="Courier New"/>
                <a:cs typeface="Courier New"/>
              </a:rPr>
              <a:t>VariableValue</a:t>
            </a:r>
            <a:r>
              <a:rPr lang="en-US" sz="2400" b="1" dirty="0">
                <a:latin typeface="Courier New"/>
                <a:cs typeface="Courier New"/>
              </a:rPr>
              <a:t>; </a:t>
            </a:r>
            <a:endParaRPr lang="en-GB" sz="2400" dirty="0"/>
          </a:p>
        </p:txBody>
      </p:sp>
      <p:sp>
        <p:nvSpPr>
          <p:cNvPr id="14" name="Left Brace 13"/>
          <p:cNvSpPr/>
          <p:nvPr/>
        </p:nvSpPr>
        <p:spPr>
          <a:xfrm rot="16200000">
            <a:off x="2787261" y="1620250"/>
            <a:ext cx="520700" cy="3966633"/>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5" name="TextBox 14">
            <a:extLst>
              <a:ext uri="{FF2B5EF4-FFF2-40B4-BE49-F238E27FC236}">
                <a16:creationId xmlns:a16="http://schemas.microsoft.com/office/drawing/2014/main" id="{B898AA5B-F640-4621-A955-6B998AC81A7C}"/>
              </a:ext>
            </a:extLst>
          </p:cNvPr>
          <p:cNvSpPr txBox="1"/>
          <p:nvPr/>
        </p:nvSpPr>
        <p:spPr>
          <a:xfrm>
            <a:off x="897185" y="3907380"/>
            <a:ext cx="4133743" cy="830997"/>
          </a:xfrm>
          <a:prstGeom prst="rect">
            <a:avLst/>
          </a:prstGeom>
          <a:noFill/>
        </p:spPr>
        <p:txBody>
          <a:bodyPr wrap="square" rtlCol="0">
            <a:spAutoFit/>
          </a:bodyPr>
          <a:lstStyle/>
          <a:p>
            <a:pPr algn="ctr"/>
            <a:r>
              <a:rPr lang="en-GB" sz="2400" dirty="0"/>
              <a:t>Variable declaration: tells the complier the variable exists</a:t>
            </a:r>
          </a:p>
        </p:txBody>
      </p:sp>
      <p:sp>
        <p:nvSpPr>
          <p:cNvPr id="16" name="Left Brace 15"/>
          <p:cNvSpPr/>
          <p:nvPr/>
        </p:nvSpPr>
        <p:spPr>
          <a:xfrm rot="16200000">
            <a:off x="5199511" y="902033"/>
            <a:ext cx="520700" cy="5347561"/>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7" name="TextBox 16">
            <a:extLst>
              <a:ext uri="{FF2B5EF4-FFF2-40B4-BE49-F238E27FC236}">
                <a16:creationId xmlns:a16="http://schemas.microsoft.com/office/drawing/2014/main" id="{B898AA5B-F640-4621-A955-6B998AC81A7C}"/>
              </a:ext>
            </a:extLst>
          </p:cNvPr>
          <p:cNvSpPr txBox="1"/>
          <p:nvPr/>
        </p:nvSpPr>
        <p:spPr>
          <a:xfrm>
            <a:off x="4972205" y="3892926"/>
            <a:ext cx="4133743" cy="830997"/>
          </a:xfrm>
          <a:prstGeom prst="rect">
            <a:avLst/>
          </a:prstGeom>
          <a:noFill/>
        </p:spPr>
        <p:txBody>
          <a:bodyPr wrap="square" rtlCol="0">
            <a:spAutoFit/>
          </a:bodyPr>
          <a:lstStyle/>
          <a:p>
            <a:r>
              <a:rPr lang="en-GB" sz="2400" dirty="0"/>
              <a:t>Variable Initialisation: sets the variable’s value</a:t>
            </a:r>
          </a:p>
        </p:txBody>
      </p:sp>
      <p:sp>
        <p:nvSpPr>
          <p:cNvPr id="18" name="Rectangle 17">
            <a:extLst>
              <a:ext uri="{FF2B5EF4-FFF2-40B4-BE49-F238E27FC236}">
                <a16:creationId xmlns:a16="http://schemas.microsoft.com/office/drawing/2014/main" id="{F6A427E7-D17A-42B1-AF02-BEB2CA44DEE3}"/>
              </a:ext>
            </a:extLst>
          </p:cNvPr>
          <p:cNvSpPr/>
          <p:nvPr/>
        </p:nvSpPr>
        <p:spPr>
          <a:xfrm>
            <a:off x="1005027" y="5374007"/>
            <a:ext cx="9336838" cy="126168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p:cNvSpPr/>
          <p:nvPr/>
        </p:nvSpPr>
        <p:spPr>
          <a:xfrm>
            <a:off x="1005027" y="5411213"/>
            <a:ext cx="6838679" cy="1154162"/>
          </a:xfrm>
          <a:prstGeom prst="rect">
            <a:avLst/>
          </a:prstGeom>
        </p:spPr>
        <p:txBody>
          <a:bodyPr wrap="square">
            <a:spAutoFit/>
          </a:bodyPr>
          <a:lstStyle/>
          <a:p>
            <a:pPr>
              <a:lnSpc>
                <a:spcPct val="150000"/>
              </a:lnSpc>
            </a:pPr>
            <a:r>
              <a:rPr lang="en-US" sz="2400" b="1" dirty="0" err="1">
                <a:solidFill>
                  <a:srgbClr val="0000FF"/>
                </a:solidFill>
                <a:latin typeface="Courier New"/>
                <a:cs typeface="Courier New"/>
              </a:rPr>
              <a:t>DataType</a:t>
            </a:r>
            <a:r>
              <a:rPr lang="en-US" sz="2400" b="1" dirty="0">
                <a:latin typeface="Courier New"/>
                <a:cs typeface="Courier New"/>
              </a:rPr>
              <a:t> </a:t>
            </a:r>
            <a:r>
              <a:rPr lang="en-US" sz="2400" b="1" dirty="0" err="1">
                <a:latin typeface="Courier New"/>
                <a:cs typeface="Courier New"/>
              </a:rPr>
              <a:t>VariableName</a:t>
            </a:r>
            <a:r>
              <a:rPr lang="en-US" sz="2400" b="1" dirty="0">
                <a:latin typeface="Courier New"/>
                <a:cs typeface="Courier New"/>
              </a:rPr>
              <a:t>; </a:t>
            </a:r>
          </a:p>
          <a:p>
            <a:pPr>
              <a:lnSpc>
                <a:spcPct val="150000"/>
              </a:lnSpc>
            </a:pPr>
            <a:r>
              <a:rPr lang="en-US" sz="2400" b="1" dirty="0" err="1">
                <a:latin typeface="Courier New"/>
                <a:cs typeface="Courier New"/>
              </a:rPr>
              <a:t>VariableName</a:t>
            </a:r>
            <a:r>
              <a:rPr lang="en-US" sz="2400" b="1" dirty="0">
                <a:latin typeface="Courier New"/>
                <a:cs typeface="Courier New"/>
              </a:rPr>
              <a:t> = </a:t>
            </a:r>
            <a:r>
              <a:rPr lang="en-US" sz="2400" b="1" dirty="0" err="1">
                <a:latin typeface="Courier New"/>
                <a:cs typeface="Courier New"/>
              </a:rPr>
              <a:t>VariableValue</a:t>
            </a:r>
            <a:r>
              <a:rPr lang="en-US" sz="2400" b="1" dirty="0">
                <a:latin typeface="Courier New"/>
                <a:cs typeface="Courier New"/>
              </a:rPr>
              <a:t>;</a:t>
            </a:r>
            <a:endParaRPr lang="en-GB" sz="2400" dirty="0"/>
          </a:p>
        </p:txBody>
      </p:sp>
    </p:spTree>
    <p:extLst>
      <p:ext uri="{BB962C8B-B14F-4D97-AF65-F5344CB8AC3E}">
        <p14:creationId xmlns:p14="http://schemas.microsoft.com/office/powerpoint/2010/main" val="821500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5"/>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1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16"/>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5" grpId="0"/>
      <p:bldP spid="15" grpId="1"/>
      <p:bldP spid="16" grpId="0" animBg="1"/>
      <p:bldP spid="16" grpId="1" animBg="1"/>
      <p:bldP spid="17" grpId="0"/>
      <p:bldP spid="17"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Variables and Data types</a:t>
            </a:r>
          </a:p>
        </p:txBody>
      </p:sp>
      <p:sp>
        <p:nvSpPr>
          <p:cNvPr id="3" name="Content Placeholder 2"/>
          <p:cNvSpPr>
            <a:spLocks noGrp="1"/>
          </p:cNvSpPr>
          <p:nvPr>
            <p:ph idx="1"/>
          </p:nvPr>
        </p:nvSpPr>
        <p:spPr>
          <a:xfrm>
            <a:off x="838200" y="1490065"/>
            <a:ext cx="10515600" cy="4351338"/>
          </a:xfrm>
        </p:spPr>
        <p:txBody>
          <a:bodyPr>
            <a:noAutofit/>
          </a:bodyPr>
          <a:lstStyle/>
          <a:p>
            <a:pPr>
              <a:lnSpc>
                <a:spcPct val="120000"/>
              </a:lnSpc>
            </a:pPr>
            <a:r>
              <a:rPr lang="en-GB" sz="2400" dirty="0"/>
              <a:t>There are multiple ways to declare and initialise variables:  </a:t>
            </a:r>
          </a:p>
          <a:p>
            <a:pPr>
              <a:lnSpc>
                <a:spcPct val="120000"/>
              </a:lnSpc>
            </a:pPr>
            <a:endParaRPr lang="en-GB" sz="2400" dirty="0"/>
          </a:p>
          <a:p>
            <a:pPr>
              <a:lnSpc>
                <a:spcPct val="120000"/>
              </a:lnSpc>
            </a:pPr>
            <a:endParaRPr lang="en-GB" sz="2400" dirty="0"/>
          </a:p>
          <a:p>
            <a:pPr>
              <a:lnSpc>
                <a:spcPct val="120000"/>
              </a:lnSpc>
            </a:pPr>
            <a:endParaRPr lang="en-GB" sz="2400" dirty="0"/>
          </a:p>
          <a:p>
            <a:pPr>
              <a:lnSpc>
                <a:spcPct val="120000"/>
              </a:lnSpc>
            </a:pPr>
            <a:endParaRPr lang="en-GB" sz="2400" dirty="0"/>
          </a:p>
          <a:p>
            <a:pPr>
              <a:lnSpc>
                <a:spcPct val="120000"/>
              </a:lnSpc>
            </a:pPr>
            <a:endParaRPr lang="en-GB" sz="2400" dirty="0"/>
          </a:p>
          <a:p>
            <a:pPr>
              <a:lnSpc>
                <a:spcPct val="120000"/>
              </a:lnSpc>
            </a:pPr>
            <a:endParaRPr lang="en-GB" sz="2400" dirty="0"/>
          </a:p>
          <a:p>
            <a:pPr>
              <a:lnSpc>
                <a:spcPct val="120000"/>
              </a:lnSpc>
            </a:pPr>
            <a:endParaRPr lang="en-GB" sz="2400" dirty="0"/>
          </a:p>
          <a:p>
            <a:pPr>
              <a:lnSpc>
                <a:spcPct val="120000"/>
              </a:lnSpc>
            </a:pPr>
            <a:endParaRPr lang="en-GB" sz="2400" dirty="0"/>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marL="0" indent="0">
              <a:lnSpc>
                <a:spcPct val="120000"/>
              </a:lnSpc>
              <a:buNone/>
            </a:pPr>
            <a:endParaRPr lang="en-GB" sz="2400" dirty="0"/>
          </a:p>
          <a:p>
            <a:pPr marL="0" indent="0">
              <a:lnSpc>
                <a:spcPct val="120000"/>
              </a:lnSpc>
              <a:buNone/>
            </a:pPr>
            <a:endParaRPr lang="en-GB" sz="2400" dirty="0"/>
          </a:p>
          <a:p>
            <a:pPr marL="0" indent="0">
              <a:lnSpc>
                <a:spcPct val="120000"/>
              </a:lnSpc>
              <a:buNone/>
            </a:pPr>
            <a:endParaRPr lang="en-GB" sz="2400" dirty="0"/>
          </a:p>
          <a:p>
            <a:pPr marL="628650" indent="-628650">
              <a:lnSpc>
                <a:spcPct val="120000"/>
              </a:lnSpc>
              <a:buNone/>
            </a:pPr>
            <a:endParaRPr lang="en-GB" sz="2400" dirty="0"/>
          </a:p>
          <a:p>
            <a:pPr marL="0" indent="0">
              <a:lnSpc>
                <a:spcPct val="120000"/>
              </a:lnSpc>
              <a:buNone/>
            </a:pPr>
            <a:endParaRPr lang="en-GB" dirty="0"/>
          </a:p>
          <a:p>
            <a:pPr marL="0" indent="0">
              <a:buNone/>
            </a:pPr>
            <a:endParaRPr lang="en-GB" dirty="0"/>
          </a:p>
        </p:txBody>
      </p:sp>
      <p:sp>
        <p:nvSpPr>
          <p:cNvPr id="4" name="Slide Number Placeholder 3"/>
          <p:cNvSpPr>
            <a:spLocks noGrp="1"/>
          </p:cNvSpPr>
          <p:nvPr>
            <p:ph type="sldNum" sz="quarter" idx="12"/>
          </p:nvPr>
        </p:nvSpPr>
        <p:spPr/>
        <p:txBody>
          <a:bodyPr/>
          <a:lstStyle/>
          <a:p>
            <a:fld id="{B41761D7-3DCA-48D0-8D79-89DA2676C306}" type="slidenum">
              <a:rPr lang="en-GB" smtClean="0"/>
              <a:t>5</a:t>
            </a:fld>
            <a:endParaRPr lang="en-GB"/>
          </a:p>
        </p:txBody>
      </p:sp>
      <p:cxnSp>
        <p:nvCxnSpPr>
          <p:cNvPr id="5" name="Straight Connector 4">
            <a:extLst>
              <a:ext uri="{FF2B5EF4-FFF2-40B4-BE49-F238E27FC236}">
                <a16:creationId xmlns:a16="http://schemas.microsoft.com/office/drawing/2014/main" id="{6E6E0D27-0BEA-4CB5-9444-FF650B37271A}"/>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F6A427E7-D17A-42B1-AF02-BEB2CA44DEE3}"/>
              </a:ext>
            </a:extLst>
          </p:cNvPr>
          <p:cNvSpPr/>
          <p:nvPr/>
        </p:nvSpPr>
        <p:spPr>
          <a:xfrm>
            <a:off x="920360" y="2036515"/>
            <a:ext cx="10738240" cy="431584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920360" y="2036515"/>
            <a:ext cx="10941441" cy="4401205"/>
          </a:xfrm>
          <a:prstGeom prst="rect">
            <a:avLst/>
          </a:prstGeom>
        </p:spPr>
        <p:txBody>
          <a:bodyPr wrap="square">
            <a:spAutoFit/>
          </a:bodyPr>
          <a:lstStyle/>
          <a:p>
            <a:r>
              <a:rPr lang="en-US" sz="2000" b="1" dirty="0">
                <a:solidFill>
                  <a:srgbClr val="0000FF"/>
                </a:solidFill>
                <a:latin typeface="Courier New"/>
                <a:cs typeface="Courier New"/>
              </a:rPr>
              <a:t>#include</a:t>
            </a:r>
            <a:r>
              <a:rPr lang="en-US" sz="2000" b="1" dirty="0">
                <a:latin typeface="Courier New"/>
                <a:cs typeface="Courier New"/>
              </a:rPr>
              <a:t> &lt;</a:t>
            </a:r>
            <a:r>
              <a:rPr lang="en-US" sz="2000" b="1" dirty="0" err="1">
                <a:latin typeface="Courier New"/>
                <a:cs typeface="Courier New"/>
              </a:rPr>
              <a:t>iostream</a:t>
            </a:r>
            <a:r>
              <a:rPr lang="en-US" sz="2000" b="1" dirty="0">
                <a:latin typeface="Courier New"/>
                <a:cs typeface="Courier New"/>
              </a:rPr>
              <a:t>&gt;</a:t>
            </a:r>
          </a:p>
          <a:p>
            <a:endParaRPr lang="en-US" sz="2000" b="1" dirty="0">
              <a:latin typeface="Courier New"/>
              <a:cs typeface="Courier New"/>
            </a:endParaRPr>
          </a:p>
          <a:p>
            <a:endParaRPr lang="en-US" sz="2000" b="1" dirty="0">
              <a:latin typeface="Courier New"/>
              <a:cs typeface="Courier New"/>
            </a:endParaRPr>
          </a:p>
          <a:p>
            <a:r>
              <a:rPr lang="en-US" sz="2000" b="1" dirty="0" err="1">
                <a:solidFill>
                  <a:srgbClr val="0000FF"/>
                </a:solidFill>
                <a:latin typeface="Courier New"/>
                <a:cs typeface="Courier New"/>
              </a:rPr>
              <a:t>int</a:t>
            </a:r>
            <a:r>
              <a:rPr lang="en-US" sz="2000" b="1" dirty="0">
                <a:latin typeface="Courier New"/>
                <a:cs typeface="Courier New"/>
              </a:rPr>
              <a:t> main () {</a:t>
            </a:r>
          </a:p>
          <a:p>
            <a:r>
              <a:rPr lang="en-US" sz="2000" b="1" dirty="0">
                <a:latin typeface="Courier New"/>
                <a:cs typeface="Courier New"/>
              </a:rPr>
              <a:t>   </a:t>
            </a:r>
          </a:p>
          <a:p>
            <a:r>
              <a:rPr lang="en-US" sz="2000" b="1" dirty="0">
                <a:latin typeface="Courier New"/>
                <a:cs typeface="Courier New"/>
              </a:rPr>
              <a:t>   </a:t>
            </a:r>
            <a:r>
              <a:rPr lang="en-US" sz="2000" b="1" dirty="0" err="1">
                <a:solidFill>
                  <a:srgbClr val="0000FF"/>
                </a:solidFill>
                <a:latin typeface="Courier New"/>
                <a:cs typeface="Courier New"/>
              </a:rPr>
              <a:t>int</a:t>
            </a:r>
            <a:r>
              <a:rPr lang="en-US" sz="2000" b="1" dirty="0">
                <a:latin typeface="Courier New"/>
                <a:cs typeface="Courier New"/>
              </a:rPr>
              <a:t> a = 2;  </a:t>
            </a:r>
            <a:r>
              <a:rPr lang="en-US" sz="2000" b="1" dirty="0">
                <a:solidFill>
                  <a:srgbClr val="008000"/>
                </a:solidFill>
                <a:latin typeface="Courier New"/>
                <a:cs typeface="Courier New"/>
              </a:rPr>
              <a:t>// initialization using “=“ operator</a:t>
            </a:r>
          </a:p>
          <a:p>
            <a:r>
              <a:rPr lang="en-US" sz="2000" b="1" dirty="0">
                <a:latin typeface="Courier New"/>
                <a:cs typeface="Courier New"/>
              </a:rPr>
              <a:t>   </a:t>
            </a:r>
          </a:p>
          <a:p>
            <a:r>
              <a:rPr lang="en-US" sz="2000" b="1" dirty="0">
                <a:latin typeface="Courier New"/>
                <a:cs typeface="Courier New"/>
              </a:rPr>
              <a:t>   </a:t>
            </a:r>
            <a:r>
              <a:rPr lang="en-US" sz="2000" b="1" dirty="0" err="1">
                <a:solidFill>
                  <a:srgbClr val="0000FF"/>
                </a:solidFill>
                <a:latin typeface="Courier New"/>
                <a:cs typeface="Courier New"/>
              </a:rPr>
              <a:t>int</a:t>
            </a:r>
            <a:r>
              <a:rPr lang="en-US" sz="2000" b="1" dirty="0">
                <a:latin typeface="Courier New"/>
                <a:cs typeface="Courier New"/>
              </a:rPr>
              <a:t> b (3); </a:t>
            </a:r>
            <a:r>
              <a:rPr lang="en-US" sz="2000" b="1" dirty="0">
                <a:solidFill>
                  <a:srgbClr val="008000"/>
                </a:solidFill>
                <a:latin typeface="Courier New"/>
                <a:cs typeface="Courier New"/>
              </a:rPr>
              <a:t>// initialization using parentheses (not recommended)  </a:t>
            </a:r>
          </a:p>
          <a:p>
            <a:r>
              <a:rPr lang="en-US" sz="2000" b="1" dirty="0">
                <a:latin typeface="Courier New"/>
                <a:cs typeface="Courier New"/>
              </a:rPr>
              <a:t> </a:t>
            </a:r>
          </a:p>
          <a:p>
            <a:r>
              <a:rPr lang="en-US" sz="2000" b="1" dirty="0">
                <a:latin typeface="Courier New"/>
                <a:cs typeface="Courier New"/>
              </a:rPr>
              <a:t>   </a:t>
            </a:r>
            <a:r>
              <a:rPr lang="en-US" sz="2000" b="1" dirty="0" err="1">
                <a:solidFill>
                  <a:srgbClr val="0000FF"/>
                </a:solidFill>
                <a:latin typeface="Courier New"/>
                <a:cs typeface="Courier New"/>
              </a:rPr>
              <a:t>int</a:t>
            </a:r>
            <a:r>
              <a:rPr lang="en-US" sz="2000" b="1" dirty="0">
                <a:latin typeface="Courier New"/>
                <a:cs typeface="Courier New"/>
              </a:rPr>
              <a:t> c {2}; </a:t>
            </a:r>
            <a:r>
              <a:rPr lang="en-US" sz="2000" b="1" dirty="0">
                <a:solidFill>
                  <a:srgbClr val="008000"/>
                </a:solidFill>
                <a:latin typeface="Courier New"/>
                <a:cs typeface="Courier New"/>
              </a:rPr>
              <a:t>// initialization using braces  </a:t>
            </a:r>
          </a:p>
          <a:p>
            <a:r>
              <a:rPr lang="en-US" sz="2000" b="1" dirty="0">
                <a:latin typeface="Courier New"/>
                <a:cs typeface="Courier New"/>
              </a:rPr>
              <a:t>   </a:t>
            </a:r>
          </a:p>
          <a:p>
            <a:r>
              <a:rPr lang="en-US" sz="2000" b="1" dirty="0">
                <a:latin typeface="Courier New"/>
                <a:cs typeface="Courier New"/>
              </a:rPr>
              <a:t>   </a:t>
            </a:r>
            <a:r>
              <a:rPr lang="en-US" sz="2000" b="1" dirty="0" err="1">
                <a:solidFill>
                  <a:srgbClr val="0000FF"/>
                </a:solidFill>
                <a:latin typeface="Courier New"/>
                <a:cs typeface="Courier New"/>
              </a:rPr>
              <a:t>int</a:t>
            </a:r>
            <a:r>
              <a:rPr lang="en-US" sz="2000" b="1" dirty="0">
                <a:latin typeface="Courier New"/>
                <a:cs typeface="Courier New"/>
              </a:rPr>
              <a:t> d , e = 5, f = 4; </a:t>
            </a:r>
            <a:r>
              <a:rPr lang="en-US" sz="2000" b="1" dirty="0">
                <a:solidFill>
                  <a:srgbClr val="008000"/>
                </a:solidFill>
                <a:latin typeface="Courier New"/>
                <a:cs typeface="Courier New"/>
              </a:rPr>
              <a:t>//multiple declaration and initialization</a:t>
            </a:r>
          </a:p>
          <a:p>
            <a:endParaRPr lang="en-US" sz="2000" b="1" dirty="0">
              <a:latin typeface="Courier New"/>
              <a:cs typeface="Courier New"/>
            </a:endParaRPr>
          </a:p>
          <a:p>
            <a:r>
              <a:rPr lang="en-US" sz="2000" b="1" dirty="0">
                <a:latin typeface="Courier New"/>
                <a:cs typeface="Courier New"/>
              </a:rPr>
              <a:t>}</a:t>
            </a:r>
            <a:endParaRPr lang="en-GB" sz="2000" dirty="0"/>
          </a:p>
        </p:txBody>
      </p:sp>
    </p:spTree>
    <p:extLst>
      <p:ext uri="{BB962C8B-B14F-4D97-AF65-F5344CB8AC3E}">
        <p14:creationId xmlns:p14="http://schemas.microsoft.com/office/powerpoint/2010/main" val="688883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Variables and Data types</a:t>
            </a:r>
          </a:p>
        </p:txBody>
      </p:sp>
      <p:sp>
        <p:nvSpPr>
          <p:cNvPr id="3" name="Content Placeholder 2"/>
          <p:cNvSpPr>
            <a:spLocks noGrp="1"/>
          </p:cNvSpPr>
          <p:nvPr>
            <p:ph idx="1"/>
          </p:nvPr>
        </p:nvSpPr>
        <p:spPr>
          <a:xfrm>
            <a:off x="838199" y="1520813"/>
            <a:ext cx="11573934" cy="4895850"/>
          </a:xfrm>
        </p:spPr>
        <p:txBody>
          <a:bodyPr>
            <a:noAutofit/>
          </a:bodyPr>
          <a:lstStyle/>
          <a:p>
            <a:pPr>
              <a:lnSpc>
                <a:spcPct val="120000"/>
              </a:lnSpc>
            </a:pPr>
            <a:r>
              <a:rPr lang="en-GB" sz="2400" dirty="0"/>
              <a:t>In C++ the particular type of each data must be declared before it is used.</a:t>
            </a:r>
          </a:p>
          <a:p>
            <a:pPr>
              <a:lnSpc>
                <a:spcPct val="120000"/>
              </a:lnSpc>
            </a:pPr>
            <a:r>
              <a:rPr lang="en-GB" sz="2400" dirty="0"/>
              <a:t>The most used types in C++ are: </a:t>
            </a:r>
          </a:p>
          <a:p>
            <a:pPr>
              <a:lnSpc>
                <a:spcPct val="120000"/>
              </a:lnSpc>
            </a:pPr>
            <a:endParaRPr lang="en-GB" sz="2400" dirty="0"/>
          </a:p>
          <a:p>
            <a:pPr>
              <a:lnSpc>
                <a:spcPct val="120000"/>
              </a:lnSpc>
            </a:pPr>
            <a:endParaRPr lang="en-GB" sz="2400" dirty="0"/>
          </a:p>
          <a:p>
            <a:pPr>
              <a:lnSpc>
                <a:spcPct val="120000"/>
              </a:lnSpc>
            </a:pPr>
            <a:endParaRPr lang="en-GB" sz="2400" dirty="0"/>
          </a:p>
          <a:p>
            <a:pPr>
              <a:lnSpc>
                <a:spcPct val="120000"/>
              </a:lnSpc>
            </a:pPr>
            <a:endParaRPr lang="en-GB" sz="2400" dirty="0"/>
          </a:p>
          <a:p>
            <a:pPr>
              <a:lnSpc>
                <a:spcPct val="120000"/>
              </a:lnSpc>
            </a:pPr>
            <a:r>
              <a:rPr lang="en-GB" sz="2400" dirty="0"/>
              <a:t>Full list of variables in C++ is here:  </a:t>
            </a:r>
            <a:r>
              <a:rPr lang="en-GB" sz="2400" dirty="0">
                <a:hlinkClick r:id="rId3"/>
              </a:rPr>
              <a:t>https://en.cppreference.com/w/cpp/language/types</a:t>
            </a:r>
            <a:endParaRPr lang="en-GB" sz="2400" dirty="0"/>
          </a:p>
          <a:p>
            <a:pPr>
              <a:lnSpc>
                <a:spcPct val="120000"/>
              </a:lnSpc>
            </a:pPr>
            <a:r>
              <a:rPr lang="en-GB" sz="2400" dirty="0"/>
              <a:t>If the value of the variable is constant, it can be made a constant variable:</a:t>
            </a:r>
          </a:p>
          <a:p>
            <a:pPr marL="0" indent="0">
              <a:lnSpc>
                <a:spcPct val="120000"/>
              </a:lnSpc>
              <a:buNone/>
            </a:pPr>
            <a:r>
              <a:rPr lang="en-GB" sz="2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6</a:t>
            </a:fld>
            <a:endParaRPr lang="en-GB"/>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5C89B2AE-2D2E-4507-8E92-F853796E656B}"/>
              </a:ext>
            </a:extLst>
          </p:cNvPr>
          <p:cNvGraphicFramePr>
            <a:graphicFrameLocks noGrp="1"/>
          </p:cNvGraphicFramePr>
          <p:nvPr>
            <p:extLst>
              <p:ext uri="{D42A27DB-BD31-4B8C-83A1-F6EECF244321}">
                <p14:modId xmlns:p14="http://schemas.microsoft.com/office/powerpoint/2010/main" val="2311255002"/>
              </p:ext>
            </p:extLst>
          </p:nvPr>
        </p:nvGraphicFramePr>
        <p:xfrm>
          <a:off x="838199" y="2538200"/>
          <a:ext cx="10805712" cy="2377440"/>
        </p:xfrm>
        <a:graphic>
          <a:graphicData uri="http://schemas.openxmlformats.org/drawingml/2006/table">
            <a:tbl>
              <a:tblPr firstRow="1" bandRow="1">
                <a:tableStyleId>{5C22544A-7EE6-4342-B048-85BDC9FD1C3A}</a:tableStyleId>
              </a:tblPr>
              <a:tblGrid>
                <a:gridCol w="2099118">
                  <a:extLst>
                    <a:ext uri="{9D8B030D-6E8A-4147-A177-3AD203B41FA5}">
                      <a16:colId xmlns:a16="http://schemas.microsoft.com/office/drawing/2014/main" val="3047013590"/>
                    </a:ext>
                  </a:extLst>
                </a:gridCol>
                <a:gridCol w="4022281">
                  <a:extLst>
                    <a:ext uri="{9D8B030D-6E8A-4147-A177-3AD203B41FA5}">
                      <a16:colId xmlns:a16="http://schemas.microsoft.com/office/drawing/2014/main" val="2912834338"/>
                    </a:ext>
                  </a:extLst>
                </a:gridCol>
                <a:gridCol w="4684313">
                  <a:extLst>
                    <a:ext uri="{9D8B030D-6E8A-4147-A177-3AD203B41FA5}">
                      <a16:colId xmlns:a16="http://schemas.microsoft.com/office/drawing/2014/main" val="20002"/>
                    </a:ext>
                  </a:extLst>
                </a:gridCol>
              </a:tblGrid>
              <a:tr h="310463">
                <a:tc>
                  <a:txBody>
                    <a:bodyPr/>
                    <a:lstStyle/>
                    <a:p>
                      <a:pPr algn="ctr"/>
                      <a:r>
                        <a:rPr lang="en-GB" sz="2000" dirty="0"/>
                        <a:t>Data type</a:t>
                      </a:r>
                    </a:p>
                  </a:txBody>
                  <a:tcPr/>
                </a:tc>
                <a:tc>
                  <a:txBody>
                    <a:bodyPr/>
                    <a:lstStyle/>
                    <a:p>
                      <a:pPr algn="ctr"/>
                      <a:r>
                        <a:rPr lang="en-GB" sz="2000" dirty="0">
                          <a:solidFill>
                            <a:schemeClr val="bg1"/>
                          </a:solidFill>
                        </a:rPr>
                        <a:t>Use</a:t>
                      </a:r>
                    </a:p>
                  </a:txBody>
                  <a:tcPr/>
                </a:tc>
                <a:tc>
                  <a:txBody>
                    <a:bodyPr/>
                    <a:lstStyle/>
                    <a:p>
                      <a:pPr algn="ctr"/>
                      <a:r>
                        <a:rPr lang="en-GB" sz="2000" dirty="0">
                          <a:solidFill>
                            <a:schemeClr val="bg1"/>
                          </a:solidFill>
                        </a:rPr>
                        <a:t>Example</a:t>
                      </a:r>
                    </a:p>
                  </a:txBody>
                  <a:tcPr/>
                </a:tc>
                <a:extLst>
                  <a:ext uri="{0D108BD9-81ED-4DB2-BD59-A6C34878D82A}">
                    <a16:rowId xmlns:a16="http://schemas.microsoft.com/office/drawing/2014/main" val="3288438744"/>
                  </a:ext>
                </a:extLst>
              </a:tr>
              <a:tr h="310463">
                <a:tc>
                  <a:txBody>
                    <a:bodyPr/>
                    <a:lstStyle/>
                    <a:p>
                      <a:pPr algn="ctr"/>
                      <a:r>
                        <a:rPr lang="en-GB" sz="2000" dirty="0" err="1">
                          <a:latin typeface="Consolas" panose="020B0609020204030204" pitchFamily="49" charset="0"/>
                        </a:rPr>
                        <a:t>int</a:t>
                      </a:r>
                      <a:endParaRPr lang="en-GB" sz="2000" dirty="0">
                        <a:latin typeface="Consolas" panose="020B0609020204030204" pitchFamily="49" charset="0"/>
                      </a:endParaRPr>
                    </a:p>
                  </a:txBody>
                  <a:tcPr/>
                </a:tc>
                <a:tc>
                  <a:txBody>
                    <a:bodyPr/>
                    <a:lstStyle/>
                    <a:p>
                      <a:r>
                        <a:rPr lang="en-GB" sz="2000" dirty="0"/>
                        <a:t>Numeric</a:t>
                      </a:r>
                      <a:r>
                        <a:rPr lang="en-GB" sz="2000" baseline="0" dirty="0"/>
                        <a:t> variables without decimal</a:t>
                      </a:r>
                      <a:endParaRPr lang="en-GB" sz="2000" dirty="0"/>
                    </a:p>
                  </a:txBody>
                  <a:tcPr/>
                </a:tc>
                <a:tc>
                  <a:txBody>
                    <a:bodyPr/>
                    <a:lstStyle/>
                    <a:p>
                      <a:r>
                        <a:rPr lang="en-GB" sz="2000" dirty="0"/>
                        <a:t> </a:t>
                      </a:r>
                      <a:r>
                        <a:rPr lang="en-GB" sz="2000" dirty="0" err="1">
                          <a:latin typeface="Consolas" panose="020B0609020204030204" pitchFamily="49" charset="0"/>
                        </a:rPr>
                        <a:t>int</a:t>
                      </a:r>
                      <a:r>
                        <a:rPr lang="en-GB" sz="2000" dirty="0">
                          <a:latin typeface="Consolas" panose="020B0609020204030204" pitchFamily="49" charset="0"/>
                        </a:rPr>
                        <a:t> a = 5; </a:t>
                      </a:r>
                      <a:r>
                        <a:rPr lang="en-GB" sz="2000" dirty="0" err="1">
                          <a:latin typeface="Consolas" panose="020B0609020204030204" pitchFamily="49" charset="0"/>
                        </a:rPr>
                        <a:t>int</a:t>
                      </a:r>
                      <a:r>
                        <a:rPr lang="en-GB" sz="2000" dirty="0">
                          <a:latin typeface="Consolas" panose="020B0609020204030204" pitchFamily="49" charset="0"/>
                        </a:rPr>
                        <a:t> b = -1;</a:t>
                      </a:r>
                    </a:p>
                  </a:txBody>
                  <a:tcPr/>
                </a:tc>
                <a:extLst>
                  <a:ext uri="{0D108BD9-81ED-4DB2-BD59-A6C34878D82A}">
                    <a16:rowId xmlns:a16="http://schemas.microsoft.com/office/drawing/2014/main" val="1326244492"/>
                  </a:ext>
                </a:extLst>
              </a:tr>
              <a:tr h="310463">
                <a:tc>
                  <a:txBody>
                    <a:bodyPr/>
                    <a:lstStyle/>
                    <a:p>
                      <a:pPr algn="ctr"/>
                      <a:r>
                        <a:rPr lang="en-GB" sz="2000" dirty="0">
                          <a:latin typeface="Consolas" panose="020B0609020204030204" pitchFamily="49" charset="0"/>
                        </a:rPr>
                        <a:t>bool</a:t>
                      </a:r>
                    </a:p>
                  </a:txBody>
                  <a:tcPr/>
                </a:tc>
                <a:tc>
                  <a:txBody>
                    <a:bodyPr/>
                    <a:lstStyle/>
                    <a:p>
                      <a:r>
                        <a:rPr lang="en-GB" sz="2000" dirty="0"/>
                        <a:t>Boolean variables (True or False)</a:t>
                      </a:r>
                    </a:p>
                  </a:txBody>
                  <a:tcPr/>
                </a:tc>
                <a:tc>
                  <a:txBody>
                    <a:bodyPr/>
                    <a:lstStyle/>
                    <a:p>
                      <a:r>
                        <a:rPr lang="en-GB" sz="2000" dirty="0">
                          <a:latin typeface="Consolas" panose="020B0609020204030204" pitchFamily="49" charset="0"/>
                        </a:rPr>
                        <a:t>bool a = true; bool b = 0;</a:t>
                      </a:r>
                      <a:endParaRPr lang="en-GB" sz="2000" dirty="0"/>
                    </a:p>
                  </a:txBody>
                  <a:tcPr/>
                </a:tc>
                <a:extLst>
                  <a:ext uri="{0D108BD9-81ED-4DB2-BD59-A6C34878D82A}">
                    <a16:rowId xmlns:a16="http://schemas.microsoft.com/office/drawing/2014/main" val="138281775"/>
                  </a:ext>
                </a:extLst>
              </a:tr>
              <a:tr h="310463">
                <a:tc>
                  <a:txBody>
                    <a:bodyPr/>
                    <a:lstStyle/>
                    <a:p>
                      <a:pPr algn="ctr"/>
                      <a:r>
                        <a:rPr lang="en-GB" sz="2000" dirty="0">
                          <a:latin typeface="Consolas" panose="020B0609020204030204" pitchFamily="49" charset="0"/>
                        </a:rPr>
                        <a:t>char</a:t>
                      </a:r>
                    </a:p>
                  </a:txBody>
                  <a:tcPr/>
                </a:tc>
                <a:tc>
                  <a:txBody>
                    <a:bodyPr/>
                    <a:lstStyle/>
                    <a:p>
                      <a:r>
                        <a:rPr lang="en-GB" sz="2000" dirty="0"/>
                        <a:t>Characters</a:t>
                      </a:r>
                      <a:r>
                        <a:rPr lang="en-GB" sz="2000" baseline="0" dirty="0"/>
                        <a:t> and symbols variables</a:t>
                      </a:r>
                      <a:endParaRPr lang="en-GB"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onsolas" panose="020B0609020204030204" pitchFamily="49" charset="0"/>
                        </a:rPr>
                        <a:t>char a = ‘s’; char b = ‘$’;</a:t>
                      </a:r>
                      <a:endParaRPr lang="en-GB" sz="2000" dirty="0"/>
                    </a:p>
                  </a:txBody>
                  <a:tcPr/>
                </a:tc>
                <a:extLst>
                  <a:ext uri="{0D108BD9-81ED-4DB2-BD59-A6C34878D82A}">
                    <a16:rowId xmlns:a16="http://schemas.microsoft.com/office/drawing/2014/main" val="3857605872"/>
                  </a:ext>
                </a:extLst>
              </a:tr>
              <a:tr h="310463">
                <a:tc>
                  <a:txBody>
                    <a:bodyPr/>
                    <a:lstStyle/>
                    <a:p>
                      <a:pPr algn="ctr"/>
                      <a:r>
                        <a:rPr lang="en-GB" sz="2000" dirty="0">
                          <a:latin typeface="Consolas" panose="020B0609020204030204" pitchFamily="49" charset="0"/>
                        </a:rPr>
                        <a:t>double</a:t>
                      </a:r>
                    </a:p>
                  </a:txBody>
                  <a:tcPr/>
                </a:tc>
                <a:tc>
                  <a:txBody>
                    <a:bodyPr/>
                    <a:lstStyle/>
                    <a:p>
                      <a:r>
                        <a:rPr lang="en-GB" sz="2000" dirty="0"/>
                        <a:t>Most general numerical variables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onsolas" panose="020B0609020204030204" pitchFamily="49" charset="0"/>
                        </a:rPr>
                        <a:t>double a = 2.3; double b =-2.6;</a:t>
                      </a:r>
                      <a:endParaRPr lang="en-GB" sz="2000" dirty="0"/>
                    </a:p>
                  </a:txBody>
                  <a:tcPr/>
                </a:tc>
                <a:extLst>
                  <a:ext uri="{0D108BD9-81ED-4DB2-BD59-A6C34878D82A}">
                    <a16:rowId xmlns:a16="http://schemas.microsoft.com/office/drawing/2014/main" val="10004"/>
                  </a:ext>
                </a:extLst>
              </a:tr>
              <a:tr h="31046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dirty="0">
                          <a:latin typeface="Consolas" panose="020B0609020204030204" pitchFamily="49" charset="0"/>
                        </a:rPr>
                        <a:t>auto</a:t>
                      </a:r>
                    </a:p>
                  </a:txBody>
                  <a:tcPr/>
                </a:tc>
                <a:tc>
                  <a:txBody>
                    <a:bodyPr/>
                    <a:lstStyle/>
                    <a:p>
                      <a:r>
                        <a:rPr lang="en-GB" sz="2000" dirty="0"/>
                        <a:t>Automatically</a:t>
                      </a:r>
                      <a:r>
                        <a:rPr lang="en-GB" sz="2000" baseline="0" dirty="0"/>
                        <a:t> determines the type</a:t>
                      </a:r>
                      <a:endParaRPr lang="en-GB"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latin typeface="Consolas" panose="020B0609020204030204" pitchFamily="49" charset="0"/>
                        </a:rPr>
                        <a:t>auto a = ‘s’; auto b = 3;</a:t>
                      </a:r>
                      <a:endParaRPr lang="en-GB" sz="2000" dirty="0"/>
                    </a:p>
                  </a:txBody>
                  <a:tcPr/>
                </a:tc>
                <a:extLst>
                  <a:ext uri="{0D108BD9-81ED-4DB2-BD59-A6C34878D82A}">
                    <a16:rowId xmlns:a16="http://schemas.microsoft.com/office/drawing/2014/main" val="10005"/>
                  </a:ext>
                </a:extLst>
              </a:tr>
            </a:tbl>
          </a:graphicData>
        </a:graphic>
      </p:graphicFrame>
      <p:sp>
        <p:nvSpPr>
          <p:cNvPr id="7" name="Rectangle 6">
            <a:extLst>
              <a:ext uri="{FF2B5EF4-FFF2-40B4-BE49-F238E27FC236}">
                <a16:creationId xmlns:a16="http://schemas.microsoft.com/office/drawing/2014/main" id="{F6A427E7-D17A-42B1-AF02-BEB2CA44DEE3}"/>
              </a:ext>
            </a:extLst>
          </p:cNvPr>
          <p:cNvSpPr/>
          <p:nvPr/>
        </p:nvSpPr>
        <p:spPr>
          <a:xfrm>
            <a:off x="988095" y="5917346"/>
            <a:ext cx="9933905" cy="51732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1047362" y="5970523"/>
            <a:ext cx="9586014" cy="400110"/>
          </a:xfrm>
          <a:prstGeom prst="rect">
            <a:avLst/>
          </a:prstGeom>
        </p:spPr>
        <p:txBody>
          <a:bodyPr wrap="square">
            <a:spAutoFit/>
          </a:bodyPr>
          <a:lstStyle/>
          <a:p>
            <a:r>
              <a:rPr lang="en-US" sz="2000" b="1" dirty="0">
                <a:solidFill>
                  <a:srgbClr val="0000FF"/>
                </a:solidFill>
                <a:latin typeface="Courier New"/>
                <a:cs typeface="Courier New"/>
              </a:rPr>
              <a:t>const</a:t>
            </a:r>
            <a:r>
              <a:rPr lang="en-US" sz="2000" b="1" dirty="0">
                <a:latin typeface="Courier New"/>
                <a:cs typeface="Courier New"/>
              </a:rPr>
              <a:t> </a:t>
            </a:r>
            <a:r>
              <a:rPr lang="en-US" sz="2000" b="1" dirty="0">
                <a:solidFill>
                  <a:srgbClr val="0000FF"/>
                </a:solidFill>
                <a:latin typeface="Courier New"/>
                <a:cs typeface="Courier New"/>
              </a:rPr>
              <a:t>int</a:t>
            </a:r>
            <a:r>
              <a:rPr lang="en-US" sz="2000" b="1" dirty="0">
                <a:latin typeface="Courier New"/>
                <a:cs typeface="Courier New"/>
              </a:rPr>
              <a:t> PI = 3.141; </a:t>
            </a:r>
            <a:r>
              <a:rPr lang="en-US" sz="2000" b="1" dirty="0">
                <a:solidFill>
                  <a:srgbClr val="008000"/>
                </a:solidFill>
                <a:latin typeface="Courier New"/>
                <a:cs typeface="Courier New"/>
              </a:rPr>
              <a:t>// Must be </a:t>
            </a:r>
            <a:r>
              <a:rPr lang="en-US" sz="2000" b="1" dirty="0" err="1">
                <a:solidFill>
                  <a:srgbClr val="008000"/>
                </a:solidFill>
                <a:latin typeface="Courier New"/>
                <a:cs typeface="Courier New"/>
              </a:rPr>
              <a:t>initialised</a:t>
            </a:r>
            <a:r>
              <a:rPr lang="en-US" sz="2000" b="1" dirty="0">
                <a:solidFill>
                  <a:srgbClr val="008000"/>
                </a:solidFill>
                <a:latin typeface="Courier New"/>
                <a:cs typeface="Courier New"/>
              </a:rPr>
              <a:t> when declared </a:t>
            </a:r>
            <a:endParaRPr lang="en-GB" sz="2000" dirty="0">
              <a:solidFill>
                <a:srgbClr val="008000"/>
              </a:solidFill>
            </a:endParaRPr>
          </a:p>
        </p:txBody>
      </p:sp>
    </p:spTree>
    <p:extLst>
      <p:ext uri="{BB962C8B-B14F-4D97-AF65-F5344CB8AC3E}">
        <p14:creationId xmlns:p14="http://schemas.microsoft.com/office/powerpoint/2010/main" val="917180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Variables and Data types</a:t>
            </a:r>
          </a:p>
        </p:txBody>
      </p:sp>
      <p:sp>
        <p:nvSpPr>
          <p:cNvPr id="3" name="Content Placeholder 2"/>
          <p:cNvSpPr>
            <a:spLocks noGrp="1"/>
          </p:cNvSpPr>
          <p:nvPr>
            <p:ph idx="1"/>
          </p:nvPr>
        </p:nvSpPr>
        <p:spPr>
          <a:xfrm>
            <a:off x="838199" y="1495423"/>
            <a:ext cx="11075437" cy="4895850"/>
          </a:xfrm>
        </p:spPr>
        <p:txBody>
          <a:bodyPr>
            <a:noAutofit/>
          </a:bodyPr>
          <a:lstStyle/>
          <a:p>
            <a:pPr>
              <a:lnSpc>
                <a:spcPct val="120000"/>
              </a:lnSpc>
            </a:pPr>
            <a:r>
              <a:rPr lang="en-GB" sz="2400" dirty="0"/>
              <a:t>Many of datatypes in C++ are special cases of others:</a:t>
            </a:r>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a:lnSpc>
                <a:spcPct val="120000"/>
              </a:lnSpc>
            </a:pPr>
            <a:endParaRPr lang="en-GB" sz="2400" dirty="0"/>
          </a:p>
          <a:p>
            <a:pPr>
              <a:lnSpc>
                <a:spcPct val="120000"/>
              </a:lnSpc>
            </a:pPr>
            <a:endParaRPr lang="en-GB" sz="2400" dirty="0"/>
          </a:p>
          <a:p>
            <a:pPr>
              <a:lnSpc>
                <a:spcPct val="120000"/>
              </a:lnSpc>
            </a:pPr>
            <a:r>
              <a:rPr lang="en-GB" sz="2400" dirty="0"/>
              <a:t>QUESTION: why are very specific datatypes (such as </a:t>
            </a:r>
            <a:r>
              <a:rPr lang="en-US" sz="2400" dirty="0">
                <a:latin typeface="Consolas" panose="020B0609020204030204" pitchFamily="49" charset="0"/>
              </a:rPr>
              <a:t>unsigned </a:t>
            </a:r>
            <a:r>
              <a:rPr lang="en-US" sz="2400" dirty="0" err="1">
                <a:latin typeface="Consolas" panose="020B0609020204030204" pitchFamily="49" charset="0"/>
              </a:rPr>
              <a:t>int</a:t>
            </a:r>
            <a:r>
              <a:rPr lang="en-US" sz="2400" dirty="0">
                <a:latin typeface="Consolas" panose="020B0609020204030204" pitchFamily="49" charset="0"/>
              </a:rPr>
              <a:t>) </a:t>
            </a:r>
            <a:r>
              <a:rPr lang="en-GB" sz="2400" dirty="0"/>
              <a:t>still in use?</a:t>
            </a:r>
          </a:p>
          <a:p>
            <a:pPr>
              <a:lnSpc>
                <a:spcPct val="120000"/>
              </a:lnSpc>
            </a:pPr>
            <a:r>
              <a:rPr lang="en-GB" sz="2400" dirty="0"/>
              <a:t>Two viewpoints: </a:t>
            </a:r>
            <a:r>
              <a:rPr lang="en-GB" sz="2400" dirty="0">
                <a:hlinkClick r:id="rId3"/>
              </a:rPr>
              <a:t>https://www.youtube.com/watch?v=wvtFGa6XJDU</a:t>
            </a:r>
            <a:endParaRPr lang="en-GB" sz="2400" dirty="0"/>
          </a:p>
          <a:p>
            <a:pPr>
              <a:lnSpc>
                <a:spcPct val="120000"/>
              </a:lnSpc>
            </a:pPr>
            <a:endParaRPr lang="en-GB" sz="2400" dirty="0"/>
          </a:p>
          <a:p>
            <a:pPr>
              <a:lnSpc>
                <a:spcPct val="120000"/>
              </a:lnSpc>
            </a:pPr>
            <a:endParaRPr lang="en-GB" sz="2400" dirty="0"/>
          </a:p>
          <a:p>
            <a:pPr>
              <a:lnSpc>
                <a:spcPct val="120000"/>
              </a:lnSpc>
            </a:pPr>
            <a:endParaRPr lang="en-GB" sz="2400" dirty="0"/>
          </a:p>
          <a:p>
            <a:pPr marL="0" indent="0">
              <a:lnSpc>
                <a:spcPct val="120000"/>
              </a:lnSpc>
              <a:buNone/>
            </a:pPr>
            <a:r>
              <a:rPr lang="en-GB" sz="2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7</a:t>
            </a:fld>
            <a:endParaRPr lang="en-GB"/>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939800" y="2167468"/>
            <a:ext cx="10168467" cy="251459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8" name="Rounded Rectangle 7"/>
          <p:cNvSpPr/>
          <p:nvPr/>
        </p:nvSpPr>
        <p:spPr>
          <a:xfrm>
            <a:off x="2942766" y="2294253"/>
            <a:ext cx="8063901" cy="21084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ounded Rectangle 8"/>
          <p:cNvSpPr/>
          <p:nvPr/>
        </p:nvSpPr>
        <p:spPr>
          <a:xfrm>
            <a:off x="4248543" y="2428239"/>
            <a:ext cx="6614190" cy="184044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21D7691E-B721-4D07-8F73-6B02FB6BB2B9}"/>
              </a:ext>
            </a:extLst>
          </p:cNvPr>
          <p:cNvSpPr txBox="1"/>
          <p:nvPr/>
        </p:nvSpPr>
        <p:spPr>
          <a:xfrm>
            <a:off x="888999" y="3174769"/>
            <a:ext cx="2053767" cy="461665"/>
          </a:xfrm>
          <a:prstGeom prst="rect">
            <a:avLst/>
          </a:prstGeom>
          <a:noFill/>
        </p:spPr>
        <p:txBody>
          <a:bodyPr wrap="none" rtlCol="0">
            <a:spAutoFit/>
          </a:bodyPr>
          <a:lstStyle/>
          <a:p>
            <a:r>
              <a:rPr lang="en-US" sz="2400" dirty="0">
                <a:latin typeface="Consolas" panose="020B0609020204030204" pitchFamily="49" charset="0"/>
              </a:rPr>
              <a:t>long double</a:t>
            </a:r>
          </a:p>
        </p:txBody>
      </p:sp>
      <p:sp>
        <p:nvSpPr>
          <p:cNvPr id="11" name="TextBox 10">
            <a:extLst>
              <a:ext uri="{FF2B5EF4-FFF2-40B4-BE49-F238E27FC236}">
                <a16:creationId xmlns:a16="http://schemas.microsoft.com/office/drawing/2014/main" id="{21D7691E-B721-4D07-8F73-6B02FB6BB2B9}"/>
              </a:ext>
            </a:extLst>
          </p:cNvPr>
          <p:cNvSpPr txBox="1"/>
          <p:nvPr/>
        </p:nvSpPr>
        <p:spPr>
          <a:xfrm>
            <a:off x="3044367" y="3174536"/>
            <a:ext cx="1204176" cy="461665"/>
          </a:xfrm>
          <a:prstGeom prst="rect">
            <a:avLst/>
          </a:prstGeom>
          <a:noFill/>
        </p:spPr>
        <p:txBody>
          <a:bodyPr wrap="none" rtlCol="0">
            <a:spAutoFit/>
          </a:bodyPr>
          <a:lstStyle/>
          <a:p>
            <a:r>
              <a:rPr lang="en-US" sz="2400" dirty="0">
                <a:latin typeface="Consolas" panose="020B0609020204030204" pitchFamily="49" charset="0"/>
              </a:rPr>
              <a:t>double</a:t>
            </a:r>
          </a:p>
        </p:txBody>
      </p:sp>
      <p:sp>
        <p:nvSpPr>
          <p:cNvPr id="12" name="TextBox 11">
            <a:extLst>
              <a:ext uri="{FF2B5EF4-FFF2-40B4-BE49-F238E27FC236}">
                <a16:creationId xmlns:a16="http://schemas.microsoft.com/office/drawing/2014/main" id="{21D7691E-B721-4D07-8F73-6B02FB6BB2B9}"/>
              </a:ext>
            </a:extLst>
          </p:cNvPr>
          <p:cNvSpPr txBox="1"/>
          <p:nvPr/>
        </p:nvSpPr>
        <p:spPr>
          <a:xfrm>
            <a:off x="4248543" y="3174535"/>
            <a:ext cx="1034257" cy="461665"/>
          </a:xfrm>
          <a:prstGeom prst="rect">
            <a:avLst/>
          </a:prstGeom>
          <a:noFill/>
        </p:spPr>
        <p:txBody>
          <a:bodyPr wrap="none" rtlCol="0">
            <a:spAutoFit/>
          </a:bodyPr>
          <a:lstStyle/>
          <a:p>
            <a:r>
              <a:rPr lang="en-US" sz="2400" dirty="0">
                <a:latin typeface="Consolas" panose="020B0609020204030204" pitchFamily="49" charset="0"/>
              </a:rPr>
              <a:t>float</a:t>
            </a:r>
          </a:p>
        </p:txBody>
      </p:sp>
      <p:sp>
        <p:nvSpPr>
          <p:cNvPr id="13" name="Rounded Rectangle 12"/>
          <p:cNvSpPr/>
          <p:nvPr/>
        </p:nvSpPr>
        <p:spPr>
          <a:xfrm>
            <a:off x="5282800" y="2480520"/>
            <a:ext cx="5436000" cy="1685081"/>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21D7691E-B721-4D07-8F73-6B02FB6BB2B9}"/>
              </a:ext>
            </a:extLst>
          </p:cNvPr>
          <p:cNvSpPr txBox="1"/>
          <p:nvPr/>
        </p:nvSpPr>
        <p:spPr>
          <a:xfrm>
            <a:off x="5257000" y="3174534"/>
            <a:ext cx="694421" cy="461665"/>
          </a:xfrm>
          <a:prstGeom prst="rect">
            <a:avLst/>
          </a:prstGeom>
          <a:noFill/>
        </p:spPr>
        <p:txBody>
          <a:bodyPr wrap="none" rtlCol="0">
            <a:spAutoFit/>
          </a:bodyPr>
          <a:lstStyle/>
          <a:p>
            <a:r>
              <a:rPr lang="en-US" sz="2400" dirty="0" err="1">
                <a:latin typeface="Consolas" panose="020B0609020204030204" pitchFamily="49" charset="0"/>
              </a:rPr>
              <a:t>int</a:t>
            </a:r>
            <a:endParaRPr lang="en-US" sz="2400" dirty="0">
              <a:latin typeface="Consolas" panose="020B0609020204030204" pitchFamily="49" charset="0"/>
            </a:endParaRPr>
          </a:p>
        </p:txBody>
      </p:sp>
      <p:sp>
        <p:nvSpPr>
          <p:cNvPr id="15" name="Rounded Rectangle 14"/>
          <p:cNvSpPr/>
          <p:nvPr/>
        </p:nvSpPr>
        <p:spPr>
          <a:xfrm>
            <a:off x="6096000" y="2854218"/>
            <a:ext cx="4445000" cy="988483"/>
          </a:xfrm>
          <a:prstGeom prst="round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21D7691E-B721-4D07-8F73-6B02FB6BB2B9}"/>
              </a:ext>
            </a:extLst>
          </p:cNvPr>
          <p:cNvSpPr txBox="1"/>
          <p:nvPr/>
        </p:nvSpPr>
        <p:spPr>
          <a:xfrm>
            <a:off x="6139765" y="3144791"/>
            <a:ext cx="3080435" cy="461665"/>
          </a:xfrm>
          <a:prstGeom prst="rect">
            <a:avLst/>
          </a:prstGeom>
          <a:noFill/>
        </p:spPr>
        <p:txBody>
          <a:bodyPr wrap="square" rtlCol="0">
            <a:spAutoFit/>
          </a:bodyPr>
          <a:lstStyle/>
          <a:p>
            <a:r>
              <a:rPr lang="en-US" sz="2400" dirty="0">
                <a:latin typeface="Consolas" panose="020B0609020204030204" pitchFamily="49" charset="0"/>
              </a:rPr>
              <a:t>unsigned </a:t>
            </a:r>
            <a:r>
              <a:rPr lang="en-US" sz="2400" dirty="0" err="1">
                <a:latin typeface="Consolas" panose="020B0609020204030204" pitchFamily="49" charset="0"/>
              </a:rPr>
              <a:t>int</a:t>
            </a:r>
            <a:endParaRPr lang="en-US" sz="2400" dirty="0">
              <a:latin typeface="Consolas" panose="020B0609020204030204" pitchFamily="49" charset="0"/>
            </a:endParaRPr>
          </a:p>
        </p:txBody>
      </p:sp>
    </p:spTree>
    <p:extLst>
      <p:ext uri="{BB962C8B-B14F-4D97-AF65-F5344CB8AC3E}">
        <p14:creationId xmlns:p14="http://schemas.microsoft.com/office/powerpoint/2010/main" val="1351912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Variables and Data types</a:t>
            </a:r>
          </a:p>
        </p:txBody>
      </p:sp>
      <p:sp>
        <p:nvSpPr>
          <p:cNvPr id="3" name="Content Placeholder 2"/>
          <p:cNvSpPr>
            <a:spLocks noGrp="1"/>
          </p:cNvSpPr>
          <p:nvPr>
            <p:ph idx="1"/>
          </p:nvPr>
        </p:nvSpPr>
        <p:spPr>
          <a:xfrm>
            <a:off x="838199" y="1490065"/>
            <a:ext cx="11075437" cy="4895850"/>
          </a:xfrm>
        </p:spPr>
        <p:txBody>
          <a:bodyPr>
            <a:noAutofit/>
          </a:bodyPr>
          <a:lstStyle/>
          <a:p>
            <a:pPr>
              <a:lnSpc>
                <a:spcPct val="120000"/>
              </a:lnSpc>
            </a:pPr>
            <a:r>
              <a:rPr lang="en-GB" sz="2400" dirty="0"/>
              <a:t>The main reason for using constant variables, and/or very specific datatypes in a code is improve the code’s readability.</a:t>
            </a:r>
          </a:p>
          <a:p>
            <a:pPr>
              <a:lnSpc>
                <a:spcPct val="120000"/>
              </a:lnSpc>
            </a:pPr>
            <a:r>
              <a:rPr lang="en-GB" sz="2400" dirty="0"/>
              <a:t>Go to </a:t>
            </a:r>
            <a:r>
              <a:rPr lang="en-GB" sz="2400" dirty="0">
                <a:solidFill>
                  <a:srgbClr val="00B050"/>
                </a:solidFill>
              </a:rPr>
              <a:t>L3D1.cpp</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lnSpc>
                <a:spcPct val="120000"/>
              </a:lnSpc>
              <a:buNone/>
            </a:pPr>
            <a:r>
              <a:rPr lang="en-GB" sz="2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8</a:t>
            </a:fld>
            <a:endParaRPr lang="en-GB"/>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901017" y="3142642"/>
            <a:ext cx="9958572" cy="3578833"/>
          </a:xfrm>
          <a:prstGeom prst="rect">
            <a:avLst/>
          </a:prstGeom>
          <a:noFill/>
          <a:ln>
            <a:solidFill>
              <a:schemeClr val="tx1"/>
            </a:solidFill>
          </a:ln>
        </p:spPr>
        <p:txBody>
          <a:bodyPr wrap="square" rtlCol="0">
            <a:spAutoFit/>
          </a:bodyPr>
          <a:lstStyle/>
          <a:p>
            <a:endParaRPr lang="en-GB" dirty="0"/>
          </a:p>
        </p:txBody>
      </p:sp>
      <p:sp>
        <p:nvSpPr>
          <p:cNvPr id="18" name="TextBox 17">
            <a:extLst>
              <a:ext uri="{FF2B5EF4-FFF2-40B4-BE49-F238E27FC236}">
                <a16:creationId xmlns:a16="http://schemas.microsoft.com/office/drawing/2014/main" id="{B898AA5B-F640-4621-A955-6B998AC81A7C}"/>
              </a:ext>
            </a:extLst>
          </p:cNvPr>
          <p:cNvSpPr txBox="1"/>
          <p:nvPr/>
        </p:nvSpPr>
        <p:spPr>
          <a:xfrm>
            <a:off x="986728" y="3166948"/>
            <a:ext cx="10473268" cy="3416320"/>
          </a:xfrm>
          <a:prstGeom prst="rect">
            <a:avLst/>
          </a:prstGeom>
          <a:noFill/>
        </p:spPr>
        <p:txBody>
          <a:bodyPr wrap="square" rtlCol="0">
            <a:spAutoFit/>
          </a:bodyPr>
          <a:lstStyle/>
          <a:p>
            <a:r>
              <a:rPr lang="en-GB" sz="2400" dirty="0">
                <a:solidFill>
                  <a:srgbClr val="FF0000"/>
                </a:solidFill>
              </a:rPr>
              <a:t>Practical note:</a:t>
            </a:r>
          </a:p>
          <a:p>
            <a:endParaRPr lang="en-GB" sz="2400" dirty="0"/>
          </a:p>
          <a:p>
            <a:pPr marL="342900" indent="-342900">
              <a:buFont typeface="Arial" panose="020B0604020202020204" pitchFamily="34" charset="0"/>
              <a:buChar char="•"/>
            </a:pPr>
            <a:r>
              <a:rPr lang="en-GB" sz="2400" dirty="0"/>
              <a:t>Don’t use unsigned types for arithmetic operations.</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t>For scientific calculations use </a:t>
            </a:r>
            <a:r>
              <a:rPr lang="en-GB" sz="2400" dirty="0">
                <a:latin typeface="Consolas" panose="020B0609020204030204" pitchFamily="49" charset="0"/>
              </a:rPr>
              <a:t>“double” </a:t>
            </a:r>
            <a:r>
              <a:rPr lang="en-GB" sz="2400" dirty="0"/>
              <a:t>instead of </a:t>
            </a:r>
            <a:r>
              <a:rPr lang="en-GB" sz="2400" dirty="0">
                <a:latin typeface="Consolas" panose="020B0609020204030204" pitchFamily="49" charset="0"/>
              </a:rPr>
              <a:t>“float” </a:t>
            </a:r>
            <a:r>
              <a:rPr lang="en-GB" sz="2400" dirty="0"/>
              <a:t>. </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t>Minimise the use of </a:t>
            </a:r>
            <a:r>
              <a:rPr lang="en-GB" sz="2400" dirty="0">
                <a:latin typeface="Consolas" panose="020B0609020204030204" pitchFamily="49" charset="0"/>
              </a:rPr>
              <a:t>“auto” </a:t>
            </a:r>
            <a:r>
              <a:rPr lang="en-GB" sz="2400" dirty="0"/>
              <a:t>to make it easier to troubleshoot your code.</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t>When a variable is not meant to be changed, define it as constant variable.  </a:t>
            </a:r>
          </a:p>
        </p:txBody>
      </p:sp>
    </p:spTree>
    <p:extLst>
      <p:ext uri="{BB962C8B-B14F-4D97-AF65-F5344CB8AC3E}">
        <p14:creationId xmlns:p14="http://schemas.microsoft.com/office/powerpoint/2010/main" val="3018599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Variables Naming</a:t>
            </a:r>
          </a:p>
        </p:txBody>
      </p:sp>
      <p:sp>
        <p:nvSpPr>
          <p:cNvPr id="3" name="Content Placeholder 2"/>
          <p:cNvSpPr>
            <a:spLocks noGrp="1"/>
          </p:cNvSpPr>
          <p:nvPr>
            <p:ph idx="1"/>
          </p:nvPr>
        </p:nvSpPr>
        <p:spPr>
          <a:xfrm>
            <a:off x="838199" y="1498454"/>
            <a:ext cx="11243734" cy="4895850"/>
          </a:xfrm>
        </p:spPr>
        <p:txBody>
          <a:bodyPr>
            <a:noAutofit/>
          </a:bodyPr>
          <a:lstStyle/>
          <a:p>
            <a:pPr>
              <a:lnSpc>
                <a:spcPct val="150000"/>
              </a:lnSpc>
            </a:pPr>
            <a:r>
              <a:rPr lang="en-GB" sz="2400" dirty="0"/>
              <a:t>C++ is case sensitive!</a:t>
            </a:r>
          </a:p>
          <a:p>
            <a:pPr>
              <a:lnSpc>
                <a:spcPct val="150000"/>
              </a:lnSpc>
            </a:pPr>
            <a:r>
              <a:rPr lang="en-GB" sz="2400" dirty="0"/>
              <a:t>Large software projects have conventions for naming variables, to make the code easier to read and debug.</a:t>
            </a:r>
          </a:p>
          <a:p>
            <a:pPr>
              <a:lnSpc>
                <a:spcPct val="150000"/>
              </a:lnSpc>
            </a:pPr>
            <a:r>
              <a:rPr lang="en-GB" sz="2400" dirty="0"/>
              <a:t>In this module, we follow the “Google C++ Style guide” </a:t>
            </a:r>
            <a:r>
              <a:rPr lang="en-GB" sz="2400" dirty="0">
                <a:hlinkClick r:id="rId3"/>
              </a:rPr>
              <a:t>https://google.github.io/styleguide/cppguide.html</a:t>
            </a:r>
            <a:r>
              <a:rPr lang="en-GB" sz="2400" dirty="0"/>
              <a:t> (mention that in your cover letter!).  </a:t>
            </a:r>
          </a:p>
          <a:p>
            <a:pPr>
              <a:lnSpc>
                <a:spcPct val="150000"/>
              </a:lnSpc>
            </a:pPr>
            <a:r>
              <a:rPr lang="en-GB" sz="2400" dirty="0"/>
              <a:t>Some examples:</a:t>
            </a:r>
          </a:p>
          <a:p>
            <a:pPr>
              <a:lnSpc>
                <a:spcPct val="120000"/>
              </a:lnSpc>
            </a:pPr>
            <a:endParaRPr lang="en-GB" sz="2400" dirty="0"/>
          </a:p>
          <a:p>
            <a:pPr marL="0" indent="0">
              <a:lnSpc>
                <a:spcPct val="120000"/>
              </a:lnSpc>
              <a:buNone/>
            </a:pPr>
            <a:r>
              <a:rPr lang="en-GB" sz="2400" dirty="0"/>
              <a:t> </a:t>
            </a:r>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lnSpc>
                <a:spcPct val="120000"/>
              </a:lnSpc>
              <a:buNone/>
            </a:pPr>
            <a:r>
              <a:rPr lang="en-GB" sz="2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9</a:t>
            </a:fld>
            <a:endParaRPr lang="en-GB"/>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graphicFrame>
        <p:nvGraphicFramePr>
          <p:cNvPr id="8" name="Table 7">
            <a:extLst>
              <a:ext uri="{FF2B5EF4-FFF2-40B4-BE49-F238E27FC236}">
                <a16:creationId xmlns:a16="http://schemas.microsoft.com/office/drawing/2014/main" id="{5C89B2AE-2D2E-4507-8E92-F853796E656B}"/>
              </a:ext>
            </a:extLst>
          </p:cNvPr>
          <p:cNvGraphicFramePr>
            <a:graphicFrameLocks noGrp="1"/>
          </p:cNvGraphicFramePr>
          <p:nvPr>
            <p:extLst>
              <p:ext uri="{D42A27DB-BD31-4B8C-83A1-F6EECF244321}">
                <p14:modId xmlns:p14="http://schemas.microsoft.com/office/powerpoint/2010/main" val="3885267254"/>
              </p:ext>
            </p:extLst>
          </p:nvPr>
        </p:nvGraphicFramePr>
        <p:xfrm>
          <a:off x="941122" y="5214010"/>
          <a:ext cx="8706594" cy="1584960"/>
        </p:xfrm>
        <a:graphic>
          <a:graphicData uri="http://schemas.openxmlformats.org/drawingml/2006/table">
            <a:tbl>
              <a:tblPr firstRow="1" bandRow="1">
                <a:tableStyleId>{5C22544A-7EE6-4342-B048-85BDC9FD1C3A}</a:tableStyleId>
              </a:tblPr>
              <a:tblGrid>
                <a:gridCol w="4022281">
                  <a:extLst>
                    <a:ext uri="{9D8B030D-6E8A-4147-A177-3AD203B41FA5}">
                      <a16:colId xmlns:a16="http://schemas.microsoft.com/office/drawing/2014/main" val="2912834338"/>
                    </a:ext>
                  </a:extLst>
                </a:gridCol>
                <a:gridCol w="4684313">
                  <a:extLst>
                    <a:ext uri="{9D8B030D-6E8A-4147-A177-3AD203B41FA5}">
                      <a16:colId xmlns:a16="http://schemas.microsoft.com/office/drawing/2014/main" val="20001"/>
                    </a:ext>
                  </a:extLst>
                </a:gridCol>
              </a:tblGrid>
              <a:tr h="225108">
                <a:tc>
                  <a:txBody>
                    <a:bodyPr/>
                    <a:lstStyle/>
                    <a:p>
                      <a:pPr algn="ctr"/>
                      <a:r>
                        <a:rPr lang="en-GB" sz="2000" dirty="0">
                          <a:solidFill>
                            <a:schemeClr val="bg1"/>
                          </a:solidFill>
                        </a:rPr>
                        <a:t>Variable</a:t>
                      </a:r>
                    </a:p>
                  </a:txBody>
                  <a:tcPr/>
                </a:tc>
                <a:tc>
                  <a:txBody>
                    <a:bodyPr/>
                    <a:lstStyle/>
                    <a:p>
                      <a:pPr algn="ctr"/>
                      <a:r>
                        <a:rPr lang="en-GB" sz="2000" dirty="0">
                          <a:solidFill>
                            <a:schemeClr val="bg1"/>
                          </a:solidFill>
                        </a:rPr>
                        <a:t>Chosen name</a:t>
                      </a:r>
                    </a:p>
                  </a:txBody>
                  <a:tcPr/>
                </a:tc>
                <a:extLst>
                  <a:ext uri="{0D108BD9-81ED-4DB2-BD59-A6C34878D82A}">
                    <a16:rowId xmlns:a16="http://schemas.microsoft.com/office/drawing/2014/main" val="3288438744"/>
                  </a:ext>
                </a:extLst>
              </a:tr>
              <a:tr h="310463">
                <a:tc>
                  <a:txBody>
                    <a:bodyPr/>
                    <a:lstStyle/>
                    <a:p>
                      <a:r>
                        <a:rPr lang="en-GB" sz="2000" dirty="0"/>
                        <a:t>Number of students</a:t>
                      </a:r>
                    </a:p>
                  </a:txBody>
                  <a:tcPr/>
                </a:tc>
                <a:tc>
                  <a:txBody>
                    <a:bodyPr/>
                    <a:lstStyle/>
                    <a:p>
                      <a:r>
                        <a:rPr lang="en-GB" sz="2000" dirty="0"/>
                        <a:t> </a:t>
                      </a:r>
                      <a:r>
                        <a:rPr lang="en-GB" sz="2000" dirty="0" err="1"/>
                        <a:t>number_of_students</a:t>
                      </a:r>
                      <a:r>
                        <a:rPr lang="en-GB" sz="2000" dirty="0"/>
                        <a:t> ; </a:t>
                      </a:r>
                      <a:r>
                        <a:rPr lang="en-GB" sz="2000" dirty="0" err="1"/>
                        <a:t>numberofstudents</a:t>
                      </a:r>
                      <a:endParaRPr lang="en-GB" sz="2000" dirty="0">
                        <a:latin typeface="Consolas" panose="020B0609020204030204" pitchFamily="49" charset="0"/>
                      </a:endParaRPr>
                    </a:p>
                  </a:txBody>
                  <a:tcPr/>
                </a:tc>
                <a:extLst>
                  <a:ext uri="{0D108BD9-81ED-4DB2-BD59-A6C34878D82A}">
                    <a16:rowId xmlns:a16="http://schemas.microsoft.com/office/drawing/2014/main" val="1326244492"/>
                  </a:ext>
                </a:extLst>
              </a:tr>
              <a:tr h="310463">
                <a:tc>
                  <a:txBody>
                    <a:bodyPr/>
                    <a:lstStyle/>
                    <a:p>
                      <a:r>
                        <a:rPr lang="en-GB" sz="2000" dirty="0"/>
                        <a:t>Switch</a:t>
                      </a:r>
                      <a:r>
                        <a:rPr lang="en-GB" sz="2000" baseline="0" dirty="0"/>
                        <a:t> status</a:t>
                      </a:r>
                      <a:endParaRPr lang="en-GB" sz="2000" dirty="0"/>
                    </a:p>
                  </a:txBody>
                  <a:tcPr/>
                </a:tc>
                <a:tc>
                  <a:txBody>
                    <a:bodyPr/>
                    <a:lstStyle/>
                    <a:p>
                      <a:r>
                        <a:rPr lang="en-GB" sz="2000" dirty="0" err="1"/>
                        <a:t>is_switch_on</a:t>
                      </a:r>
                      <a:r>
                        <a:rPr lang="en-GB" sz="2000" dirty="0"/>
                        <a:t>; </a:t>
                      </a:r>
                      <a:r>
                        <a:rPr lang="en-GB" sz="2000" dirty="0" err="1"/>
                        <a:t>isswitchon</a:t>
                      </a:r>
                      <a:endParaRPr lang="en-GB" sz="2000" dirty="0"/>
                    </a:p>
                  </a:txBody>
                  <a:tcPr/>
                </a:tc>
                <a:extLst>
                  <a:ext uri="{0D108BD9-81ED-4DB2-BD59-A6C34878D82A}">
                    <a16:rowId xmlns:a16="http://schemas.microsoft.com/office/drawing/2014/main" val="138281775"/>
                  </a:ext>
                </a:extLst>
              </a:tr>
              <a:tr h="310463">
                <a:tc>
                  <a:txBody>
                    <a:bodyPr/>
                    <a:lstStyle/>
                    <a:p>
                      <a:r>
                        <a:rPr lang="en-GB" sz="2000" dirty="0"/>
                        <a:t>Number of days</a:t>
                      </a:r>
                      <a:r>
                        <a:rPr lang="en-GB" sz="2000" baseline="0" dirty="0"/>
                        <a:t> in a week</a:t>
                      </a:r>
                      <a:endParaRPr lang="en-GB"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err="1"/>
                        <a:t>kDaysInAWeek</a:t>
                      </a:r>
                      <a:endParaRPr lang="en-GB" sz="2000" dirty="0"/>
                    </a:p>
                  </a:txBody>
                  <a:tcPr/>
                </a:tc>
                <a:extLst>
                  <a:ext uri="{0D108BD9-81ED-4DB2-BD59-A6C34878D82A}">
                    <a16:rowId xmlns:a16="http://schemas.microsoft.com/office/drawing/2014/main" val="3857605872"/>
                  </a:ext>
                </a:extLst>
              </a:tr>
            </a:tbl>
          </a:graphicData>
        </a:graphic>
      </p:graphicFrame>
    </p:spTree>
    <p:extLst>
      <p:ext uri="{BB962C8B-B14F-4D97-AF65-F5344CB8AC3E}">
        <p14:creationId xmlns:p14="http://schemas.microsoft.com/office/powerpoint/2010/main" val="2625632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Enumeration</a:t>
            </a:r>
          </a:p>
        </p:txBody>
      </p:sp>
      <p:sp>
        <p:nvSpPr>
          <p:cNvPr id="3" name="Content Placeholder 2"/>
          <p:cNvSpPr>
            <a:spLocks noGrp="1"/>
          </p:cNvSpPr>
          <p:nvPr>
            <p:ph idx="1"/>
          </p:nvPr>
        </p:nvSpPr>
        <p:spPr>
          <a:xfrm>
            <a:off x="838199" y="1495423"/>
            <a:ext cx="11075437" cy="4895850"/>
          </a:xfrm>
        </p:spPr>
        <p:txBody>
          <a:bodyPr>
            <a:normAutofit fontScale="25000" lnSpcReduction="20000"/>
          </a:bodyPr>
          <a:lstStyle/>
          <a:p>
            <a:pPr>
              <a:lnSpc>
                <a:spcPct val="170000"/>
              </a:lnSpc>
            </a:pPr>
            <a:r>
              <a:rPr lang="en-GB" sz="9600" dirty="0"/>
              <a:t>Enumeration is a user defined data type where a set of values is specified for a variable and the variable can only take one out of a small set of possible values. </a:t>
            </a:r>
            <a:r>
              <a:rPr lang="en-GB" sz="9600" dirty="0">
                <a:latin typeface="Calibri" panose="020F0502020204030204" pitchFamily="34" charset="0"/>
                <a:cs typeface="Calibri" panose="020F0502020204030204" pitchFamily="34" charset="0"/>
              </a:rPr>
              <a:t> </a:t>
            </a:r>
          </a:p>
          <a:p>
            <a:pPr>
              <a:lnSpc>
                <a:spcPct val="170000"/>
              </a:lnSpc>
            </a:pPr>
            <a:r>
              <a:rPr lang="en-GB" sz="9600" dirty="0">
                <a:latin typeface="Calibri" panose="020F0502020204030204" pitchFamily="34" charset="0"/>
                <a:cs typeface="Calibri" panose="020F0502020204030204" pitchFamily="34" charset="0"/>
              </a:rPr>
              <a:t>The Enumeration has to be declared before being used. </a:t>
            </a:r>
          </a:p>
          <a:p>
            <a:pPr>
              <a:lnSpc>
                <a:spcPct val="170000"/>
              </a:lnSpc>
            </a:pPr>
            <a:endParaRPr lang="en-GB" sz="9600" dirty="0">
              <a:latin typeface="Calibri" panose="020F0502020204030204" pitchFamily="34" charset="0"/>
              <a:cs typeface="Calibri" panose="020F0502020204030204" pitchFamily="34" charset="0"/>
            </a:endParaRPr>
          </a:p>
          <a:p>
            <a:pPr>
              <a:lnSpc>
                <a:spcPct val="170000"/>
              </a:lnSpc>
            </a:pPr>
            <a:r>
              <a:rPr lang="en-GB" sz="9600" dirty="0">
                <a:latin typeface="Calibri" panose="020F0502020204030204" pitchFamily="34" charset="0"/>
                <a:cs typeface="Calibri" panose="020F0502020204030204" pitchFamily="34" charset="0"/>
              </a:rPr>
              <a:t>Example:</a:t>
            </a:r>
          </a:p>
          <a:p>
            <a:pPr>
              <a:lnSpc>
                <a:spcPct val="170000"/>
              </a:lnSpc>
            </a:pPr>
            <a:endParaRPr lang="en-GB" sz="9600" dirty="0">
              <a:latin typeface="Calibri" panose="020F0502020204030204" pitchFamily="34" charset="0"/>
              <a:cs typeface="Calibri" panose="020F0502020204030204" pitchFamily="34" charset="0"/>
            </a:endParaRPr>
          </a:p>
          <a:p>
            <a:pPr marL="0" indent="0">
              <a:lnSpc>
                <a:spcPct val="170000"/>
              </a:lnSpc>
              <a:buNone/>
            </a:pPr>
            <a:endParaRPr lang="en-GB" sz="9600" dirty="0"/>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3400" dirty="0"/>
          </a:p>
          <a:p>
            <a:pPr marL="0" indent="0">
              <a:lnSpc>
                <a:spcPct val="120000"/>
              </a:lnSpc>
              <a:buNone/>
            </a:pPr>
            <a:r>
              <a:rPr lang="en-GB" sz="3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10</a:t>
            </a:fld>
            <a:endParaRPr lang="en-GB"/>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F6A427E7-D17A-42B1-AF02-BEB2CA44DEE3}"/>
              </a:ext>
            </a:extLst>
          </p:cNvPr>
          <p:cNvSpPr/>
          <p:nvPr/>
        </p:nvSpPr>
        <p:spPr>
          <a:xfrm>
            <a:off x="903425" y="3416693"/>
            <a:ext cx="10154040" cy="51732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962692" y="3475302"/>
            <a:ext cx="9798440" cy="400110"/>
          </a:xfrm>
          <a:prstGeom prst="rect">
            <a:avLst/>
          </a:prstGeom>
        </p:spPr>
        <p:txBody>
          <a:bodyPr wrap="square">
            <a:spAutoFit/>
          </a:bodyPr>
          <a:lstStyle/>
          <a:p>
            <a:r>
              <a:rPr lang="en-US" sz="2000" b="1" dirty="0" err="1">
                <a:solidFill>
                  <a:srgbClr val="0000FF"/>
                </a:solidFill>
                <a:latin typeface="Courier New"/>
                <a:cs typeface="Courier New"/>
              </a:rPr>
              <a:t>enum</a:t>
            </a:r>
            <a:r>
              <a:rPr lang="en-US" sz="2000" b="1" dirty="0">
                <a:latin typeface="Courier New"/>
                <a:cs typeface="Courier New"/>
              </a:rPr>
              <a:t> </a:t>
            </a:r>
            <a:r>
              <a:rPr lang="en-US" sz="2000" b="1" dirty="0" err="1">
                <a:latin typeface="Courier New"/>
                <a:cs typeface="Courier New"/>
              </a:rPr>
              <a:t>UserDefinedDatatype</a:t>
            </a:r>
            <a:r>
              <a:rPr lang="en-US" sz="2000" b="1" dirty="0">
                <a:latin typeface="Courier New"/>
                <a:cs typeface="Courier New"/>
              </a:rPr>
              <a:t> {kvalue_1,kvalue_2,..,kvalue_last}; </a:t>
            </a:r>
            <a:endParaRPr lang="en-GB" sz="2000" dirty="0"/>
          </a:p>
        </p:txBody>
      </p:sp>
      <p:sp>
        <p:nvSpPr>
          <p:cNvPr id="8" name="Rectangle 7">
            <a:extLst>
              <a:ext uri="{FF2B5EF4-FFF2-40B4-BE49-F238E27FC236}">
                <a16:creationId xmlns:a16="http://schemas.microsoft.com/office/drawing/2014/main" id="{F6A427E7-D17A-42B1-AF02-BEB2CA44DEE3}"/>
              </a:ext>
            </a:extLst>
          </p:cNvPr>
          <p:cNvSpPr/>
          <p:nvPr/>
        </p:nvSpPr>
        <p:spPr>
          <a:xfrm>
            <a:off x="903425" y="4644948"/>
            <a:ext cx="10196375" cy="16518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962692" y="4655270"/>
            <a:ext cx="9798440" cy="1631216"/>
          </a:xfrm>
          <a:prstGeom prst="rect">
            <a:avLst/>
          </a:prstGeom>
        </p:spPr>
        <p:txBody>
          <a:bodyPr wrap="square">
            <a:spAutoFit/>
          </a:bodyPr>
          <a:lstStyle/>
          <a:p>
            <a:r>
              <a:rPr lang="en-US" sz="2000" b="1" dirty="0" err="1">
                <a:solidFill>
                  <a:srgbClr val="0000FF"/>
                </a:solidFill>
                <a:latin typeface="Courier New"/>
                <a:cs typeface="Courier New"/>
              </a:rPr>
              <a:t>enum</a:t>
            </a:r>
            <a:r>
              <a:rPr lang="en-US" sz="2000" b="1" dirty="0">
                <a:latin typeface="Courier New"/>
                <a:cs typeface="Courier New"/>
              </a:rPr>
              <a:t> Season {autumn, winter, spring, summer};</a:t>
            </a:r>
          </a:p>
          <a:p>
            <a:endParaRPr lang="en-US" sz="2000" b="1" dirty="0">
              <a:latin typeface="Courier New"/>
              <a:cs typeface="Courier New"/>
            </a:endParaRPr>
          </a:p>
          <a:p>
            <a:r>
              <a:rPr lang="en-US" sz="2000" b="1" dirty="0">
                <a:latin typeface="Courier New"/>
                <a:cs typeface="Courier New"/>
              </a:rPr>
              <a:t>Season </a:t>
            </a:r>
            <a:r>
              <a:rPr lang="en-US" sz="2000" b="1" dirty="0" err="1">
                <a:latin typeface="Courier New"/>
                <a:cs typeface="Courier New"/>
              </a:rPr>
              <a:t>currnet_season</a:t>
            </a:r>
            <a:r>
              <a:rPr lang="en-US" sz="2000" b="1" dirty="0">
                <a:latin typeface="Courier New"/>
                <a:cs typeface="Courier New"/>
              </a:rPr>
              <a:t>; </a:t>
            </a:r>
            <a:r>
              <a:rPr lang="en-US" sz="2000" b="1" dirty="0">
                <a:solidFill>
                  <a:srgbClr val="008000"/>
                </a:solidFill>
                <a:latin typeface="Courier New"/>
                <a:cs typeface="Courier New"/>
              </a:rPr>
              <a:t>// declaration</a:t>
            </a:r>
          </a:p>
          <a:p>
            <a:endParaRPr lang="en-US" sz="2000" b="1" dirty="0">
              <a:latin typeface="Courier New"/>
              <a:cs typeface="Courier New"/>
            </a:endParaRPr>
          </a:p>
          <a:p>
            <a:r>
              <a:rPr lang="en-US" sz="2000" b="1" dirty="0" err="1">
                <a:latin typeface="Courier New"/>
                <a:cs typeface="Courier New"/>
              </a:rPr>
              <a:t>current_season</a:t>
            </a:r>
            <a:r>
              <a:rPr lang="en-US" sz="2000" b="1" dirty="0">
                <a:latin typeface="Courier New"/>
                <a:cs typeface="Courier New"/>
              </a:rPr>
              <a:t> = autumn ; </a:t>
            </a:r>
            <a:r>
              <a:rPr lang="en-US" sz="2000" b="1" dirty="0">
                <a:solidFill>
                  <a:srgbClr val="008000"/>
                </a:solidFill>
                <a:latin typeface="Courier New"/>
                <a:cs typeface="Courier New"/>
              </a:rPr>
              <a:t>// It has to be one of the 4 options   </a:t>
            </a:r>
            <a:endParaRPr lang="en-GB" sz="2000" dirty="0">
              <a:solidFill>
                <a:srgbClr val="008000"/>
              </a:solidFill>
            </a:endParaRPr>
          </a:p>
        </p:txBody>
      </p:sp>
    </p:spTree>
    <p:extLst>
      <p:ext uri="{BB962C8B-B14F-4D97-AF65-F5344CB8AC3E}">
        <p14:creationId xmlns:p14="http://schemas.microsoft.com/office/powerpoint/2010/main" val="3376846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Scope of variables</a:t>
            </a:r>
          </a:p>
        </p:txBody>
      </p:sp>
      <p:sp>
        <p:nvSpPr>
          <p:cNvPr id="3" name="Content Placeholder 2"/>
          <p:cNvSpPr>
            <a:spLocks noGrp="1"/>
          </p:cNvSpPr>
          <p:nvPr>
            <p:ph idx="1"/>
          </p:nvPr>
        </p:nvSpPr>
        <p:spPr>
          <a:xfrm>
            <a:off x="838199" y="1630884"/>
            <a:ext cx="11075437" cy="4895850"/>
          </a:xfrm>
        </p:spPr>
        <p:txBody>
          <a:bodyPr>
            <a:normAutofit fontScale="25000" lnSpcReduction="20000"/>
          </a:bodyPr>
          <a:lstStyle/>
          <a:p>
            <a:r>
              <a:rPr lang="en-US" sz="9600" dirty="0"/>
              <a:t>In C++ variables can be declared anywhere within the code.</a:t>
            </a:r>
          </a:p>
          <a:p>
            <a:pPr>
              <a:lnSpc>
                <a:spcPct val="170000"/>
              </a:lnSpc>
            </a:pPr>
            <a:r>
              <a:rPr lang="en-GB" sz="9600" dirty="0">
                <a:latin typeface="Calibri" panose="020F0502020204030204" pitchFamily="34" charset="0"/>
                <a:cs typeface="Calibri" panose="020F0502020204030204" pitchFamily="34" charset="0"/>
              </a:rPr>
              <a:t>The scope of a variable is defined as the extent of the code within which the variable can be accessed or worked with, which is typically the code block where the variable is declared (between {}).</a:t>
            </a:r>
          </a:p>
          <a:p>
            <a:pPr>
              <a:lnSpc>
                <a:spcPct val="170000"/>
              </a:lnSpc>
            </a:pPr>
            <a:r>
              <a:rPr lang="en-GB" sz="9600" dirty="0"/>
              <a:t>When a variable goes out of scope it is automatically deleted. </a:t>
            </a:r>
          </a:p>
          <a:p>
            <a:pPr>
              <a:lnSpc>
                <a:spcPct val="170000"/>
              </a:lnSpc>
            </a:pPr>
            <a:r>
              <a:rPr lang="en-GB" sz="9600" dirty="0">
                <a:latin typeface="Calibri" panose="020F0502020204030204" pitchFamily="34" charset="0"/>
                <a:cs typeface="Calibri" panose="020F0502020204030204" pitchFamily="34" charset="0"/>
              </a:rPr>
              <a:t>Example:</a:t>
            </a:r>
          </a:p>
          <a:p>
            <a:pPr marL="0" indent="0">
              <a:lnSpc>
                <a:spcPct val="170000"/>
              </a:lnSpc>
              <a:buNone/>
            </a:pPr>
            <a:endParaRPr lang="en-GB" sz="9600" dirty="0"/>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3400" dirty="0"/>
          </a:p>
          <a:p>
            <a:pPr marL="0" indent="0">
              <a:lnSpc>
                <a:spcPct val="120000"/>
              </a:lnSpc>
              <a:buNone/>
            </a:pPr>
            <a:r>
              <a:rPr lang="en-GB" sz="3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11</a:t>
            </a:fld>
            <a:endParaRPr lang="en-GB"/>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6A427E7-D17A-42B1-AF02-BEB2CA44DEE3}"/>
              </a:ext>
            </a:extLst>
          </p:cNvPr>
          <p:cNvSpPr/>
          <p:nvPr/>
        </p:nvSpPr>
        <p:spPr>
          <a:xfrm>
            <a:off x="2381155" y="4602648"/>
            <a:ext cx="8066710" cy="224259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p:nvSpPr>
        <p:spPr>
          <a:xfrm>
            <a:off x="2381156" y="4598473"/>
            <a:ext cx="7279309" cy="2246769"/>
          </a:xfrm>
          <a:prstGeom prst="rect">
            <a:avLst/>
          </a:prstGeom>
        </p:spPr>
        <p:txBody>
          <a:bodyPr wrap="square">
            <a:spAutoFit/>
          </a:bodyPr>
          <a:lstStyle/>
          <a:p>
            <a:r>
              <a:rPr lang="en-US" sz="2000" b="1" dirty="0" err="1">
                <a:solidFill>
                  <a:srgbClr val="0000FF"/>
                </a:solidFill>
                <a:latin typeface="Courier New"/>
                <a:cs typeface="Courier New"/>
              </a:rPr>
              <a:t>int</a:t>
            </a:r>
            <a:r>
              <a:rPr lang="en-US" sz="2000" b="1" dirty="0">
                <a:latin typeface="Courier New"/>
                <a:cs typeface="Courier New"/>
              </a:rPr>
              <a:t> main () {</a:t>
            </a:r>
          </a:p>
          <a:p>
            <a:endParaRPr lang="en-US" sz="2000" b="1" dirty="0">
              <a:latin typeface="Courier New"/>
              <a:cs typeface="Courier New"/>
            </a:endParaRPr>
          </a:p>
          <a:p>
            <a:r>
              <a:rPr lang="en-US" sz="2000" b="1" dirty="0">
                <a:solidFill>
                  <a:srgbClr val="008000"/>
                </a:solidFill>
                <a:latin typeface="Courier New"/>
                <a:cs typeface="Courier New"/>
              </a:rPr>
              <a:t> </a:t>
            </a:r>
            <a:r>
              <a:rPr lang="en-US" sz="2000" b="1" dirty="0" err="1">
                <a:solidFill>
                  <a:srgbClr val="0000FF"/>
                </a:solidFill>
                <a:latin typeface="Courier New"/>
                <a:cs typeface="Courier New"/>
              </a:rPr>
              <a:t>int</a:t>
            </a:r>
            <a:r>
              <a:rPr lang="en-US" sz="2000" b="1" dirty="0">
                <a:latin typeface="Courier New"/>
                <a:cs typeface="Courier New"/>
              </a:rPr>
              <a:t> a = 2; </a:t>
            </a:r>
          </a:p>
          <a:p>
            <a:r>
              <a:rPr lang="en-US" sz="2000" b="1" dirty="0">
                <a:solidFill>
                  <a:srgbClr val="008000"/>
                </a:solidFill>
                <a:latin typeface="Courier New"/>
                <a:cs typeface="Courier New"/>
              </a:rPr>
              <a:t>       </a:t>
            </a:r>
          </a:p>
          <a:p>
            <a:r>
              <a:rPr lang="en-US" sz="2000" b="1" dirty="0">
                <a:solidFill>
                  <a:srgbClr val="008000"/>
                </a:solidFill>
                <a:latin typeface="Courier New"/>
                <a:cs typeface="Courier New"/>
              </a:rPr>
              <a:t> </a:t>
            </a:r>
            <a:r>
              <a:rPr lang="en-US" sz="2000" b="1" dirty="0">
                <a:latin typeface="Courier New"/>
                <a:cs typeface="Courier New"/>
              </a:rPr>
              <a:t>{ </a:t>
            </a:r>
            <a:r>
              <a:rPr lang="en-US" sz="2000" b="1" dirty="0" err="1">
                <a:solidFill>
                  <a:srgbClr val="0000FF"/>
                </a:solidFill>
                <a:latin typeface="Courier New"/>
                <a:cs typeface="Courier New"/>
              </a:rPr>
              <a:t>int</a:t>
            </a:r>
            <a:r>
              <a:rPr lang="en-US" sz="2000" b="1" dirty="0">
                <a:latin typeface="Courier New"/>
                <a:cs typeface="Courier New"/>
              </a:rPr>
              <a:t> a = 5 ; </a:t>
            </a:r>
            <a:r>
              <a:rPr lang="en-US" sz="2000" b="1" dirty="0">
                <a:solidFill>
                  <a:srgbClr val="008000"/>
                </a:solidFill>
                <a:latin typeface="Courier New"/>
                <a:cs typeface="Courier New"/>
              </a:rPr>
              <a:t>// Declaration in the new scope</a:t>
            </a:r>
          </a:p>
          <a:p>
            <a:r>
              <a:rPr lang="en-US" sz="2000" b="1" dirty="0">
                <a:latin typeface="Courier New"/>
                <a:cs typeface="Courier New"/>
              </a:rPr>
              <a:t> }</a:t>
            </a:r>
          </a:p>
          <a:p>
            <a:r>
              <a:rPr lang="en-US" sz="2000" b="1" dirty="0">
                <a:latin typeface="Courier New"/>
                <a:cs typeface="Courier New"/>
              </a:rPr>
              <a:t>}   </a:t>
            </a:r>
            <a:endParaRPr lang="en-GB" sz="2000" dirty="0"/>
          </a:p>
        </p:txBody>
      </p:sp>
    </p:spTree>
    <p:extLst>
      <p:ext uri="{BB962C8B-B14F-4D97-AF65-F5344CB8AC3E}">
        <p14:creationId xmlns:p14="http://schemas.microsoft.com/office/powerpoint/2010/main" val="3634102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Namespaces</a:t>
            </a:r>
          </a:p>
        </p:txBody>
      </p:sp>
      <p:sp>
        <p:nvSpPr>
          <p:cNvPr id="3" name="Content Placeholder 2"/>
          <p:cNvSpPr>
            <a:spLocks noGrp="1"/>
          </p:cNvSpPr>
          <p:nvPr>
            <p:ph idx="1"/>
          </p:nvPr>
        </p:nvSpPr>
        <p:spPr>
          <a:xfrm>
            <a:off x="838199" y="1513438"/>
            <a:ext cx="11075437" cy="4895850"/>
          </a:xfrm>
        </p:spPr>
        <p:txBody>
          <a:bodyPr>
            <a:normAutofit fontScale="25000" lnSpcReduction="20000"/>
          </a:bodyPr>
          <a:lstStyle/>
          <a:p>
            <a:pPr>
              <a:lnSpc>
                <a:spcPct val="170000"/>
              </a:lnSpc>
            </a:pPr>
            <a:r>
              <a:rPr lang="en-GB" sz="9600" dirty="0"/>
              <a:t>A namespace is a declarative region that provides a scope to the identifiers inside it.</a:t>
            </a:r>
          </a:p>
          <a:p>
            <a:pPr>
              <a:lnSpc>
                <a:spcPct val="170000"/>
              </a:lnSpc>
            </a:pPr>
            <a:r>
              <a:rPr lang="en-GB" sz="9600" dirty="0"/>
              <a:t>They allow the developer to access a scope from outside it (a name of the scope).</a:t>
            </a:r>
          </a:p>
          <a:p>
            <a:pPr>
              <a:lnSpc>
                <a:spcPct val="170000"/>
              </a:lnSpc>
            </a:pPr>
            <a:r>
              <a:rPr lang="en-GB" sz="9600" dirty="0"/>
              <a:t>An entire code can access a namespace by including “</a:t>
            </a:r>
            <a:r>
              <a:rPr lang="en-GB" sz="9600" b="1" dirty="0">
                <a:solidFill>
                  <a:srgbClr val="0000FF"/>
                </a:solidFill>
                <a:latin typeface="Courier New" panose="02070309020205020404" pitchFamily="49" charset="0"/>
                <a:cs typeface="Courier New" panose="02070309020205020404" pitchFamily="49" charset="0"/>
              </a:rPr>
              <a:t>using namespace </a:t>
            </a:r>
            <a:r>
              <a:rPr lang="en-GB" sz="9600" dirty="0">
                <a:solidFill>
                  <a:srgbClr val="0000FF"/>
                </a:solidFill>
              </a:rPr>
              <a:t>..</a:t>
            </a:r>
            <a:r>
              <a:rPr lang="en-GB" sz="9600" dirty="0"/>
              <a:t>”.</a:t>
            </a:r>
          </a:p>
          <a:p>
            <a:pPr>
              <a:lnSpc>
                <a:spcPct val="170000"/>
              </a:lnSpc>
            </a:pPr>
            <a:r>
              <a:rPr lang="en-GB" sz="9600" dirty="0">
                <a:latin typeface="Calibri" panose="020F0502020204030204" pitchFamily="34" charset="0"/>
                <a:cs typeface="Calibri" panose="020F0502020204030204" pitchFamily="34" charset="0"/>
              </a:rPr>
              <a:t>Example:</a:t>
            </a:r>
          </a:p>
          <a:p>
            <a:pPr marL="0" indent="0">
              <a:lnSpc>
                <a:spcPct val="170000"/>
              </a:lnSpc>
              <a:buNone/>
            </a:pPr>
            <a:endParaRPr lang="en-GB" sz="9600" dirty="0"/>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3400" dirty="0"/>
          </a:p>
          <a:p>
            <a:pPr marL="0" indent="0">
              <a:lnSpc>
                <a:spcPct val="120000"/>
              </a:lnSpc>
              <a:buNone/>
            </a:pPr>
            <a:r>
              <a:rPr lang="en-GB" sz="3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12</a:t>
            </a:fld>
            <a:endParaRPr lang="en-GB"/>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6A427E7-D17A-42B1-AF02-BEB2CA44DEE3}"/>
              </a:ext>
            </a:extLst>
          </p:cNvPr>
          <p:cNvSpPr/>
          <p:nvPr/>
        </p:nvSpPr>
        <p:spPr>
          <a:xfrm>
            <a:off x="2384062" y="3769799"/>
            <a:ext cx="8119176" cy="226204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p:nvSpPr>
        <p:spPr>
          <a:xfrm>
            <a:off x="2391792" y="3670921"/>
            <a:ext cx="7598138" cy="2246769"/>
          </a:xfrm>
          <a:prstGeom prst="rect">
            <a:avLst/>
          </a:prstGeom>
        </p:spPr>
        <p:txBody>
          <a:bodyPr wrap="square">
            <a:spAutoFit/>
          </a:bodyPr>
          <a:lstStyle/>
          <a:p>
            <a:r>
              <a:rPr lang="en-US" sz="2000" b="1" dirty="0">
                <a:solidFill>
                  <a:srgbClr val="0000FF"/>
                </a:solidFill>
                <a:latin typeface="Courier New"/>
                <a:cs typeface="Courier New"/>
              </a:rPr>
              <a:t>namespace </a:t>
            </a:r>
            <a:r>
              <a:rPr lang="en-US" sz="2000" b="1" dirty="0">
                <a:latin typeface="Courier New"/>
                <a:cs typeface="Courier New"/>
              </a:rPr>
              <a:t>name_space_1</a:t>
            </a:r>
          </a:p>
          <a:p>
            <a:r>
              <a:rPr lang="en-US" sz="2000" b="1" dirty="0">
                <a:latin typeface="Courier New"/>
                <a:cs typeface="Courier New"/>
              </a:rPr>
              <a:t>{</a:t>
            </a:r>
            <a:r>
              <a:rPr lang="en-US" sz="2000" b="1" dirty="0">
                <a:solidFill>
                  <a:srgbClr val="0000FF"/>
                </a:solidFill>
                <a:latin typeface="Courier New"/>
                <a:cs typeface="Courier New"/>
              </a:rPr>
              <a:t>  	</a:t>
            </a:r>
            <a:r>
              <a:rPr lang="en-US" sz="2000" b="1" dirty="0" err="1">
                <a:solidFill>
                  <a:srgbClr val="0000FF"/>
                </a:solidFill>
                <a:latin typeface="Courier New"/>
                <a:cs typeface="Courier New"/>
              </a:rPr>
              <a:t>int</a:t>
            </a:r>
            <a:r>
              <a:rPr lang="en-US" sz="2000" b="1" dirty="0">
                <a:solidFill>
                  <a:srgbClr val="0000FF"/>
                </a:solidFill>
                <a:latin typeface="Courier New"/>
                <a:cs typeface="Courier New"/>
              </a:rPr>
              <a:t> </a:t>
            </a:r>
            <a:r>
              <a:rPr lang="en-US" sz="2000" b="1" dirty="0">
                <a:latin typeface="Courier New"/>
                <a:cs typeface="Courier New"/>
              </a:rPr>
              <a:t>x = 1; }</a:t>
            </a:r>
          </a:p>
          <a:p>
            <a:endParaRPr lang="en-US" sz="2000" b="1" dirty="0">
              <a:solidFill>
                <a:srgbClr val="0000FF"/>
              </a:solidFill>
              <a:latin typeface="Courier New"/>
              <a:cs typeface="Courier New"/>
            </a:endParaRPr>
          </a:p>
          <a:p>
            <a:r>
              <a:rPr lang="en-US" sz="2000" b="1" dirty="0">
                <a:solidFill>
                  <a:srgbClr val="0000FF"/>
                </a:solidFill>
                <a:latin typeface="Courier New"/>
                <a:cs typeface="Courier New"/>
              </a:rPr>
              <a:t>namespace </a:t>
            </a:r>
            <a:r>
              <a:rPr lang="en-US" sz="2000" b="1" dirty="0">
                <a:latin typeface="Courier New"/>
                <a:cs typeface="Courier New"/>
              </a:rPr>
              <a:t>name_space_2</a:t>
            </a:r>
          </a:p>
          <a:p>
            <a:r>
              <a:rPr lang="en-US" sz="2000" b="1" dirty="0">
                <a:latin typeface="Courier New"/>
                <a:cs typeface="Courier New"/>
              </a:rPr>
              <a:t>{</a:t>
            </a:r>
            <a:r>
              <a:rPr lang="en-US" sz="2000" b="1" dirty="0">
                <a:solidFill>
                  <a:srgbClr val="0000FF"/>
                </a:solidFill>
                <a:latin typeface="Courier New"/>
                <a:cs typeface="Courier New"/>
              </a:rPr>
              <a:t> 	</a:t>
            </a:r>
            <a:r>
              <a:rPr lang="en-US" sz="2000" b="1" dirty="0" err="1">
                <a:solidFill>
                  <a:srgbClr val="0000FF"/>
                </a:solidFill>
                <a:latin typeface="Courier New"/>
                <a:cs typeface="Courier New"/>
              </a:rPr>
              <a:t>int</a:t>
            </a:r>
            <a:r>
              <a:rPr lang="en-US" sz="2000" b="1" dirty="0">
                <a:solidFill>
                  <a:srgbClr val="0000FF"/>
                </a:solidFill>
                <a:latin typeface="Courier New"/>
                <a:cs typeface="Courier New"/>
              </a:rPr>
              <a:t> </a:t>
            </a:r>
            <a:r>
              <a:rPr lang="en-US" sz="2000" b="1" dirty="0">
                <a:latin typeface="Courier New"/>
                <a:cs typeface="Courier New"/>
              </a:rPr>
              <a:t>x = 5;</a:t>
            </a:r>
            <a:r>
              <a:rPr lang="en-US" sz="2000" b="1" dirty="0">
                <a:solidFill>
                  <a:srgbClr val="0000FF"/>
                </a:solidFill>
                <a:latin typeface="Courier New"/>
                <a:cs typeface="Courier New"/>
              </a:rPr>
              <a:t> </a:t>
            </a:r>
            <a:r>
              <a:rPr lang="en-US" sz="2000" b="1" dirty="0">
                <a:latin typeface="Courier New"/>
                <a:cs typeface="Courier New"/>
              </a:rPr>
              <a:t>}</a:t>
            </a:r>
          </a:p>
          <a:p>
            <a:endParaRPr lang="en-US" sz="2000" b="1" dirty="0">
              <a:solidFill>
                <a:srgbClr val="0000FF"/>
              </a:solidFill>
              <a:latin typeface="Courier New"/>
              <a:cs typeface="Courier New"/>
            </a:endParaRPr>
          </a:p>
          <a:p>
            <a:r>
              <a:rPr lang="en-US" sz="2000" b="1" dirty="0" err="1">
                <a:latin typeface="Courier New"/>
                <a:cs typeface="Courier New"/>
              </a:rPr>
              <a:t>cout</a:t>
            </a:r>
            <a:r>
              <a:rPr lang="en-US" sz="2000" b="1" dirty="0">
                <a:latin typeface="Courier New"/>
                <a:cs typeface="Courier New"/>
              </a:rPr>
              <a:t> &lt;&lt; name_space_1::x; </a:t>
            </a:r>
            <a:r>
              <a:rPr lang="en-US" sz="2000" b="1" dirty="0">
                <a:solidFill>
                  <a:srgbClr val="008000"/>
                </a:solidFill>
                <a:latin typeface="Courier New"/>
                <a:cs typeface="Courier New"/>
              </a:rPr>
              <a:t>// What is the output?</a:t>
            </a:r>
          </a:p>
        </p:txBody>
      </p:sp>
      <p:sp>
        <p:nvSpPr>
          <p:cNvPr id="9" name="TextBox 8"/>
          <p:cNvSpPr txBox="1"/>
          <p:nvPr/>
        </p:nvSpPr>
        <p:spPr>
          <a:xfrm>
            <a:off x="1065645" y="6172367"/>
            <a:ext cx="9630318" cy="473839"/>
          </a:xfrm>
          <a:prstGeom prst="rect">
            <a:avLst/>
          </a:prstGeom>
          <a:noFill/>
          <a:ln>
            <a:solidFill>
              <a:schemeClr val="tx1"/>
            </a:solidFill>
          </a:ln>
        </p:spPr>
        <p:txBody>
          <a:bodyPr wrap="square" rtlCol="0">
            <a:spAutoFit/>
          </a:bodyPr>
          <a:lstStyle/>
          <a:p>
            <a:endParaRPr lang="en-GB" dirty="0"/>
          </a:p>
        </p:txBody>
      </p:sp>
      <p:sp>
        <p:nvSpPr>
          <p:cNvPr id="10" name="TextBox 9">
            <a:extLst>
              <a:ext uri="{FF2B5EF4-FFF2-40B4-BE49-F238E27FC236}">
                <a16:creationId xmlns:a16="http://schemas.microsoft.com/office/drawing/2014/main" id="{B898AA5B-F640-4621-A955-6B998AC81A7C}"/>
              </a:ext>
            </a:extLst>
          </p:cNvPr>
          <p:cNvSpPr txBox="1"/>
          <p:nvPr/>
        </p:nvSpPr>
        <p:spPr>
          <a:xfrm>
            <a:off x="1144096" y="6178455"/>
            <a:ext cx="10890382" cy="461665"/>
          </a:xfrm>
          <a:prstGeom prst="rect">
            <a:avLst/>
          </a:prstGeom>
          <a:noFill/>
        </p:spPr>
        <p:txBody>
          <a:bodyPr wrap="square" rtlCol="0">
            <a:spAutoFit/>
          </a:bodyPr>
          <a:lstStyle/>
          <a:p>
            <a:r>
              <a:rPr lang="en-GB" sz="2400" dirty="0">
                <a:solidFill>
                  <a:srgbClr val="FF0000"/>
                </a:solidFill>
              </a:rPr>
              <a:t>Practical note: </a:t>
            </a:r>
            <a:r>
              <a:rPr lang="en-GB" sz="2400" dirty="0"/>
              <a:t>Do not use “using namespace” when working on large codes</a:t>
            </a:r>
          </a:p>
        </p:txBody>
      </p:sp>
    </p:spTree>
    <p:extLst>
      <p:ext uri="{BB962C8B-B14F-4D97-AF65-F5344CB8AC3E}">
        <p14:creationId xmlns:p14="http://schemas.microsoft.com/office/powerpoint/2010/main" val="2083506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Global variables</a:t>
            </a:r>
          </a:p>
        </p:txBody>
      </p:sp>
      <p:sp>
        <p:nvSpPr>
          <p:cNvPr id="3" name="Content Placeholder 2"/>
          <p:cNvSpPr>
            <a:spLocks noGrp="1"/>
          </p:cNvSpPr>
          <p:nvPr>
            <p:ph idx="1"/>
          </p:nvPr>
        </p:nvSpPr>
        <p:spPr>
          <a:xfrm>
            <a:off x="838199" y="1630884"/>
            <a:ext cx="11075437" cy="4895850"/>
          </a:xfrm>
        </p:spPr>
        <p:txBody>
          <a:bodyPr>
            <a:normAutofit fontScale="25000" lnSpcReduction="20000"/>
          </a:bodyPr>
          <a:lstStyle/>
          <a:p>
            <a:r>
              <a:rPr lang="en-US" sz="9600" dirty="0"/>
              <a:t>Global variables are variables that can be accessed from any part of the code.</a:t>
            </a:r>
          </a:p>
          <a:p>
            <a:pPr>
              <a:lnSpc>
                <a:spcPct val="170000"/>
              </a:lnSpc>
            </a:pPr>
            <a:r>
              <a:rPr lang="en-GB" sz="9600" dirty="0">
                <a:latin typeface="Calibri" panose="020F0502020204030204" pitchFamily="34" charset="0"/>
                <a:cs typeface="Calibri" panose="020F0502020204030204" pitchFamily="34" charset="0"/>
              </a:rPr>
              <a:t>They are declared before </a:t>
            </a:r>
            <a:r>
              <a:rPr lang="en-GB" sz="9600" dirty="0">
                <a:latin typeface="Consolas" panose="020B0609020204030204" pitchFamily="49" charset="0"/>
                <a:cs typeface="Calibri" panose="020F0502020204030204" pitchFamily="34" charset="0"/>
              </a:rPr>
              <a:t>main</a:t>
            </a:r>
            <a:r>
              <a:rPr lang="en-GB" sz="9600" dirty="0">
                <a:latin typeface="Calibri" panose="020F0502020204030204" pitchFamily="34" charset="0"/>
                <a:cs typeface="Calibri" panose="020F0502020204030204" pitchFamily="34" charset="0"/>
              </a:rPr>
              <a:t> () and they have to be declared outside any scope.</a:t>
            </a:r>
          </a:p>
          <a:p>
            <a:pPr>
              <a:lnSpc>
                <a:spcPct val="170000"/>
              </a:lnSpc>
            </a:pPr>
            <a:r>
              <a:rPr lang="en-GB" sz="9600" dirty="0">
                <a:latin typeface="Calibri" panose="020F0502020204030204" pitchFamily="34" charset="0"/>
                <a:cs typeface="Calibri" panose="020F0502020204030204" pitchFamily="34" charset="0"/>
              </a:rPr>
              <a:t>Global variables are only deleted when the programme terminates.</a:t>
            </a:r>
          </a:p>
          <a:p>
            <a:pPr>
              <a:lnSpc>
                <a:spcPct val="170000"/>
              </a:lnSpc>
            </a:pPr>
            <a:r>
              <a:rPr lang="en-GB" sz="9600" dirty="0">
                <a:latin typeface="Calibri" panose="020F0502020204030204" pitchFamily="34" charset="0"/>
                <a:cs typeface="Calibri" panose="020F0502020204030204" pitchFamily="34" charset="0"/>
              </a:rPr>
              <a:t>They can be accessed directly by their name or using the scope resolution operator (::) if another local variable exists with the same name.</a:t>
            </a:r>
          </a:p>
          <a:p>
            <a:pPr>
              <a:lnSpc>
                <a:spcPct val="170000"/>
              </a:lnSpc>
            </a:pPr>
            <a:r>
              <a:rPr lang="en-GB" sz="9600" dirty="0">
                <a:latin typeface="Calibri" panose="020F0502020204030204" pitchFamily="34" charset="0"/>
                <a:cs typeface="Calibri" panose="020F0502020204030204" pitchFamily="34" charset="0"/>
              </a:rPr>
              <a:t>Go to </a:t>
            </a:r>
            <a:r>
              <a:rPr lang="en-GB" sz="9600" dirty="0">
                <a:solidFill>
                  <a:srgbClr val="00B050"/>
                </a:solidFill>
              </a:rPr>
              <a:t>L3D2.cpp</a:t>
            </a:r>
          </a:p>
          <a:p>
            <a:pPr>
              <a:lnSpc>
                <a:spcPct val="170000"/>
              </a:lnSpc>
            </a:pPr>
            <a:endParaRPr lang="en-GB" sz="9600" dirty="0">
              <a:latin typeface="Calibri" panose="020F0502020204030204" pitchFamily="34" charset="0"/>
              <a:cs typeface="Calibri" panose="020F0502020204030204" pitchFamily="34" charset="0"/>
            </a:endParaRPr>
          </a:p>
          <a:p>
            <a:pPr marL="0" indent="0">
              <a:lnSpc>
                <a:spcPct val="170000"/>
              </a:lnSpc>
              <a:buNone/>
            </a:pPr>
            <a:endParaRPr lang="en-GB" sz="9600" dirty="0"/>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3400" dirty="0"/>
          </a:p>
          <a:p>
            <a:pPr marL="0" indent="0">
              <a:lnSpc>
                <a:spcPct val="120000"/>
              </a:lnSpc>
              <a:buNone/>
            </a:pPr>
            <a:r>
              <a:rPr lang="en-GB" sz="3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13</a:t>
            </a:fld>
            <a:endParaRPr lang="en-GB"/>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78369" y="5355960"/>
            <a:ext cx="10077498" cy="1111782"/>
          </a:xfrm>
          <a:prstGeom prst="rect">
            <a:avLst/>
          </a:prstGeom>
          <a:noFill/>
          <a:ln>
            <a:solidFill>
              <a:schemeClr val="tx1"/>
            </a:solidFill>
          </a:ln>
        </p:spPr>
        <p:txBody>
          <a:bodyPr wrap="square" rtlCol="0">
            <a:spAutoFit/>
          </a:bodyPr>
          <a:lstStyle/>
          <a:p>
            <a:endParaRPr lang="en-GB" dirty="0"/>
          </a:p>
        </p:txBody>
      </p:sp>
      <p:sp>
        <p:nvSpPr>
          <p:cNvPr id="10" name="TextBox 9">
            <a:extLst>
              <a:ext uri="{FF2B5EF4-FFF2-40B4-BE49-F238E27FC236}">
                <a16:creationId xmlns:a16="http://schemas.microsoft.com/office/drawing/2014/main" id="{B898AA5B-F640-4621-A955-6B998AC81A7C}"/>
              </a:ext>
            </a:extLst>
          </p:cNvPr>
          <p:cNvSpPr txBox="1"/>
          <p:nvPr/>
        </p:nvSpPr>
        <p:spPr>
          <a:xfrm>
            <a:off x="838198" y="5288340"/>
            <a:ext cx="9745135" cy="1200329"/>
          </a:xfrm>
          <a:prstGeom prst="rect">
            <a:avLst/>
          </a:prstGeom>
          <a:noFill/>
        </p:spPr>
        <p:txBody>
          <a:bodyPr wrap="square" rtlCol="0">
            <a:spAutoFit/>
          </a:bodyPr>
          <a:lstStyle/>
          <a:p>
            <a:r>
              <a:rPr lang="en-GB" sz="2400" dirty="0">
                <a:solidFill>
                  <a:srgbClr val="FF0000"/>
                </a:solidFill>
              </a:rPr>
              <a:t>Practical note:</a:t>
            </a:r>
          </a:p>
          <a:p>
            <a:endParaRPr lang="en-GB" sz="2400" dirty="0"/>
          </a:p>
          <a:p>
            <a:pPr marL="342900" indent="-342900">
              <a:buFont typeface="Arial" panose="020B0604020202020204" pitchFamily="34" charset="0"/>
              <a:buChar char="•"/>
            </a:pPr>
            <a:r>
              <a:rPr lang="en-GB" sz="2400" dirty="0"/>
              <a:t>Do not use global variables unless they are constant variables.</a:t>
            </a:r>
          </a:p>
        </p:txBody>
      </p:sp>
    </p:spTree>
    <p:extLst>
      <p:ext uri="{BB962C8B-B14F-4D97-AF65-F5344CB8AC3E}">
        <p14:creationId xmlns:p14="http://schemas.microsoft.com/office/powerpoint/2010/main" val="2955925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Operators and precedence</a:t>
            </a:r>
          </a:p>
        </p:txBody>
      </p:sp>
      <p:sp>
        <p:nvSpPr>
          <p:cNvPr id="3" name="Content Placeholder 2"/>
          <p:cNvSpPr>
            <a:spLocks noGrp="1"/>
          </p:cNvSpPr>
          <p:nvPr>
            <p:ph idx="1"/>
          </p:nvPr>
        </p:nvSpPr>
        <p:spPr>
          <a:xfrm>
            <a:off x="838199" y="1505049"/>
            <a:ext cx="11075437" cy="4895850"/>
          </a:xfrm>
        </p:spPr>
        <p:txBody>
          <a:bodyPr>
            <a:normAutofit fontScale="25000" lnSpcReduction="20000"/>
          </a:bodyPr>
          <a:lstStyle/>
          <a:p>
            <a:pPr>
              <a:lnSpc>
                <a:spcPct val="170000"/>
              </a:lnSpc>
            </a:pPr>
            <a:r>
              <a:rPr lang="en-US" sz="9600" dirty="0"/>
              <a:t>Operators are symbols used to </a:t>
            </a:r>
            <a:r>
              <a:rPr lang="en-GB" sz="9600" dirty="0"/>
              <a:t>to perform specific mathematical and logical computations on operands.</a:t>
            </a:r>
          </a:p>
          <a:p>
            <a:pPr>
              <a:lnSpc>
                <a:spcPct val="170000"/>
              </a:lnSpc>
            </a:pPr>
            <a:r>
              <a:rPr lang="en-GB" sz="9600" dirty="0"/>
              <a:t>A brief list of operators: (full list </a:t>
            </a:r>
            <a:r>
              <a:rPr lang="en-GB" sz="9600" dirty="0">
                <a:hlinkClick r:id="rId3"/>
              </a:rPr>
              <a:t>http://www.cplusplus.com/doc/tutorial/operators/</a:t>
            </a:r>
            <a:r>
              <a:rPr lang="en-GB" sz="9600" dirty="0"/>
              <a:t>)</a:t>
            </a:r>
            <a:endParaRPr lang="en-GB" sz="9600" dirty="0">
              <a:latin typeface="Calibri" panose="020F0502020204030204" pitchFamily="34" charset="0"/>
              <a:cs typeface="Calibri" panose="020F0502020204030204" pitchFamily="34" charset="0"/>
            </a:endParaRPr>
          </a:p>
          <a:p>
            <a:pPr marL="0" indent="0">
              <a:lnSpc>
                <a:spcPct val="170000"/>
              </a:lnSpc>
              <a:buNone/>
            </a:pPr>
            <a:endParaRPr lang="en-GB" sz="9600" dirty="0"/>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r>
              <a:rPr lang="en-GB" sz="9600" dirty="0">
                <a:latin typeface="Calibri" panose="020F0502020204030204" pitchFamily="34" charset="0"/>
                <a:cs typeface="Calibri" panose="020F0502020204030204" pitchFamily="34" charset="0"/>
              </a:rPr>
              <a:t>Logical operators operate on the variable (or expression as a whole) while bitwise operators operate on a bit-by-bit basis. </a:t>
            </a:r>
          </a:p>
          <a:p>
            <a:pPr>
              <a:lnSpc>
                <a:spcPct val="120000"/>
              </a:lnSpc>
            </a:pPr>
            <a:endParaRPr lang="en-GB" sz="9600" dirty="0">
              <a:latin typeface="Calibri" panose="020F0502020204030204" pitchFamily="34" charset="0"/>
              <a:cs typeface="Calibri" panose="020F0502020204030204" pitchFamily="34" charset="0"/>
            </a:endParaRPr>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3400" dirty="0"/>
          </a:p>
          <a:p>
            <a:pPr marL="0" indent="0">
              <a:lnSpc>
                <a:spcPct val="120000"/>
              </a:lnSpc>
              <a:buNone/>
            </a:pPr>
            <a:r>
              <a:rPr lang="en-GB" sz="3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14</a:t>
            </a:fld>
            <a:endParaRPr lang="en-GB"/>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graphicFrame>
        <p:nvGraphicFramePr>
          <p:cNvPr id="8" name="Table 7">
            <a:extLst>
              <a:ext uri="{FF2B5EF4-FFF2-40B4-BE49-F238E27FC236}">
                <a16:creationId xmlns:a16="http://schemas.microsoft.com/office/drawing/2014/main" id="{5C89B2AE-2D2E-4507-8E92-F853796E656B}"/>
              </a:ext>
            </a:extLst>
          </p:cNvPr>
          <p:cNvGraphicFramePr>
            <a:graphicFrameLocks noGrp="1"/>
          </p:cNvGraphicFramePr>
          <p:nvPr>
            <p:extLst>
              <p:ext uri="{D42A27DB-BD31-4B8C-83A1-F6EECF244321}">
                <p14:modId xmlns:p14="http://schemas.microsoft.com/office/powerpoint/2010/main" val="3097916555"/>
              </p:ext>
            </p:extLst>
          </p:nvPr>
        </p:nvGraphicFramePr>
        <p:xfrm>
          <a:off x="1049866" y="3538636"/>
          <a:ext cx="10151533" cy="1676400"/>
        </p:xfrm>
        <a:graphic>
          <a:graphicData uri="http://schemas.openxmlformats.org/drawingml/2006/table">
            <a:tbl>
              <a:tblPr firstRow="1" bandRow="1">
                <a:tableStyleId>{5C22544A-7EE6-4342-B048-85BDC9FD1C3A}</a:tableStyleId>
              </a:tblPr>
              <a:tblGrid>
                <a:gridCol w="1426922">
                  <a:extLst>
                    <a:ext uri="{9D8B030D-6E8A-4147-A177-3AD203B41FA5}">
                      <a16:colId xmlns:a16="http://schemas.microsoft.com/office/drawing/2014/main" val="2912834338"/>
                    </a:ext>
                  </a:extLst>
                </a:gridCol>
                <a:gridCol w="3365160">
                  <a:extLst>
                    <a:ext uri="{9D8B030D-6E8A-4147-A177-3AD203B41FA5}">
                      <a16:colId xmlns:a16="http://schemas.microsoft.com/office/drawing/2014/main" val="20001"/>
                    </a:ext>
                  </a:extLst>
                </a:gridCol>
                <a:gridCol w="1518802">
                  <a:extLst>
                    <a:ext uri="{9D8B030D-6E8A-4147-A177-3AD203B41FA5}">
                      <a16:colId xmlns:a16="http://schemas.microsoft.com/office/drawing/2014/main" val="20002"/>
                    </a:ext>
                  </a:extLst>
                </a:gridCol>
                <a:gridCol w="3840649">
                  <a:extLst>
                    <a:ext uri="{9D8B030D-6E8A-4147-A177-3AD203B41FA5}">
                      <a16:colId xmlns:a16="http://schemas.microsoft.com/office/drawing/2014/main" val="20003"/>
                    </a:ext>
                  </a:extLst>
                </a:gridCol>
              </a:tblGrid>
              <a:tr h="225108">
                <a:tc>
                  <a:txBody>
                    <a:bodyPr/>
                    <a:lstStyle/>
                    <a:p>
                      <a:pPr algn="ctr"/>
                      <a:r>
                        <a:rPr lang="en-GB" sz="2000" dirty="0">
                          <a:solidFill>
                            <a:schemeClr val="bg1"/>
                          </a:solidFill>
                        </a:rPr>
                        <a:t>Type</a:t>
                      </a:r>
                    </a:p>
                  </a:txBody>
                  <a:tcPr/>
                </a:tc>
                <a:tc>
                  <a:txBody>
                    <a:bodyPr/>
                    <a:lstStyle/>
                    <a:p>
                      <a:pPr algn="ctr"/>
                      <a:r>
                        <a:rPr lang="en-GB" sz="2000" dirty="0">
                          <a:solidFill>
                            <a:schemeClr val="bg1"/>
                          </a:solidFill>
                        </a:rPr>
                        <a:t>Operator</a:t>
                      </a:r>
                    </a:p>
                  </a:txBody>
                  <a:tcPr>
                    <a:lnR w="12700" cap="flat" cmpd="sng" algn="ctr">
                      <a:solidFill>
                        <a:schemeClr val="tx1"/>
                      </a:solidFill>
                      <a:prstDash val="solid"/>
                      <a:round/>
                      <a:headEnd type="none" w="med" len="med"/>
                      <a:tailEnd type="none" w="med" len="med"/>
                    </a:lnR>
                  </a:tcPr>
                </a:tc>
                <a:tc>
                  <a:txBody>
                    <a:bodyPr/>
                    <a:lstStyle/>
                    <a:p>
                      <a:pPr algn="ctr"/>
                      <a:r>
                        <a:rPr lang="en-GB" sz="2000" dirty="0">
                          <a:solidFill>
                            <a:schemeClr val="bg1"/>
                          </a:solidFill>
                        </a:rPr>
                        <a:t>Type</a:t>
                      </a:r>
                    </a:p>
                  </a:txBody>
                  <a:tcPr>
                    <a:lnL w="12700" cap="flat" cmpd="sng" algn="ctr">
                      <a:solidFill>
                        <a:schemeClr val="tx1"/>
                      </a:solidFill>
                      <a:prstDash val="solid"/>
                      <a:round/>
                      <a:headEnd type="none" w="med" len="med"/>
                      <a:tailEnd type="none" w="med" len="med"/>
                    </a:lnL>
                  </a:tcPr>
                </a:tc>
                <a:tc>
                  <a:txBody>
                    <a:bodyPr/>
                    <a:lstStyle/>
                    <a:p>
                      <a:pPr algn="ctr"/>
                      <a:r>
                        <a:rPr lang="en-GB" sz="2000" dirty="0">
                          <a:solidFill>
                            <a:schemeClr val="bg1"/>
                          </a:solidFill>
                        </a:rPr>
                        <a:t>Operator</a:t>
                      </a:r>
                    </a:p>
                  </a:txBody>
                  <a:tcPr/>
                </a:tc>
                <a:extLst>
                  <a:ext uri="{0D108BD9-81ED-4DB2-BD59-A6C34878D82A}">
                    <a16:rowId xmlns:a16="http://schemas.microsoft.com/office/drawing/2014/main" val="3288438744"/>
                  </a:ext>
                </a:extLst>
              </a:tr>
              <a:tr h="310463">
                <a:tc>
                  <a:txBody>
                    <a:bodyPr/>
                    <a:lstStyle/>
                    <a:p>
                      <a:r>
                        <a:rPr lang="en-GB" sz="2200" dirty="0"/>
                        <a:t>Arithmetic</a:t>
                      </a:r>
                    </a:p>
                  </a:txBody>
                  <a:tcPr/>
                </a:tc>
                <a:tc>
                  <a:txBody>
                    <a:bodyPr/>
                    <a:lstStyle/>
                    <a:p>
                      <a:r>
                        <a:rPr lang="en-GB" sz="2200" dirty="0">
                          <a:latin typeface="Consolas" panose="020B0609020204030204" pitchFamily="49" charset="0"/>
                        </a:rPr>
                        <a:t>+, -, *, /, %</a:t>
                      </a:r>
                    </a:p>
                  </a:txBody>
                  <a:tcPr>
                    <a:lnR w="12700" cap="flat" cmpd="sng" algn="ctr">
                      <a:solidFill>
                        <a:schemeClr val="tx1"/>
                      </a:solidFill>
                      <a:prstDash val="solid"/>
                      <a:round/>
                      <a:headEnd type="none" w="med" len="med"/>
                      <a:tailEnd type="none" w="med" len="med"/>
                    </a:lnR>
                  </a:tcPr>
                </a:tc>
                <a:tc>
                  <a:txBody>
                    <a:bodyPr/>
                    <a:lstStyle/>
                    <a:p>
                      <a:r>
                        <a:rPr lang="en-GB" sz="2200" dirty="0"/>
                        <a:t>Unary</a:t>
                      </a:r>
                    </a:p>
                  </a:txBody>
                  <a:tcPr>
                    <a:lnL w="12700" cap="flat" cmpd="sng" algn="ctr">
                      <a:solidFill>
                        <a:schemeClr val="tx1"/>
                      </a:solidFill>
                      <a:prstDash val="solid"/>
                      <a:round/>
                      <a:headEnd type="none" w="med" len="med"/>
                      <a:tailEnd type="none" w="med" len="med"/>
                    </a:lnL>
                  </a:tcPr>
                </a:tc>
                <a:tc>
                  <a:txBody>
                    <a:bodyPr/>
                    <a:lstStyle/>
                    <a:p>
                      <a:r>
                        <a:rPr lang="en-GB" sz="2200" dirty="0">
                          <a:latin typeface="Consolas" panose="020B0609020204030204" pitchFamily="49" charset="0"/>
                        </a:rPr>
                        <a:t>++, --</a:t>
                      </a:r>
                    </a:p>
                  </a:txBody>
                  <a:tcPr/>
                </a:tc>
                <a:extLst>
                  <a:ext uri="{0D108BD9-81ED-4DB2-BD59-A6C34878D82A}">
                    <a16:rowId xmlns:a16="http://schemas.microsoft.com/office/drawing/2014/main" val="1326244492"/>
                  </a:ext>
                </a:extLst>
              </a:tr>
              <a:tr h="310463">
                <a:tc>
                  <a:txBody>
                    <a:bodyPr/>
                    <a:lstStyle/>
                    <a:p>
                      <a:r>
                        <a:rPr lang="en-GB" sz="2200" dirty="0"/>
                        <a:t>Relational</a:t>
                      </a:r>
                    </a:p>
                  </a:txBody>
                  <a:tcPr/>
                </a:tc>
                <a:tc>
                  <a:txBody>
                    <a:bodyPr/>
                    <a:lstStyle/>
                    <a:p>
                      <a:r>
                        <a:rPr lang="en-GB" sz="2200" dirty="0">
                          <a:latin typeface="Consolas" panose="020B0609020204030204" pitchFamily="49" charset="0"/>
                        </a:rPr>
                        <a:t>&lt;, &lt;=, &gt;, =&gt;, ==, !=</a:t>
                      </a:r>
                    </a:p>
                  </a:txBody>
                  <a:tcPr>
                    <a:lnR w="12700" cap="flat" cmpd="sng" algn="ctr">
                      <a:solidFill>
                        <a:schemeClr val="tx1"/>
                      </a:solidFill>
                      <a:prstDash val="solid"/>
                      <a:round/>
                      <a:headEnd type="none" w="med" len="med"/>
                      <a:tailEnd type="none" w="med" len="med"/>
                    </a:lnR>
                  </a:tcPr>
                </a:tc>
                <a:tc>
                  <a:txBody>
                    <a:bodyPr/>
                    <a:lstStyle/>
                    <a:p>
                      <a:r>
                        <a:rPr lang="en-GB" sz="2200" dirty="0"/>
                        <a:t>Assignment</a:t>
                      </a:r>
                    </a:p>
                  </a:txBody>
                  <a:tcPr>
                    <a:lnL w="12700" cap="flat" cmpd="sng" algn="ctr">
                      <a:solidFill>
                        <a:schemeClr val="tx1"/>
                      </a:solidFill>
                      <a:prstDash val="solid"/>
                      <a:round/>
                      <a:headEnd type="none" w="med" len="med"/>
                      <a:tailEnd type="none" w="med" len="med"/>
                    </a:lnL>
                  </a:tcPr>
                </a:tc>
                <a:tc>
                  <a:txBody>
                    <a:bodyPr/>
                    <a:lstStyle/>
                    <a:p>
                      <a:r>
                        <a:rPr lang="en-GB" sz="2200" dirty="0">
                          <a:latin typeface="Consolas" panose="020B0609020204030204" pitchFamily="49" charset="0"/>
                        </a:rPr>
                        <a:t>=, +=, -=, *=, /=, %=</a:t>
                      </a:r>
                    </a:p>
                  </a:txBody>
                  <a:tcPr/>
                </a:tc>
                <a:extLst>
                  <a:ext uri="{0D108BD9-81ED-4DB2-BD59-A6C34878D82A}">
                    <a16:rowId xmlns:a16="http://schemas.microsoft.com/office/drawing/2014/main" val="138281775"/>
                  </a:ext>
                </a:extLst>
              </a:tr>
              <a:tr h="310463">
                <a:tc>
                  <a:txBody>
                    <a:bodyPr/>
                    <a:lstStyle/>
                    <a:p>
                      <a:r>
                        <a:rPr lang="en-GB" sz="2200" dirty="0"/>
                        <a:t>Logical</a:t>
                      </a:r>
                    </a:p>
                  </a:txBody>
                  <a:tcPr>
                    <a:solidFill>
                      <a:srgbClr val="00B0F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200" dirty="0">
                          <a:latin typeface="Consolas" panose="020B0609020204030204" pitchFamily="49" charset="0"/>
                        </a:rPr>
                        <a:t>&amp;&amp;, ||, !</a:t>
                      </a:r>
                      <a:endParaRPr lang="en-GB" sz="2200" dirty="0"/>
                    </a:p>
                  </a:txBody>
                  <a:tcPr>
                    <a:lnR w="12700" cap="flat" cmpd="sng" algn="ctr">
                      <a:solidFill>
                        <a:schemeClr val="tx1"/>
                      </a:solidFill>
                      <a:prstDash val="solid"/>
                      <a:round/>
                      <a:headEnd type="none" w="med" len="med"/>
                      <a:tailEnd type="none" w="med" len="med"/>
                    </a:lnR>
                  </a:tcPr>
                </a:tc>
                <a:tc>
                  <a:txBody>
                    <a:bodyPr/>
                    <a:lstStyle/>
                    <a:p>
                      <a:r>
                        <a:rPr lang="en-GB" sz="2200" dirty="0"/>
                        <a:t>Bitwise</a:t>
                      </a:r>
                    </a:p>
                  </a:txBody>
                  <a:tcPr>
                    <a:lnL w="12700" cap="flat" cmpd="sng" algn="ctr">
                      <a:solidFill>
                        <a:schemeClr val="tx1"/>
                      </a:solidFill>
                      <a:prstDash val="solid"/>
                      <a:round/>
                      <a:headEnd type="none" w="med" len="med"/>
                      <a:tailEnd type="none" w="med" len="med"/>
                    </a:lnL>
                    <a:solidFill>
                      <a:srgbClr val="00B0F0"/>
                    </a:solidFill>
                  </a:tcPr>
                </a:tc>
                <a:tc>
                  <a:txBody>
                    <a:bodyPr/>
                    <a:lstStyle/>
                    <a:p>
                      <a:r>
                        <a:rPr lang="en-GB" sz="2200" dirty="0">
                          <a:latin typeface="Consolas" panose="020B0609020204030204" pitchFamily="49" charset="0"/>
                        </a:rPr>
                        <a:t>&amp;, |, &gt;&gt;, &lt;&lt;, ~</a:t>
                      </a:r>
                    </a:p>
                  </a:txBody>
                  <a:tcPr/>
                </a:tc>
                <a:extLst>
                  <a:ext uri="{0D108BD9-81ED-4DB2-BD59-A6C34878D82A}">
                    <a16:rowId xmlns:a16="http://schemas.microsoft.com/office/drawing/2014/main" val="3857605872"/>
                  </a:ext>
                </a:extLst>
              </a:tr>
            </a:tbl>
          </a:graphicData>
        </a:graphic>
      </p:graphicFrame>
    </p:spTree>
    <p:extLst>
      <p:ext uri="{BB962C8B-B14F-4D97-AF65-F5344CB8AC3E}">
        <p14:creationId xmlns:p14="http://schemas.microsoft.com/office/powerpoint/2010/main" val="165253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Operators and precedence</a:t>
            </a:r>
          </a:p>
        </p:txBody>
      </p:sp>
      <p:sp>
        <p:nvSpPr>
          <p:cNvPr id="3" name="Content Placeholder 2"/>
          <p:cNvSpPr>
            <a:spLocks noGrp="1"/>
          </p:cNvSpPr>
          <p:nvPr>
            <p:ph idx="1"/>
          </p:nvPr>
        </p:nvSpPr>
        <p:spPr>
          <a:xfrm>
            <a:off x="838199" y="1513438"/>
            <a:ext cx="11075437" cy="4895850"/>
          </a:xfrm>
        </p:spPr>
        <p:txBody>
          <a:bodyPr>
            <a:normAutofit fontScale="25000" lnSpcReduction="20000"/>
          </a:bodyPr>
          <a:lstStyle/>
          <a:p>
            <a:pPr>
              <a:lnSpc>
                <a:spcPct val="170000"/>
              </a:lnSpc>
            </a:pPr>
            <a:r>
              <a:rPr lang="en-GB" sz="9600" dirty="0"/>
              <a:t>Example on Logical vs bitwise operators:</a:t>
            </a:r>
          </a:p>
          <a:p>
            <a:pPr marL="0" indent="0">
              <a:lnSpc>
                <a:spcPct val="170000"/>
              </a:lnSpc>
              <a:buNone/>
            </a:pPr>
            <a:endParaRPr lang="en-GB" sz="9600" dirty="0"/>
          </a:p>
          <a:p>
            <a:pPr marL="0" indent="0">
              <a:lnSpc>
                <a:spcPct val="170000"/>
              </a:lnSpc>
              <a:buNone/>
            </a:pPr>
            <a:endParaRPr lang="en-GB" sz="9600" dirty="0">
              <a:latin typeface="Calibri" panose="020F0502020204030204" pitchFamily="34" charset="0"/>
              <a:cs typeface="Calibri" panose="020F0502020204030204" pitchFamily="34" charset="0"/>
            </a:endParaRPr>
          </a:p>
          <a:p>
            <a:pPr>
              <a:lnSpc>
                <a:spcPct val="170000"/>
              </a:lnSpc>
            </a:pPr>
            <a:endParaRPr lang="en-GB" sz="9600" dirty="0">
              <a:latin typeface="Calibri" panose="020F0502020204030204" pitchFamily="34" charset="0"/>
              <a:cs typeface="Calibri" panose="020F0502020204030204" pitchFamily="34" charset="0"/>
            </a:endParaRPr>
          </a:p>
          <a:p>
            <a:pPr>
              <a:lnSpc>
                <a:spcPct val="170000"/>
              </a:lnSpc>
            </a:pPr>
            <a:r>
              <a:rPr lang="en-GB" sz="9600" dirty="0">
                <a:latin typeface="Calibri" panose="020F0502020204030204" pitchFamily="34" charset="0"/>
                <a:cs typeface="Calibri" panose="020F0502020204030204" pitchFamily="34" charset="0"/>
              </a:rPr>
              <a:t>Assignment operators are used to assign a value to a variable. </a:t>
            </a:r>
          </a:p>
          <a:p>
            <a:pPr>
              <a:lnSpc>
                <a:spcPct val="170000"/>
              </a:lnSpc>
            </a:pPr>
            <a:r>
              <a:rPr lang="en-GB" sz="9600" dirty="0">
                <a:latin typeface="Calibri" panose="020F0502020204030204" pitchFamily="34" charset="0"/>
                <a:cs typeface="Calibri" panose="020F0502020204030204" pitchFamily="34" charset="0"/>
              </a:rPr>
              <a:t>The operation “</a:t>
            </a:r>
            <a:r>
              <a:rPr lang="en-GB" sz="9600" dirty="0">
                <a:latin typeface="Consolas" panose="020B0609020204030204" pitchFamily="49" charset="0"/>
                <a:cs typeface="Calibri" panose="020F0502020204030204" pitchFamily="34" charset="0"/>
              </a:rPr>
              <a:t>a += 2</a:t>
            </a:r>
            <a:r>
              <a:rPr lang="en-GB" sz="9600" dirty="0">
                <a:latin typeface="Calibri" panose="020F0502020204030204" pitchFamily="34" charset="0"/>
                <a:cs typeface="Calibri" panose="020F0502020204030204" pitchFamily="34" charset="0"/>
              </a:rPr>
              <a:t>” is equivalent to “</a:t>
            </a:r>
            <a:r>
              <a:rPr lang="en-GB" sz="9600" dirty="0">
                <a:latin typeface="Consolas" panose="020B0609020204030204" pitchFamily="49" charset="0"/>
                <a:cs typeface="Calibri" panose="020F0502020204030204" pitchFamily="34" charset="0"/>
              </a:rPr>
              <a:t>a = a + 2</a:t>
            </a:r>
            <a:r>
              <a:rPr lang="en-GB" sz="9600" dirty="0">
                <a:latin typeface="Calibri" panose="020F0502020204030204" pitchFamily="34" charset="0"/>
                <a:cs typeface="Calibri" panose="020F0502020204030204" pitchFamily="34" charset="0"/>
              </a:rPr>
              <a:t>”. The same is true for other versions of this operator.  </a:t>
            </a:r>
          </a:p>
          <a:p>
            <a:pPr>
              <a:lnSpc>
                <a:spcPct val="120000"/>
              </a:lnSpc>
            </a:pPr>
            <a:endParaRPr lang="en-GB" sz="9600" dirty="0">
              <a:latin typeface="Calibri" panose="020F0502020204030204" pitchFamily="34" charset="0"/>
              <a:cs typeface="Calibri" panose="020F0502020204030204" pitchFamily="34" charset="0"/>
            </a:endParaRPr>
          </a:p>
          <a:p>
            <a:pPr>
              <a:lnSpc>
                <a:spcPct val="120000"/>
              </a:lnSpc>
            </a:pPr>
            <a:endParaRPr lang="en-GB" sz="9600" dirty="0">
              <a:latin typeface="Calibri" panose="020F0502020204030204" pitchFamily="34" charset="0"/>
              <a:cs typeface="Calibri" panose="020F0502020204030204" pitchFamily="34" charset="0"/>
            </a:endParaRPr>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3400" dirty="0"/>
          </a:p>
          <a:p>
            <a:pPr marL="0" indent="0">
              <a:lnSpc>
                <a:spcPct val="120000"/>
              </a:lnSpc>
              <a:buNone/>
            </a:pPr>
            <a:r>
              <a:rPr lang="en-GB" sz="3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15</a:t>
            </a:fld>
            <a:endParaRPr lang="en-GB"/>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6A427E7-D17A-42B1-AF02-BEB2CA44DEE3}"/>
              </a:ext>
            </a:extLst>
          </p:cNvPr>
          <p:cNvSpPr/>
          <p:nvPr/>
        </p:nvSpPr>
        <p:spPr>
          <a:xfrm>
            <a:off x="958757" y="2373299"/>
            <a:ext cx="10323375" cy="1579483"/>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963706" y="2392303"/>
            <a:ext cx="10454309" cy="1631216"/>
          </a:xfrm>
          <a:prstGeom prst="rect">
            <a:avLst/>
          </a:prstGeom>
        </p:spPr>
        <p:txBody>
          <a:bodyPr wrap="square">
            <a:spAutoFit/>
          </a:bodyPr>
          <a:lstStyle/>
          <a:p>
            <a:r>
              <a:rPr lang="en-US" sz="2000" b="1" dirty="0" err="1">
                <a:solidFill>
                  <a:srgbClr val="0000FF"/>
                </a:solidFill>
                <a:latin typeface="Courier New"/>
                <a:cs typeface="Courier New"/>
              </a:rPr>
              <a:t>int</a:t>
            </a:r>
            <a:r>
              <a:rPr lang="en-US" sz="2000" b="1" dirty="0">
                <a:latin typeface="Courier New"/>
                <a:cs typeface="Courier New"/>
              </a:rPr>
              <a:t> a = 2, b = 1; </a:t>
            </a:r>
            <a:r>
              <a:rPr lang="en-US" sz="2000" b="1" dirty="0">
                <a:solidFill>
                  <a:srgbClr val="008000"/>
                </a:solidFill>
                <a:latin typeface="Courier New"/>
                <a:cs typeface="Courier New"/>
              </a:rPr>
              <a:t>// Remember that 2 = 10 and 1 = 01 in binary</a:t>
            </a:r>
          </a:p>
          <a:p>
            <a:r>
              <a:rPr lang="en-US" sz="2000" b="1" dirty="0">
                <a:latin typeface="Courier New"/>
                <a:cs typeface="Courier New"/>
              </a:rPr>
              <a:t> </a:t>
            </a:r>
          </a:p>
          <a:p>
            <a:r>
              <a:rPr lang="en-US" sz="2000" b="1" dirty="0">
                <a:solidFill>
                  <a:srgbClr val="0000FF"/>
                </a:solidFill>
                <a:latin typeface="Courier New"/>
                <a:cs typeface="Courier New"/>
              </a:rPr>
              <a:t>bool</a:t>
            </a:r>
            <a:r>
              <a:rPr lang="en-US" sz="2000" b="1" dirty="0">
                <a:latin typeface="Courier New"/>
                <a:cs typeface="Courier New"/>
              </a:rPr>
              <a:t> c = a &amp;&amp; b; </a:t>
            </a:r>
            <a:r>
              <a:rPr lang="en-US" sz="2000" b="1" dirty="0">
                <a:solidFill>
                  <a:srgbClr val="008000"/>
                </a:solidFill>
                <a:latin typeface="Courier New"/>
                <a:cs typeface="Courier New"/>
              </a:rPr>
              <a:t>// c = true (because neither a or b is 0)</a:t>
            </a:r>
            <a:r>
              <a:rPr lang="en-US" sz="2000" b="1" dirty="0">
                <a:latin typeface="Courier New"/>
                <a:cs typeface="Courier New"/>
              </a:rPr>
              <a:t>  </a:t>
            </a:r>
          </a:p>
          <a:p>
            <a:endParaRPr lang="en-US" sz="2000" b="1" dirty="0">
              <a:latin typeface="Courier New"/>
              <a:cs typeface="Courier New"/>
            </a:endParaRPr>
          </a:p>
          <a:p>
            <a:r>
              <a:rPr lang="en-US" sz="2000" b="1" dirty="0">
                <a:solidFill>
                  <a:srgbClr val="0000FF"/>
                </a:solidFill>
                <a:latin typeface="Courier New"/>
                <a:cs typeface="Courier New"/>
              </a:rPr>
              <a:t>bool</a:t>
            </a:r>
            <a:r>
              <a:rPr lang="en-US" sz="2000" b="1" dirty="0">
                <a:latin typeface="Courier New"/>
                <a:cs typeface="Courier New"/>
              </a:rPr>
              <a:t> c = a &amp; b; </a:t>
            </a:r>
            <a:r>
              <a:rPr lang="en-US" sz="2000" b="1" dirty="0">
                <a:solidFill>
                  <a:srgbClr val="008000"/>
                </a:solidFill>
                <a:latin typeface="Courier New"/>
                <a:cs typeface="Courier New"/>
              </a:rPr>
              <a:t>// c = false (because 1&amp;0 = 0&amp;1 = 0)</a:t>
            </a:r>
            <a:r>
              <a:rPr lang="en-US" sz="2000" b="1" dirty="0">
                <a:latin typeface="Courier New"/>
                <a:cs typeface="Courier New"/>
              </a:rPr>
              <a:t>  </a:t>
            </a:r>
            <a:endParaRPr lang="en-GB" sz="2000" dirty="0"/>
          </a:p>
        </p:txBody>
      </p:sp>
    </p:spTree>
    <p:extLst>
      <p:ext uri="{BB962C8B-B14F-4D97-AF65-F5344CB8AC3E}">
        <p14:creationId xmlns:p14="http://schemas.microsoft.com/office/powerpoint/2010/main" val="1044744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Operators and precedence</a:t>
            </a:r>
          </a:p>
        </p:txBody>
      </p:sp>
      <p:sp>
        <p:nvSpPr>
          <p:cNvPr id="3" name="Content Placeholder 2"/>
          <p:cNvSpPr>
            <a:spLocks noGrp="1"/>
          </p:cNvSpPr>
          <p:nvPr>
            <p:ph idx="1"/>
          </p:nvPr>
        </p:nvSpPr>
        <p:spPr>
          <a:xfrm>
            <a:off x="838199" y="1503879"/>
            <a:ext cx="11075437" cy="4895850"/>
          </a:xfrm>
        </p:spPr>
        <p:txBody>
          <a:bodyPr>
            <a:normAutofit fontScale="25000" lnSpcReduction="20000"/>
          </a:bodyPr>
          <a:lstStyle/>
          <a:p>
            <a:pPr>
              <a:lnSpc>
                <a:spcPct val="170000"/>
              </a:lnSpc>
            </a:pPr>
            <a:r>
              <a:rPr lang="en-GB" sz="9600" dirty="0"/>
              <a:t>Unary operators are operators that operate on one operand, therefore the name.</a:t>
            </a:r>
          </a:p>
          <a:p>
            <a:pPr>
              <a:lnSpc>
                <a:spcPct val="170000"/>
              </a:lnSpc>
            </a:pPr>
            <a:r>
              <a:rPr lang="en-GB" sz="9600" dirty="0">
                <a:latin typeface="Calibri" panose="020F0502020204030204" pitchFamily="34" charset="0"/>
                <a:cs typeface="Calibri" panose="020F0502020204030204" pitchFamily="34" charset="0"/>
              </a:rPr>
              <a:t>The operation “</a:t>
            </a:r>
            <a:r>
              <a:rPr lang="en-GB" sz="9600" dirty="0">
                <a:latin typeface="Consolas" panose="020B0609020204030204" pitchFamily="49" charset="0"/>
                <a:cs typeface="Calibri" panose="020F0502020204030204" pitchFamily="34" charset="0"/>
              </a:rPr>
              <a:t>a++</a:t>
            </a:r>
            <a:r>
              <a:rPr lang="en-GB" sz="9600" dirty="0">
                <a:latin typeface="Calibri" panose="020F0502020204030204" pitchFamily="34" charset="0"/>
                <a:cs typeface="Calibri" panose="020F0502020204030204" pitchFamily="34" charset="0"/>
              </a:rPr>
              <a:t>” is equivalent to “</a:t>
            </a:r>
            <a:r>
              <a:rPr lang="en-GB" sz="9600" dirty="0">
                <a:latin typeface="Consolas" panose="020B0609020204030204" pitchFamily="49" charset="0"/>
                <a:cs typeface="Calibri" panose="020F0502020204030204" pitchFamily="34" charset="0"/>
              </a:rPr>
              <a:t>a = a + 1</a:t>
            </a:r>
            <a:r>
              <a:rPr lang="en-GB" sz="9600" dirty="0">
                <a:latin typeface="Calibri" panose="020F0502020204030204" pitchFamily="34" charset="0"/>
                <a:cs typeface="Calibri" panose="020F0502020204030204" pitchFamily="34" charset="0"/>
              </a:rPr>
              <a:t>”. The same is true for “</a:t>
            </a:r>
            <a:r>
              <a:rPr lang="en-GB" sz="9600" dirty="0">
                <a:latin typeface="Consolas" panose="020B0609020204030204" pitchFamily="49" charset="0"/>
                <a:cs typeface="Calibri" panose="020F0502020204030204" pitchFamily="34" charset="0"/>
              </a:rPr>
              <a:t>a--</a:t>
            </a:r>
            <a:r>
              <a:rPr lang="en-GB" sz="9600" dirty="0">
                <a:latin typeface="Calibri" panose="020F0502020204030204" pitchFamily="34" charset="0"/>
                <a:cs typeface="Calibri" panose="020F0502020204030204" pitchFamily="34" charset="0"/>
              </a:rPr>
              <a:t>”. </a:t>
            </a:r>
          </a:p>
          <a:p>
            <a:pPr>
              <a:lnSpc>
                <a:spcPct val="170000"/>
              </a:lnSpc>
            </a:pPr>
            <a:r>
              <a:rPr lang="en-GB" sz="9600" dirty="0">
                <a:latin typeface="Calibri" panose="020F0502020204030204" pitchFamily="34" charset="0"/>
                <a:cs typeface="Calibri" panose="020F0502020204030204" pitchFamily="34" charset="0"/>
              </a:rPr>
              <a:t>If the operator is used as a prefix “++</a:t>
            </a:r>
            <a:r>
              <a:rPr lang="en-GB" sz="9600" dirty="0">
                <a:latin typeface="Consolas" panose="020B0609020204030204" pitchFamily="49" charset="0"/>
                <a:cs typeface="Calibri" panose="020F0502020204030204" pitchFamily="34" charset="0"/>
              </a:rPr>
              <a:t>a</a:t>
            </a:r>
            <a:r>
              <a:rPr lang="en-GB" sz="9600" dirty="0">
                <a:latin typeface="Calibri" panose="020F0502020204030204" pitchFamily="34" charset="0"/>
                <a:cs typeface="Calibri" panose="020F0502020204030204" pitchFamily="34" charset="0"/>
              </a:rPr>
              <a:t>”, “a” will be incremented </a:t>
            </a:r>
            <a:r>
              <a:rPr lang="en-GB" sz="9600" u="sng" dirty="0">
                <a:latin typeface="Calibri" panose="020F0502020204030204" pitchFamily="34" charset="0"/>
                <a:cs typeface="Calibri" panose="020F0502020204030204" pitchFamily="34" charset="0"/>
              </a:rPr>
              <a:t>before</a:t>
            </a:r>
            <a:r>
              <a:rPr lang="en-GB" sz="9600" dirty="0">
                <a:latin typeface="Calibri" panose="020F0502020204030204" pitchFamily="34" charset="0"/>
                <a:cs typeface="Calibri" panose="020F0502020204030204" pitchFamily="34" charset="0"/>
              </a:rPr>
              <a:t> the operation. If it is used as a suffix “</a:t>
            </a:r>
            <a:r>
              <a:rPr lang="en-GB" sz="9600" dirty="0">
                <a:latin typeface="Consolas" panose="020B0609020204030204" pitchFamily="49" charset="0"/>
                <a:cs typeface="Calibri" panose="020F0502020204030204" pitchFamily="34" charset="0"/>
              </a:rPr>
              <a:t>a++</a:t>
            </a:r>
            <a:r>
              <a:rPr lang="en-GB" sz="9600" dirty="0">
                <a:latin typeface="Calibri" panose="020F0502020204030204" pitchFamily="34" charset="0"/>
                <a:cs typeface="Calibri" panose="020F0502020204030204" pitchFamily="34" charset="0"/>
              </a:rPr>
              <a:t>”, “</a:t>
            </a:r>
            <a:r>
              <a:rPr lang="en-GB" sz="9600" dirty="0">
                <a:latin typeface="Consolas" panose="020B0609020204030204" pitchFamily="49" charset="0"/>
                <a:cs typeface="Calibri" panose="020F0502020204030204" pitchFamily="34" charset="0"/>
              </a:rPr>
              <a:t>a</a:t>
            </a:r>
            <a:r>
              <a:rPr lang="en-GB" sz="9600" dirty="0">
                <a:latin typeface="Calibri" panose="020F0502020204030204" pitchFamily="34" charset="0"/>
                <a:cs typeface="Calibri" panose="020F0502020204030204" pitchFamily="34" charset="0"/>
              </a:rPr>
              <a:t>” will be incremented </a:t>
            </a:r>
            <a:r>
              <a:rPr lang="en-GB" sz="9600" u="sng" dirty="0">
                <a:latin typeface="Calibri" panose="020F0502020204030204" pitchFamily="34" charset="0"/>
                <a:cs typeface="Calibri" panose="020F0502020204030204" pitchFamily="34" charset="0"/>
              </a:rPr>
              <a:t>after</a:t>
            </a:r>
            <a:r>
              <a:rPr lang="en-GB" sz="9600" dirty="0">
                <a:latin typeface="Calibri" panose="020F0502020204030204" pitchFamily="34" charset="0"/>
                <a:cs typeface="Calibri" panose="020F0502020204030204" pitchFamily="34" charset="0"/>
              </a:rPr>
              <a:t> the operation.  </a:t>
            </a:r>
          </a:p>
          <a:p>
            <a:pPr>
              <a:lnSpc>
                <a:spcPct val="120000"/>
              </a:lnSpc>
            </a:pPr>
            <a:r>
              <a:rPr lang="en-GB" sz="9600" dirty="0">
                <a:latin typeface="Calibri" panose="020F0502020204030204" pitchFamily="34" charset="0"/>
                <a:cs typeface="Calibri" panose="020F0502020204030204" pitchFamily="34" charset="0"/>
              </a:rPr>
              <a:t>Example:</a:t>
            </a:r>
          </a:p>
          <a:p>
            <a:pPr>
              <a:lnSpc>
                <a:spcPct val="120000"/>
              </a:lnSpc>
            </a:pPr>
            <a:endParaRPr lang="en-GB" sz="9600" dirty="0">
              <a:latin typeface="Calibri" panose="020F0502020204030204" pitchFamily="34" charset="0"/>
              <a:cs typeface="Calibri" panose="020F0502020204030204" pitchFamily="34" charset="0"/>
            </a:endParaRPr>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3400" dirty="0"/>
          </a:p>
          <a:p>
            <a:pPr marL="0" indent="0">
              <a:lnSpc>
                <a:spcPct val="120000"/>
              </a:lnSpc>
              <a:buNone/>
            </a:pPr>
            <a:r>
              <a:rPr lang="en-GB" sz="3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16</a:t>
            </a:fld>
            <a:endParaRPr lang="en-GB"/>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6A427E7-D17A-42B1-AF02-BEB2CA44DEE3}"/>
              </a:ext>
            </a:extLst>
          </p:cNvPr>
          <p:cNvSpPr/>
          <p:nvPr/>
        </p:nvSpPr>
        <p:spPr>
          <a:xfrm>
            <a:off x="2379136" y="4229151"/>
            <a:ext cx="8920888" cy="21790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2379137" y="4235239"/>
            <a:ext cx="10454309" cy="2246769"/>
          </a:xfrm>
          <a:prstGeom prst="rect">
            <a:avLst/>
          </a:prstGeom>
        </p:spPr>
        <p:txBody>
          <a:bodyPr wrap="square">
            <a:spAutoFit/>
          </a:bodyPr>
          <a:lstStyle/>
          <a:p>
            <a:r>
              <a:rPr lang="pl-PL" sz="2000" b="1" dirty="0">
                <a:solidFill>
                  <a:srgbClr val="0000FF"/>
                </a:solidFill>
                <a:latin typeface="Courier New"/>
                <a:cs typeface="Courier New"/>
              </a:rPr>
              <a:t>int </a:t>
            </a:r>
            <a:r>
              <a:rPr lang="pl-PL" sz="2000" b="1" dirty="0">
                <a:latin typeface="Courier New"/>
                <a:cs typeface="Courier New"/>
              </a:rPr>
              <a:t>w{ 10 }, x{ 5 }, y{ 5 }, z{ 5 }, total{ 0 };</a:t>
            </a:r>
          </a:p>
          <a:p>
            <a:r>
              <a:rPr lang="en-GB" sz="2000" b="1" dirty="0">
                <a:solidFill>
                  <a:srgbClr val="0000FF"/>
                </a:solidFill>
                <a:latin typeface="Courier New"/>
                <a:cs typeface="Courier New"/>
              </a:rPr>
              <a:t>    </a:t>
            </a:r>
          </a:p>
          <a:p>
            <a:r>
              <a:rPr lang="en-GB" sz="2000" b="1" dirty="0">
                <a:solidFill>
                  <a:srgbClr val="0000FF"/>
                </a:solidFill>
                <a:latin typeface="Courier New"/>
                <a:cs typeface="Courier New"/>
              </a:rPr>
              <a:t>    </a:t>
            </a:r>
            <a:r>
              <a:rPr lang="pl-PL" sz="2000" b="1" dirty="0">
                <a:latin typeface="Courier New"/>
                <a:cs typeface="Courier New"/>
              </a:rPr>
              <a:t>x++; </a:t>
            </a:r>
            <a:r>
              <a:rPr lang="pl-PL" sz="2000" b="1" dirty="0">
                <a:solidFill>
                  <a:srgbClr val="008000"/>
                </a:solidFill>
                <a:latin typeface="Courier New"/>
                <a:cs typeface="Courier New"/>
              </a:rPr>
              <a:t>// increment x by one: x = x+1 = 6</a:t>
            </a:r>
          </a:p>
          <a:p>
            <a:r>
              <a:rPr lang="en-GB" sz="2000" b="1" dirty="0">
                <a:solidFill>
                  <a:srgbClr val="0000FF"/>
                </a:solidFill>
                <a:latin typeface="Courier New"/>
                <a:cs typeface="Courier New"/>
              </a:rPr>
              <a:t> </a:t>
            </a:r>
          </a:p>
          <a:p>
            <a:r>
              <a:rPr lang="en-GB" sz="2000" b="1" dirty="0">
                <a:solidFill>
                  <a:srgbClr val="0000FF"/>
                </a:solidFill>
                <a:latin typeface="Courier New"/>
                <a:cs typeface="Courier New"/>
              </a:rPr>
              <a:t>   </a:t>
            </a:r>
            <a:r>
              <a:rPr lang="pl-PL" sz="2000" b="1" dirty="0">
                <a:latin typeface="Courier New"/>
                <a:cs typeface="Courier New"/>
              </a:rPr>
              <a:t>total = ++y + w; </a:t>
            </a:r>
            <a:r>
              <a:rPr lang="pl-PL" sz="2000" b="1" dirty="0">
                <a:solidFill>
                  <a:srgbClr val="008000"/>
                </a:solidFill>
                <a:latin typeface="Courier New"/>
                <a:cs typeface="Courier New"/>
              </a:rPr>
              <a:t>// (y+1) + w = 16</a:t>
            </a:r>
          </a:p>
          <a:p>
            <a:endParaRPr lang="pl-PL" sz="2000" b="1" dirty="0">
              <a:solidFill>
                <a:srgbClr val="0000FF"/>
              </a:solidFill>
              <a:latin typeface="Courier New"/>
              <a:cs typeface="Courier New"/>
            </a:endParaRPr>
          </a:p>
          <a:p>
            <a:r>
              <a:rPr lang="en-GB" sz="2000" b="1" dirty="0">
                <a:solidFill>
                  <a:srgbClr val="0000FF"/>
                </a:solidFill>
                <a:latin typeface="Courier New"/>
                <a:cs typeface="Courier New"/>
              </a:rPr>
              <a:t>   </a:t>
            </a:r>
            <a:r>
              <a:rPr lang="pl-PL" sz="2000" b="1" dirty="0">
                <a:latin typeface="Courier New"/>
                <a:cs typeface="Courier New"/>
              </a:rPr>
              <a:t>total = z++ + w; </a:t>
            </a:r>
            <a:r>
              <a:rPr lang="pl-PL" sz="2000" b="1" dirty="0">
                <a:solidFill>
                  <a:srgbClr val="008000"/>
                </a:solidFill>
                <a:latin typeface="Courier New"/>
                <a:cs typeface="Courier New"/>
              </a:rPr>
              <a:t>// total = (z+w) = 15; z = (z+1) = 6</a:t>
            </a:r>
          </a:p>
        </p:txBody>
      </p:sp>
    </p:spTree>
    <p:extLst>
      <p:ext uri="{BB962C8B-B14F-4D97-AF65-F5344CB8AC3E}">
        <p14:creationId xmlns:p14="http://schemas.microsoft.com/office/powerpoint/2010/main" val="2152367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Operators and precedence</a:t>
            </a:r>
          </a:p>
        </p:txBody>
      </p:sp>
      <p:sp>
        <p:nvSpPr>
          <p:cNvPr id="3" name="Content Placeholder 2"/>
          <p:cNvSpPr>
            <a:spLocks noGrp="1"/>
          </p:cNvSpPr>
          <p:nvPr>
            <p:ph idx="1"/>
          </p:nvPr>
        </p:nvSpPr>
        <p:spPr>
          <a:xfrm>
            <a:off x="838199" y="1503879"/>
            <a:ext cx="11075437" cy="4895850"/>
          </a:xfrm>
        </p:spPr>
        <p:txBody>
          <a:bodyPr>
            <a:noAutofit/>
          </a:bodyPr>
          <a:lstStyle/>
          <a:p>
            <a:pPr>
              <a:lnSpc>
                <a:spcPct val="170000"/>
              </a:lnSpc>
            </a:pPr>
            <a:r>
              <a:rPr lang="en-GB" sz="2400" dirty="0"/>
              <a:t>Precedence is the order by which operators are performed in an expression containing multiple operators. Higher precedence operators are performed before lower precedence operators.</a:t>
            </a:r>
          </a:p>
          <a:p>
            <a:pPr>
              <a:lnSpc>
                <a:spcPct val="170000"/>
              </a:lnSpc>
            </a:pPr>
            <a:endParaRPr lang="en-GB" sz="2400" dirty="0"/>
          </a:p>
          <a:p>
            <a:pPr>
              <a:lnSpc>
                <a:spcPct val="170000"/>
              </a:lnSpc>
            </a:pPr>
            <a:endParaRPr lang="en-GB" sz="2400" dirty="0"/>
          </a:p>
          <a:p>
            <a:pPr>
              <a:lnSpc>
                <a:spcPct val="170000"/>
              </a:lnSpc>
            </a:pPr>
            <a:r>
              <a:rPr lang="en-GB" sz="2400" dirty="0"/>
              <a:t>Example:</a:t>
            </a:r>
          </a:p>
          <a:p>
            <a:pPr marL="0" indent="0">
              <a:lnSpc>
                <a:spcPct val="120000"/>
              </a:lnSpc>
              <a:buNone/>
            </a:pPr>
            <a:endParaRPr lang="en-GB" sz="2400" dirty="0">
              <a:latin typeface="Calibri" panose="020F0502020204030204" pitchFamily="34" charset="0"/>
              <a:cs typeface="Calibri" panose="020F0502020204030204" pitchFamily="34" charset="0"/>
            </a:endParaRPr>
          </a:p>
          <a:p>
            <a:pPr>
              <a:lnSpc>
                <a:spcPct val="120000"/>
              </a:lnSpc>
            </a:pPr>
            <a:endParaRPr lang="en-GB" sz="2400" dirty="0">
              <a:latin typeface="Calibri" panose="020F0502020204030204" pitchFamily="34" charset="0"/>
              <a:cs typeface="Calibri" panose="020F0502020204030204" pitchFamily="34" charset="0"/>
            </a:endParaRPr>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3400" dirty="0"/>
          </a:p>
          <a:p>
            <a:pPr marL="0" indent="0">
              <a:lnSpc>
                <a:spcPct val="120000"/>
              </a:lnSpc>
              <a:buNone/>
            </a:pPr>
            <a:r>
              <a:rPr lang="en-GB" sz="3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17</a:t>
            </a:fld>
            <a:endParaRPr lang="en-GB" dirty="0"/>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898AA5B-F640-4621-A955-6B998AC81A7C}"/>
              </a:ext>
            </a:extLst>
          </p:cNvPr>
          <p:cNvSpPr txBox="1"/>
          <p:nvPr/>
        </p:nvSpPr>
        <p:spPr>
          <a:xfrm>
            <a:off x="110643" y="3629710"/>
            <a:ext cx="1680057" cy="830997"/>
          </a:xfrm>
          <a:prstGeom prst="rect">
            <a:avLst/>
          </a:prstGeom>
          <a:noFill/>
        </p:spPr>
        <p:txBody>
          <a:bodyPr wrap="square" rtlCol="0">
            <a:spAutoFit/>
          </a:bodyPr>
          <a:lstStyle/>
          <a:p>
            <a:r>
              <a:rPr lang="en-GB" sz="2400" dirty="0"/>
              <a:t>Highest </a:t>
            </a:r>
          </a:p>
          <a:p>
            <a:r>
              <a:rPr lang="en-GB" sz="2400" dirty="0"/>
              <a:t>precedence </a:t>
            </a:r>
          </a:p>
        </p:txBody>
      </p:sp>
      <p:cxnSp>
        <p:nvCxnSpPr>
          <p:cNvPr id="10" name="Straight Connector 9">
            <a:extLst>
              <a:ext uri="{FF2B5EF4-FFF2-40B4-BE49-F238E27FC236}">
                <a16:creationId xmlns:a16="http://schemas.microsoft.com/office/drawing/2014/main" id="{FC127980-D6AF-4F31-8186-8C7BB8F701B1}"/>
              </a:ext>
            </a:extLst>
          </p:cNvPr>
          <p:cNvCxnSpPr>
            <a:cxnSpLocks/>
          </p:cNvCxnSpPr>
          <p:nvPr/>
        </p:nvCxnSpPr>
        <p:spPr>
          <a:xfrm flipH="1">
            <a:off x="1275322" y="3838575"/>
            <a:ext cx="9252480" cy="17672"/>
          </a:xfrm>
          <a:prstGeom prst="line">
            <a:avLst/>
          </a:prstGeom>
          <a:ln w="57150">
            <a:prstDash val="solid"/>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898AA5B-F640-4621-A955-6B998AC81A7C}"/>
              </a:ext>
            </a:extLst>
          </p:cNvPr>
          <p:cNvSpPr txBox="1"/>
          <p:nvPr/>
        </p:nvSpPr>
        <p:spPr>
          <a:xfrm>
            <a:off x="10527802" y="3608020"/>
            <a:ext cx="1651995" cy="830997"/>
          </a:xfrm>
          <a:prstGeom prst="rect">
            <a:avLst/>
          </a:prstGeom>
          <a:noFill/>
        </p:spPr>
        <p:txBody>
          <a:bodyPr wrap="square" rtlCol="0">
            <a:spAutoFit/>
          </a:bodyPr>
          <a:lstStyle/>
          <a:p>
            <a:r>
              <a:rPr lang="en-GB" sz="2400" dirty="0"/>
              <a:t>Lowest</a:t>
            </a:r>
          </a:p>
          <a:p>
            <a:r>
              <a:rPr lang="en-GB" sz="2400" dirty="0"/>
              <a:t>precedence </a:t>
            </a:r>
          </a:p>
        </p:txBody>
      </p:sp>
      <p:cxnSp>
        <p:nvCxnSpPr>
          <p:cNvPr id="15" name="Straight Connector 14">
            <a:extLst>
              <a:ext uri="{FF2B5EF4-FFF2-40B4-BE49-F238E27FC236}">
                <a16:creationId xmlns:a16="http://schemas.microsoft.com/office/drawing/2014/main" id="{FC127980-D6AF-4F31-8186-8C7BB8F701B1}"/>
              </a:ext>
            </a:extLst>
          </p:cNvPr>
          <p:cNvCxnSpPr>
            <a:cxnSpLocks/>
          </p:cNvCxnSpPr>
          <p:nvPr/>
        </p:nvCxnSpPr>
        <p:spPr>
          <a:xfrm flipH="1" flipV="1">
            <a:off x="4020593" y="3611756"/>
            <a:ext cx="11127" cy="453638"/>
          </a:xfrm>
          <a:prstGeom prst="line">
            <a:avLst/>
          </a:prstGeom>
          <a:ln w="57150">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898AA5B-F640-4621-A955-6B998AC81A7C}"/>
              </a:ext>
            </a:extLst>
          </p:cNvPr>
          <p:cNvSpPr txBox="1"/>
          <p:nvPr/>
        </p:nvSpPr>
        <p:spPr>
          <a:xfrm>
            <a:off x="3373768" y="4114401"/>
            <a:ext cx="1260957" cy="461665"/>
          </a:xfrm>
          <a:prstGeom prst="rect">
            <a:avLst/>
          </a:prstGeom>
          <a:noFill/>
        </p:spPr>
        <p:txBody>
          <a:bodyPr wrap="square" rtlCol="0">
            <a:spAutoFit/>
          </a:bodyPr>
          <a:lstStyle/>
          <a:p>
            <a:r>
              <a:rPr lang="en-GB" sz="2400" dirty="0"/>
              <a:t>Brackets</a:t>
            </a:r>
          </a:p>
        </p:txBody>
      </p:sp>
      <p:cxnSp>
        <p:nvCxnSpPr>
          <p:cNvPr id="19" name="Straight Connector 18">
            <a:extLst>
              <a:ext uri="{FF2B5EF4-FFF2-40B4-BE49-F238E27FC236}">
                <a16:creationId xmlns:a16="http://schemas.microsoft.com/office/drawing/2014/main" id="{FC127980-D6AF-4F31-8186-8C7BB8F701B1}"/>
              </a:ext>
            </a:extLst>
          </p:cNvPr>
          <p:cNvCxnSpPr>
            <a:cxnSpLocks/>
          </p:cNvCxnSpPr>
          <p:nvPr/>
        </p:nvCxnSpPr>
        <p:spPr>
          <a:xfrm flipH="1" flipV="1">
            <a:off x="5588000" y="3591570"/>
            <a:ext cx="11127" cy="453638"/>
          </a:xfrm>
          <a:prstGeom prst="line">
            <a:avLst/>
          </a:prstGeom>
          <a:ln w="57150">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898AA5B-F640-4621-A955-6B998AC81A7C}"/>
              </a:ext>
            </a:extLst>
          </p:cNvPr>
          <p:cNvSpPr txBox="1"/>
          <p:nvPr/>
        </p:nvSpPr>
        <p:spPr>
          <a:xfrm>
            <a:off x="4582566" y="4106952"/>
            <a:ext cx="2044701" cy="830997"/>
          </a:xfrm>
          <a:prstGeom prst="rect">
            <a:avLst/>
          </a:prstGeom>
          <a:noFill/>
        </p:spPr>
        <p:txBody>
          <a:bodyPr wrap="square" rtlCol="0">
            <a:spAutoFit/>
          </a:bodyPr>
          <a:lstStyle/>
          <a:p>
            <a:pPr algn="ctr"/>
            <a:r>
              <a:rPr lang="en-GB" sz="2400" dirty="0"/>
              <a:t>Multiplication and division</a:t>
            </a:r>
          </a:p>
        </p:txBody>
      </p:sp>
      <p:cxnSp>
        <p:nvCxnSpPr>
          <p:cNvPr id="21" name="Straight Connector 20">
            <a:extLst>
              <a:ext uri="{FF2B5EF4-FFF2-40B4-BE49-F238E27FC236}">
                <a16:creationId xmlns:a16="http://schemas.microsoft.com/office/drawing/2014/main" id="{FC127980-D6AF-4F31-8186-8C7BB8F701B1}"/>
              </a:ext>
            </a:extLst>
          </p:cNvPr>
          <p:cNvCxnSpPr>
            <a:cxnSpLocks/>
          </p:cNvCxnSpPr>
          <p:nvPr/>
        </p:nvCxnSpPr>
        <p:spPr>
          <a:xfrm flipH="1" flipV="1">
            <a:off x="7526312" y="3584883"/>
            <a:ext cx="11127" cy="453638"/>
          </a:xfrm>
          <a:prstGeom prst="line">
            <a:avLst/>
          </a:prstGeom>
          <a:ln w="57150">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898AA5B-F640-4621-A955-6B998AC81A7C}"/>
              </a:ext>
            </a:extLst>
          </p:cNvPr>
          <p:cNvSpPr txBox="1"/>
          <p:nvPr/>
        </p:nvSpPr>
        <p:spPr>
          <a:xfrm>
            <a:off x="6565899" y="4100265"/>
            <a:ext cx="2044701" cy="830997"/>
          </a:xfrm>
          <a:prstGeom prst="rect">
            <a:avLst/>
          </a:prstGeom>
          <a:noFill/>
        </p:spPr>
        <p:txBody>
          <a:bodyPr wrap="square" rtlCol="0">
            <a:spAutoFit/>
          </a:bodyPr>
          <a:lstStyle/>
          <a:p>
            <a:pPr algn="ctr"/>
            <a:r>
              <a:rPr lang="en-GB" sz="2400" dirty="0"/>
              <a:t>Addition and subtraction</a:t>
            </a:r>
          </a:p>
        </p:txBody>
      </p:sp>
      <p:cxnSp>
        <p:nvCxnSpPr>
          <p:cNvPr id="23" name="Straight Connector 22">
            <a:extLst>
              <a:ext uri="{FF2B5EF4-FFF2-40B4-BE49-F238E27FC236}">
                <a16:creationId xmlns:a16="http://schemas.microsoft.com/office/drawing/2014/main" id="{FC127980-D6AF-4F31-8186-8C7BB8F701B1}"/>
              </a:ext>
            </a:extLst>
          </p:cNvPr>
          <p:cNvCxnSpPr>
            <a:cxnSpLocks/>
          </p:cNvCxnSpPr>
          <p:nvPr/>
        </p:nvCxnSpPr>
        <p:spPr>
          <a:xfrm flipH="1" flipV="1">
            <a:off x="2334396" y="3608020"/>
            <a:ext cx="11127" cy="453638"/>
          </a:xfrm>
          <a:prstGeom prst="line">
            <a:avLst/>
          </a:prstGeom>
          <a:ln w="57150">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898AA5B-F640-4621-A955-6B998AC81A7C}"/>
              </a:ext>
            </a:extLst>
          </p:cNvPr>
          <p:cNvSpPr txBox="1"/>
          <p:nvPr/>
        </p:nvSpPr>
        <p:spPr>
          <a:xfrm>
            <a:off x="1637126" y="4005083"/>
            <a:ext cx="1469167" cy="1200329"/>
          </a:xfrm>
          <a:prstGeom prst="rect">
            <a:avLst/>
          </a:prstGeom>
          <a:noFill/>
        </p:spPr>
        <p:txBody>
          <a:bodyPr wrap="square" rtlCol="0">
            <a:spAutoFit/>
          </a:bodyPr>
          <a:lstStyle/>
          <a:p>
            <a:pPr algn="ctr"/>
            <a:r>
              <a:rPr lang="en-GB" sz="2400" dirty="0"/>
              <a:t>Prefix</a:t>
            </a:r>
          </a:p>
          <a:p>
            <a:pPr algn="ctr"/>
            <a:r>
              <a:rPr lang="en-GB" sz="2400" dirty="0"/>
              <a:t>Unary operators</a:t>
            </a:r>
          </a:p>
        </p:txBody>
      </p:sp>
      <p:cxnSp>
        <p:nvCxnSpPr>
          <p:cNvPr id="25" name="Straight Connector 24">
            <a:extLst>
              <a:ext uri="{FF2B5EF4-FFF2-40B4-BE49-F238E27FC236}">
                <a16:creationId xmlns:a16="http://schemas.microsoft.com/office/drawing/2014/main" id="{FC127980-D6AF-4F31-8186-8C7BB8F701B1}"/>
              </a:ext>
            </a:extLst>
          </p:cNvPr>
          <p:cNvCxnSpPr>
            <a:cxnSpLocks/>
          </p:cNvCxnSpPr>
          <p:nvPr/>
        </p:nvCxnSpPr>
        <p:spPr>
          <a:xfrm flipH="1" flipV="1">
            <a:off x="9564953" y="3557212"/>
            <a:ext cx="11127" cy="453638"/>
          </a:xfrm>
          <a:prstGeom prst="line">
            <a:avLst/>
          </a:prstGeom>
          <a:ln w="57150">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898AA5B-F640-4621-A955-6B998AC81A7C}"/>
              </a:ext>
            </a:extLst>
          </p:cNvPr>
          <p:cNvSpPr txBox="1"/>
          <p:nvPr/>
        </p:nvSpPr>
        <p:spPr>
          <a:xfrm>
            <a:off x="8860438" y="3975901"/>
            <a:ext cx="1469167" cy="1200329"/>
          </a:xfrm>
          <a:prstGeom prst="rect">
            <a:avLst/>
          </a:prstGeom>
          <a:noFill/>
        </p:spPr>
        <p:txBody>
          <a:bodyPr wrap="square" rtlCol="0">
            <a:spAutoFit/>
          </a:bodyPr>
          <a:lstStyle/>
          <a:p>
            <a:pPr algn="ctr"/>
            <a:r>
              <a:rPr lang="en-GB" sz="2400" dirty="0"/>
              <a:t>Suffix</a:t>
            </a:r>
          </a:p>
          <a:p>
            <a:pPr algn="ctr"/>
            <a:r>
              <a:rPr lang="en-GB" sz="2400" dirty="0"/>
              <a:t>Unary operators</a:t>
            </a:r>
          </a:p>
        </p:txBody>
      </p:sp>
      <p:sp>
        <p:nvSpPr>
          <p:cNvPr id="27" name="Rectangle 26">
            <a:extLst>
              <a:ext uri="{FF2B5EF4-FFF2-40B4-BE49-F238E27FC236}">
                <a16:creationId xmlns:a16="http://schemas.microsoft.com/office/drawing/2014/main" id="{F6A427E7-D17A-42B1-AF02-BEB2CA44DEE3}"/>
              </a:ext>
            </a:extLst>
          </p:cNvPr>
          <p:cNvSpPr/>
          <p:nvPr/>
        </p:nvSpPr>
        <p:spPr>
          <a:xfrm>
            <a:off x="2345523" y="5317541"/>
            <a:ext cx="9194544" cy="108887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p:cNvSpPr/>
          <p:nvPr/>
        </p:nvSpPr>
        <p:spPr>
          <a:xfrm>
            <a:off x="2345522" y="5308733"/>
            <a:ext cx="9465478" cy="1015663"/>
          </a:xfrm>
          <a:prstGeom prst="rect">
            <a:avLst/>
          </a:prstGeom>
        </p:spPr>
        <p:txBody>
          <a:bodyPr wrap="square">
            <a:spAutoFit/>
          </a:bodyPr>
          <a:lstStyle/>
          <a:p>
            <a:r>
              <a:rPr lang="en-US" sz="2000" b="1" dirty="0" err="1">
                <a:solidFill>
                  <a:srgbClr val="0000FF"/>
                </a:solidFill>
                <a:latin typeface="Consolas" panose="020B0609020204030204" pitchFamily="49" charset="0"/>
                <a:cs typeface="Courier New"/>
              </a:rPr>
              <a:t>int</a:t>
            </a:r>
            <a:r>
              <a:rPr lang="en-US" sz="2000" b="1" dirty="0">
                <a:latin typeface="Courier New"/>
                <a:cs typeface="Courier New"/>
              </a:rPr>
              <a:t> </a:t>
            </a:r>
            <a:r>
              <a:rPr lang="en-US" sz="2000" b="1" dirty="0">
                <a:latin typeface="Consolas" panose="020B0609020204030204" pitchFamily="49" charset="0"/>
                <a:cs typeface="Courier New"/>
              </a:rPr>
              <a:t>x = </a:t>
            </a:r>
            <a:r>
              <a:rPr lang="en-US" sz="2000" b="1" dirty="0">
                <a:latin typeface="Consolas" panose="020B0609020204030204" pitchFamily="49" charset="0"/>
              </a:rPr>
              <a:t>5 + 3 * 6 – 8 / 2 ; </a:t>
            </a:r>
            <a:r>
              <a:rPr lang="en-US" sz="2000" b="1" dirty="0">
                <a:solidFill>
                  <a:srgbClr val="008000"/>
                </a:solidFill>
                <a:latin typeface="Consolas" panose="020B0609020204030204" pitchFamily="49" charset="0"/>
              </a:rPr>
              <a:t>// x = 5 + 18 – 4 = 19</a:t>
            </a:r>
          </a:p>
          <a:p>
            <a:r>
              <a:rPr lang="en-US" sz="2000" b="1" dirty="0">
                <a:latin typeface="Courier New"/>
                <a:cs typeface="Courier New"/>
              </a:rPr>
              <a:t>   </a:t>
            </a:r>
          </a:p>
          <a:p>
            <a:r>
              <a:rPr lang="en-US" sz="2000" b="1" dirty="0">
                <a:solidFill>
                  <a:srgbClr val="0000FF"/>
                </a:solidFill>
                <a:latin typeface="Consolas" panose="020B0609020204030204" pitchFamily="49" charset="0"/>
                <a:cs typeface="Courier New"/>
              </a:rPr>
              <a:t>int</a:t>
            </a:r>
            <a:r>
              <a:rPr lang="en-US" sz="2000" b="1" dirty="0">
                <a:latin typeface="Consolas" panose="020B0609020204030204" pitchFamily="49" charset="0"/>
                <a:cs typeface="Courier New"/>
              </a:rPr>
              <a:t> x = ((5 + 3)*6 – 8) / 2 ; </a:t>
            </a:r>
            <a:r>
              <a:rPr lang="en-US" sz="2000" b="1" dirty="0">
                <a:solidFill>
                  <a:srgbClr val="008000"/>
                </a:solidFill>
                <a:latin typeface="Consolas" panose="020B0609020204030204" pitchFamily="49" charset="0"/>
                <a:cs typeface="Courier New"/>
              </a:rPr>
              <a:t>// x = ( 48 – 8) / 2 = 40 /2 = 20  </a:t>
            </a:r>
            <a:endParaRPr lang="en-GB" sz="2000" dirty="0">
              <a:solidFill>
                <a:srgbClr val="008000"/>
              </a:solidFill>
              <a:latin typeface="Consolas" panose="020B0609020204030204" pitchFamily="49" charset="0"/>
            </a:endParaRPr>
          </a:p>
        </p:txBody>
      </p:sp>
    </p:spTree>
    <p:extLst>
      <p:ext uri="{BB962C8B-B14F-4D97-AF65-F5344CB8AC3E}">
        <p14:creationId xmlns:p14="http://schemas.microsoft.com/office/powerpoint/2010/main" val="649144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Variable casting</a:t>
            </a:r>
          </a:p>
        </p:txBody>
      </p:sp>
      <p:sp>
        <p:nvSpPr>
          <p:cNvPr id="3" name="Content Placeholder 2"/>
          <p:cNvSpPr>
            <a:spLocks noGrp="1"/>
          </p:cNvSpPr>
          <p:nvPr>
            <p:ph idx="1"/>
          </p:nvPr>
        </p:nvSpPr>
        <p:spPr>
          <a:xfrm>
            <a:off x="838199" y="1503879"/>
            <a:ext cx="11283893" cy="4895850"/>
          </a:xfrm>
        </p:spPr>
        <p:txBody>
          <a:bodyPr>
            <a:noAutofit/>
          </a:bodyPr>
          <a:lstStyle/>
          <a:p>
            <a:pPr>
              <a:lnSpc>
                <a:spcPct val="170000"/>
              </a:lnSpc>
            </a:pPr>
            <a:r>
              <a:rPr lang="en-GB" sz="2400" dirty="0"/>
              <a:t>Variable casting is an operator that changes the data type of the variable it operates on.  </a:t>
            </a:r>
          </a:p>
          <a:p>
            <a:pPr>
              <a:lnSpc>
                <a:spcPct val="170000"/>
              </a:lnSpc>
            </a:pPr>
            <a:r>
              <a:rPr lang="en-GB" sz="2400" dirty="0"/>
              <a:t>Casting can be implicit, which is done automatically by the complier when an expression containing mixed data types is encountered. Or explicit, where the developer specifies the new data type of the variable. Implicit casting is also known as “promotion” </a:t>
            </a:r>
          </a:p>
          <a:p>
            <a:pPr>
              <a:lnSpc>
                <a:spcPct val="170000"/>
              </a:lnSpc>
            </a:pPr>
            <a:r>
              <a:rPr lang="en-GB" sz="2400" dirty="0"/>
              <a:t>Example:</a:t>
            </a:r>
          </a:p>
          <a:p>
            <a:pPr marL="0" indent="0">
              <a:lnSpc>
                <a:spcPct val="120000"/>
              </a:lnSpc>
              <a:buNone/>
            </a:pPr>
            <a:endParaRPr lang="en-GB" sz="2400" dirty="0">
              <a:latin typeface="Calibri" panose="020F0502020204030204" pitchFamily="34" charset="0"/>
              <a:cs typeface="Calibri" panose="020F0502020204030204" pitchFamily="34" charset="0"/>
            </a:endParaRPr>
          </a:p>
          <a:p>
            <a:pPr>
              <a:lnSpc>
                <a:spcPct val="120000"/>
              </a:lnSpc>
            </a:pPr>
            <a:endParaRPr lang="en-GB" sz="2400" dirty="0">
              <a:latin typeface="Calibri" panose="020F0502020204030204" pitchFamily="34" charset="0"/>
              <a:cs typeface="Calibri" panose="020F0502020204030204" pitchFamily="34" charset="0"/>
            </a:endParaRPr>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3400" dirty="0"/>
          </a:p>
          <a:p>
            <a:pPr marL="0" indent="0">
              <a:lnSpc>
                <a:spcPct val="120000"/>
              </a:lnSpc>
              <a:buNone/>
            </a:pPr>
            <a:r>
              <a:rPr lang="en-GB" sz="3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18</a:t>
            </a:fld>
            <a:endParaRPr lang="en-GB" dirty="0"/>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F6A427E7-D17A-42B1-AF02-BEB2CA44DEE3}"/>
              </a:ext>
            </a:extLst>
          </p:cNvPr>
          <p:cNvSpPr/>
          <p:nvPr/>
        </p:nvSpPr>
        <p:spPr>
          <a:xfrm>
            <a:off x="2395780" y="4531053"/>
            <a:ext cx="8703476" cy="15648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p:cNvSpPr/>
          <p:nvPr/>
        </p:nvSpPr>
        <p:spPr>
          <a:xfrm>
            <a:off x="2395779" y="4464637"/>
            <a:ext cx="7975343" cy="1631216"/>
          </a:xfrm>
          <a:prstGeom prst="rect">
            <a:avLst/>
          </a:prstGeom>
        </p:spPr>
        <p:txBody>
          <a:bodyPr wrap="square">
            <a:spAutoFit/>
          </a:bodyPr>
          <a:lstStyle/>
          <a:p>
            <a:r>
              <a:rPr lang="en-US" sz="2000" b="1" dirty="0" err="1">
                <a:solidFill>
                  <a:srgbClr val="0000FF"/>
                </a:solidFill>
                <a:latin typeface="Consolas" panose="020B0609020204030204" pitchFamily="49" charset="0"/>
                <a:cs typeface="Courier New"/>
              </a:rPr>
              <a:t>int</a:t>
            </a:r>
            <a:r>
              <a:rPr lang="en-US" sz="2000" b="1" dirty="0">
                <a:solidFill>
                  <a:srgbClr val="0000FF"/>
                </a:solidFill>
                <a:latin typeface="Consolas" panose="020B0609020204030204" pitchFamily="49" charset="0"/>
                <a:cs typeface="Courier New"/>
              </a:rPr>
              <a:t> </a:t>
            </a:r>
            <a:r>
              <a:rPr lang="en-US" sz="2000" b="1" dirty="0">
                <a:latin typeface="Consolas" panose="020B0609020204030204" pitchFamily="49" charset="0"/>
                <a:cs typeface="Courier New"/>
              </a:rPr>
              <a:t>x = </a:t>
            </a:r>
            <a:r>
              <a:rPr lang="en-US" sz="2000" b="1" dirty="0">
                <a:latin typeface="Consolas" panose="020B0609020204030204" pitchFamily="49" charset="0"/>
              </a:rPr>
              <a:t>4; </a:t>
            </a:r>
            <a:r>
              <a:rPr lang="en-US" sz="2000" b="1" dirty="0">
                <a:solidFill>
                  <a:srgbClr val="0000FF"/>
                </a:solidFill>
                <a:latin typeface="Consolas" panose="020B0609020204030204" pitchFamily="49" charset="0"/>
              </a:rPr>
              <a:t>double</a:t>
            </a:r>
            <a:r>
              <a:rPr lang="en-US" sz="2000" b="1" dirty="0">
                <a:latin typeface="Consolas" panose="020B0609020204030204" pitchFamily="49" charset="0"/>
              </a:rPr>
              <a:t> y =2.5; </a:t>
            </a:r>
            <a:endParaRPr lang="en-US" sz="2000" b="1" dirty="0">
              <a:solidFill>
                <a:srgbClr val="008000"/>
              </a:solidFill>
              <a:latin typeface="Consolas" panose="020B0609020204030204" pitchFamily="49" charset="0"/>
            </a:endParaRPr>
          </a:p>
          <a:p>
            <a:r>
              <a:rPr lang="en-US" sz="2000" b="1" dirty="0">
                <a:latin typeface="Courier New"/>
                <a:cs typeface="Courier New"/>
              </a:rPr>
              <a:t>   </a:t>
            </a:r>
          </a:p>
          <a:p>
            <a:r>
              <a:rPr lang="en-US" sz="2000" b="1" dirty="0" err="1">
                <a:solidFill>
                  <a:srgbClr val="0000FF"/>
                </a:solidFill>
                <a:latin typeface="Consolas" panose="020B0609020204030204" pitchFamily="49" charset="0"/>
                <a:cs typeface="Courier New"/>
              </a:rPr>
              <a:t>int</a:t>
            </a:r>
            <a:r>
              <a:rPr lang="en-US" sz="2000" b="1" dirty="0">
                <a:latin typeface="Consolas" panose="020B0609020204030204" pitchFamily="49" charset="0"/>
                <a:cs typeface="Courier New"/>
              </a:rPr>
              <a:t> z =x*y ; </a:t>
            </a:r>
            <a:r>
              <a:rPr lang="en-US" sz="2000" b="1" dirty="0">
                <a:solidFill>
                  <a:srgbClr val="008000"/>
                </a:solidFill>
                <a:latin typeface="Consolas" panose="020B0609020204030204" pitchFamily="49" charset="0"/>
                <a:cs typeface="Courier New"/>
              </a:rPr>
              <a:t>// the complier converts x to double</a:t>
            </a:r>
          </a:p>
          <a:p>
            <a:endParaRPr lang="en-US" sz="2000" b="1" dirty="0">
              <a:solidFill>
                <a:srgbClr val="008000"/>
              </a:solidFill>
              <a:latin typeface="Consolas" panose="020B0609020204030204" pitchFamily="49" charset="0"/>
              <a:cs typeface="Courier New"/>
            </a:endParaRPr>
          </a:p>
          <a:p>
            <a:r>
              <a:rPr lang="en-US" sz="2000" b="1" dirty="0" err="1">
                <a:solidFill>
                  <a:srgbClr val="0000FF"/>
                </a:solidFill>
                <a:latin typeface="Consolas" panose="020B0609020204030204" pitchFamily="49" charset="0"/>
                <a:cs typeface="Courier New"/>
              </a:rPr>
              <a:t>int</a:t>
            </a:r>
            <a:r>
              <a:rPr lang="en-US" sz="2000" b="1" dirty="0">
                <a:solidFill>
                  <a:srgbClr val="008000"/>
                </a:solidFill>
                <a:latin typeface="Consolas" panose="020B0609020204030204" pitchFamily="49" charset="0"/>
                <a:cs typeface="Courier New"/>
              </a:rPr>
              <a:t> </a:t>
            </a:r>
            <a:r>
              <a:rPr lang="en-US" sz="2000" b="1" dirty="0">
                <a:latin typeface="Consolas" panose="020B0609020204030204" pitchFamily="49" charset="0"/>
                <a:cs typeface="Courier New"/>
              </a:rPr>
              <a:t>z = x*</a:t>
            </a:r>
            <a:r>
              <a:rPr lang="en-US" sz="2000" b="1" dirty="0" err="1">
                <a:solidFill>
                  <a:srgbClr val="0000FF"/>
                </a:solidFill>
                <a:latin typeface="Consolas" panose="020B0609020204030204" pitchFamily="49" charset="0"/>
                <a:cs typeface="Courier New"/>
              </a:rPr>
              <a:t>int</a:t>
            </a:r>
            <a:r>
              <a:rPr lang="en-US" sz="2000" b="1" dirty="0">
                <a:latin typeface="Consolas" panose="020B0609020204030204" pitchFamily="49" charset="0"/>
                <a:cs typeface="Courier New"/>
              </a:rPr>
              <a:t>(y) ; </a:t>
            </a:r>
            <a:r>
              <a:rPr lang="en-US" sz="2000" b="1" dirty="0">
                <a:solidFill>
                  <a:srgbClr val="008000"/>
                </a:solidFill>
                <a:latin typeface="Consolas" panose="020B0609020204030204" pitchFamily="49" charset="0"/>
                <a:cs typeface="Courier New"/>
              </a:rPr>
              <a:t>// What is the answer?  </a:t>
            </a:r>
            <a:endParaRPr lang="en-GB" sz="2000" dirty="0">
              <a:solidFill>
                <a:srgbClr val="008000"/>
              </a:solidFill>
              <a:latin typeface="Consolas" panose="020B0609020204030204" pitchFamily="49" charset="0"/>
            </a:endParaRPr>
          </a:p>
        </p:txBody>
      </p:sp>
      <p:sp>
        <p:nvSpPr>
          <p:cNvPr id="8" name="TextBox 7">
            <a:extLst>
              <a:ext uri="{FF2B5EF4-FFF2-40B4-BE49-F238E27FC236}">
                <a16:creationId xmlns:a16="http://schemas.microsoft.com/office/drawing/2014/main" id="{899A3B7A-385A-4568-B084-177414E80691}"/>
              </a:ext>
            </a:extLst>
          </p:cNvPr>
          <p:cNvSpPr txBox="1"/>
          <p:nvPr/>
        </p:nvSpPr>
        <p:spPr>
          <a:xfrm>
            <a:off x="948199" y="6247636"/>
            <a:ext cx="9630318" cy="473839"/>
          </a:xfrm>
          <a:prstGeom prst="rect">
            <a:avLst/>
          </a:prstGeom>
          <a:noFill/>
          <a:ln>
            <a:solidFill>
              <a:schemeClr val="tx1"/>
            </a:solidFill>
          </a:ln>
        </p:spPr>
        <p:txBody>
          <a:bodyPr wrap="square" rtlCol="0">
            <a:spAutoFit/>
          </a:bodyPr>
          <a:lstStyle/>
          <a:p>
            <a:endParaRPr lang="en-GB" dirty="0"/>
          </a:p>
        </p:txBody>
      </p:sp>
      <p:sp>
        <p:nvSpPr>
          <p:cNvPr id="9" name="TextBox 8">
            <a:extLst>
              <a:ext uri="{FF2B5EF4-FFF2-40B4-BE49-F238E27FC236}">
                <a16:creationId xmlns:a16="http://schemas.microsoft.com/office/drawing/2014/main" id="{4CD09E05-F648-4148-A138-914086864C30}"/>
              </a:ext>
            </a:extLst>
          </p:cNvPr>
          <p:cNvSpPr txBox="1"/>
          <p:nvPr/>
        </p:nvSpPr>
        <p:spPr>
          <a:xfrm>
            <a:off x="948198" y="6244788"/>
            <a:ext cx="9319927" cy="461665"/>
          </a:xfrm>
          <a:prstGeom prst="rect">
            <a:avLst/>
          </a:prstGeom>
          <a:noFill/>
        </p:spPr>
        <p:txBody>
          <a:bodyPr wrap="square" rtlCol="0">
            <a:spAutoFit/>
          </a:bodyPr>
          <a:lstStyle/>
          <a:p>
            <a:r>
              <a:rPr lang="en-GB" sz="2400" dirty="0">
                <a:solidFill>
                  <a:srgbClr val="FF0000"/>
                </a:solidFill>
              </a:rPr>
              <a:t>Practical note: </a:t>
            </a:r>
            <a:r>
              <a:rPr lang="en-GB" sz="2400" dirty="0"/>
              <a:t>Avoid implicit casting whenever possible. </a:t>
            </a:r>
          </a:p>
        </p:txBody>
      </p:sp>
    </p:spTree>
    <p:extLst>
      <p:ext uri="{BB962C8B-B14F-4D97-AF65-F5344CB8AC3E}">
        <p14:creationId xmlns:p14="http://schemas.microsoft.com/office/powerpoint/2010/main" val="189499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Arrays</a:t>
            </a:r>
          </a:p>
        </p:txBody>
      </p:sp>
      <p:sp>
        <p:nvSpPr>
          <p:cNvPr id="3" name="Content Placeholder 2"/>
          <p:cNvSpPr>
            <a:spLocks noGrp="1"/>
          </p:cNvSpPr>
          <p:nvPr>
            <p:ph idx="1"/>
          </p:nvPr>
        </p:nvSpPr>
        <p:spPr>
          <a:xfrm>
            <a:off x="838199" y="1503879"/>
            <a:ext cx="11353801" cy="4895850"/>
          </a:xfrm>
        </p:spPr>
        <p:txBody>
          <a:bodyPr>
            <a:noAutofit/>
          </a:bodyPr>
          <a:lstStyle/>
          <a:p>
            <a:pPr>
              <a:lnSpc>
                <a:spcPct val="170000"/>
              </a:lnSpc>
            </a:pPr>
            <a:r>
              <a:rPr lang="en-GB" sz="2400" dirty="0"/>
              <a:t>An Array is a collection of elements of the same type stored in continuous memory locations that can be individually accessed using an index. </a:t>
            </a:r>
          </a:p>
          <a:p>
            <a:pPr>
              <a:lnSpc>
                <a:spcPct val="170000"/>
              </a:lnSpc>
            </a:pPr>
            <a:r>
              <a:rPr lang="en-GB" sz="2400" dirty="0"/>
              <a:t>Syntax: </a:t>
            </a:r>
          </a:p>
          <a:p>
            <a:pPr>
              <a:lnSpc>
                <a:spcPct val="170000"/>
              </a:lnSpc>
            </a:pPr>
            <a:r>
              <a:rPr lang="en-GB" sz="2400" dirty="0"/>
              <a:t>The array’s size must be </a:t>
            </a:r>
            <a:r>
              <a:rPr lang="en-GB" sz="2400" u="sng" dirty="0"/>
              <a:t>a constant </a:t>
            </a:r>
            <a:r>
              <a:rPr lang="en-GB" sz="2400" dirty="0"/>
              <a:t>and must be specified at the time of declaration.</a:t>
            </a:r>
          </a:p>
          <a:p>
            <a:pPr>
              <a:lnSpc>
                <a:spcPct val="170000"/>
              </a:lnSpc>
            </a:pPr>
            <a:endParaRPr lang="en-GB" sz="2400" dirty="0"/>
          </a:p>
          <a:p>
            <a:pPr>
              <a:lnSpc>
                <a:spcPct val="170000"/>
              </a:lnSpc>
            </a:pPr>
            <a:r>
              <a:rPr lang="en-GB" sz="2400" dirty="0"/>
              <a:t>The first element of the array has an index 0.</a:t>
            </a:r>
          </a:p>
          <a:p>
            <a:pPr>
              <a:lnSpc>
                <a:spcPct val="170000"/>
              </a:lnSpc>
            </a:pPr>
            <a:r>
              <a:rPr lang="en-GB" sz="2400" dirty="0"/>
              <a:t>The </a:t>
            </a:r>
            <a:r>
              <a:rPr lang="en-GB" sz="2400" i="1" dirty="0" err="1"/>
              <a:t>i</a:t>
            </a:r>
            <a:r>
              <a:rPr lang="en-GB" sz="2400" dirty="0" err="1"/>
              <a:t>th</a:t>
            </a:r>
            <a:r>
              <a:rPr lang="en-GB" sz="2400" dirty="0"/>
              <a:t> element of an array “</a:t>
            </a:r>
            <a:r>
              <a:rPr lang="en-GB" sz="2400" dirty="0">
                <a:latin typeface="Consolas" panose="020B0609020204030204" pitchFamily="49" charset="0"/>
              </a:rPr>
              <a:t>A</a:t>
            </a:r>
            <a:r>
              <a:rPr lang="en-GB" sz="2400" dirty="0"/>
              <a:t>” can be accessed using “</a:t>
            </a:r>
            <a:r>
              <a:rPr lang="en-GB" sz="2400" dirty="0">
                <a:latin typeface="Consolas" panose="020B0609020204030204" pitchFamily="49" charset="0"/>
              </a:rPr>
              <a:t>A[i-1]</a:t>
            </a:r>
            <a:r>
              <a:rPr lang="en-GB" sz="2400" dirty="0"/>
              <a:t>”.</a:t>
            </a:r>
          </a:p>
          <a:p>
            <a:pPr marL="0" indent="0">
              <a:lnSpc>
                <a:spcPct val="120000"/>
              </a:lnSpc>
              <a:buNone/>
            </a:pPr>
            <a:endParaRPr lang="en-GB" sz="2400" dirty="0">
              <a:latin typeface="Calibri" panose="020F0502020204030204" pitchFamily="34" charset="0"/>
              <a:cs typeface="Calibri" panose="020F0502020204030204" pitchFamily="34" charset="0"/>
            </a:endParaRPr>
          </a:p>
          <a:p>
            <a:pPr>
              <a:lnSpc>
                <a:spcPct val="120000"/>
              </a:lnSpc>
            </a:pPr>
            <a:endParaRPr lang="en-GB" sz="2400" dirty="0">
              <a:latin typeface="Calibri" panose="020F0502020204030204" pitchFamily="34" charset="0"/>
              <a:cs typeface="Calibri" panose="020F0502020204030204" pitchFamily="34" charset="0"/>
            </a:endParaRPr>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3400" dirty="0"/>
          </a:p>
          <a:p>
            <a:pPr marL="0" indent="0">
              <a:lnSpc>
                <a:spcPct val="120000"/>
              </a:lnSpc>
              <a:buNone/>
            </a:pPr>
            <a:r>
              <a:rPr lang="en-GB" sz="3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19</a:t>
            </a:fld>
            <a:endParaRPr lang="en-GB" dirty="0"/>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F6A427E7-D17A-42B1-AF02-BEB2CA44DEE3}"/>
              </a:ext>
            </a:extLst>
          </p:cNvPr>
          <p:cNvSpPr/>
          <p:nvPr/>
        </p:nvSpPr>
        <p:spPr>
          <a:xfrm>
            <a:off x="2099990" y="3108407"/>
            <a:ext cx="8703476" cy="37985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p:cNvSpPr/>
          <p:nvPr/>
        </p:nvSpPr>
        <p:spPr>
          <a:xfrm>
            <a:off x="2108328" y="3108407"/>
            <a:ext cx="7975343" cy="400110"/>
          </a:xfrm>
          <a:prstGeom prst="rect">
            <a:avLst/>
          </a:prstGeom>
        </p:spPr>
        <p:txBody>
          <a:bodyPr wrap="square">
            <a:spAutoFit/>
          </a:bodyPr>
          <a:lstStyle/>
          <a:p>
            <a:r>
              <a:rPr lang="en-US" sz="2000" b="1" dirty="0" err="1">
                <a:solidFill>
                  <a:srgbClr val="0000FF"/>
                </a:solidFill>
                <a:latin typeface="Consolas" panose="020B0609020204030204" pitchFamily="49" charset="0"/>
                <a:cs typeface="Courier New"/>
              </a:rPr>
              <a:t>DataType</a:t>
            </a:r>
            <a:r>
              <a:rPr lang="en-US" sz="2000" b="1" dirty="0">
                <a:solidFill>
                  <a:srgbClr val="0000FF"/>
                </a:solidFill>
                <a:latin typeface="Consolas" panose="020B0609020204030204" pitchFamily="49" charset="0"/>
                <a:cs typeface="Courier New"/>
              </a:rPr>
              <a:t> </a:t>
            </a:r>
            <a:r>
              <a:rPr lang="en-US" sz="2000" b="1" dirty="0" err="1">
                <a:latin typeface="Consolas" panose="020B0609020204030204" pitchFamily="49" charset="0"/>
                <a:cs typeface="Courier New"/>
              </a:rPr>
              <a:t>array_name</a:t>
            </a:r>
            <a:r>
              <a:rPr lang="en-US" sz="2000" b="1" dirty="0">
                <a:latin typeface="Consolas" panose="020B0609020204030204" pitchFamily="49" charset="0"/>
                <a:cs typeface="Courier New"/>
              </a:rPr>
              <a:t>[</a:t>
            </a:r>
            <a:r>
              <a:rPr lang="en-US" sz="2000" b="1" dirty="0" err="1">
                <a:latin typeface="Consolas" panose="020B0609020204030204" pitchFamily="49" charset="0"/>
                <a:cs typeface="Courier New"/>
              </a:rPr>
              <a:t>kSize</a:t>
            </a:r>
            <a:r>
              <a:rPr lang="en-US" sz="2000" b="1" dirty="0">
                <a:latin typeface="Consolas" panose="020B0609020204030204" pitchFamily="49" charset="0"/>
                <a:cs typeface="Courier New"/>
              </a:rPr>
              <a:t>];</a:t>
            </a:r>
            <a:r>
              <a:rPr lang="en-US" sz="2000" b="1" dirty="0">
                <a:latin typeface="Consolas" panose="020B0609020204030204" pitchFamily="49" charset="0"/>
              </a:rPr>
              <a:t> </a:t>
            </a:r>
            <a:r>
              <a:rPr lang="en-US" sz="2000" b="1" dirty="0">
                <a:solidFill>
                  <a:srgbClr val="008000"/>
                </a:solidFill>
                <a:latin typeface="Consolas" panose="020B0609020204030204" pitchFamily="49" charset="0"/>
                <a:cs typeface="Courier New"/>
              </a:rPr>
              <a:t>//  declaration of array</a:t>
            </a:r>
          </a:p>
        </p:txBody>
      </p:sp>
      <p:sp>
        <p:nvSpPr>
          <p:cNvPr id="8" name="Rectangle 7">
            <a:extLst>
              <a:ext uri="{FF2B5EF4-FFF2-40B4-BE49-F238E27FC236}">
                <a16:creationId xmlns:a16="http://schemas.microsoft.com/office/drawing/2014/main" id="{DA8ED6AF-E698-4B0F-BA7E-E10633AA22FC}"/>
              </a:ext>
            </a:extLst>
          </p:cNvPr>
          <p:cNvSpPr/>
          <p:nvPr/>
        </p:nvSpPr>
        <p:spPr>
          <a:xfrm>
            <a:off x="1094709" y="4331401"/>
            <a:ext cx="10138150" cy="101054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22E96D2F-5675-4365-83D1-671FDD822E5F}"/>
              </a:ext>
            </a:extLst>
          </p:cNvPr>
          <p:cNvSpPr/>
          <p:nvPr/>
        </p:nvSpPr>
        <p:spPr>
          <a:xfrm>
            <a:off x="1094708" y="4326285"/>
            <a:ext cx="9928426" cy="1015663"/>
          </a:xfrm>
          <a:prstGeom prst="rect">
            <a:avLst/>
          </a:prstGeom>
        </p:spPr>
        <p:txBody>
          <a:bodyPr wrap="square">
            <a:spAutoFit/>
          </a:bodyPr>
          <a:lstStyle/>
          <a:p>
            <a:r>
              <a:rPr lang="en-US" sz="2000" b="1" dirty="0">
                <a:solidFill>
                  <a:srgbClr val="0000FF"/>
                </a:solidFill>
                <a:latin typeface="Consolas" panose="020B0609020204030204" pitchFamily="49" charset="0"/>
                <a:cs typeface="Courier New"/>
              </a:rPr>
              <a:t>const int </a:t>
            </a:r>
            <a:r>
              <a:rPr lang="en-US" sz="2000" b="1" dirty="0" err="1">
                <a:latin typeface="Consolas" panose="020B0609020204030204" pitchFamily="49" charset="0"/>
                <a:cs typeface="Courier New"/>
              </a:rPr>
              <a:t>kSize</a:t>
            </a:r>
            <a:r>
              <a:rPr lang="en-US" sz="2000" b="1" dirty="0">
                <a:latin typeface="Consolas" panose="020B0609020204030204" pitchFamily="49" charset="0"/>
                <a:cs typeface="Courier New"/>
              </a:rPr>
              <a:t>=5;</a:t>
            </a:r>
            <a:r>
              <a:rPr lang="en-US" sz="2000" b="1" dirty="0">
                <a:latin typeface="Consolas" panose="020B0609020204030204" pitchFamily="49" charset="0"/>
              </a:rPr>
              <a:t> </a:t>
            </a:r>
            <a:r>
              <a:rPr lang="en-US" sz="2000" b="1" dirty="0">
                <a:solidFill>
                  <a:srgbClr val="008000"/>
                </a:solidFill>
                <a:latin typeface="Consolas" panose="020B0609020204030204" pitchFamily="49" charset="0"/>
                <a:cs typeface="Courier New"/>
              </a:rPr>
              <a:t>//  notice “const”, without it is a syntax error</a:t>
            </a:r>
          </a:p>
          <a:p>
            <a:endParaRPr lang="en-US" sz="2000" b="1" dirty="0">
              <a:solidFill>
                <a:srgbClr val="0000FF"/>
              </a:solidFill>
              <a:latin typeface="Consolas" panose="020B0609020204030204" pitchFamily="49" charset="0"/>
              <a:cs typeface="Courier New"/>
            </a:endParaRPr>
          </a:p>
          <a:p>
            <a:r>
              <a:rPr lang="en-US" sz="2000" b="1" dirty="0">
                <a:solidFill>
                  <a:srgbClr val="0000FF"/>
                </a:solidFill>
                <a:latin typeface="Consolas" panose="020B0609020204030204" pitchFamily="49" charset="0"/>
                <a:cs typeface="Courier New"/>
              </a:rPr>
              <a:t>double </a:t>
            </a:r>
            <a:r>
              <a:rPr lang="en-US" sz="2000" b="1" dirty="0">
                <a:latin typeface="Consolas" panose="020B0609020204030204" pitchFamily="49" charset="0"/>
                <a:cs typeface="Courier New"/>
              </a:rPr>
              <a:t>Array[</a:t>
            </a:r>
            <a:r>
              <a:rPr lang="en-US" sz="2000" b="1" dirty="0" err="1">
                <a:latin typeface="Consolas" panose="020B0609020204030204" pitchFamily="49" charset="0"/>
                <a:cs typeface="Courier New"/>
              </a:rPr>
              <a:t>kSize</a:t>
            </a:r>
            <a:r>
              <a:rPr lang="en-US" sz="2000" b="1" dirty="0">
                <a:latin typeface="Consolas" panose="020B0609020204030204" pitchFamily="49" charset="0"/>
                <a:cs typeface="Courier New"/>
              </a:rPr>
              <a:t>];</a:t>
            </a:r>
          </a:p>
        </p:txBody>
      </p:sp>
    </p:spTree>
    <p:extLst>
      <p:ext uri="{BB962C8B-B14F-4D97-AF65-F5344CB8AC3E}">
        <p14:creationId xmlns:p14="http://schemas.microsoft.com/office/powerpoint/2010/main" val="4261329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Arrays initialisation</a:t>
            </a:r>
          </a:p>
        </p:txBody>
      </p:sp>
      <p:sp>
        <p:nvSpPr>
          <p:cNvPr id="3" name="Content Placeholder 2"/>
          <p:cNvSpPr>
            <a:spLocks noGrp="1"/>
          </p:cNvSpPr>
          <p:nvPr>
            <p:ph idx="1"/>
          </p:nvPr>
        </p:nvSpPr>
        <p:spPr>
          <a:xfrm>
            <a:off x="838199" y="1503879"/>
            <a:ext cx="11075437" cy="4895850"/>
          </a:xfrm>
        </p:spPr>
        <p:txBody>
          <a:bodyPr>
            <a:noAutofit/>
          </a:bodyPr>
          <a:lstStyle/>
          <a:p>
            <a:pPr>
              <a:lnSpc>
                <a:spcPct val="170000"/>
              </a:lnSpc>
            </a:pPr>
            <a:r>
              <a:rPr lang="en-GB" sz="2400" dirty="0"/>
              <a:t>An Array can be initialised in many ways:</a:t>
            </a:r>
          </a:p>
          <a:p>
            <a:pPr>
              <a:lnSpc>
                <a:spcPct val="170000"/>
              </a:lnSpc>
            </a:pPr>
            <a:endParaRPr lang="en-GB" sz="2400" dirty="0"/>
          </a:p>
          <a:p>
            <a:pPr>
              <a:lnSpc>
                <a:spcPct val="170000"/>
              </a:lnSpc>
            </a:pPr>
            <a:endParaRPr lang="en-GB" sz="2400" dirty="0"/>
          </a:p>
          <a:p>
            <a:pPr>
              <a:lnSpc>
                <a:spcPct val="170000"/>
              </a:lnSpc>
            </a:pPr>
            <a:endParaRPr lang="en-GB" sz="2400" dirty="0"/>
          </a:p>
          <a:p>
            <a:pPr>
              <a:lnSpc>
                <a:spcPct val="170000"/>
              </a:lnSpc>
            </a:pPr>
            <a:r>
              <a:rPr lang="en-GB" sz="2400" dirty="0"/>
              <a:t>The naming of arrays follows the variable naming convention by Google coding style.</a:t>
            </a:r>
          </a:p>
          <a:p>
            <a:pPr>
              <a:lnSpc>
                <a:spcPct val="170000"/>
              </a:lnSpc>
            </a:pPr>
            <a:r>
              <a:rPr lang="en-GB" sz="2400" dirty="0"/>
              <a:t>The size of an array can be determined using the macro “_</a:t>
            </a:r>
            <a:r>
              <a:rPr lang="en-GB" sz="2400" dirty="0" err="1">
                <a:latin typeface="Consolas" panose="020B0609020204030204" pitchFamily="49" charset="0"/>
              </a:rPr>
              <a:t>countof</a:t>
            </a:r>
            <a:r>
              <a:rPr lang="en-GB" sz="2400" dirty="0"/>
              <a:t>()”, which returns the number of elements in the array in “</a:t>
            </a:r>
            <a:r>
              <a:rPr lang="en-GB" sz="2400" dirty="0" err="1">
                <a:latin typeface="Consolas" panose="020B0609020204030204" pitchFamily="49" charset="0"/>
              </a:rPr>
              <a:t>size_t</a:t>
            </a:r>
            <a:r>
              <a:rPr lang="en-GB" sz="2400" dirty="0"/>
              <a:t>” format (can be casted to integer). </a:t>
            </a:r>
          </a:p>
          <a:p>
            <a:pPr marL="0" indent="0">
              <a:lnSpc>
                <a:spcPct val="120000"/>
              </a:lnSpc>
              <a:buNone/>
            </a:pPr>
            <a:endParaRPr lang="en-GB" sz="2400" dirty="0">
              <a:latin typeface="Calibri" panose="020F0502020204030204" pitchFamily="34" charset="0"/>
              <a:cs typeface="Calibri" panose="020F0502020204030204" pitchFamily="34" charset="0"/>
            </a:endParaRPr>
          </a:p>
          <a:p>
            <a:pPr>
              <a:lnSpc>
                <a:spcPct val="120000"/>
              </a:lnSpc>
            </a:pPr>
            <a:endParaRPr lang="en-GB" sz="2400" dirty="0">
              <a:latin typeface="Calibri" panose="020F0502020204030204" pitchFamily="34" charset="0"/>
              <a:cs typeface="Calibri" panose="020F0502020204030204" pitchFamily="34" charset="0"/>
            </a:endParaRPr>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3400" dirty="0"/>
          </a:p>
          <a:p>
            <a:pPr marL="0" indent="0">
              <a:lnSpc>
                <a:spcPct val="120000"/>
              </a:lnSpc>
              <a:buNone/>
            </a:pPr>
            <a:r>
              <a:rPr lang="en-GB" sz="3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20</a:t>
            </a:fld>
            <a:endParaRPr lang="en-GB" dirty="0"/>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F6A427E7-D17A-42B1-AF02-BEB2CA44DEE3}"/>
              </a:ext>
            </a:extLst>
          </p:cNvPr>
          <p:cNvSpPr/>
          <p:nvPr/>
        </p:nvSpPr>
        <p:spPr>
          <a:xfrm>
            <a:off x="1006404" y="2174294"/>
            <a:ext cx="9838010" cy="234690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p:cNvSpPr/>
          <p:nvPr/>
        </p:nvSpPr>
        <p:spPr>
          <a:xfrm>
            <a:off x="1018411" y="2174294"/>
            <a:ext cx="9813995" cy="2862322"/>
          </a:xfrm>
          <a:prstGeom prst="rect">
            <a:avLst/>
          </a:prstGeom>
        </p:spPr>
        <p:txBody>
          <a:bodyPr wrap="square">
            <a:spAutoFit/>
          </a:bodyPr>
          <a:lstStyle/>
          <a:p>
            <a:r>
              <a:rPr lang="en-US" sz="2000" b="1" dirty="0" err="1">
                <a:solidFill>
                  <a:srgbClr val="0000FF"/>
                </a:solidFill>
                <a:latin typeface="Consolas" panose="020B0609020204030204" pitchFamily="49" charset="0"/>
                <a:cs typeface="Courier New"/>
              </a:rPr>
              <a:t>int</a:t>
            </a:r>
            <a:r>
              <a:rPr lang="en-US" sz="2000" b="1" dirty="0">
                <a:solidFill>
                  <a:srgbClr val="0000FF"/>
                </a:solidFill>
                <a:latin typeface="Consolas" panose="020B0609020204030204" pitchFamily="49" charset="0"/>
                <a:cs typeface="Courier New"/>
              </a:rPr>
              <a:t> </a:t>
            </a:r>
            <a:r>
              <a:rPr lang="en-US" sz="2000" b="1" dirty="0">
                <a:latin typeface="Consolas" panose="020B0609020204030204" pitchFamily="49" charset="0"/>
                <a:cs typeface="Courier New"/>
              </a:rPr>
              <a:t>salaries[5]{32,45,28,55,65};</a:t>
            </a:r>
            <a:r>
              <a:rPr lang="en-US" sz="2000" b="1" dirty="0">
                <a:latin typeface="Consolas" panose="020B0609020204030204" pitchFamily="49" charset="0"/>
              </a:rPr>
              <a:t> </a:t>
            </a:r>
          </a:p>
          <a:p>
            <a:endParaRPr lang="en-US" sz="2000" b="1" dirty="0">
              <a:solidFill>
                <a:srgbClr val="0000FF"/>
              </a:solidFill>
              <a:latin typeface="Consolas" panose="020B0609020204030204" pitchFamily="49" charset="0"/>
              <a:cs typeface="Courier New"/>
            </a:endParaRPr>
          </a:p>
          <a:p>
            <a:r>
              <a:rPr lang="en-US" sz="2000" b="1" dirty="0">
                <a:solidFill>
                  <a:srgbClr val="0000FF"/>
                </a:solidFill>
                <a:latin typeface="Consolas" panose="020B0609020204030204" pitchFamily="49" charset="0"/>
                <a:cs typeface="Courier New"/>
              </a:rPr>
              <a:t>double </a:t>
            </a:r>
            <a:r>
              <a:rPr lang="en-US" sz="2000" b="1" dirty="0" err="1">
                <a:latin typeface="Consolas" panose="020B0609020204030204" pitchFamily="49" charset="0"/>
                <a:cs typeface="Courier New"/>
              </a:rPr>
              <a:t>box_dimensions</a:t>
            </a:r>
            <a:r>
              <a:rPr lang="en-US" sz="2000" b="1" dirty="0">
                <a:latin typeface="Consolas" panose="020B0609020204030204" pitchFamily="49" charset="0"/>
                <a:cs typeface="Courier New"/>
              </a:rPr>
              <a:t>[]={3.2,4,5.6}; </a:t>
            </a:r>
            <a:r>
              <a:rPr lang="en-US" sz="2000" b="1" dirty="0">
                <a:solidFill>
                  <a:srgbClr val="008000"/>
                </a:solidFill>
                <a:latin typeface="Consolas" panose="020B0609020204030204" pitchFamily="49" charset="0"/>
                <a:cs typeface="Courier New"/>
              </a:rPr>
              <a:t>// The size in this case is 3</a:t>
            </a:r>
          </a:p>
          <a:p>
            <a:endParaRPr lang="en-US" sz="2000" b="1" dirty="0">
              <a:latin typeface="Consolas" panose="020B0609020204030204" pitchFamily="49" charset="0"/>
            </a:endParaRPr>
          </a:p>
          <a:p>
            <a:r>
              <a:rPr lang="en-US" sz="2000" b="1" dirty="0" err="1">
                <a:solidFill>
                  <a:srgbClr val="0000FF"/>
                </a:solidFill>
                <a:latin typeface="Consolas" panose="020B0609020204030204" pitchFamily="49" charset="0"/>
              </a:rPr>
              <a:t>int</a:t>
            </a:r>
            <a:r>
              <a:rPr lang="en-US" sz="2000" b="1" dirty="0">
                <a:latin typeface="Consolas" panose="020B0609020204030204" pitchFamily="49" charset="0"/>
              </a:rPr>
              <a:t> </a:t>
            </a:r>
            <a:r>
              <a:rPr lang="en-US" sz="2000" b="1" dirty="0" err="1">
                <a:latin typeface="Consolas" panose="020B0609020204030204" pitchFamily="49" charset="0"/>
              </a:rPr>
              <a:t>student_id</a:t>
            </a:r>
            <a:r>
              <a:rPr lang="en-US" sz="2000" b="1" dirty="0">
                <a:latin typeface="Consolas" panose="020B0609020204030204" pitchFamily="49" charset="0"/>
              </a:rPr>
              <a:t>[20]{20011011} ; </a:t>
            </a:r>
            <a:r>
              <a:rPr lang="en-US" sz="2000" b="1" dirty="0">
                <a:solidFill>
                  <a:srgbClr val="008000"/>
                </a:solidFill>
                <a:latin typeface="Consolas" panose="020B0609020204030204" pitchFamily="49" charset="0"/>
              </a:rPr>
              <a:t>// The rest 19 elements are 0</a:t>
            </a:r>
          </a:p>
          <a:p>
            <a:endParaRPr lang="en-US" sz="2000" b="1" dirty="0">
              <a:solidFill>
                <a:srgbClr val="008000"/>
              </a:solidFill>
              <a:latin typeface="Consolas" panose="020B0609020204030204" pitchFamily="49" charset="0"/>
            </a:endParaRPr>
          </a:p>
          <a:p>
            <a:r>
              <a:rPr lang="en-US" sz="2000" b="1" dirty="0" err="1">
                <a:solidFill>
                  <a:srgbClr val="0000FF"/>
                </a:solidFill>
                <a:latin typeface="Consolas" panose="020B0609020204030204" pitchFamily="49" charset="0"/>
              </a:rPr>
              <a:t>int</a:t>
            </a:r>
            <a:r>
              <a:rPr lang="en-US" sz="2000" b="1" dirty="0">
                <a:latin typeface="Consolas" panose="020B0609020204030204" pitchFamily="49" charset="0"/>
              </a:rPr>
              <a:t> </a:t>
            </a:r>
            <a:r>
              <a:rPr lang="en-US" sz="2000" b="1" dirty="0" err="1">
                <a:latin typeface="Consolas" panose="020B0609020204030204" pitchFamily="49" charset="0"/>
              </a:rPr>
              <a:t>carplates</a:t>
            </a:r>
            <a:r>
              <a:rPr lang="en-US" sz="2000" b="1" dirty="0">
                <a:latin typeface="Consolas" panose="020B0609020204030204" pitchFamily="49" charset="0"/>
              </a:rPr>
              <a:t>[100]={} ; </a:t>
            </a:r>
            <a:r>
              <a:rPr lang="en-US" sz="2000" b="1" dirty="0">
                <a:solidFill>
                  <a:srgbClr val="008000"/>
                </a:solidFill>
                <a:latin typeface="Consolas" panose="020B0609020204030204" pitchFamily="49" charset="0"/>
              </a:rPr>
              <a:t>//All elements are </a:t>
            </a:r>
            <a:r>
              <a:rPr lang="en-US" sz="2000" b="1" dirty="0" err="1">
                <a:solidFill>
                  <a:srgbClr val="008000"/>
                </a:solidFill>
                <a:latin typeface="Consolas" panose="020B0609020204030204" pitchFamily="49" charset="0"/>
              </a:rPr>
              <a:t>initialised</a:t>
            </a:r>
            <a:r>
              <a:rPr lang="en-US" sz="2000" b="1" dirty="0">
                <a:solidFill>
                  <a:srgbClr val="008000"/>
                </a:solidFill>
                <a:latin typeface="Consolas" panose="020B0609020204030204" pitchFamily="49" charset="0"/>
              </a:rPr>
              <a:t> to 0</a:t>
            </a:r>
          </a:p>
          <a:p>
            <a:r>
              <a:rPr lang="en-US" sz="2000" b="1" dirty="0">
                <a:latin typeface="Courier New"/>
                <a:cs typeface="Courier New"/>
              </a:rPr>
              <a:t>   </a:t>
            </a:r>
          </a:p>
          <a:p>
            <a:endParaRPr lang="en-US" sz="2000" b="1" dirty="0">
              <a:solidFill>
                <a:srgbClr val="008000"/>
              </a:solidFill>
              <a:latin typeface="Consolas" panose="020B0609020204030204" pitchFamily="49" charset="0"/>
              <a:cs typeface="Courier New"/>
            </a:endParaRPr>
          </a:p>
        </p:txBody>
      </p:sp>
    </p:spTree>
    <p:extLst>
      <p:ext uri="{BB962C8B-B14F-4D97-AF65-F5344CB8AC3E}">
        <p14:creationId xmlns:p14="http://schemas.microsoft.com/office/powerpoint/2010/main" val="3516902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Multi-dimensional arrays </a:t>
            </a:r>
          </a:p>
        </p:txBody>
      </p:sp>
      <p:sp>
        <p:nvSpPr>
          <p:cNvPr id="3" name="Content Placeholder 2"/>
          <p:cNvSpPr>
            <a:spLocks noGrp="1"/>
          </p:cNvSpPr>
          <p:nvPr>
            <p:ph idx="1"/>
          </p:nvPr>
        </p:nvSpPr>
        <p:spPr>
          <a:xfrm>
            <a:off x="838199" y="1503879"/>
            <a:ext cx="11075437" cy="4895850"/>
          </a:xfrm>
        </p:spPr>
        <p:txBody>
          <a:bodyPr>
            <a:noAutofit/>
          </a:bodyPr>
          <a:lstStyle/>
          <a:p>
            <a:pPr>
              <a:lnSpc>
                <a:spcPct val="100000"/>
              </a:lnSpc>
            </a:pPr>
            <a:r>
              <a:rPr lang="en-GB" sz="2400" dirty="0"/>
              <a:t>All the arrays we looked at up to this point are 1D arrays.</a:t>
            </a:r>
          </a:p>
          <a:p>
            <a:pPr>
              <a:lnSpc>
                <a:spcPct val="100000"/>
              </a:lnSpc>
            </a:pPr>
            <a:r>
              <a:rPr lang="en-GB" sz="2400" dirty="0"/>
              <a:t>Multi-dimensional arrays (matrices) can be defined similar to 1D-arrays.</a:t>
            </a:r>
          </a:p>
          <a:p>
            <a:pPr>
              <a:lnSpc>
                <a:spcPct val="100000"/>
              </a:lnSpc>
            </a:pPr>
            <a:r>
              <a:rPr lang="en-GB" sz="2400" dirty="0"/>
              <a:t>They can be initialised as follows:</a:t>
            </a:r>
          </a:p>
          <a:p>
            <a:pPr>
              <a:lnSpc>
                <a:spcPct val="100000"/>
              </a:lnSpc>
            </a:pPr>
            <a:endParaRPr lang="en-GB" sz="2400" dirty="0"/>
          </a:p>
          <a:p>
            <a:pPr>
              <a:lnSpc>
                <a:spcPct val="100000"/>
              </a:lnSpc>
            </a:pPr>
            <a:endParaRPr lang="en-GB" sz="2400" dirty="0"/>
          </a:p>
          <a:p>
            <a:pPr>
              <a:lnSpc>
                <a:spcPct val="100000"/>
              </a:lnSpc>
            </a:pPr>
            <a:endParaRPr lang="en-GB" sz="2400" dirty="0"/>
          </a:p>
          <a:p>
            <a:pPr>
              <a:lnSpc>
                <a:spcPct val="100000"/>
              </a:lnSpc>
            </a:pPr>
            <a:r>
              <a:rPr lang="en-GB" sz="2400" dirty="0"/>
              <a:t>Elements which were not initialised are set to zero.</a:t>
            </a:r>
          </a:p>
          <a:p>
            <a:pPr>
              <a:lnSpc>
                <a:spcPct val="100000"/>
              </a:lnSpc>
            </a:pPr>
            <a:r>
              <a:rPr lang="en-GB" sz="2400" dirty="0">
                <a:latin typeface="Calibri" panose="020F0502020204030204" pitchFamily="34" charset="0"/>
                <a:cs typeface="Calibri" panose="020F0502020204030204" pitchFamily="34" charset="0"/>
              </a:rPr>
              <a:t>Go to </a:t>
            </a:r>
            <a:r>
              <a:rPr lang="en-GB" sz="2400" dirty="0">
                <a:solidFill>
                  <a:srgbClr val="00B050"/>
                </a:solidFill>
              </a:rPr>
              <a:t>L3D3.cpp</a:t>
            </a:r>
          </a:p>
          <a:p>
            <a:pPr>
              <a:lnSpc>
                <a:spcPct val="100000"/>
              </a:lnSpc>
            </a:pPr>
            <a:endParaRPr lang="en-GB" sz="2400" dirty="0"/>
          </a:p>
          <a:p>
            <a:pPr>
              <a:lnSpc>
                <a:spcPct val="170000"/>
              </a:lnSpc>
            </a:pPr>
            <a:endParaRPr lang="en-GB" sz="2400" dirty="0"/>
          </a:p>
          <a:p>
            <a:pPr marL="0" indent="0">
              <a:lnSpc>
                <a:spcPct val="170000"/>
              </a:lnSpc>
              <a:buNone/>
            </a:pPr>
            <a:endParaRPr lang="en-GB" sz="2400" dirty="0"/>
          </a:p>
          <a:p>
            <a:pPr>
              <a:lnSpc>
                <a:spcPct val="170000"/>
              </a:lnSpc>
            </a:pPr>
            <a:endParaRPr lang="en-GB" sz="2400" dirty="0"/>
          </a:p>
          <a:p>
            <a:pPr>
              <a:lnSpc>
                <a:spcPct val="170000"/>
              </a:lnSpc>
            </a:pPr>
            <a:endParaRPr lang="en-GB" sz="2400" dirty="0"/>
          </a:p>
          <a:p>
            <a:pPr>
              <a:lnSpc>
                <a:spcPct val="170000"/>
              </a:lnSpc>
            </a:pPr>
            <a:endParaRPr lang="en-GB" sz="2400" dirty="0"/>
          </a:p>
          <a:p>
            <a:pPr marL="0" indent="0">
              <a:lnSpc>
                <a:spcPct val="120000"/>
              </a:lnSpc>
              <a:buNone/>
            </a:pPr>
            <a:endParaRPr lang="en-GB" sz="2400" dirty="0">
              <a:latin typeface="Calibri" panose="020F0502020204030204" pitchFamily="34" charset="0"/>
              <a:cs typeface="Calibri" panose="020F0502020204030204" pitchFamily="34" charset="0"/>
            </a:endParaRPr>
          </a:p>
          <a:p>
            <a:pPr>
              <a:lnSpc>
                <a:spcPct val="120000"/>
              </a:lnSpc>
            </a:pPr>
            <a:endParaRPr lang="en-GB" sz="2400" dirty="0">
              <a:latin typeface="Calibri" panose="020F0502020204030204" pitchFamily="34" charset="0"/>
              <a:cs typeface="Calibri" panose="020F0502020204030204" pitchFamily="34" charset="0"/>
            </a:endParaRPr>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3400" dirty="0"/>
          </a:p>
          <a:p>
            <a:pPr marL="0" indent="0">
              <a:lnSpc>
                <a:spcPct val="120000"/>
              </a:lnSpc>
              <a:buNone/>
            </a:pPr>
            <a:r>
              <a:rPr lang="en-GB" sz="3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21</a:t>
            </a:fld>
            <a:endParaRPr lang="en-GB" dirty="0"/>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F6A427E7-D17A-42B1-AF02-BEB2CA44DEE3}"/>
              </a:ext>
            </a:extLst>
          </p:cNvPr>
          <p:cNvSpPr/>
          <p:nvPr/>
        </p:nvSpPr>
        <p:spPr>
          <a:xfrm>
            <a:off x="1076416" y="2944545"/>
            <a:ext cx="10039167" cy="156649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p:cNvSpPr/>
          <p:nvPr/>
        </p:nvSpPr>
        <p:spPr>
          <a:xfrm>
            <a:off x="1076416" y="2957620"/>
            <a:ext cx="7066724" cy="1631216"/>
          </a:xfrm>
          <a:prstGeom prst="rect">
            <a:avLst/>
          </a:prstGeom>
        </p:spPr>
        <p:txBody>
          <a:bodyPr wrap="square">
            <a:spAutoFit/>
          </a:bodyPr>
          <a:lstStyle/>
          <a:p>
            <a:r>
              <a:rPr lang="en-US" sz="2000" b="1" dirty="0">
                <a:solidFill>
                  <a:srgbClr val="0000FF"/>
                </a:solidFill>
                <a:latin typeface="Consolas" panose="020B0609020204030204" pitchFamily="49" charset="0"/>
                <a:cs typeface="Courier New"/>
              </a:rPr>
              <a:t>double </a:t>
            </a:r>
            <a:r>
              <a:rPr lang="en-US" sz="2000" b="1" dirty="0">
                <a:latin typeface="Consolas" panose="020B0609020204030204" pitchFamily="49" charset="0"/>
                <a:cs typeface="Courier New"/>
              </a:rPr>
              <a:t>points[3][3]={{32,45,28}, </a:t>
            </a:r>
            <a:r>
              <a:rPr lang="en-US" sz="2000" b="1" dirty="0">
                <a:solidFill>
                  <a:srgbClr val="008000"/>
                </a:solidFill>
                <a:latin typeface="Consolas" panose="020B0609020204030204" pitchFamily="49" charset="0"/>
                <a:cs typeface="Courier New"/>
              </a:rPr>
              <a:t>// first row</a:t>
            </a:r>
          </a:p>
          <a:p>
            <a:r>
              <a:rPr lang="en-US" sz="2000" b="1" dirty="0">
                <a:latin typeface="Consolas" panose="020B0609020204030204" pitchFamily="49" charset="0"/>
                <a:cs typeface="Courier New"/>
              </a:rPr>
              <a:t>                    </a:t>
            </a:r>
          </a:p>
          <a:p>
            <a:r>
              <a:rPr lang="en-US" sz="2000" b="1" dirty="0">
                <a:latin typeface="Consolas" panose="020B0609020204030204" pitchFamily="49" charset="0"/>
                <a:cs typeface="Courier New"/>
              </a:rPr>
              <a:t>                     {66,55,65}, </a:t>
            </a:r>
            <a:r>
              <a:rPr lang="en-US" sz="2000" b="1" dirty="0">
                <a:solidFill>
                  <a:srgbClr val="008000"/>
                </a:solidFill>
                <a:latin typeface="Consolas" panose="020B0609020204030204" pitchFamily="49" charset="0"/>
                <a:cs typeface="Courier New"/>
              </a:rPr>
              <a:t>// second row</a:t>
            </a:r>
          </a:p>
          <a:p>
            <a:endParaRPr lang="en-US" sz="2000" b="1" dirty="0">
              <a:latin typeface="Consolas" panose="020B0609020204030204" pitchFamily="49" charset="0"/>
              <a:cs typeface="Courier New"/>
            </a:endParaRPr>
          </a:p>
          <a:p>
            <a:r>
              <a:rPr lang="en-US" sz="2000" b="1" dirty="0">
                <a:latin typeface="Consolas" panose="020B0609020204030204" pitchFamily="49" charset="0"/>
                <a:cs typeface="Courier New"/>
              </a:rPr>
              <a:t>                     {12,45,66}}; </a:t>
            </a:r>
            <a:r>
              <a:rPr lang="en-US" sz="2000" b="1" dirty="0">
                <a:solidFill>
                  <a:srgbClr val="008000"/>
                </a:solidFill>
                <a:latin typeface="Consolas" panose="020B0609020204030204" pitchFamily="49" charset="0"/>
              </a:rPr>
              <a:t>// third row</a:t>
            </a:r>
            <a:endParaRPr lang="en-US" sz="2000" b="1" dirty="0">
              <a:solidFill>
                <a:srgbClr val="008000"/>
              </a:solidFill>
              <a:latin typeface="Consolas" panose="020B0609020204030204" pitchFamily="49" charset="0"/>
              <a:cs typeface="Courier New"/>
            </a:endParaRPr>
          </a:p>
        </p:txBody>
      </p:sp>
      <p:sp>
        <p:nvSpPr>
          <p:cNvPr id="6" name="TextBox 5">
            <a:extLst>
              <a:ext uri="{FF2B5EF4-FFF2-40B4-BE49-F238E27FC236}">
                <a16:creationId xmlns:a16="http://schemas.microsoft.com/office/drawing/2014/main" id="{20A2DC2D-E78A-70D5-EF52-FA0E1732C2F4}"/>
              </a:ext>
            </a:extLst>
          </p:cNvPr>
          <p:cNvSpPr txBox="1"/>
          <p:nvPr/>
        </p:nvSpPr>
        <p:spPr>
          <a:xfrm>
            <a:off x="930781" y="5585782"/>
            <a:ext cx="9591445" cy="907093"/>
          </a:xfrm>
          <a:prstGeom prst="rect">
            <a:avLst/>
          </a:prstGeom>
          <a:noFill/>
          <a:ln>
            <a:solidFill>
              <a:schemeClr val="tx1"/>
            </a:solidFill>
          </a:ln>
        </p:spPr>
        <p:txBody>
          <a:bodyPr wrap="square" rtlCol="0">
            <a:spAutoFit/>
          </a:bodyPr>
          <a:lstStyle/>
          <a:p>
            <a:endParaRPr lang="en-GB" dirty="0"/>
          </a:p>
        </p:txBody>
      </p:sp>
      <p:sp>
        <p:nvSpPr>
          <p:cNvPr id="7" name="TextBox 6">
            <a:extLst>
              <a:ext uri="{FF2B5EF4-FFF2-40B4-BE49-F238E27FC236}">
                <a16:creationId xmlns:a16="http://schemas.microsoft.com/office/drawing/2014/main" id="{DC72E0BB-47F9-631B-92A9-519CE1450D77}"/>
              </a:ext>
            </a:extLst>
          </p:cNvPr>
          <p:cNvSpPr txBox="1"/>
          <p:nvPr/>
        </p:nvSpPr>
        <p:spPr>
          <a:xfrm>
            <a:off x="930780" y="5582934"/>
            <a:ext cx="9319927" cy="830997"/>
          </a:xfrm>
          <a:prstGeom prst="rect">
            <a:avLst/>
          </a:prstGeom>
          <a:noFill/>
        </p:spPr>
        <p:txBody>
          <a:bodyPr wrap="square" rtlCol="0">
            <a:spAutoFit/>
          </a:bodyPr>
          <a:lstStyle/>
          <a:p>
            <a:r>
              <a:rPr lang="en-GB" sz="2400" dirty="0">
                <a:solidFill>
                  <a:srgbClr val="FF0000"/>
                </a:solidFill>
              </a:rPr>
              <a:t>Practical note: </a:t>
            </a:r>
          </a:p>
          <a:p>
            <a:r>
              <a:rPr lang="en-GB" sz="2400" dirty="0"/>
              <a:t>Use “size” datatypes for handling arrays dimensions instead of </a:t>
            </a:r>
            <a:r>
              <a:rPr lang="en-GB" sz="2400" b="1" dirty="0">
                <a:solidFill>
                  <a:srgbClr val="0000FF"/>
                </a:solidFill>
                <a:latin typeface="Consolas" panose="020B0609020204030204" pitchFamily="49" charset="0"/>
              </a:rPr>
              <a:t>int</a:t>
            </a:r>
            <a:r>
              <a:rPr lang="en-GB" sz="2400" dirty="0"/>
              <a:t> </a:t>
            </a:r>
          </a:p>
        </p:txBody>
      </p:sp>
    </p:spTree>
    <p:extLst>
      <p:ext uri="{BB962C8B-B14F-4D97-AF65-F5344CB8AC3E}">
        <p14:creationId xmlns:p14="http://schemas.microsoft.com/office/powerpoint/2010/main" val="3824681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9E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Summary</a:t>
            </a:r>
          </a:p>
        </p:txBody>
      </p:sp>
      <p:sp>
        <p:nvSpPr>
          <p:cNvPr id="3" name="Content Placeholder 2"/>
          <p:cNvSpPr>
            <a:spLocks noGrp="1"/>
          </p:cNvSpPr>
          <p:nvPr>
            <p:ph idx="1"/>
          </p:nvPr>
        </p:nvSpPr>
        <p:spPr>
          <a:xfrm>
            <a:off x="838199" y="1503879"/>
            <a:ext cx="11075437" cy="4895850"/>
          </a:xfrm>
        </p:spPr>
        <p:txBody>
          <a:bodyPr>
            <a:noAutofit/>
          </a:bodyPr>
          <a:lstStyle/>
          <a:p>
            <a:pPr>
              <a:lnSpc>
                <a:spcPct val="170000"/>
              </a:lnSpc>
            </a:pPr>
            <a:r>
              <a:rPr lang="en-GB" sz="2400" dirty="0"/>
              <a:t>The data types of variables, their declaration and initialisation methods were discussed.</a:t>
            </a:r>
          </a:p>
          <a:p>
            <a:pPr>
              <a:lnSpc>
                <a:spcPct val="200000"/>
              </a:lnSpc>
            </a:pPr>
            <a:r>
              <a:rPr lang="en-GB" sz="2400" dirty="0"/>
              <a:t>Operators in C++ and their precedence were discussed.</a:t>
            </a:r>
          </a:p>
          <a:p>
            <a:pPr>
              <a:lnSpc>
                <a:spcPct val="200000"/>
              </a:lnSpc>
            </a:pPr>
            <a:r>
              <a:rPr lang="en-GB" sz="2400" dirty="0"/>
              <a:t>Variable casting was discussed.</a:t>
            </a:r>
          </a:p>
          <a:p>
            <a:pPr>
              <a:lnSpc>
                <a:spcPct val="200000"/>
              </a:lnSpc>
            </a:pPr>
            <a:r>
              <a:rPr lang="en-GB" sz="2400" dirty="0"/>
              <a:t>Arrays declarations and initialisations were discussed.</a:t>
            </a:r>
          </a:p>
          <a:p>
            <a:pPr>
              <a:lnSpc>
                <a:spcPct val="170000"/>
              </a:lnSpc>
            </a:pPr>
            <a:r>
              <a:rPr lang="en-GB" sz="2400" dirty="0"/>
              <a:t>Further reading: </a:t>
            </a:r>
            <a:r>
              <a:rPr lang="en-GB" sz="2400" dirty="0">
                <a:hlinkClick r:id="rId3"/>
              </a:rPr>
              <a:t>http://www.cplusplus.com/doc/tutorial/</a:t>
            </a:r>
            <a:endParaRPr lang="en-GB" sz="2400" dirty="0"/>
          </a:p>
          <a:p>
            <a:pPr marL="0" indent="0">
              <a:lnSpc>
                <a:spcPct val="170000"/>
              </a:lnSpc>
              <a:buNone/>
            </a:pPr>
            <a:endParaRPr lang="en-GB" sz="2400" dirty="0"/>
          </a:p>
          <a:p>
            <a:pPr>
              <a:lnSpc>
                <a:spcPct val="170000"/>
              </a:lnSpc>
            </a:pPr>
            <a:endParaRPr lang="en-GB" sz="2400" dirty="0"/>
          </a:p>
          <a:p>
            <a:pPr>
              <a:lnSpc>
                <a:spcPct val="170000"/>
              </a:lnSpc>
            </a:pPr>
            <a:endParaRPr lang="en-GB" sz="2400" dirty="0"/>
          </a:p>
          <a:p>
            <a:pPr>
              <a:lnSpc>
                <a:spcPct val="170000"/>
              </a:lnSpc>
            </a:pPr>
            <a:endParaRPr lang="en-GB" sz="2400" dirty="0"/>
          </a:p>
          <a:p>
            <a:pPr marL="0" indent="0">
              <a:lnSpc>
                <a:spcPct val="120000"/>
              </a:lnSpc>
              <a:buNone/>
            </a:pPr>
            <a:endParaRPr lang="en-GB" sz="2400" dirty="0">
              <a:latin typeface="Calibri" panose="020F0502020204030204" pitchFamily="34" charset="0"/>
              <a:cs typeface="Calibri" panose="020F0502020204030204" pitchFamily="34" charset="0"/>
            </a:endParaRPr>
          </a:p>
          <a:p>
            <a:pPr>
              <a:lnSpc>
                <a:spcPct val="120000"/>
              </a:lnSpc>
            </a:pPr>
            <a:endParaRPr lang="en-GB" sz="2400" dirty="0">
              <a:latin typeface="Calibri" panose="020F0502020204030204" pitchFamily="34" charset="0"/>
              <a:cs typeface="Calibri" panose="020F0502020204030204" pitchFamily="34" charset="0"/>
            </a:endParaRPr>
          </a:p>
          <a:p>
            <a:pPr marL="0" indent="0">
              <a:lnSpc>
                <a:spcPct val="120000"/>
              </a:lnSpc>
              <a:buNone/>
            </a:pPr>
            <a:endParaRPr lang="en-GB" sz="9600" dirty="0">
              <a:latin typeface="Calibri" panose="020F0502020204030204" pitchFamily="34" charset="0"/>
              <a:cs typeface="Calibri" panose="020F0502020204030204" pitchFamily="34" charset="0"/>
            </a:endParaRPr>
          </a:p>
          <a:p>
            <a:pPr>
              <a:lnSpc>
                <a:spcPct val="120000"/>
              </a:lnSpc>
            </a:pPr>
            <a:endParaRPr lang="en-GB" sz="3400" dirty="0"/>
          </a:p>
          <a:p>
            <a:pPr marL="0" indent="0">
              <a:lnSpc>
                <a:spcPct val="120000"/>
              </a:lnSpc>
              <a:buNone/>
            </a:pPr>
            <a:r>
              <a:rPr lang="en-GB" sz="3400" dirty="0"/>
              <a:t> </a:t>
            </a:r>
          </a:p>
          <a:p>
            <a:pPr>
              <a:lnSpc>
                <a:spcPct val="120000"/>
              </a:lnSpc>
            </a:pPr>
            <a:endParaRPr lang="en-GB" sz="2400" dirty="0"/>
          </a:p>
          <a:p>
            <a:pPr marL="0" indent="0">
              <a:lnSpc>
                <a:spcPct val="120000"/>
              </a:lnSpc>
              <a:buNone/>
            </a:pPr>
            <a:endParaRPr lang="en-GB" sz="2400" dirty="0"/>
          </a:p>
          <a:p>
            <a:pPr>
              <a:lnSpc>
                <a:spcPct val="120000"/>
              </a:lnSpc>
            </a:pPr>
            <a:endParaRPr lang="en-GB" sz="2400" dirty="0"/>
          </a:p>
          <a:p>
            <a:pPr>
              <a:lnSpc>
                <a:spcPct val="120000"/>
              </a:lnSpc>
            </a:pPr>
            <a:endParaRPr lang="en-GB" sz="2400" dirty="0"/>
          </a:p>
          <a:p>
            <a:pPr marL="0" indent="0">
              <a:buNone/>
            </a:pPr>
            <a:endParaRPr lang="en-GB" sz="2400" dirty="0"/>
          </a:p>
        </p:txBody>
      </p:sp>
      <p:sp>
        <p:nvSpPr>
          <p:cNvPr id="4" name="Slide Number Placeholder 3"/>
          <p:cNvSpPr>
            <a:spLocks noGrp="1"/>
          </p:cNvSpPr>
          <p:nvPr>
            <p:ph type="sldNum" sz="quarter" idx="12"/>
          </p:nvPr>
        </p:nvSpPr>
        <p:spPr/>
        <p:txBody>
          <a:bodyPr/>
          <a:lstStyle/>
          <a:p>
            <a:fld id="{B41761D7-3DCA-48D0-8D79-89DA2676C306}" type="slidenum">
              <a:rPr lang="en-GB" smtClean="0"/>
              <a:t>22</a:t>
            </a:fld>
            <a:endParaRPr lang="en-GB" dirty="0"/>
          </a:p>
        </p:txBody>
      </p:sp>
      <p:cxnSp>
        <p:nvCxnSpPr>
          <p:cNvPr id="5" name="Straight Connector 4">
            <a:extLst>
              <a:ext uri="{FF2B5EF4-FFF2-40B4-BE49-F238E27FC236}">
                <a16:creationId xmlns:a16="http://schemas.microsoft.com/office/drawing/2014/main" id="{2564FB17-C223-444F-A237-84ECC72DDE4B}"/>
              </a:ext>
            </a:extLst>
          </p:cNvPr>
          <p:cNvCxnSpPr/>
          <p:nvPr/>
        </p:nvCxnSpPr>
        <p:spPr>
          <a:xfrm>
            <a:off x="653143" y="1483567"/>
            <a:ext cx="11075437"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5071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2435</TotalTime>
  <Words>2141</Words>
  <Application>Microsoft Office PowerPoint</Application>
  <PresentationFormat>Widescreen</PresentationFormat>
  <Paragraphs>519</Paragraphs>
  <Slides>22</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Consolas</vt:lpstr>
      <vt:lpstr>Courier New</vt:lpstr>
      <vt:lpstr>Office Theme</vt:lpstr>
      <vt:lpstr>Application Development with C++ (ELEC362)</vt:lpstr>
      <vt:lpstr>Previous lecture </vt:lpstr>
      <vt:lpstr>This lecture</vt:lpstr>
      <vt:lpstr>Variables and Data types</vt:lpstr>
      <vt:lpstr>Variables and Data types</vt:lpstr>
      <vt:lpstr>Variables and Data types</vt:lpstr>
      <vt:lpstr>Variables and Data types</vt:lpstr>
      <vt:lpstr>Variables and Data types</vt:lpstr>
      <vt:lpstr>Variables Naming</vt:lpstr>
      <vt:lpstr>Enumeration</vt:lpstr>
      <vt:lpstr>Scope of variables</vt:lpstr>
      <vt:lpstr>Namespaces</vt:lpstr>
      <vt:lpstr>Global variables</vt:lpstr>
      <vt:lpstr>Operators and precedence</vt:lpstr>
      <vt:lpstr>Operators and precedence</vt:lpstr>
      <vt:lpstr>Operators and precedence</vt:lpstr>
      <vt:lpstr>Operators and precedence</vt:lpstr>
      <vt:lpstr>Variable casting</vt:lpstr>
      <vt:lpstr>Arrays</vt:lpstr>
      <vt:lpstr>Arrays initialisation</vt:lpstr>
      <vt:lpstr>Multi-dimensional arrays </vt:lpstr>
      <vt:lpstr>Summary</vt:lpstr>
    </vt:vector>
  </TitlesOfParts>
  <Company>The University of Liverpool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Development with C++ (ELEC362)</dc:title>
  <dc:creator>Hasan, Mohammad [mihasan]</dc:creator>
  <cp:lastModifiedBy>Hasan, Mohammad [mihasan]</cp:lastModifiedBy>
  <cp:revision>437</cp:revision>
  <dcterms:created xsi:type="dcterms:W3CDTF">2019-05-09T14:26:54Z</dcterms:created>
  <dcterms:modified xsi:type="dcterms:W3CDTF">2026-09-28T09:18:37Z</dcterms:modified>
</cp:coreProperties>
</file>