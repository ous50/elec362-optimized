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8" r:id="rId3"/>
    <p:sldId id="257" r:id="rId4"/>
    <p:sldId id="280" r:id="rId5"/>
    <p:sldId id="281" r:id="rId6"/>
    <p:sldId id="261" r:id="rId7"/>
    <p:sldId id="282" r:id="rId8"/>
    <p:sldId id="283" r:id="rId9"/>
    <p:sldId id="284" r:id="rId10"/>
    <p:sldId id="272" r:id="rId11"/>
    <p:sldId id="285" r:id="rId12"/>
    <p:sldId id="288" r:id="rId13"/>
    <p:sldId id="286" r:id="rId14"/>
    <p:sldId id="287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E7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597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766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599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44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223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590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733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19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7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9766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7977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050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195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orum.qt.io/" TargetMode="External"/><Relationship Id="rId4" Type="http://schemas.openxmlformats.org/officeDocument/2006/relationships/hyperlink" Target="https://wiki.qt.io/Mai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classes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qt.io/download-open-source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tmodule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pendencywalker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13: Basics of </a:t>
            </a:r>
            <a:r>
              <a:rPr lang="en-GB" sz="3600" dirty="0" err="1"/>
              <a:t>Qt</a:t>
            </a:r>
            <a:endParaRPr lang="en-GB" sz="3600" dirty="0"/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basics of software engineering were introduced and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The waterfall model was discussed with its advantages and disadvantages.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The requirement analysis, software design, validation and verification, and maintenance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The incremental model was presented and discussed.  </a:t>
            </a:r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839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Introduction to </a:t>
            </a:r>
            <a:r>
              <a:rPr lang="en-GB" sz="2400" dirty="0" err="1"/>
              <a:t>Qt</a:t>
            </a:r>
            <a:r>
              <a:rPr lang="en-GB" sz="2400" dirty="0"/>
              <a:t> library.          2. How to deploy a stand-alone app using Qt.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it is covered?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To understand how </a:t>
            </a:r>
            <a:r>
              <a:rPr lang="en-GB" sz="2400" dirty="0" err="1"/>
              <a:t>Qt</a:t>
            </a:r>
            <a:r>
              <a:rPr lang="en-GB" sz="2400" dirty="0"/>
              <a:t> is structured as a library and how an application can be made independent from Qt.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Live demonstration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</a:t>
            </a:r>
            <a:r>
              <a:rPr lang="en-GB" b="1" dirty="0" err="1"/>
              <a:t>Qt</a:t>
            </a:r>
            <a:r>
              <a:rPr lang="en-GB" b="1" dirty="0"/>
              <a:t>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There are many C++ libraries aimed at GUI application development, including </a:t>
            </a: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GTK+, </a:t>
            </a:r>
            <a:r>
              <a:rPr lang="en-GB" sz="2400" dirty="0" err="1"/>
              <a:t>Qt</a:t>
            </a:r>
            <a:r>
              <a:rPr lang="en-GB" sz="2400" dirty="0"/>
              <a:t>, MFC, and JUCE. </a:t>
            </a:r>
          </a:p>
          <a:p>
            <a:pPr>
              <a:lnSpc>
                <a:spcPct val="120000"/>
              </a:lnSpc>
            </a:pPr>
            <a:r>
              <a:rPr lang="en-GB" sz="2400" dirty="0" err="1"/>
              <a:t>Qt</a:t>
            </a:r>
            <a:r>
              <a:rPr lang="en-GB" sz="2400" dirty="0"/>
              <a:t> is one of the most widely supported GUI libraries, with a lot of online documentation, examples, tutorials, and supportive community.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It can be integrated very well with other libraries such as OpenGL (graphics library) and Boost (math-based libraries).</a:t>
            </a:r>
          </a:p>
          <a:p>
            <a:pPr>
              <a:lnSpc>
                <a:spcPct val="120000"/>
              </a:lnSpc>
            </a:pPr>
            <a:r>
              <a:rPr lang="en-GB" sz="2400" dirty="0" err="1"/>
              <a:t>Qt</a:t>
            </a:r>
            <a:r>
              <a:rPr lang="en-GB" sz="2400" dirty="0"/>
              <a:t> is a cross-platform IDE that creates applications working on Windows, Linux, Mac-OS, Android, and many embedded systems.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697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</a:t>
            </a:r>
            <a:r>
              <a:rPr lang="en-GB" b="1" dirty="0" err="1"/>
              <a:t>Qt</a:t>
            </a:r>
            <a:r>
              <a:rPr lang="en-GB" b="1" dirty="0"/>
              <a:t>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Examples of known software built using </a:t>
            </a:r>
            <a:r>
              <a:rPr lang="en-GB" sz="2400" dirty="0" err="1"/>
              <a:t>Qt</a:t>
            </a:r>
            <a:r>
              <a:rPr lang="en-GB" sz="2400" dirty="0"/>
              <a:t>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Examples of known companies that use </a:t>
            </a:r>
            <a:r>
              <a:rPr lang="en-GB" sz="2400" dirty="0" err="1"/>
              <a:t>Qt</a:t>
            </a:r>
            <a:r>
              <a:rPr lang="en-GB" sz="2400" dirty="0"/>
              <a:t> for their software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development: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potify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890" y="3153086"/>
            <a:ext cx="238125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ge of Wonders III Cover Ar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595" y="1690688"/>
            <a:ext cx="209550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elegram 2019 Logo.sv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961" y="182562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berry Logo.sv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410" y="2661071"/>
            <a:ext cx="238125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endeley Logo Vertical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403" y="239955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athematica Logo.sv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816" y="3296493"/>
            <a:ext cx="5810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lwarebytes Logo (2016).sv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145" y="2542733"/>
            <a:ext cx="927776" cy="8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Google Earth Logo.sv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929" y="2086396"/>
            <a:ext cx="908471" cy="90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VLC Icon.sv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426" y="2883211"/>
            <a:ext cx="923925" cy="10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G Electronics logo, 2015âpresent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771" y="5469467"/>
            <a:ext cx="219075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ercedes-Benz Logo 2010.sv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904" y="4672014"/>
            <a:ext cx="20955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Peugeot Logo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728" y="5278094"/>
            <a:ext cx="1703133" cy="121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Each letter of &quot;Google&quot; is colored (from left to right) in blue, red, yellow, blue, green, and red.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761" y="5388504"/>
            <a:ext cx="2381250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 result for ubuntu logo transparent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24" y="2449499"/>
            <a:ext cx="1429915" cy="142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89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Qt</a:t>
            </a:r>
            <a:r>
              <a:rPr lang="en-GB" b="1" dirty="0"/>
              <a:t> resources and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7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Books: Learn </a:t>
            </a:r>
            <a:r>
              <a:rPr lang="en-GB" sz="2400" dirty="0" err="1"/>
              <a:t>Qt</a:t>
            </a:r>
            <a:r>
              <a:rPr lang="en-GB" sz="2400" dirty="0"/>
              <a:t> 5: N Sherriff (2018).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C++ GUI Programming with </a:t>
            </a:r>
            <a:r>
              <a:rPr lang="en-GB" sz="2400" dirty="0" err="1"/>
              <a:t>Qt</a:t>
            </a:r>
            <a:r>
              <a:rPr lang="en-GB" sz="2400" dirty="0"/>
              <a:t>, </a:t>
            </a:r>
            <a:r>
              <a:rPr lang="de-DE" sz="2400" dirty="0"/>
              <a:t>J Blanchette &amp; M Summerfield (2008).</a:t>
            </a:r>
          </a:p>
          <a:p>
            <a:pPr>
              <a:lnSpc>
                <a:spcPct val="120000"/>
              </a:lnSpc>
            </a:pPr>
            <a:r>
              <a:rPr lang="de-DE" sz="2400" dirty="0"/>
              <a:t>Online documentation</a:t>
            </a:r>
            <a:r>
              <a:rPr lang="en-GB" sz="2400" dirty="0"/>
              <a:t>: </a:t>
            </a:r>
            <a:r>
              <a:rPr lang="en-GB" sz="2400" dirty="0">
                <a:hlinkClick r:id="rId3"/>
              </a:rPr>
              <a:t>https://doc.qt.io/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</a:t>
            </a:r>
            <a:r>
              <a:rPr lang="en-GB" sz="2400" dirty="0">
                <a:hlinkClick r:id="rId4"/>
              </a:rPr>
              <a:t>https://wiki.qt.io/Main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Online developers community: </a:t>
            </a:r>
            <a:r>
              <a:rPr lang="en-GB" sz="2400" dirty="0">
                <a:hlinkClick r:id="rId5"/>
              </a:rPr>
              <a:t>https://forum.qt.io/</a:t>
            </a:r>
            <a:endParaRPr lang="de-DE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What you will learn is: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1. How to use </a:t>
            </a:r>
            <a:r>
              <a:rPr lang="en-GB" sz="2400" dirty="0" err="1"/>
              <a:t>Qt</a:t>
            </a:r>
            <a:r>
              <a:rPr lang="en-GB" sz="2400" dirty="0"/>
              <a:t> to develop Graphic User Interface (GUI)-based applications.</a:t>
            </a:r>
          </a:p>
          <a:p>
            <a:pPr marL="355600" indent="-355600">
              <a:lnSpc>
                <a:spcPct val="120000"/>
              </a:lnSpc>
              <a:buNone/>
            </a:pPr>
            <a:r>
              <a:rPr lang="en-GB" sz="2400" dirty="0"/>
              <a:t>2. How to effectively use online documentations and resources for self-learning in programming context.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859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Qt</a:t>
            </a:r>
            <a:r>
              <a:rPr lang="en-GB" b="1" dirty="0"/>
              <a:t>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Qt has been been created in 1991, since then it has been growing.</a:t>
            </a:r>
          </a:p>
          <a:p>
            <a:pPr>
              <a:lnSpc>
                <a:spcPct val="150000"/>
              </a:lnSpc>
            </a:pPr>
            <a:r>
              <a:rPr lang="de-DE" sz="2400" dirty="0"/>
              <a:t>Qt is a C++ Library used to develop GUI applications for cross-platform applications.</a:t>
            </a:r>
          </a:p>
          <a:p>
            <a:pPr>
              <a:lnSpc>
                <a:spcPct val="150000"/>
              </a:lnSpc>
            </a:pPr>
            <a:r>
              <a:rPr lang="de-DE" sz="2400" dirty="0"/>
              <a:t>It is available under a commersial license and in a open-source licensces. 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It consists of more than 2100 classes!! Each class has more than 7-10 functions!!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Full list of classes can be found here: </a:t>
            </a:r>
            <a:r>
              <a:rPr lang="en-GB" sz="2400" dirty="0">
                <a:hlinkClick r:id="rId3"/>
              </a:rPr>
              <a:t>https://doc.qt.io/qt-6/classes.html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The name of every class in </a:t>
            </a:r>
            <a:r>
              <a:rPr lang="en-GB" sz="2400" dirty="0" err="1"/>
              <a:t>Qt</a:t>
            </a:r>
            <a:r>
              <a:rPr lang="en-GB" sz="2400" dirty="0"/>
              <a:t> starts with a “Q”.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class names are carefully chosen to reflect their purpose. 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95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val 52"/>
          <p:cNvSpPr/>
          <p:nvPr/>
        </p:nvSpPr>
        <p:spPr>
          <a:xfrm>
            <a:off x="212873" y="1590381"/>
            <a:ext cx="11814685" cy="489927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923918" y="1544297"/>
            <a:ext cx="9295346" cy="47659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2335293" y="1618506"/>
            <a:ext cx="6097505" cy="3800162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Qt</a:t>
            </a:r>
            <a:r>
              <a:rPr lang="en-GB" b="1" dirty="0"/>
              <a:t> class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970864" y="2353733"/>
            <a:ext cx="2870200" cy="22182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4442707" y="2465931"/>
            <a:ext cx="2092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QObject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4673598" y="3681285"/>
            <a:ext cx="2092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QPaintDevice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4114798" y="3172451"/>
            <a:ext cx="111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QEvent</a:t>
            </a:r>
            <a:endParaRPr lang="en-GB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3522131" y="3437435"/>
            <a:ext cx="660665" cy="141939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6303850" y="4120393"/>
            <a:ext cx="461781" cy="313893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6051494" y="2805800"/>
            <a:ext cx="1226899" cy="486334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7046184" y="3172450"/>
            <a:ext cx="1420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QWidget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2335294" y="3565557"/>
            <a:ext cx="1779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 dirty="0" err="1"/>
              <a:t>QInputEvent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6609527" y="4375013"/>
            <a:ext cx="1337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 dirty="0" err="1"/>
              <a:t>QPixmap</a:t>
            </a:r>
            <a:endParaRPr lang="en-GB" sz="2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7556917" y="4813779"/>
            <a:ext cx="461781" cy="313893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7607827" y="5102500"/>
            <a:ext cx="1337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/>
              <a:t>QBitmap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8099131" y="3642644"/>
            <a:ext cx="1226899" cy="486334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8049980" y="4137475"/>
            <a:ext cx="2186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QMainWindow</a:t>
            </a:r>
            <a:endParaRPr lang="en-GB" sz="24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V="1">
            <a:off x="8077631" y="2940851"/>
            <a:ext cx="415324" cy="308207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9979980" y="3038797"/>
            <a:ext cx="1596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 dirty="0" err="1"/>
              <a:t>QFileDialog</a:t>
            </a:r>
            <a:r>
              <a:rPr lang="en-GB" sz="2400" dirty="0"/>
              <a:t> 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1947331" y="3841147"/>
            <a:ext cx="453666" cy="43508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916102" y="4142314"/>
            <a:ext cx="1779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 dirty="0" err="1"/>
              <a:t>QKeyEvent</a:t>
            </a:r>
            <a:endParaRPr lang="en-GB" sz="2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2437877" y="4061221"/>
            <a:ext cx="532457" cy="1089248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1702882" y="5029174"/>
            <a:ext cx="2352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 dirty="0" err="1"/>
              <a:t>QMouseEvent</a:t>
            </a:r>
            <a:endParaRPr lang="en-GB" sz="24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3653277" y="4011228"/>
            <a:ext cx="185986" cy="1614127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3039609" y="5574005"/>
            <a:ext cx="1811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 dirty="0" err="1"/>
              <a:t>QTouchEvent</a:t>
            </a:r>
            <a:endParaRPr lang="en-GB" sz="24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3786629" y="2819052"/>
            <a:ext cx="1086978" cy="34297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2207757" y="2607143"/>
            <a:ext cx="2092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QTimer</a:t>
            </a:r>
            <a:endParaRPr lang="en-GB" sz="24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>
            <a:off x="5694302" y="4154861"/>
            <a:ext cx="10181" cy="665137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5230889" y="4711597"/>
            <a:ext cx="1337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 dirty="0" err="1"/>
              <a:t>QImage</a:t>
            </a:r>
            <a:endParaRPr lang="en-GB" sz="24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9475830" y="2781449"/>
            <a:ext cx="648515" cy="309191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8230718" y="2432011"/>
            <a:ext cx="1248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QDialog</a:t>
            </a:r>
            <a:endParaRPr lang="en-GB" sz="24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9104052" y="2866158"/>
            <a:ext cx="1485222" cy="1116721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775A5C7-1EAC-4B8D-959D-12C729159021}"/>
              </a:ext>
            </a:extLst>
          </p:cNvPr>
          <p:cNvSpPr txBox="1"/>
          <p:nvPr/>
        </p:nvSpPr>
        <p:spPr>
          <a:xfrm>
            <a:off x="10115448" y="4003014"/>
            <a:ext cx="1912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2400" dirty="0" err="1"/>
              <a:t>QColorDialog</a:t>
            </a:r>
            <a:r>
              <a:rPr lang="en-GB" sz="2400" dirty="0"/>
              <a:t> 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D5196F-24E0-4360-B086-72FD961F3164}"/>
              </a:ext>
            </a:extLst>
          </p:cNvPr>
          <p:cNvSpPr txBox="1"/>
          <p:nvPr/>
        </p:nvSpPr>
        <p:spPr>
          <a:xfrm>
            <a:off x="773736" y="6394638"/>
            <a:ext cx="9815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GB" sz="2400" dirty="0"/>
              <a:t>QUESTION: Do you notice anything about the names of the classes ??</a:t>
            </a:r>
          </a:p>
        </p:txBody>
      </p:sp>
    </p:spTree>
    <p:extLst>
      <p:ext uri="{BB962C8B-B14F-4D97-AF65-F5344CB8AC3E}">
        <p14:creationId xmlns:p14="http://schemas.microsoft.com/office/powerpoint/2010/main" val="207902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22" grpId="0" animBg="1"/>
      <p:bldP spid="10" grpId="0" animBg="1"/>
      <p:bldP spid="17" grpId="0"/>
      <p:bldP spid="18" grpId="0"/>
      <p:bldP spid="21" grpId="0"/>
      <p:bldP spid="27" grpId="0"/>
      <p:bldP spid="30" grpId="0"/>
      <p:bldP spid="33" grpId="0"/>
      <p:bldP spid="35" grpId="0"/>
      <p:bldP spid="40" grpId="0"/>
      <p:bldP spid="43" grpId="0"/>
      <p:bldP spid="47" grpId="0"/>
      <p:bldP spid="52" grpId="0"/>
      <p:bldP spid="56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Qt</a:t>
            </a:r>
            <a:r>
              <a:rPr lang="en-GB" b="1" dirty="0"/>
              <a:t> and C++ 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5421"/>
            <a:ext cx="1101513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de-DE" sz="2400" dirty="0"/>
              <a:t>Qt was developed using C++.</a:t>
            </a:r>
          </a:p>
          <a:p>
            <a:pPr>
              <a:lnSpc>
                <a:spcPct val="150000"/>
              </a:lnSpc>
            </a:pPr>
            <a:r>
              <a:rPr lang="de-DE" sz="2400" dirty="0"/>
              <a:t>Qt follows C++ syntax rules.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Many of the widely used classes/containers in C++ were replaced in </a:t>
            </a:r>
            <a:r>
              <a:rPr lang="en-GB" sz="2400" dirty="0" err="1"/>
              <a:t>Qt</a:t>
            </a:r>
            <a:r>
              <a:rPr lang="en-GB" sz="2400" dirty="0"/>
              <a:t>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de-DE" sz="2400" dirty="0"/>
              <a:t>To make the use of Qt more effecint, a new language called “QML“ was developed.</a:t>
            </a:r>
            <a:endParaRPr lang="en-GB" sz="2400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B1EE73-132B-4E95-A58A-4A0169DF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270877"/>
              </p:ext>
            </p:extLst>
          </p:nvPr>
        </p:nvGraphicFramePr>
        <p:xfrm>
          <a:off x="1899525" y="3577961"/>
          <a:ext cx="808267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9370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3983305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</a:tblGrid>
              <a:tr h="269742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C++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 err="1"/>
                        <a:t>Qt</a:t>
                      </a:r>
                      <a:r>
                        <a:rPr lang="en-GB" sz="2400" b="0" i="0" dirty="0"/>
                        <a:t> equivalent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/>
                        <a:t>QString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/>
                        <a:t>QVector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/>
                        <a:t>QList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790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8065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E5A680-4543-82F5-0916-DA388908E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453" y="1595327"/>
            <a:ext cx="6543503" cy="42102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Installation of </a:t>
            </a:r>
            <a:r>
              <a:rPr lang="en-GB" b="1" dirty="0" err="1"/>
              <a:t>Qt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5"/>
            <a:ext cx="4923408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In the labs and at the library, </a:t>
            </a:r>
            <a:r>
              <a:rPr lang="en-GB" sz="2400" dirty="0" err="1"/>
              <a:t>Qt</a:t>
            </a:r>
            <a:r>
              <a:rPr lang="en-GB" sz="2400" dirty="0"/>
              <a:t> is already pre-installed.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For downloading and installing Qt on your computer/laptop, go to: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Make sure that the kit installed is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  Qt 6.9.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  <a:endParaRPr lang="en-GB" sz="1200" dirty="0"/>
          </a:p>
          <a:p>
            <a:pPr marL="0" indent="0">
              <a:lnSpc>
                <a:spcPct val="150000"/>
              </a:lnSpc>
              <a:buNone/>
            </a:pPr>
            <a:endParaRPr lang="en-GB" sz="12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1005225" y="3932808"/>
            <a:ext cx="4411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/>
              </a:rPr>
              <a:t>https://www.qt.io/download-open-source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V="1">
            <a:off x="8610600" y="3932808"/>
            <a:ext cx="719831" cy="2156284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5885293" y="6033289"/>
            <a:ext cx="4096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Choose a package that matches the platform of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191979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Qt</a:t>
            </a:r>
            <a:r>
              <a:rPr lang="en-GB" b="1" dirty="0"/>
              <a:t> creator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name of IDE software for </a:t>
            </a:r>
            <a:r>
              <a:rPr lang="en-GB" sz="2400" dirty="0" err="1"/>
              <a:t>Qt</a:t>
            </a:r>
            <a:r>
              <a:rPr lang="en-GB" sz="2400" dirty="0"/>
              <a:t> is “</a:t>
            </a:r>
            <a:r>
              <a:rPr lang="en-GB" sz="2400" dirty="0" err="1"/>
              <a:t>Qt</a:t>
            </a:r>
            <a:r>
              <a:rPr lang="en-GB" sz="2400" dirty="0"/>
              <a:t> creator”.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name of the GUI editing part of </a:t>
            </a:r>
            <a:r>
              <a:rPr lang="en-GB" sz="2400" dirty="0" err="1"/>
              <a:t>Qt</a:t>
            </a:r>
            <a:r>
              <a:rPr lang="en-GB" sz="2400" dirty="0"/>
              <a:t> creator is known as “</a:t>
            </a:r>
            <a:r>
              <a:rPr lang="en-GB" sz="2400" dirty="0" err="1"/>
              <a:t>Qt</a:t>
            </a:r>
            <a:r>
              <a:rPr lang="en-GB" sz="2400" dirty="0"/>
              <a:t> designer”.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 </a:t>
            </a:r>
            <a:r>
              <a:rPr lang="en-GB" sz="2400" dirty="0" err="1"/>
              <a:t>Qt</a:t>
            </a:r>
            <a:r>
              <a:rPr lang="en-GB" sz="2400" dirty="0"/>
              <a:t> creator walkthrough (demonstration).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Considering that 2100 classes is a large number to handle, classes are categorised into “modules”, each module is particularly suited for the hardware of the platform it is developed for.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 full list of modules is given here: </a:t>
            </a:r>
            <a:r>
              <a:rPr lang="en-GB" sz="2400" dirty="0">
                <a:hlinkClick r:id="rId3"/>
              </a:rPr>
              <a:t>https://doc.qt.io/qt-6/qtmodules.html</a:t>
            </a: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764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3303210" y="2281163"/>
            <a:ext cx="8727923" cy="283270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How do GUI applications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7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GUI applications work as follows: </a:t>
            </a: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Image result for us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5" y="2663236"/>
            <a:ext cx="1942154" cy="194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933" y="2396064"/>
            <a:ext cx="3810000" cy="2476500"/>
          </a:xfrm>
          <a:prstGeom prst="rect">
            <a:avLst/>
          </a:prstGeom>
        </p:spPr>
      </p:pic>
      <p:pic>
        <p:nvPicPr>
          <p:cNvPr id="13" name="Picture 4" descr="Image result for c++ file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6661" y="4110065"/>
            <a:ext cx="608390" cy="60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header file ic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683" y="2484894"/>
            <a:ext cx="687941" cy="6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header file ic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625" y="2932210"/>
            <a:ext cx="687941" cy="6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mage result for c++ file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9334" y="4448022"/>
            <a:ext cx="608390" cy="60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6804955" y="1805589"/>
            <a:ext cx="2169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application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492275" y="5227593"/>
            <a:ext cx="11538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the application developers do is:  1. Design the GUI using objects from the library.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291138" marR="0" lvl="0" indent="-5291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                                            2. Connect the objects to one another in a       functional way.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1612942" y="3634313"/>
            <a:ext cx="2264791" cy="1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463420" y="2165231"/>
            <a:ext cx="2169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user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6452259" y="3022815"/>
            <a:ext cx="3492644" cy="495100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6630059" y="3947689"/>
            <a:ext cx="3088699" cy="428004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4" descr="Image result for c++ file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448" y="3379893"/>
            <a:ext cx="608390" cy="60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mage result for header file ico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690" y="2601894"/>
            <a:ext cx="687941" cy="68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V="1">
            <a:off x="7308399" y="3022815"/>
            <a:ext cx="2092504" cy="12292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4926677" y="4323156"/>
            <a:ext cx="5822573" cy="561131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V="1">
            <a:off x="10588054" y="3322441"/>
            <a:ext cx="591249" cy="161040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0629558" y="3959196"/>
            <a:ext cx="343971" cy="488826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 flipH="1" flipV="1">
            <a:off x="9999359" y="2988081"/>
            <a:ext cx="407085" cy="97754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11007624" y="2828865"/>
            <a:ext cx="312118" cy="357880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F498129-BFFB-4069-8FC4-E70C529B6F21}"/>
              </a:ext>
            </a:extLst>
          </p:cNvPr>
          <p:cNvCxnSpPr>
            <a:cxnSpLocks/>
          </p:cNvCxnSpPr>
          <p:nvPr/>
        </p:nvCxnSpPr>
        <p:spPr>
          <a:xfrm>
            <a:off x="9637946" y="3332751"/>
            <a:ext cx="138714" cy="751291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960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Deploying an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953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 err="1"/>
              <a:t>Qt</a:t>
            </a:r>
            <a:r>
              <a:rPr lang="en-GB" sz="2400" dirty="0"/>
              <a:t> creates the application easily within the IDE.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IDE generates an executable file that has dependencies. To make it a stand-alone application, the dependencies need to be put in the same folder as the exe file. Converting the application into a stand-alone app is known as “deploying”.  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For Windows application, one can use “Dependencies Walker” to determine which libraries an executable file need to run (</a:t>
            </a:r>
            <a:r>
              <a:rPr lang="en-GB" sz="2400" dirty="0">
                <a:hlinkClick r:id="rId3"/>
              </a:rPr>
              <a:t>http://www.dependencywalker.com/</a:t>
            </a:r>
            <a:r>
              <a:rPr lang="en-GB" sz="2400" dirty="0"/>
              <a:t>)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Deploying stand-alone executable from </a:t>
            </a:r>
            <a:r>
              <a:rPr lang="en-GB" sz="2400" dirty="0" err="1"/>
              <a:t>Qt</a:t>
            </a:r>
            <a:r>
              <a:rPr lang="en-GB" sz="2400" dirty="0"/>
              <a:t> (demonstration).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917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Deploying an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6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The needed libraries can be found in the “bin” folder in the installation folder of the Qt compiler installed for the platform (in our case </a:t>
            </a:r>
            <a:r>
              <a:rPr lang="en-GB" sz="2400"/>
              <a:t>the MinGW). 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The required libraries also depend on the type of build: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Note that the list of libraries may change based on the module used and the platform. Best use Dependency Walker to check.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B1EE73-132B-4E95-A58A-4A0169DF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927896"/>
              </p:ext>
            </p:extLst>
          </p:nvPr>
        </p:nvGraphicFramePr>
        <p:xfrm>
          <a:off x="838200" y="3429000"/>
          <a:ext cx="9998015" cy="1341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8015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</a:tblGrid>
              <a:tr h="479147"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Libraries needed for windows build (all have .</a:t>
                      </a:r>
                      <a:r>
                        <a:rPr lang="en-GB" sz="2400" b="0" i="0" dirty="0" err="1"/>
                        <a:t>dll</a:t>
                      </a:r>
                      <a:r>
                        <a:rPr lang="en-GB" sz="2400" b="0" i="0" dirty="0"/>
                        <a:t> extension)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862464">
                <a:tc>
                  <a:txBody>
                    <a:bodyPr/>
                    <a:lstStyle/>
                    <a:p>
                      <a:pPr algn="l"/>
                      <a:r>
                        <a:rPr lang="en-GB" sz="2400" dirty="0"/>
                        <a:t>libgcc_s_seh-1, </a:t>
                      </a:r>
                      <a:r>
                        <a:rPr lang="en-GB" sz="2400" dirty="0" err="1"/>
                        <a:t>libstdc</a:t>
                      </a:r>
                      <a:r>
                        <a:rPr lang="en-GB" sz="2400" dirty="0"/>
                        <a:t>++-6, libwinpthread-1, Qt6Core, Qt6Gui, Qt6Widgets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839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Justification for learning </a:t>
            </a:r>
            <a:r>
              <a:rPr lang="en-GB" sz="2400" dirty="0" err="1"/>
              <a:t>Qt</a:t>
            </a:r>
            <a:r>
              <a:rPr lang="en-GB" sz="2400" dirty="0"/>
              <a:t> was given.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Basic structure of </a:t>
            </a:r>
            <a:r>
              <a:rPr lang="en-GB" sz="2400" dirty="0" err="1"/>
              <a:t>Qt</a:t>
            </a:r>
            <a:r>
              <a:rPr lang="en-GB" sz="2400" dirty="0"/>
              <a:t> was explained.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An introduction to </a:t>
            </a:r>
            <a:r>
              <a:rPr lang="en-GB" sz="2400" dirty="0" err="1"/>
              <a:t>Qt</a:t>
            </a:r>
            <a:r>
              <a:rPr lang="en-GB" sz="2400" dirty="0"/>
              <a:t> Creator was given.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Deploying an application using </a:t>
            </a:r>
            <a:r>
              <a:rPr lang="en-GB" sz="2400" dirty="0" err="1"/>
              <a:t>Qt</a:t>
            </a:r>
            <a:r>
              <a:rPr lang="en-GB" sz="2400" dirty="0"/>
              <a:t> was explained.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20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1063</Words>
  <Application>Microsoft Office PowerPoint</Application>
  <PresentationFormat>Widescreen</PresentationFormat>
  <Paragraphs>304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Application Development with C++ (ELEC362)</vt:lpstr>
      <vt:lpstr>Previous lecture </vt:lpstr>
      <vt:lpstr>This lecture</vt:lpstr>
      <vt:lpstr>Why Qt??</vt:lpstr>
      <vt:lpstr>Why Qt??</vt:lpstr>
      <vt:lpstr>Qt resources and learning outcomes</vt:lpstr>
      <vt:lpstr>Qt basics</vt:lpstr>
      <vt:lpstr>Qt class hierarchy</vt:lpstr>
      <vt:lpstr>Qt and C++ relation</vt:lpstr>
      <vt:lpstr>Installation of Qt</vt:lpstr>
      <vt:lpstr>Qt creator</vt:lpstr>
      <vt:lpstr>How do GUI applications work?</vt:lpstr>
      <vt:lpstr>Deploying an application</vt:lpstr>
      <vt:lpstr>Deploying an application</vt:lpstr>
      <vt:lpstr>Summary 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285</cp:revision>
  <dcterms:created xsi:type="dcterms:W3CDTF">2019-05-09T14:26:54Z</dcterms:created>
  <dcterms:modified xsi:type="dcterms:W3CDTF">2026-09-28T09:27:07Z</dcterms:modified>
</cp:coreProperties>
</file>