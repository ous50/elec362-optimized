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57" r:id="rId4"/>
    <p:sldId id="282" r:id="rId5"/>
    <p:sldId id="258" r:id="rId6"/>
    <p:sldId id="276" r:id="rId7"/>
    <p:sldId id="283" r:id="rId8"/>
    <p:sldId id="277" r:id="rId9"/>
    <p:sldId id="259" r:id="rId10"/>
    <p:sldId id="288" r:id="rId11"/>
    <p:sldId id="278" r:id="rId12"/>
    <p:sldId id="279" r:id="rId13"/>
    <p:sldId id="280" r:id="rId14"/>
    <p:sldId id="289" r:id="rId15"/>
    <p:sldId id="287" r:id="rId16"/>
    <p:sldId id="284" r:id="rId17"/>
    <p:sldId id="286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E9EDB5"/>
    <a:srgbClr val="66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6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195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51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032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734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240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717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517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2263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2493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0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233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60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299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3113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76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20/09/2024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20/09/2024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20/09/2024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keywor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iostrea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plusplus.com/reference/string/strin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reference/fstream/fstrea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2: Basics of C++ programmes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An overview of C++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Difference between complied and interpreted languages.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role of compliers and how executable files are created.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Introduction to Visual Studio.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Basic rules of C++ coding.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Header inclusions and their roles in a code         2. Some common libraries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1. Headers files allow codes to make use of other parts of codes written already.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2. Libraries allow for high-level functionality to be introduced in a programme.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4 source codes and error type demonstration.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3D02C9C-3E55-41D2-91D7-70D767E154B1}"/>
              </a:ext>
            </a:extLst>
          </p:cNvPr>
          <p:cNvSpPr/>
          <p:nvPr/>
        </p:nvSpPr>
        <p:spPr>
          <a:xfrm>
            <a:off x="1083060" y="3598376"/>
            <a:ext cx="5012940" cy="65464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9AD73C-E107-4383-BFFB-65E63D116DB0}"/>
              </a:ext>
            </a:extLst>
          </p:cNvPr>
          <p:cNvSpPr/>
          <p:nvPr/>
        </p:nvSpPr>
        <p:spPr>
          <a:xfrm>
            <a:off x="947057" y="3108523"/>
            <a:ext cx="5298232" cy="226591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95D06A-5C7A-499B-B8EB-885E909A5AE6}"/>
              </a:ext>
            </a:extLst>
          </p:cNvPr>
          <p:cNvSpPr/>
          <p:nvPr/>
        </p:nvSpPr>
        <p:spPr>
          <a:xfrm>
            <a:off x="925286" y="1935467"/>
            <a:ext cx="5298232" cy="94769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Parts of a simple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72135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7E68AE8-5529-489E-A10A-9B1DBD5ADBDA}"/>
              </a:ext>
            </a:extLst>
          </p:cNvPr>
          <p:cNvSpPr/>
          <p:nvPr/>
        </p:nvSpPr>
        <p:spPr>
          <a:xfrm>
            <a:off x="838199" y="1835798"/>
            <a:ext cx="10087947" cy="47422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8BC16-6E25-4659-B55B-E79A38C2A873}"/>
              </a:ext>
            </a:extLst>
          </p:cNvPr>
          <p:cNvSpPr txBox="1"/>
          <p:nvPr/>
        </p:nvSpPr>
        <p:spPr>
          <a:xfrm>
            <a:off x="925286" y="1935467"/>
            <a:ext cx="455178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# include </a:t>
            </a:r>
            <a:r>
              <a:rPr lang="en-US" sz="2000" b="1" dirty="0">
                <a:solidFill>
                  <a:srgbClr val="FF0000"/>
                </a:solidFill>
                <a:latin typeface="Courier New"/>
                <a:cs typeface="Courier New"/>
              </a:rPr>
              <a:t>&lt;iostream&gt;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endParaRPr lang="en-US" sz="20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endParaRPr lang="en-US" sz="20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lang="en-US" sz="2000" b="1" dirty="0">
                <a:latin typeface="Courier New"/>
                <a:cs typeface="Courier New"/>
              </a:rPr>
              <a:t>main(){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int </a:t>
            </a:r>
            <a:r>
              <a:rPr lang="en-US" sz="2000" b="1" dirty="0">
                <a:latin typeface="Courier New"/>
                <a:cs typeface="Courier New"/>
              </a:rPr>
              <a:t>x = 0;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solidFill>
                  <a:srgbClr val="660066"/>
                </a:solidFill>
                <a:latin typeface="Courier New"/>
                <a:cs typeface="Courier New"/>
              </a:rPr>
              <a:t>  std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“x = ” &lt;&lt; x;</a:t>
            </a:r>
          </a:p>
          <a:p>
            <a:r>
              <a:rPr lang="en-US" sz="2000" b="1" dirty="0">
                <a:latin typeface="Courier New"/>
                <a:cs typeface="Courier New"/>
              </a:rPr>
              <a:t> </a:t>
            </a:r>
            <a:endParaRPr lang="en-US" sz="2000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}</a:t>
            </a:r>
          </a:p>
          <a:p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DB2AEA-8A26-433C-95D3-A041A37B66F2}"/>
              </a:ext>
            </a:extLst>
          </p:cNvPr>
          <p:cNvCxnSpPr>
            <a:cxnSpLocks/>
          </p:cNvCxnSpPr>
          <p:nvPr/>
        </p:nvCxnSpPr>
        <p:spPr>
          <a:xfrm flipH="1">
            <a:off x="6315267" y="2365304"/>
            <a:ext cx="10823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B28901-9A31-49F6-BEBA-5E1F4B6D7F9F}"/>
              </a:ext>
            </a:extLst>
          </p:cNvPr>
          <p:cNvSpPr txBox="1"/>
          <p:nvPr/>
        </p:nvSpPr>
        <p:spPr>
          <a:xfrm>
            <a:off x="7489367" y="2124956"/>
            <a:ext cx="2494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Header section</a:t>
            </a:r>
          </a:p>
          <a:p>
            <a:r>
              <a:rPr lang="en-US" sz="2800" dirty="0"/>
              <a:t> (this lecture)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54A6CF-107D-4D0D-ADB7-7B1410036564}"/>
              </a:ext>
            </a:extLst>
          </p:cNvPr>
          <p:cNvCxnSpPr>
            <a:cxnSpLocks/>
          </p:cNvCxnSpPr>
          <p:nvPr/>
        </p:nvCxnSpPr>
        <p:spPr>
          <a:xfrm flipH="1">
            <a:off x="6223518" y="4505994"/>
            <a:ext cx="10823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0A6D96B-1E7A-4F29-AA78-CEF2B94184DA}"/>
              </a:ext>
            </a:extLst>
          </p:cNvPr>
          <p:cNvSpPr txBox="1"/>
          <p:nvPr/>
        </p:nvSpPr>
        <p:spPr>
          <a:xfrm>
            <a:off x="7417111" y="4253023"/>
            <a:ext cx="3331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Function (lecture 5)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C9FC16-B689-4D65-B6BA-DFF207F793CC}"/>
              </a:ext>
            </a:extLst>
          </p:cNvPr>
          <p:cNvCxnSpPr>
            <a:cxnSpLocks/>
          </p:cNvCxnSpPr>
          <p:nvPr/>
        </p:nvCxnSpPr>
        <p:spPr>
          <a:xfrm flipH="1">
            <a:off x="5877087" y="3963659"/>
            <a:ext cx="10823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CE94ED5-4FDA-4EE0-A8F6-A77357CDEDDB}"/>
              </a:ext>
            </a:extLst>
          </p:cNvPr>
          <p:cNvSpPr txBox="1"/>
          <p:nvPr/>
        </p:nvSpPr>
        <p:spPr>
          <a:xfrm>
            <a:off x="7019448" y="3659436"/>
            <a:ext cx="3464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Variable (lecture 3)</a:t>
            </a:r>
          </a:p>
        </p:txBody>
      </p:sp>
    </p:spTree>
    <p:extLst>
      <p:ext uri="{BB962C8B-B14F-4D97-AF65-F5344CB8AC3E}">
        <p14:creationId xmlns:p14="http://schemas.microsoft.com/office/powerpoint/2010/main" val="77838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9" grpId="1" animBg="1"/>
      <p:bldP spid="8" grpId="0" animBg="1"/>
      <p:bldP spid="8" grpId="1" animBg="1"/>
      <p:bldP spid="11" grpId="0"/>
      <p:bldP spid="11" grpId="1"/>
      <p:bldP spid="13" grpId="0"/>
      <p:bldP spid="13" grpId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C++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845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Generally, there are three core components of C++, these are: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1. Keywords (analogous to alphabets in human language).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2. Syntax rules (analogous to grammar in human language).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3. Developer-written statements (analogous to words in human language).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All C++ keywords are given here: </a:t>
            </a:r>
            <a:r>
              <a:rPr lang="en-GB" sz="2400" dirty="0">
                <a:hlinkClick r:id="rId3"/>
              </a:rPr>
              <a:t>https://en.cppreference.com/w/cpp/keyword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QUESTION: Are these keywords enough to build a highly functional programme?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837E7F-6E32-4FA7-FFC1-2D74F1A37E4A}"/>
              </a:ext>
            </a:extLst>
          </p:cNvPr>
          <p:cNvSpPr txBox="1"/>
          <p:nvPr/>
        </p:nvSpPr>
        <p:spPr>
          <a:xfrm>
            <a:off x="382337" y="4923216"/>
            <a:ext cx="8840040" cy="1639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35FD0-7779-4F33-F521-4788A1D5CA51}"/>
              </a:ext>
            </a:extLst>
          </p:cNvPr>
          <p:cNvSpPr txBox="1"/>
          <p:nvPr/>
        </p:nvSpPr>
        <p:spPr>
          <a:xfrm>
            <a:off x="358621" y="4923215"/>
            <a:ext cx="97607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notes:</a:t>
            </a:r>
          </a:p>
          <a:p>
            <a:endParaRPr lang="en-GB" sz="2400" dirty="0"/>
          </a:p>
          <a:p>
            <a:r>
              <a:rPr lang="en-GB" sz="2400" dirty="0"/>
              <a:t>Some of C++ keywords are designed to alter how a code compiles, to minimise mistakes by developers in large codes.  </a:t>
            </a:r>
          </a:p>
        </p:txBody>
      </p: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Pre-processor directives and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3287"/>
            <a:ext cx="10515600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Early C++ developers thought of the most common requirements in any programme, creating “libraries” to implement those requirements.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Developers can use libraries using header inclusion.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51722" y="3075720"/>
            <a:ext cx="4497356" cy="318640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5DF49-F98C-47AC-B3C3-C8AD065E4879}"/>
              </a:ext>
            </a:extLst>
          </p:cNvPr>
          <p:cNvSpPr txBox="1"/>
          <p:nvPr/>
        </p:nvSpPr>
        <p:spPr>
          <a:xfrm>
            <a:off x="1018592" y="3123433"/>
            <a:ext cx="43371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# include </a:t>
            </a:r>
            <a:r>
              <a:rPr lang="en-US" sz="2000" b="1" dirty="0">
                <a:solidFill>
                  <a:srgbClr val="FF0000"/>
                </a:solidFill>
                <a:latin typeface="Courier New"/>
                <a:cs typeface="Courier New"/>
              </a:rPr>
              <a:t>&lt;iostream&gt;</a:t>
            </a:r>
          </a:p>
          <a:p>
            <a:endParaRPr lang="en-US" sz="2000" b="1" dirty="0">
              <a:latin typeface="Courier New"/>
              <a:cs typeface="Courier New"/>
            </a:endParaRP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lang="en-US" sz="2000" b="1" dirty="0">
                <a:latin typeface="Courier New"/>
                <a:cs typeface="Courier New"/>
              </a:rPr>
              <a:t>main(){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int </a:t>
            </a:r>
            <a:r>
              <a:rPr lang="en-US" sz="2000" b="1" dirty="0">
                <a:latin typeface="Courier New"/>
                <a:cs typeface="Courier New"/>
              </a:rPr>
              <a:t>x = 0;</a:t>
            </a:r>
          </a:p>
          <a:p>
            <a:r>
              <a:rPr lang="en-US" sz="2000" b="1" dirty="0">
                <a:solidFill>
                  <a:srgbClr val="660066"/>
                </a:solidFill>
                <a:latin typeface="Courier New"/>
                <a:cs typeface="Courier New"/>
              </a:rPr>
              <a:t>  std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US" sz="2000" b="1" dirty="0" err="1">
                <a:latin typeface="Courier New"/>
                <a:cs typeface="Courier New"/>
              </a:rPr>
              <a:t>cout</a:t>
            </a:r>
            <a:r>
              <a:rPr lang="en-US" sz="2000" b="1" dirty="0">
                <a:latin typeface="Courier New"/>
                <a:cs typeface="Courier New"/>
              </a:rPr>
              <a:t> &lt;&lt; “x = ” &lt;&lt; x;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return 0;</a:t>
            </a:r>
          </a:p>
          <a:p>
            <a:r>
              <a:rPr lang="en-US" sz="2000" b="1" dirty="0">
                <a:latin typeface="Courier New"/>
                <a:cs typeface="Courier New"/>
              </a:rPr>
              <a:t>}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CB6C3-BFB1-4129-BF24-8067F4640D28}"/>
              </a:ext>
            </a:extLst>
          </p:cNvPr>
          <p:cNvSpPr txBox="1"/>
          <p:nvPr/>
        </p:nvSpPr>
        <p:spPr>
          <a:xfrm>
            <a:off x="5592924" y="3065234"/>
            <a:ext cx="59482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onsolas" panose="020B0609020204030204" pitchFamily="49" charset="0"/>
              </a:rPr>
              <a:t># include </a:t>
            </a:r>
            <a:r>
              <a:rPr lang="en-GB" sz="2400" dirty="0"/>
              <a:t>is a pre-processor directive, which is a command that tells the compiler to </a:t>
            </a:r>
            <a:r>
              <a:rPr lang="en-GB" sz="2400" u="sng" dirty="0"/>
              <a:t>include a file </a:t>
            </a:r>
            <a:r>
              <a:rPr lang="en-GB" sz="2400" dirty="0"/>
              <a:t>in pre-processor stage before compilation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Consolas" panose="020B0609020204030204" pitchFamily="49" charset="0"/>
              </a:rPr>
              <a:t>&lt;iostream&gt; </a:t>
            </a:r>
            <a:r>
              <a:rPr lang="en-GB" sz="2400" dirty="0"/>
              <a:t>is the name of the file/library to be included in the pre-processing stage. </a:t>
            </a:r>
          </a:p>
        </p:txBody>
      </p:sp>
    </p:spTree>
    <p:extLst>
      <p:ext uri="{BB962C8B-B14F-4D97-AF65-F5344CB8AC3E}">
        <p14:creationId xmlns:p14="http://schemas.microsoft.com/office/powerpoint/2010/main" val="30216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Pre-processor directives and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065"/>
            <a:ext cx="10515600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“#</a:t>
            </a:r>
            <a:r>
              <a:rPr lang="en-GB" sz="2400" dirty="0">
                <a:latin typeface="Consolas" panose="020B0609020204030204" pitchFamily="49" charset="0"/>
              </a:rPr>
              <a:t>include</a:t>
            </a:r>
            <a:r>
              <a:rPr lang="en-GB" sz="2400" dirty="0"/>
              <a:t>” is one of many pre-processor directives, including: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  <a:r>
              <a:rPr lang="en-GB" sz="2400" dirty="0">
                <a:latin typeface="Consolas" panose="020B0609020204030204" pitchFamily="49" charset="0"/>
              </a:rPr>
              <a:t>#define </a:t>
            </a:r>
            <a:r>
              <a:rPr lang="en-GB" sz="2400" dirty="0"/>
              <a:t>: used to define a macro (set of simple statements).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  <a:r>
              <a:rPr lang="en-GB" sz="2400" dirty="0">
                <a:latin typeface="Consolas" panose="020B0609020204030204" pitchFamily="49" charset="0"/>
              </a:rPr>
              <a:t>#</a:t>
            </a:r>
            <a:r>
              <a:rPr lang="en-GB" sz="2400" dirty="0" err="1">
                <a:latin typeface="Consolas" panose="020B0609020204030204" pitchFamily="49" charset="0"/>
              </a:rPr>
              <a:t>undef</a:t>
            </a:r>
            <a:r>
              <a:rPr lang="en-GB" sz="2400" dirty="0">
                <a:latin typeface="Consolas" panose="020B0609020204030204" pitchFamily="49" charset="0"/>
              </a:rPr>
              <a:t> </a:t>
            </a:r>
            <a:r>
              <a:rPr lang="en-GB" sz="2400" dirty="0"/>
              <a:t>: used to undefine a macro that was defined earlier in the code.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  <a:r>
              <a:rPr lang="en-GB" sz="2400" dirty="0">
                <a:latin typeface="Consolas" panose="020B0609020204030204" pitchFamily="49" charset="0"/>
              </a:rPr>
              <a:t>#ifdef </a:t>
            </a:r>
            <a:r>
              <a:rPr lang="en-GB" sz="2400" dirty="0"/>
              <a:t>: used to define a macro if some conditions are met.</a:t>
            </a:r>
          </a:p>
          <a:p>
            <a:pPr marL="1790700" indent="-1790700">
              <a:lnSpc>
                <a:spcPct val="120000"/>
              </a:lnSpc>
              <a:buNone/>
            </a:pPr>
            <a:r>
              <a:rPr lang="en-GB" sz="2400" dirty="0"/>
              <a:t>     </a:t>
            </a:r>
            <a:r>
              <a:rPr lang="en-GB" sz="2400" dirty="0">
                <a:latin typeface="Consolas" panose="020B0609020204030204" pitchFamily="49" charset="0"/>
              </a:rPr>
              <a:t>#pragma </a:t>
            </a:r>
            <a:r>
              <a:rPr lang="en-GB" sz="2400" dirty="0"/>
              <a:t>: used to switch on / off some features in the compiler (highly  dependent on compiler used).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Many of these pre-processor directives are important when dealing with classes and multiple header codes.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811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Input / Output Streams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065"/>
            <a:ext cx="10675776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This is the </a:t>
            </a:r>
            <a:r>
              <a:rPr lang="en-GB" sz="2400" dirty="0">
                <a:latin typeface="Consolas" panose="020B0609020204030204" pitchFamily="49" charset="0"/>
              </a:rPr>
              <a:t>&lt;iostream&gt;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library that deals with input / output to the user. 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Full description is found here: </a:t>
            </a:r>
            <a:r>
              <a:rPr lang="en-GB" sz="2400" dirty="0">
                <a:hlinkClick r:id="rId3"/>
              </a:rPr>
              <a:t>http://www.cplusplus.com/reference/iostream/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Stream: a flow of bytes from the programme to the user or vice versa.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DF46E7-7BBE-4D83-BD19-8EDAE76DF489}"/>
              </a:ext>
            </a:extLst>
          </p:cNvPr>
          <p:cNvGrpSpPr/>
          <p:nvPr/>
        </p:nvGrpSpPr>
        <p:grpSpPr>
          <a:xfrm>
            <a:off x="1448824" y="5120544"/>
            <a:ext cx="7811895" cy="1458826"/>
            <a:chOff x="1567634" y="3514483"/>
            <a:chExt cx="7811895" cy="1458826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409B6CF-701E-4038-B0FB-82C4CB6C5272}"/>
                </a:ext>
              </a:extLst>
            </p:cNvPr>
            <p:cNvSpPr/>
            <p:nvPr/>
          </p:nvSpPr>
          <p:spPr>
            <a:xfrm>
              <a:off x="2859239" y="4097412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  <p:sp>
          <p:nvSpPr>
            <p:cNvPr id="13" name="Pentagon 15">
              <a:extLst>
                <a:ext uri="{FF2B5EF4-FFF2-40B4-BE49-F238E27FC236}">
                  <a16:creationId xmlns:a16="http://schemas.microsoft.com/office/drawing/2014/main" id="{703A33A6-D96C-4826-BF20-E3B79FBC6E24}"/>
                </a:ext>
              </a:extLst>
            </p:cNvPr>
            <p:cNvSpPr/>
            <p:nvPr/>
          </p:nvSpPr>
          <p:spPr>
            <a:xfrm>
              <a:off x="4582746" y="3764735"/>
              <a:ext cx="285109" cy="184973"/>
            </a:xfrm>
            <a:prstGeom prst="homePlate">
              <a:avLst/>
            </a:prstGeom>
            <a:solidFill>
              <a:srgbClr val="008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entagon 16">
              <a:extLst>
                <a:ext uri="{FF2B5EF4-FFF2-40B4-BE49-F238E27FC236}">
                  <a16:creationId xmlns:a16="http://schemas.microsoft.com/office/drawing/2014/main" id="{BC3C3D22-E453-40B2-AB5F-743E7F78C4F3}"/>
                </a:ext>
              </a:extLst>
            </p:cNvPr>
            <p:cNvSpPr/>
            <p:nvPr/>
          </p:nvSpPr>
          <p:spPr>
            <a:xfrm>
              <a:off x="5932318" y="3764734"/>
              <a:ext cx="285109" cy="184973"/>
            </a:xfrm>
            <a:prstGeom prst="homePlate">
              <a:avLst/>
            </a:prstGeom>
            <a:solidFill>
              <a:srgbClr val="008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Pentagon 17">
              <a:extLst>
                <a:ext uri="{FF2B5EF4-FFF2-40B4-BE49-F238E27FC236}">
                  <a16:creationId xmlns:a16="http://schemas.microsoft.com/office/drawing/2014/main" id="{D2E62071-F84C-4336-A551-E0F42ED88664}"/>
                </a:ext>
              </a:extLst>
            </p:cNvPr>
            <p:cNvSpPr/>
            <p:nvPr/>
          </p:nvSpPr>
          <p:spPr>
            <a:xfrm>
              <a:off x="7220306" y="3780992"/>
              <a:ext cx="285109" cy="184973"/>
            </a:xfrm>
            <a:prstGeom prst="homePlate">
              <a:avLst/>
            </a:prstGeom>
            <a:solidFill>
              <a:srgbClr val="008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AA6542-3619-4985-A6BD-D5B0FBE44B7D}"/>
                </a:ext>
              </a:extLst>
            </p:cNvPr>
            <p:cNvSpPr txBox="1"/>
            <p:nvPr/>
          </p:nvSpPr>
          <p:spPr>
            <a:xfrm>
              <a:off x="4562553" y="4573199"/>
              <a:ext cx="17381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008000"/>
                  </a:solidFill>
                </a:rPr>
                <a:t>Output stream</a:t>
              </a:r>
            </a:p>
          </p:txBody>
        </p:sp>
        <p:sp>
          <p:nvSpPr>
            <p:cNvPr id="18" name="8-Point Star 22">
              <a:extLst>
                <a:ext uri="{FF2B5EF4-FFF2-40B4-BE49-F238E27FC236}">
                  <a16:creationId xmlns:a16="http://schemas.microsoft.com/office/drawing/2014/main" id="{4A8B2537-E785-4AE3-8A65-9167BF350332}"/>
                </a:ext>
              </a:extLst>
            </p:cNvPr>
            <p:cNvSpPr/>
            <p:nvPr/>
          </p:nvSpPr>
          <p:spPr>
            <a:xfrm>
              <a:off x="8040382" y="3739004"/>
              <a:ext cx="1339147" cy="1034250"/>
            </a:xfrm>
            <a:prstGeom prst="star8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Output Device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D7691E-B721-4D07-8F73-6B02FB6BB2B9}"/>
                </a:ext>
              </a:extLst>
            </p:cNvPr>
            <p:cNvSpPr txBox="1"/>
            <p:nvPr/>
          </p:nvSpPr>
          <p:spPr>
            <a:xfrm>
              <a:off x="1567634" y="4573199"/>
              <a:ext cx="1364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Application</a:t>
              </a:r>
            </a:p>
          </p:txBody>
        </p:sp>
        <p:sp>
          <p:nvSpPr>
            <p:cNvPr id="20" name="Pentagon 43">
              <a:extLst>
                <a:ext uri="{FF2B5EF4-FFF2-40B4-BE49-F238E27FC236}">
                  <a16:creationId xmlns:a16="http://schemas.microsoft.com/office/drawing/2014/main" id="{7E6DDC42-4089-4A36-9C97-298ECE143649}"/>
                </a:ext>
              </a:extLst>
            </p:cNvPr>
            <p:cNvSpPr/>
            <p:nvPr/>
          </p:nvSpPr>
          <p:spPr>
            <a:xfrm>
              <a:off x="3207155" y="3740811"/>
              <a:ext cx="285109" cy="184973"/>
            </a:xfrm>
            <a:prstGeom prst="homePlate">
              <a:avLst/>
            </a:prstGeom>
            <a:solidFill>
              <a:srgbClr val="008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0" descr="Image result for application icon">
              <a:extLst>
                <a:ext uri="{FF2B5EF4-FFF2-40B4-BE49-F238E27FC236}">
                  <a16:creationId xmlns:a16="http://schemas.microsoft.com/office/drawing/2014/main" id="{8500147B-680E-4A67-9457-828D76D838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432" y="3514483"/>
              <a:ext cx="1151203" cy="1151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Rounded Rectangle 10">
              <a:extLst>
                <a:ext uri="{FF2B5EF4-FFF2-40B4-BE49-F238E27FC236}">
                  <a16:creationId xmlns:a16="http://schemas.microsoft.com/office/drawing/2014/main" id="{BBDFA51A-9CBC-4BD6-8446-6557F3EC6ECF}"/>
                </a:ext>
              </a:extLst>
            </p:cNvPr>
            <p:cNvSpPr/>
            <p:nvPr/>
          </p:nvSpPr>
          <p:spPr>
            <a:xfrm>
              <a:off x="4118950" y="4103495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  <p:sp>
          <p:nvSpPr>
            <p:cNvPr id="26" name="Rounded Rectangle 10">
              <a:extLst>
                <a:ext uri="{FF2B5EF4-FFF2-40B4-BE49-F238E27FC236}">
                  <a16:creationId xmlns:a16="http://schemas.microsoft.com/office/drawing/2014/main" id="{34F2B6C6-F55B-48EE-8042-01CD4FDD3193}"/>
                </a:ext>
              </a:extLst>
            </p:cNvPr>
            <p:cNvSpPr/>
            <p:nvPr/>
          </p:nvSpPr>
          <p:spPr>
            <a:xfrm>
              <a:off x="5402934" y="4103495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  <p:sp>
          <p:nvSpPr>
            <p:cNvPr id="27" name="Rounded Rectangle 10">
              <a:extLst>
                <a:ext uri="{FF2B5EF4-FFF2-40B4-BE49-F238E27FC236}">
                  <a16:creationId xmlns:a16="http://schemas.microsoft.com/office/drawing/2014/main" id="{C13AA659-C365-437E-B597-977A51636E67}"/>
                </a:ext>
              </a:extLst>
            </p:cNvPr>
            <p:cNvSpPr/>
            <p:nvPr/>
          </p:nvSpPr>
          <p:spPr>
            <a:xfrm>
              <a:off x="6721658" y="4115930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</p:grpSp>
      <p:pic>
        <p:nvPicPr>
          <p:cNvPr id="36" name="Picture 20" descr="Image result for application icon">
            <a:extLst>
              <a:ext uri="{FF2B5EF4-FFF2-40B4-BE49-F238E27FC236}">
                <a16:creationId xmlns:a16="http://schemas.microsoft.com/office/drawing/2014/main" id="{B8D33A31-E184-47C2-99B8-5923BCEFD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844" y="3337507"/>
            <a:ext cx="1151203" cy="115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AFEADFB-5411-4277-A09D-9D1AAFE00E6B}"/>
              </a:ext>
            </a:extLst>
          </p:cNvPr>
          <p:cNvGrpSpPr/>
          <p:nvPr/>
        </p:nvGrpSpPr>
        <p:grpSpPr>
          <a:xfrm>
            <a:off x="1425705" y="3508594"/>
            <a:ext cx="7811895" cy="1234305"/>
            <a:chOff x="1524094" y="5468280"/>
            <a:chExt cx="7811895" cy="1234305"/>
          </a:xfrm>
        </p:grpSpPr>
        <p:sp>
          <p:nvSpPr>
            <p:cNvPr id="28" name="Rounded Rectangle 10">
              <a:extLst>
                <a:ext uri="{FF2B5EF4-FFF2-40B4-BE49-F238E27FC236}">
                  <a16:creationId xmlns:a16="http://schemas.microsoft.com/office/drawing/2014/main" id="{C4E7553C-03FB-40D0-95CB-1C542F89FE71}"/>
                </a:ext>
              </a:extLst>
            </p:cNvPr>
            <p:cNvSpPr/>
            <p:nvPr/>
          </p:nvSpPr>
          <p:spPr>
            <a:xfrm>
              <a:off x="2815699" y="5826688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  <p:sp>
          <p:nvSpPr>
            <p:cNvPr id="29" name="Pentagon 15">
              <a:extLst>
                <a:ext uri="{FF2B5EF4-FFF2-40B4-BE49-F238E27FC236}">
                  <a16:creationId xmlns:a16="http://schemas.microsoft.com/office/drawing/2014/main" id="{7483957A-F6EA-4A37-A2F4-78F2A3445EBC}"/>
                </a:ext>
              </a:extLst>
            </p:cNvPr>
            <p:cNvSpPr/>
            <p:nvPr/>
          </p:nvSpPr>
          <p:spPr>
            <a:xfrm flipH="1">
              <a:off x="4539206" y="5494011"/>
              <a:ext cx="285109" cy="184973"/>
            </a:xfrm>
            <a:prstGeom prst="homePlate">
              <a:avLst/>
            </a:prstGeom>
            <a:solidFill>
              <a:srgbClr val="FF0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Pentagon 16">
              <a:extLst>
                <a:ext uri="{FF2B5EF4-FFF2-40B4-BE49-F238E27FC236}">
                  <a16:creationId xmlns:a16="http://schemas.microsoft.com/office/drawing/2014/main" id="{A6623317-CC0A-45F2-A6A3-F6F348553109}"/>
                </a:ext>
              </a:extLst>
            </p:cNvPr>
            <p:cNvSpPr/>
            <p:nvPr/>
          </p:nvSpPr>
          <p:spPr>
            <a:xfrm flipH="1">
              <a:off x="5888778" y="5494010"/>
              <a:ext cx="285109" cy="184973"/>
            </a:xfrm>
            <a:prstGeom prst="homePlate">
              <a:avLst/>
            </a:prstGeom>
            <a:solidFill>
              <a:srgbClr val="FF0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Pentagon 17">
              <a:extLst>
                <a:ext uri="{FF2B5EF4-FFF2-40B4-BE49-F238E27FC236}">
                  <a16:creationId xmlns:a16="http://schemas.microsoft.com/office/drawing/2014/main" id="{DC6118C9-7999-40B5-8C5A-399A50123CBC}"/>
                </a:ext>
              </a:extLst>
            </p:cNvPr>
            <p:cNvSpPr/>
            <p:nvPr/>
          </p:nvSpPr>
          <p:spPr>
            <a:xfrm flipH="1">
              <a:off x="7176766" y="5510268"/>
              <a:ext cx="285109" cy="184973"/>
            </a:xfrm>
            <a:prstGeom prst="homePlate">
              <a:avLst/>
            </a:prstGeom>
            <a:solidFill>
              <a:srgbClr val="FF0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2E7AEB-4BEC-457F-B2DA-858230AB86CB}"/>
                </a:ext>
              </a:extLst>
            </p:cNvPr>
            <p:cNvSpPr txBox="1"/>
            <p:nvPr/>
          </p:nvSpPr>
          <p:spPr>
            <a:xfrm>
              <a:off x="4519013" y="6302475"/>
              <a:ext cx="15474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Input stream</a:t>
              </a:r>
            </a:p>
          </p:txBody>
        </p:sp>
        <p:sp>
          <p:nvSpPr>
            <p:cNvPr id="33" name="8-Point Star 22">
              <a:extLst>
                <a:ext uri="{FF2B5EF4-FFF2-40B4-BE49-F238E27FC236}">
                  <a16:creationId xmlns:a16="http://schemas.microsoft.com/office/drawing/2014/main" id="{646142C6-A2CC-4A29-B5AE-B29DD6E85ECA}"/>
                </a:ext>
              </a:extLst>
            </p:cNvPr>
            <p:cNvSpPr/>
            <p:nvPr/>
          </p:nvSpPr>
          <p:spPr>
            <a:xfrm>
              <a:off x="7996842" y="5468280"/>
              <a:ext cx="1339147" cy="1034250"/>
            </a:xfrm>
            <a:prstGeom prst="star8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Input Device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5F134CF-1442-421A-845D-68EB1208F71B}"/>
                </a:ext>
              </a:extLst>
            </p:cNvPr>
            <p:cNvSpPr txBox="1"/>
            <p:nvPr/>
          </p:nvSpPr>
          <p:spPr>
            <a:xfrm>
              <a:off x="1524094" y="6302475"/>
              <a:ext cx="1364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Application</a:t>
              </a:r>
            </a:p>
          </p:txBody>
        </p:sp>
        <p:sp>
          <p:nvSpPr>
            <p:cNvPr id="35" name="Pentagon 43">
              <a:extLst>
                <a:ext uri="{FF2B5EF4-FFF2-40B4-BE49-F238E27FC236}">
                  <a16:creationId xmlns:a16="http://schemas.microsoft.com/office/drawing/2014/main" id="{FE9A602C-8DFF-4A34-92EF-9780203179D4}"/>
                </a:ext>
              </a:extLst>
            </p:cNvPr>
            <p:cNvSpPr/>
            <p:nvPr/>
          </p:nvSpPr>
          <p:spPr>
            <a:xfrm flipH="1">
              <a:off x="3163615" y="5470087"/>
              <a:ext cx="285109" cy="184973"/>
            </a:xfrm>
            <a:prstGeom prst="homePlate">
              <a:avLst/>
            </a:prstGeom>
            <a:solidFill>
              <a:srgbClr val="FF0000"/>
            </a:solidFill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ounded Rectangle 10">
              <a:extLst>
                <a:ext uri="{FF2B5EF4-FFF2-40B4-BE49-F238E27FC236}">
                  <a16:creationId xmlns:a16="http://schemas.microsoft.com/office/drawing/2014/main" id="{A3731E33-7B61-496A-AF53-14A697E24505}"/>
                </a:ext>
              </a:extLst>
            </p:cNvPr>
            <p:cNvSpPr/>
            <p:nvPr/>
          </p:nvSpPr>
          <p:spPr>
            <a:xfrm>
              <a:off x="4075410" y="5832771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  <p:sp>
          <p:nvSpPr>
            <p:cNvPr id="38" name="Rounded Rectangle 10">
              <a:extLst>
                <a:ext uri="{FF2B5EF4-FFF2-40B4-BE49-F238E27FC236}">
                  <a16:creationId xmlns:a16="http://schemas.microsoft.com/office/drawing/2014/main" id="{72D6C418-2DC3-4F03-8818-8C69881FF472}"/>
                </a:ext>
              </a:extLst>
            </p:cNvPr>
            <p:cNvSpPr/>
            <p:nvPr/>
          </p:nvSpPr>
          <p:spPr>
            <a:xfrm>
              <a:off x="5359394" y="5832771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  <p:sp>
          <p:nvSpPr>
            <p:cNvPr id="39" name="Rounded Rectangle 10">
              <a:extLst>
                <a:ext uri="{FF2B5EF4-FFF2-40B4-BE49-F238E27FC236}">
                  <a16:creationId xmlns:a16="http://schemas.microsoft.com/office/drawing/2014/main" id="{1168EB2C-8723-4B95-8637-631E9830F032}"/>
                </a:ext>
              </a:extLst>
            </p:cNvPr>
            <p:cNvSpPr/>
            <p:nvPr/>
          </p:nvSpPr>
          <p:spPr>
            <a:xfrm>
              <a:off x="6678118" y="5845206"/>
              <a:ext cx="1212703" cy="416768"/>
            </a:xfrm>
            <a:prstGeom prst="roundRect">
              <a:avLst/>
            </a:prstGeom>
            <a:ln>
              <a:solidFill>
                <a:schemeClr val="bg2">
                  <a:lumMod val="2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00010010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366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Standard Input / Output Streams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065"/>
            <a:ext cx="10675776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There are four streams in this standard library (std):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Characters are passed to the streams using the “&lt;&lt;“ operator for output streams and the “&gt;&gt;” operator for input streams.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L2D1.cpp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5733588-065A-4282-90AE-1716B5AB6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27030"/>
              </p:ext>
            </p:extLst>
          </p:nvPr>
        </p:nvGraphicFramePr>
        <p:xfrm>
          <a:off x="1125990" y="1984438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946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6549054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Consolas" panose="020B0609020204030204" pitchFamily="49" charset="0"/>
                        </a:rPr>
                        <a:t>cin</a:t>
                      </a:r>
                      <a:endParaRPr lang="en-GB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Input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Consolas" panose="020B0609020204030204" pitchFamily="49" charset="0"/>
                        </a:rPr>
                        <a:t>cout</a:t>
                      </a:r>
                      <a:endParaRPr lang="en-GB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Output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Consolas" panose="020B0609020204030204" pitchFamily="49" charset="0"/>
                        </a:rPr>
                        <a:t>cerr</a:t>
                      </a:r>
                      <a:endParaRPr lang="en-GB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Error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05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onsolas" panose="020B0609020204030204" pitchFamily="49" charset="0"/>
                        </a:rPr>
                        <a:t>clog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Log stream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502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25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Buffering of Output Streams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2" y="1503843"/>
            <a:ext cx="11250835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To handle streams faster in code execution, streams are buffered.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/>
              <a:t>flushes the stream every time, while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GB" sz="2400" dirty="0"/>
              <a:t> only does it when necessary.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Output streams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2400" dirty="0"/>
              <a:t> and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clog</a:t>
            </a:r>
            <a:r>
              <a:rPr lang="en-GB" sz="2400" dirty="0"/>
              <a:t> are buffered while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cerr</a:t>
            </a:r>
            <a:r>
              <a:rPr lang="en-GB" sz="2400" dirty="0"/>
              <a:t> is not.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streams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and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are the “variable” names of the buffers. 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4C08049-B472-4C62-841D-A30202AEAE61}"/>
              </a:ext>
            </a:extLst>
          </p:cNvPr>
          <p:cNvSpPr txBox="1"/>
          <p:nvPr/>
        </p:nvSpPr>
        <p:spPr>
          <a:xfrm>
            <a:off x="1148183" y="3216987"/>
            <a:ext cx="13647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Application</a:t>
            </a:r>
          </a:p>
        </p:txBody>
      </p:sp>
      <p:pic>
        <p:nvPicPr>
          <p:cNvPr id="8" name="Picture 20" descr="Image result for application icon">
            <a:extLst>
              <a:ext uri="{FF2B5EF4-FFF2-40B4-BE49-F238E27FC236}">
                <a16:creationId xmlns:a16="http://schemas.microsoft.com/office/drawing/2014/main" id="{2D873E2E-D908-439E-B704-71F48F073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981" y="2123837"/>
            <a:ext cx="1151203" cy="115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entagon 15">
            <a:extLst>
              <a:ext uri="{FF2B5EF4-FFF2-40B4-BE49-F238E27FC236}">
                <a16:creationId xmlns:a16="http://schemas.microsoft.com/office/drawing/2014/main" id="{8B3509FF-BB73-487C-A7A2-1758E91EA0C5}"/>
              </a:ext>
            </a:extLst>
          </p:cNvPr>
          <p:cNvSpPr/>
          <p:nvPr/>
        </p:nvSpPr>
        <p:spPr>
          <a:xfrm>
            <a:off x="3137702" y="2472357"/>
            <a:ext cx="285109" cy="184973"/>
          </a:xfrm>
          <a:prstGeom prst="homePlate">
            <a:avLst/>
          </a:prstGeom>
          <a:solidFill>
            <a:srgbClr val="008000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entagon 16">
            <a:extLst>
              <a:ext uri="{FF2B5EF4-FFF2-40B4-BE49-F238E27FC236}">
                <a16:creationId xmlns:a16="http://schemas.microsoft.com/office/drawing/2014/main" id="{C4964423-EAD6-465C-89A3-22D17E7A91F1}"/>
              </a:ext>
            </a:extLst>
          </p:cNvPr>
          <p:cNvSpPr/>
          <p:nvPr/>
        </p:nvSpPr>
        <p:spPr>
          <a:xfrm>
            <a:off x="3714941" y="2472356"/>
            <a:ext cx="285109" cy="184973"/>
          </a:xfrm>
          <a:prstGeom prst="homePlate">
            <a:avLst/>
          </a:prstGeom>
          <a:solidFill>
            <a:srgbClr val="008000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entagon 17">
            <a:extLst>
              <a:ext uri="{FF2B5EF4-FFF2-40B4-BE49-F238E27FC236}">
                <a16:creationId xmlns:a16="http://schemas.microsoft.com/office/drawing/2014/main" id="{1BED68D0-143F-41CD-9705-0A2AA393697D}"/>
              </a:ext>
            </a:extLst>
          </p:cNvPr>
          <p:cNvSpPr/>
          <p:nvPr/>
        </p:nvSpPr>
        <p:spPr>
          <a:xfrm>
            <a:off x="4367608" y="2488615"/>
            <a:ext cx="285109" cy="184973"/>
          </a:xfrm>
          <a:prstGeom prst="homePlate">
            <a:avLst/>
          </a:prstGeom>
          <a:solidFill>
            <a:srgbClr val="008000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00FD3-E5D6-4856-987D-0B8E6606439E}"/>
              </a:ext>
            </a:extLst>
          </p:cNvPr>
          <p:cNvSpPr txBox="1"/>
          <p:nvPr/>
        </p:nvSpPr>
        <p:spPr>
          <a:xfrm>
            <a:off x="2682838" y="2014884"/>
            <a:ext cx="17381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008000"/>
                </a:solidFill>
              </a:rPr>
              <a:t>Output stream</a:t>
            </a:r>
          </a:p>
        </p:txBody>
      </p:sp>
      <p:sp>
        <p:nvSpPr>
          <p:cNvPr id="13" name="Pentagon 43">
            <a:extLst>
              <a:ext uri="{FF2B5EF4-FFF2-40B4-BE49-F238E27FC236}">
                <a16:creationId xmlns:a16="http://schemas.microsoft.com/office/drawing/2014/main" id="{8E16E88E-CC18-4FCE-9FB0-7E023A643C32}"/>
              </a:ext>
            </a:extLst>
          </p:cNvPr>
          <p:cNvSpPr/>
          <p:nvPr/>
        </p:nvSpPr>
        <p:spPr>
          <a:xfrm>
            <a:off x="2644652" y="2482462"/>
            <a:ext cx="285109" cy="184973"/>
          </a:xfrm>
          <a:prstGeom prst="homePlate">
            <a:avLst/>
          </a:prstGeom>
          <a:solidFill>
            <a:srgbClr val="008000"/>
          </a:solidFill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E5B65-7A84-41A6-9E17-8D8F18396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404" y="1450419"/>
            <a:ext cx="2413820" cy="241382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02ABE5-3B54-4B92-A509-7F527B8EEA0A}"/>
              </a:ext>
            </a:extLst>
          </p:cNvPr>
          <p:cNvCxnSpPr>
            <a:cxnSpLocks/>
          </p:cNvCxnSpPr>
          <p:nvPr/>
        </p:nvCxnSpPr>
        <p:spPr>
          <a:xfrm>
            <a:off x="6778232" y="2667435"/>
            <a:ext cx="1248743" cy="0"/>
          </a:xfrm>
          <a:prstGeom prst="straightConnector1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AA3AB922-C9C3-4B04-AE70-7B382204B4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113" y="2055007"/>
            <a:ext cx="1627798" cy="136203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84D5331-61BD-41AB-AE00-DBF4FAD61D04}"/>
              </a:ext>
            </a:extLst>
          </p:cNvPr>
          <p:cNvSpPr txBox="1"/>
          <p:nvPr/>
        </p:nvSpPr>
        <p:spPr>
          <a:xfrm>
            <a:off x="5130653" y="3198406"/>
            <a:ext cx="1078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Memory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AF7680-C4A2-4CAD-ACF6-D2FAB38C0432}"/>
              </a:ext>
            </a:extLst>
          </p:cNvPr>
          <p:cNvSpPr txBox="1"/>
          <p:nvPr/>
        </p:nvSpPr>
        <p:spPr>
          <a:xfrm>
            <a:off x="8676114" y="3398461"/>
            <a:ext cx="889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Screen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F719DC-D775-449E-BA28-8AA89AF8A5EE}"/>
              </a:ext>
            </a:extLst>
          </p:cNvPr>
          <p:cNvSpPr txBox="1"/>
          <p:nvPr/>
        </p:nvSpPr>
        <p:spPr>
          <a:xfrm>
            <a:off x="3025162" y="2816877"/>
            <a:ext cx="1139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Buffering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9FCB7F-33DB-4548-AD44-11CF021CD4C9}"/>
              </a:ext>
            </a:extLst>
          </p:cNvPr>
          <p:cNvSpPr txBox="1"/>
          <p:nvPr/>
        </p:nvSpPr>
        <p:spPr>
          <a:xfrm>
            <a:off x="6775583" y="2798296"/>
            <a:ext cx="1047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Flushing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D81986-AC8A-49B4-9195-5E0C5B32EE40}"/>
              </a:ext>
            </a:extLst>
          </p:cNvPr>
          <p:cNvSpPr txBox="1"/>
          <p:nvPr/>
        </p:nvSpPr>
        <p:spPr>
          <a:xfrm>
            <a:off x="338791" y="5501929"/>
            <a:ext cx="106625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B0E6B4-9F83-4BED-B2C9-CD247450F77C}"/>
              </a:ext>
            </a:extLst>
          </p:cNvPr>
          <p:cNvSpPr txBox="1"/>
          <p:nvPr/>
        </p:nvSpPr>
        <p:spPr>
          <a:xfrm>
            <a:off x="278363" y="5445163"/>
            <a:ext cx="110754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notes:</a:t>
            </a:r>
          </a:p>
          <a:p>
            <a:endParaRPr lang="en-GB" sz="2400" dirty="0"/>
          </a:p>
          <a:p>
            <a:r>
              <a:rPr lang="en-GB" sz="2400" dirty="0"/>
              <a:t>For speed use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“\n” </a:t>
            </a:r>
            <a:r>
              <a:rPr lang="en-GB" sz="2400" dirty="0"/>
              <a:t>instead of </a:t>
            </a:r>
            <a:r>
              <a:rPr lang="en-US" sz="2400" b="1" dirty="0">
                <a:solidFill>
                  <a:srgbClr val="660066"/>
                </a:solidFill>
                <a:latin typeface="Courier New"/>
                <a:cs typeface="Courier New"/>
              </a:rPr>
              <a:t>std</a:t>
            </a:r>
            <a:r>
              <a:rPr lang="en-US" sz="2400" b="1" dirty="0">
                <a:latin typeface="Courier New"/>
                <a:cs typeface="Courier New"/>
              </a:rPr>
              <a:t>::</a:t>
            </a:r>
            <a:r>
              <a:rPr lang="en-US" sz="2400" b="1" dirty="0" err="1">
                <a:latin typeface="Courier New"/>
                <a:cs typeface="Courier New"/>
              </a:rPr>
              <a:t>endl</a:t>
            </a:r>
            <a:r>
              <a:rPr lang="en-US" sz="2400" b="1" dirty="0">
                <a:latin typeface="Courier New"/>
                <a:cs typeface="Courier New"/>
              </a:rPr>
              <a:t> </a:t>
            </a:r>
            <a:r>
              <a:rPr lang="en-GB" sz="2400" dirty="0"/>
              <a:t>to start a new line in an output stream.</a:t>
            </a:r>
          </a:p>
        </p:txBody>
      </p:sp>
    </p:spTree>
    <p:extLst>
      <p:ext uri="{BB962C8B-B14F-4D97-AF65-F5344CB8AC3E}">
        <p14:creationId xmlns:p14="http://schemas.microsoft.com/office/powerpoint/2010/main" val="202883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Other standard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6843"/>
            <a:ext cx="11075437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list of standard libraries available in C++ can be found in: </a:t>
            </a:r>
            <a:r>
              <a:rPr lang="en-GB" sz="2400" dirty="0">
                <a:hlinkClick r:id="rId3"/>
              </a:rPr>
              <a:t>http://www.cplusplus.com/reference/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Another library is </a:t>
            </a:r>
            <a:r>
              <a:rPr lang="en-GB" sz="2400" dirty="0">
                <a:latin typeface="Consolas" panose="020B0609020204030204" pitchFamily="49" charset="0"/>
              </a:rPr>
              <a:t>&lt;string&gt; </a:t>
            </a:r>
            <a:r>
              <a:rPr lang="en-GB" sz="2400" dirty="0"/>
              <a:t>which handles sequences (or 1D arrays) of characters.  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L2D2.cpp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 functions in &lt;string&gt; library (full list can be found here: </a:t>
            </a:r>
            <a:r>
              <a:rPr lang="en-GB" sz="2400" dirty="0">
                <a:hlinkClick r:id="rId4"/>
              </a:rPr>
              <a:t>http://www.cplusplus.com/reference/string/string/</a:t>
            </a:r>
            <a:r>
              <a:rPr lang="en-GB" sz="2400" dirty="0"/>
              <a:t>)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89B2AE-2D2E-4507-8E92-F853796E6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203298"/>
              </p:ext>
            </p:extLst>
          </p:nvPr>
        </p:nvGraphicFramePr>
        <p:xfrm>
          <a:off x="838198" y="4690569"/>
          <a:ext cx="977070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058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7872647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</a:tblGrid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length()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Returns the length of the string calling the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at(</a:t>
                      </a:r>
                      <a:r>
                        <a:rPr lang="en-GB" sz="20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GB" sz="20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Returns the character at the position “</a:t>
                      </a:r>
                      <a:r>
                        <a:rPr lang="en-GB" sz="2000" dirty="0" err="1"/>
                        <a:t>i</a:t>
                      </a:r>
                      <a:r>
                        <a:rPr lang="en-GB" sz="2000" dirty="0"/>
                        <a:t>” of the string calling the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find(“a”)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Returns the position of the first “a” in the string (there are many options)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05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180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Files Input / Output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73287"/>
            <a:ext cx="11075437" cy="48958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</a:t>
            </a:r>
            <a:r>
              <a:rPr lang="en-GB" sz="2400" dirty="0">
                <a:latin typeface="Consolas" panose="020B0609020204030204" pitchFamily="49" charset="0"/>
              </a:rPr>
              <a:t>&lt;iostream&gt;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library deals with </a:t>
            </a:r>
            <a:r>
              <a:rPr lang="en-GB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direct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input / output to the user. 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If we want the input of the programme to be a file or its output to be a file, the library </a:t>
            </a:r>
            <a:r>
              <a:rPr lang="en-GB" sz="2400" dirty="0">
                <a:latin typeface="Consolas" panose="020B0609020204030204" pitchFamily="49" charset="0"/>
              </a:rPr>
              <a:t>&lt;</a:t>
            </a:r>
            <a:r>
              <a:rPr lang="en-GB" sz="2400" dirty="0" err="1">
                <a:latin typeface="Consolas" panose="020B0609020204030204" pitchFamily="49" charset="0"/>
              </a:rPr>
              <a:t>fstream</a:t>
            </a:r>
            <a:r>
              <a:rPr lang="en-GB" sz="2400" dirty="0">
                <a:latin typeface="Consolas" panose="020B0609020204030204" pitchFamily="49" charset="0"/>
              </a:rPr>
              <a:t>&gt;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should be used (</a:t>
            </a:r>
            <a:r>
              <a:rPr lang="en-GB" sz="2400" dirty="0">
                <a:hlinkClick r:id="rId3"/>
              </a:rPr>
              <a:t>http://www.cplusplus.com/reference/fstream/fstream/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There are two main streams in </a:t>
            </a:r>
            <a:r>
              <a:rPr lang="en-GB" sz="2400" dirty="0">
                <a:latin typeface="Consolas" panose="020B0609020204030204" pitchFamily="49" charset="0"/>
              </a:rPr>
              <a:t>&lt;</a:t>
            </a:r>
            <a:r>
              <a:rPr lang="en-GB" sz="2400" dirty="0" err="1">
                <a:latin typeface="Consolas" panose="020B0609020204030204" pitchFamily="49" charset="0"/>
              </a:rPr>
              <a:t>fstream</a:t>
            </a:r>
            <a:r>
              <a:rPr lang="en-GB" sz="2400" dirty="0">
                <a:latin typeface="Consolas" panose="020B0609020204030204" pitchFamily="49" charset="0"/>
              </a:rPr>
              <a:t>&gt;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 library which are: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386C04-6B18-4676-9E0A-FBA22A771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98098"/>
              </p:ext>
            </p:extLst>
          </p:nvPr>
        </p:nvGraphicFramePr>
        <p:xfrm>
          <a:off x="959240" y="3826664"/>
          <a:ext cx="1027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42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3344204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  <a:gridCol w="4579774">
                  <a:extLst>
                    <a:ext uri="{9D8B030D-6E8A-4147-A177-3AD203B41FA5}">
                      <a16:colId xmlns:a16="http://schemas.microsoft.com/office/drawing/2014/main" val="3430992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Used for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Consolas" panose="020B0609020204030204" pitchFamily="49" charset="0"/>
                        </a:rPr>
                        <a:t>ifstream</a:t>
                      </a:r>
                      <a:endParaRPr lang="en-GB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Input File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Loading a file into the programme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 err="1">
                          <a:latin typeface="Consolas" panose="020B0609020204030204" pitchFamily="49" charset="0"/>
                        </a:rPr>
                        <a:t>ofstream</a:t>
                      </a:r>
                      <a:endParaRPr lang="en-GB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Output File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Writing a file by the programme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752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Files Input / Output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6843"/>
            <a:ext cx="11075437" cy="48958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Before using the streams of </a:t>
            </a:r>
            <a:r>
              <a:rPr lang="en-GB" sz="9600" dirty="0">
                <a:latin typeface="Consolas" panose="020B0609020204030204" pitchFamily="49" charset="0"/>
              </a:rPr>
              <a:t>&lt;</a:t>
            </a:r>
            <a:r>
              <a:rPr lang="en-GB" sz="9600" dirty="0" err="1">
                <a:latin typeface="Consolas" panose="020B0609020204030204" pitchFamily="49" charset="0"/>
              </a:rPr>
              <a:t>fstream</a:t>
            </a:r>
            <a:r>
              <a:rPr lang="en-GB" sz="9600" dirty="0">
                <a:latin typeface="Consolas" panose="020B0609020204030204" pitchFamily="49" charset="0"/>
              </a:rPr>
              <a:t>&gt;</a:t>
            </a: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 , the file to be loaded / written should be opened at first!! And must be closed at the end of the stream.</a:t>
            </a:r>
          </a:p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A list of important commands in </a:t>
            </a:r>
            <a:r>
              <a:rPr lang="en-GB" sz="9600" dirty="0">
                <a:latin typeface="Consolas" panose="020B0609020204030204" pitchFamily="49" charset="0"/>
              </a:rPr>
              <a:t>&lt;</a:t>
            </a:r>
            <a:r>
              <a:rPr lang="en-GB" sz="9600" dirty="0" err="1">
                <a:latin typeface="Consolas" panose="020B0609020204030204" pitchFamily="49" charset="0"/>
              </a:rPr>
              <a:t>fstream</a:t>
            </a:r>
            <a:r>
              <a:rPr lang="en-GB" sz="9600" dirty="0">
                <a:latin typeface="Consolas" panose="020B0609020204030204" pitchFamily="49" charset="0"/>
              </a:rPr>
              <a:t>&gt;:</a:t>
            </a: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7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Go to </a:t>
            </a:r>
            <a:r>
              <a:rPr lang="en-GB" sz="9600" dirty="0">
                <a:solidFill>
                  <a:srgbClr val="00B050"/>
                </a:solidFill>
              </a:rPr>
              <a:t>L2D3.cpp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A6D5D1C-BAFE-4408-9693-BCD752E01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922173"/>
              </p:ext>
            </p:extLst>
          </p:nvPr>
        </p:nvGraphicFramePr>
        <p:xfrm>
          <a:off x="838198" y="3294776"/>
          <a:ext cx="1060916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9070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3750906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  <a:gridCol w="4309188">
                  <a:extLst>
                    <a:ext uri="{9D8B030D-6E8A-4147-A177-3AD203B41FA5}">
                      <a16:colId xmlns:a16="http://schemas.microsoft.com/office/drawing/2014/main" val="3430992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ifstream</a:t>
                      </a:r>
                      <a:endParaRPr lang="en-GB" sz="2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Opens a file for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ifstream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myfile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=“file.txt”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ofstream</a:t>
                      </a:r>
                      <a:endParaRPr lang="en-GB" sz="2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Opens a file for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ofstream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myfile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=“file.txt”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036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is_open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Checks if the file is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myfile.is_open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200" dirty="0">
                          <a:latin typeface="Consolas" panose="020B0609020204030204" pitchFamily="49" charset="0"/>
                        </a:rPr>
                        <a:t>close()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Closes the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myfile.close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3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getline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file,n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200" dirty="0"/>
                        <a:t>Writes a line into a string “n”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getline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GB" sz="2200" dirty="0" err="1">
                          <a:latin typeface="Consolas" panose="020B0609020204030204" pitchFamily="49" charset="0"/>
                        </a:rPr>
                        <a:t>file,line</a:t>
                      </a:r>
                      <a:r>
                        <a:rPr lang="en-GB" sz="2200" dirty="0">
                          <a:latin typeface="Consolas" panose="020B0609020204030204" pitchFamily="49" charset="0"/>
                        </a:rPr>
                        <a:t>)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166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955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String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6843"/>
            <a:ext cx="11075437" cy="48958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The string streams library </a:t>
            </a:r>
            <a:r>
              <a:rPr lang="en-GB" sz="9600" dirty="0">
                <a:latin typeface="Consolas" panose="020B0609020204030204" pitchFamily="49" charset="0"/>
              </a:rPr>
              <a:t>&lt;</a:t>
            </a:r>
            <a:r>
              <a:rPr lang="en-GB" sz="9600" dirty="0" err="1">
                <a:latin typeface="Consolas" panose="020B0609020204030204" pitchFamily="49" charset="0"/>
              </a:rPr>
              <a:t>sstream</a:t>
            </a:r>
            <a:r>
              <a:rPr lang="en-GB" sz="9600" dirty="0">
                <a:latin typeface="Consolas" panose="020B0609020204030204" pitchFamily="49" charset="0"/>
              </a:rPr>
              <a:t>&gt;</a:t>
            </a: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 treats text on words level rather than on charter level as </a:t>
            </a:r>
            <a:r>
              <a:rPr lang="en-GB" sz="9600" dirty="0">
                <a:latin typeface="Consolas" panose="020B0609020204030204" pitchFamily="49" charset="0"/>
              </a:rPr>
              <a:t>&lt;string&gt; does.</a:t>
            </a: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It is particularly useful for sentence editing.</a:t>
            </a:r>
          </a:p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The most common used function is the operator &gt;&gt; which is used to extract words from sentences (anything separated by a space or a tab).</a:t>
            </a:r>
          </a:p>
          <a:p>
            <a:pPr>
              <a:lnSpc>
                <a:spcPct val="12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Go to </a:t>
            </a:r>
            <a:r>
              <a:rPr lang="en-GB" sz="9600" dirty="0">
                <a:solidFill>
                  <a:srgbClr val="00B050"/>
                </a:solidFill>
              </a:rPr>
              <a:t>L2D4.cpp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502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chrono</a:t>
            </a:r>
            <a:r>
              <a:rPr lang="en-GB" b="1" dirty="0"/>
              <a:t> library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1676"/>
            <a:ext cx="11075437" cy="48958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The library </a:t>
            </a:r>
            <a:r>
              <a:rPr lang="en-GB" sz="9600" dirty="0">
                <a:latin typeface="Consolas" panose="020B0609020204030204" pitchFamily="49" charset="0"/>
              </a:rPr>
              <a:t>&lt;</a:t>
            </a:r>
            <a:r>
              <a:rPr lang="en-GB" sz="9600" dirty="0" err="1">
                <a:latin typeface="Consolas" panose="020B0609020204030204" pitchFamily="49" charset="0"/>
              </a:rPr>
              <a:t>chrono</a:t>
            </a:r>
            <a:r>
              <a:rPr lang="en-GB" sz="9600" dirty="0">
                <a:latin typeface="Consolas" panose="020B0609020204030204" pitchFamily="49" charset="0"/>
              </a:rPr>
              <a:t>&gt;</a:t>
            </a: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 is used to read and manipulate time.</a:t>
            </a:r>
          </a:p>
          <a:p>
            <a:pPr>
              <a:lnSpc>
                <a:spcPct val="17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It is primarily used for measuring execution time of a code</a:t>
            </a:r>
            <a:r>
              <a:rPr lang="en-GB" sz="7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295DF49-F98C-47AC-B3C3-C8AD065E4879}"/>
              </a:ext>
            </a:extLst>
          </p:cNvPr>
          <p:cNvSpPr txBox="1"/>
          <p:nvPr/>
        </p:nvSpPr>
        <p:spPr>
          <a:xfrm>
            <a:off x="921570" y="2785438"/>
            <a:ext cx="1033520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# include 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lang="en-US" b="1" dirty="0" err="1">
                <a:solidFill>
                  <a:srgbClr val="FF0000"/>
                </a:solidFill>
                <a:latin typeface="Courier New"/>
                <a:cs typeface="Courier New"/>
              </a:rPr>
              <a:t>chrono</a:t>
            </a:r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&gt;  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int </a:t>
            </a:r>
            <a:r>
              <a:rPr lang="en-US" b="1" dirty="0">
                <a:latin typeface="Courier New"/>
                <a:cs typeface="Courier New"/>
              </a:rPr>
              <a:t>main(){</a:t>
            </a:r>
          </a:p>
          <a:p>
            <a:r>
              <a:rPr lang="en-US" b="1" dirty="0">
                <a:latin typeface="Courier New"/>
                <a:cs typeface="Courier New"/>
              </a:rPr>
              <a:t>  </a:t>
            </a:r>
          </a:p>
          <a:p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auto</a:t>
            </a:r>
            <a:r>
              <a:rPr lang="en-US" b="1" dirty="0">
                <a:latin typeface="Courier New"/>
                <a:cs typeface="Courier New"/>
              </a:rPr>
              <a:t> start = </a:t>
            </a:r>
            <a:r>
              <a:rPr lang="en-US" b="1" dirty="0" err="1">
                <a:latin typeface="Courier New"/>
                <a:cs typeface="Courier New"/>
              </a:rPr>
              <a:t>chrono</a:t>
            </a:r>
            <a:r>
              <a:rPr lang="en-US" b="1" dirty="0">
                <a:latin typeface="Courier New"/>
                <a:cs typeface="Courier New"/>
              </a:rPr>
              <a:t>::</a:t>
            </a:r>
            <a:r>
              <a:rPr lang="en-US" b="1" dirty="0" err="1">
                <a:solidFill>
                  <a:srgbClr val="00B0F0"/>
                </a:solidFill>
                <a:latin typeface="Courier New"/>
                <a:cs typeface="Courier New"/>
              </a:rPr>
              <a:t>steady_clock</a:t>
            </a:r>
            <a:r>
              <a:rPr lang="en-US" b="1" dirty="0">
                <a:latin typeface="Courier New"/>
                <a:cs typeface="Courier New"/>
              </a:rPr>
              <a:t>::now();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// Starts counting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 // the rest of the code here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auto</a:t>
            </a:r>
            <a:r>
              <a:rPr lang="en-US" b="1" dirty="0">
                <a:latin typeface="Courier New"/>
                <a:cs typeface="Courier New"/>
              </a:rPr>
              <a:t> end = </a:t>
            </a:r>
            <a:r>
              <a:rPr lang="en-US" b="1" dirty="0" err="1">
                <a:latin typeface="Courier New"/>
                <a:cs typeface="Courier New"/>
              </a:rPr>
              <a:t>chrono</a:t>
            </a:r>
            <a:r>
              <a:rPr lang="en-US" b="1" dirty="0">
                <a:latin typeface="Courier New"/>
                <a:cs typeface="Courier New"/>
              </a:rPr>
              <a:t>::</a:t>
            </a:r>
            <a:r>
              <a:rPr lang="en-US" b="1" dirty="0" err="1">
                <a:solidFill>
                  <a:srgbClr val="00B0F0"/>
                </a:solidFill>
                <a:latin typeface="Courier New"/>
                <a:cs typeface="Courier New"/>
              </a:rPr>
              <a:t>steady_clock</a:t>
            </a:r>
            <a:r>
              <a:rPr lang="en-US" b="1" dirty="0">
                <a:latin typeface="Courier New"/>
                <a:cs typeface="Courier New"/>
              </a:rPr>
              <a:t>::now();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// Finishes counting</a:t>
            </a:r>
          </a:p>
          <a:p>
            <a:endParaRPr lang="en-US" b="1" dirty="0">
              <a:solidFill>
                <a:schemeClr val="accent6">
                  <a:lumMod val="75000"/>
                </a:schemeClr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std</a:t>
            </a:r>
            <a:r>
              <a:rPr lang="en-US" b="1" dirty="0">
                <a:latin typeface="Courier New"/>
                <a:cs typeface="Courier New"/>
              </a:rPr>
              <a:t>::</a:t>
            </a:r>
            <a:r>
              <a:rPr lang="en-US" b="1" dirty="0" err="1">
                <a:latin typeface="Courier New"/>
                <a:cs typeface="Courier New"/>
              </a:rPr>
              <a:t>chrono</a:t>
            </a:r>
            <a:r>
              <a:rPr lang="en-US" b="1" dirty="0">
                <a:latin typeface="Courier New"/>
                <a:cs typeface="Courier New"/>
              </a:rPr>
              <a:t>::duration&lt;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latin typeface="Courier New"/>
                <a:cs typeface="Courier New"/>
              </a:rPr>
              <a:t>&gt; </a:t>
            </a:r>
            <a:r>
              <a:rPr lang="en-US" b="1" dirty="0" err="1">
                <a:latin typeface="Courier New"/>
                <a:cs typeface="Courier New"/>
              </a:rPr>
              <a:t>elapsed_time</a:t>
            </a:r>
            <a:r>
              <a:rPr lang="en-US" b="1" dirty="0">
                <a:latin typeface="Courier New"/>
                <a:cs typeface="Courier New"/>
              </a:rPr>
              <a:t> = end-start;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//Difference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urier New"/>
                <a:cs typeface="Courier New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std</a:t>
            </a:r>
            <a:r>
              <a:rPr lang="en-US" b="1" dirty="0">
                <a:latin typeface="Courier New"/>
                <a:cs typeface="Courier New"/>
              </a:rPr>
              <a:t>::</a:t>
            </a:r>
            <a:r>
              <a:rPr lang="en-US" b="1" dirty="0" err="1">
                <a:latin typeface="Courier New"/>
                <a:cs typeface="Courier New"/>
              </a:rPr>
              <a:t>cout</a:t>
            </a:r>
            <a:r>
              <a:rPr lang="en-US" b="1" dirty="0">
                <a:latin typeface="Courier New"/>
                <a:cs typeface="Courier New"/>
              </a:rPr>
              <a:t> &lt;&lt; </a:t>
            </a:r>
            <a:r>
              <a:rPr lang="en-US" b="1" dirty="0" err="1">
                <a:latin typeface="Courier New"/>
                <a:cs typeface="Courier New"/>
              </a:rPr>
              <a:t>elapsed_time.count</a:t>
            </a:r>
            <a:r>
              <a:rPr lang="en-US" b="1" dirty="0">
                <a:latin typeface="Courier New"/>
                <a:cs typeface="Courier New"/>
              </a:rPr>
              <a:t>()&lt;&lt;</a:t>
            </a:r>
            <a:r>
              <a:rPr lang="en-US" b="1" dirty="0" err="1">
                <a:latin typeface="Courier New"/>
                <a:cs typeface="Courier New"/>
              </a:rPr>
              <a:t>endl</a:t>
            </a:r>
            <a:r>
              <a:rPr lang="en-US" b="1" dirty="0">
                <a:latin typeface="Courier New"/>
                <a:cs typeface="Courier New"/>
              </a:rPr>
              <a:t>;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return 0; </a:t>
            </a:r>
            <a:r>
              <a:rPr lang="en-US" b="1" dirty="0">
                <a:latin typeface="Courier New"/>
                <a:cs typeface="Courier New"/>
              </a:rPr>
              <a:t>}</a:t>
            </a:r>
          </a:p>
          <a:p>
            <a:endParaRPr lang="en-GB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21570" y="2794700"/>
            <a:ext cx="10025830" cy="3926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801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Error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6843"/>
            <a:ext cx="11075437" cy="48958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GB" sz="9600" dirty="0"/>
              <a:t>Errors are illegal operations performed by the user which results in abnormal working of the programme.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Based on the stage at which they occur, errors can be classified into 3 main categories: </a:t>
            </a:r>
          </a:p>
          <a:p>
            <a:pPr marL="447675" indent="-447675">
              <a:lnSpc>
                <a:spcPct val="170000"/>
              </a:lnSpc>
              <a:buAutoNum type="arabicPeriod"/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Syntax errors (Complier errors): occur when the syntax rules of C++ are violated.</a:t>
            </a:r>
          </a:p>
          <a:p>
            <a:pPr marL="447675" indent="-447675">
              <a:lnSpc>
                <a:spcPct val="170000"/>
              </a:lnSpc>
              <a:buAutoNum type="arabicPeriod"/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Linker errors: occur when the linker cannot find one or more files referred to in the source code, or a set of source codes cannot be combined for other reasons.</a:t>
            </a:r>
          </a:p>
          <a:p>
            <a:pPr marL="447675" indent="-447675">
              <a:lnSpc>
                <a:spcPct val="170000"/>
              </a:lnSpc>
              <a:buAutoNum type="arabicPeriod"/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Run-time errors: </a:t>
            </a:r>
            <a:r>
              <a:rPr lang="en-GB" sz="9600" dirty="0"/>
              <a:t>occur during program execution (run-time) after successful compilation are called run-time errors.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846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Error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5437" cy="489585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Syntax and Linker errors are detected by the IDE, and thus are encountered by the developer.</a:t>
            </a: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GB" sz="9600" dirty="0">
                <a:latin typeface="Calibri" panose="020F0502020204030204" pitchFamily="34" charset="0"/>
                <a:cs typeface="Calibri" panose="020F0502020204030204" pitchFamily="34" charset="0"/>
              </a:rPr>
              <a:t>Run-time errors on the other hand are not detected by the IDE, and maybe encountered by the user as well as the developer.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 result for c++ fil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83" y="2232360"/>
            <a:ext cx="608390" cy="60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63424" y="1731101"/>
            <a:ext cx="2330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Source code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2393809" y="2120765"/>
            <a:ext cx="2080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Pre-processor and complier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1674529" y="2544074"/>
            <a:ext cx="771847" cy="2049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2446376" y="2115321"/>
            <a:ext cx="1907759" cy="8364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6039419" y="2288819"/>
            <a:ext cx="1114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Linker</a:t>
            </a:r>
          </a:p>
        </p:txBody>
      </p:sp>
      <p:sp>
        <p:nvSpPr>
          <p:cNvPr id="16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6039419" y="2117020"/>
            <a:ext cx="1114301" cy="8364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4330773" y="2503708"/>
            <a:ext cx="1708646" cy="1594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7153720" y="2503708"/>
            <a:ext cx="1554266" cy="1594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0" descr="Image result for application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986" y="1878201"/>
            <a:ext cx="1251014" cy="125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293130" y="1564725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Application</a:t>
            </a:r>
          </a:p>
        </p:txBody>
      </p:sp>
      <p:sp>
        <p:nvSpPr>
          <p:cNvPr id="22" name="Lightning Bolt 21"/>
          <p:cNvSpPr/>
          <p:nvPr/>
        </p:nvSpPr>
        <p:spPr>
          <a:xfrm>
            <a:off x="4594215" y="2071721"/>
            <a:ext cx="846402" cy="965200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Lightning Bolt 31"/>
          <p:cNvSpPr/>
          <p:nvPr/>
        </p:nvSpPr>
        <p:spPr>
          <a:xfrm>
            <a:off x="7355776" y="1986562"/>
            <a:ext cx="846402" cy="965200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Lightning Bolt 32"/>
          <p:cNvSpPr/>
          <p:nvPr/>
        </p:nvSpPr>
        <p:spPr>
          <a:xfrm>
            <a:off x="8980462" y="2029080"/>
            <a:ext cx="846402" cy="965200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4468391" y="2973405"/>
            <a:ext cx="1433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Syntax error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7185949" y="2960602"/>
            <a:ext cx="1433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Linker error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610600" y="2982716"/>
            <a:ext cx="14334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Runtime error</a:t>
            </a:r>
          </a:p>
        </p:txBody>
      </p:sp>
    </p:spTree>
    <p:extLst>
      <p:ext uri="{BB962C8B-B14F-4D97-AF65-F5344CB8AC3E}">
        <p14:creationId xmlns:p14="http://schemas.microsoft.com/office/powerpoint/2010/main" val="318801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2" grpId="0" animBg="1"/>
      <p:bldP spid="33" grpId="0" animBg="1"/>
      <p:bldP spid="34" grpId="0"/>
      <p:bldP spid="35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15232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C++ components were discussed, which consist of keywords, syntax rules, and developers statements.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role of  pre-processor directives and header files in a programme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libraries </a:t>
            </a:r>
            <a:r>
              <a:rPr lang="en-GB" sz="2400" dirty="0">
                <a:latin typeface="Consolas" panose="020B0609020204030204" pitchFamily="49" charset="0"/>
              </a:rPr>
              <a:t>&lt;iostream&gt;, &lt;string&gt;, &lt;</a:t>
            </a:r>
            <a:r>
              <a:rPr lang="en-GB" sz="2400" dirty="0" err="1">
                <a:latin typeface="Consolas" panose="020B0609020204030204" pitchFamily="49" charset="0"/>
              </a:rPr>
              <a:t>fstream</a:t>
            </a:r>
            <a:r>
              <a:rPr lang="en-GB" sz="2400" dirty="0">
                <a:latin typeface="Consolas" panose="020B0609020204030204" pitchFamily="49" charset="0"/>
              </a:rPr>
              <a:t>&gt;, &lt;</a:t>
            </a:r>
            <a:r>
              <a:rPr lang="en-GB" sz="2400" dirty="0" err="1">
                <a:latin typeface="Consolas" panose="020B0609020204030204" pitchFamily="49" charset="0"/>
              </a:rPr>
              <a:t>sstream</a:t>
            </a:r>
            <a:r>
              <a:rPr lang="en-GB" sz="2400" dirty="0">
                <a:latin typeface="Consolas" panose="020B0609020204030204" pitchFamily="49" charset="0"/>
              </a:rPr>
              <a:t>&gt;, and &lt;chrono&gt; </a:t>
            </a:r>
            <a:r>
              <a:rPr lang="en-GB" sz="2400" dirty="0"/>
              <a:t>were discussed.</a:t>
            </a:r>
            <a:r>
              <a:rPr lang="en-GB" sz="24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types of errors were discussed, and examples of such errors were given.  </a:t>
            </a: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988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1561</Words>
  <Application>Microsoft Office PowerPoint</Application>
  <PresentationFormat>Widescreen</PresentationFormat>
  <Paragraphs>363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Consolas</vt:lpstr>
      <vt:lpstr>Courier New</vt:lpstr>
      <vt:lpstr>Office Theme</vt:lpstr>
      <vt:lpstr>Application Development with C++ (ELEC362)</vt:lpstr>
      <vt:lpstr>Previous lecture </vt:lpstr>
      <vt:lpstr>This lecture</vt:lpstr>
      <vt:lpstr>Parts of a simple code</vt:lpstr>
      <vt:lpstr>C++ components</vt:lpstr>
      <vt:lpstr>Pre-processor directives and header files</vt:lpstr>
      <vt:lpstr>Pre-processor directives and header files</vt:lpstr>
      <vt:lpstr>Standard Input / Output Streams library</vt:lpstr>
      <vt:lpstr>Standard Input / Output Streams library</vt:lpstr>
      <vt:lpstr>Buffering of Output Streams </vt:lpstr>
      <vt:lpstr>Other standard libraries</vt:lpstr>
      <vt:lpstr>Files Input / Output streams</vt:lpstr>
      <vt:lpstr>Files Input / Output streams</vt:lpstr>
      <vt:lpstr>String streams</vt:lpstr>
      <vt:lpstr>chrono library </vt:lpstr>
      <vt:lpstr>Error types</vt:lpstr>
      <vt:lpstr>Error types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299</cp:revision>
  <dcterms:created xsi:type="dcterms:W3CDTF">2019-05-09T14:26:54Z</dcterms:created>
  <dcterms:modified xsi:type="dcterms:W3CDTF">2024-09-20T09:46:10Z</dcterms:modified>
</cp:coreProperties>
</file>