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5" r:id="rId3"/>
    <p:sldId id="257" r:id="rId4"/>
    <p:sldId id="280" r:id="rId5"/>
    <p:sldId id="299" r:id="rId6"/>
    <p:sldId id="298" r:id="rId7"/>
    <p:sldId id="301" r:id="rId8"/>
    <p:sldId id="303" r:id="rId9"/>
    <p:sldId id="294" r:id="rId10"/>
    <p:sldId id="302" r:id="rId11"/>
    <p:sldId id="304" r:id="rId12"/>
    <p:sldId id="305" r:id="rId13"/>
    <p:sldId id="306" r:id="rId14"/>
    <p:sldId id="309" r:id="rId15"/>
    <p:sldId id="307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E7"/>
    <a:srgbClr val="E9ED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074BA-FB03-4330-B6D5-D4E5FA218414}" type="datetimeFigureOut">
              <a:rPr lang="en-GB" smtClean="0"/>
              <a:t>18/11/2024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6E79A-B420-420D-963A-E7DA074E8C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279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195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15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766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2439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929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790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707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149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637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1000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144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073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174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26397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56E79A-B420-420D-963A-E7DA074E8CA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320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0A4CF-2717-43E3-825E-373FCAF8CACA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44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B0B5-D2C5-451B-BB87-3C1CFDD20804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00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C933E-6ACF-4BB5-897C-C6A0A52DD82E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223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F3D5C-DF01-4C10-9D18-B3DE3D921135}" type="datetime1">
              <a:rPr lang="en-GB" smtClean="0"/>
              <a:t>18/11/2024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89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047ED-C601-47CB-8D5C-4ECECC17B65B}" type="datetime1">
              <a:rPr lang="en-GB" smtClean="0"/>
              <a:t>18/11/2024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78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CE9AF-161C-412D-BD00-75CE1DCC1DF7}" type="datetime1">
              <a:rPr lang="en-GB" smtClean="0"/>
              <a:t>18/11/2024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46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22656-4D19-4DEB-807B-1CF4EDC253D6}" type="datetime1">
              <a:rPr lang="en-GB" smtClean="0"/>
              <a:t>18/11/2024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72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7A24E-4829-479F-A19E-280D0A836AA5}" type="datetime1">
              <a:rPr lang="en-GB" smtClean="0"/>
              <a:t>18/11/2024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824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B24F-C214-4E3A-A5E5-E9173E3D1D83}" type="datetime1">
              <a:rPr lang="en-GB" smtClean="0"/>
              <a:t>18/11/2024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035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AC9A-9164-4283-9229-F1A5E788ED22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6F9B7-246B-4E64-87D5-D2F2416C2D2A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4651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6D058-F21A-4AF4-A0C5-0F6F3323CC21}" type="datetime1">
              <a:rPr lang="en-GB" smtClean="0"/>
              <a:t>18/11/2024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761D7-3DCA-48D0-8D79-89DA2676C30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529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mihasan@liverpool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mouseevent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qt-6/qt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widget.html#protected-functio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mouseeven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creator/creator-completing-cod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.qt.io/qtcreator/creator-keyboard-shortcut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action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menu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qt.io/qt-6/qcontextmenuevent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Application Development with C++ (ELEC362)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474912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Lecture 16: Event handling, </a:t>
            </a:r>
            <a:r>
              <a:rPr lang="en-GB" sz="3600" dirty="0" err="1"/>
              <a:t>QActions</a:t>
            </a:r>
            <a:r>
              <a:rPr lang="en-GB" sz="3600" dirty="0"/>
              <a:t> and context menus </a:t>
            </a:r>
          </a:p>
          <a:p>
            <a:r>
              <a:rPr lang="en-GB" sz="3200" dirty="0">
                <a:hlinkClick r:id="rId2"/>
              </a:rPr>
              <a:t>mihasan@liverpool.ac.uk</a:t>
            </a:r>
            <a:endParaRPr lang="en-GB" sz="3200" dirty="0"/>
          </a:p>
          <a:p>
            <a:endParaRPr lang="en-GB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0275" y="-417339"/>
            <a:ext cx="7543800" cy="3079403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943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3886"/>
            <a:ext cx="10515600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Further uses of Qt Designer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Formatting the lay out of the application and controlling its sizing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Controlling the style of a Widget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Adding resource files to an application was explained.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Signal-Slot mechanism was discussed and it was contrasted with connecting objects using variables.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QStyle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QHBoxLayout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QVBoxLayout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QGridLayout</a:t>
            </a: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endParaRPr lang="en-GB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/>
              <a:t>     </a:t>
            </a:r>
          </a:p>
          <a:p>
            <a:pPr marL="0" indent="0">
              <a:lnSpc>
                <a:spcPct val="120000"/>
              </a:lnSpc>
              <a:buNone/>
            </a:pPr>
            <a:endParaRPr lang="de-DE" sz="2400" dirty="0"/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2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0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This lecture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03891"/>
            <a:ext cx="11142133" cy="4351338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What is covered in this lecture?</a:t>
            </a:r>
          </a:p>
          <a:p>
            <a:pPr marL="3589338" indent="-3589338">
              <a:lnSpc>
                <a:spcPct val="120000"/>
              </a:lnSpc>
              <a:buNone/>
            </a:pPr>
            <a:r>
              <a:rPr lang="en-GB" sz="2400" dirty="0"/>
              <a:t>   1. Event handling in Qt.   2. Introducing multiple ways to achieve a task in an            application.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Why it is covered?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1. Even handling extends the capability of the app beyond what pre-defined widgets can do.</a:t>
            </a:r>
          </a:p>
          <a:p>
            <a:pPr marL="177800" indent="-177800">
              <a:lnSpc>
                <a:spcPct val="120000"/>
              </a:lnSpc>
              <a:buNone/>
            </a:pPr>
            <a:r>
              <a:rPr lang="en-GB" sz="2400" dirty="0"/>
              <a:t>  2. Having multiple ways to achieve a task in an application makes applications user friendly.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How are topics covered in this lecture: Live demonstration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3</a:t>
            </a:fld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8A95AE-9713-46FC-B847-421EF800AD12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9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an Event?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In simple terms, an event is a user action through an input device.</a:t>
            </a:r>
            <a:endParaRPr lang="de-DE" sz="2400" dirty="0"/>
          </a:p>
          <a:p>
            <a:pPr>
              <a:lnSpc>
                <a:spcPct val="120000"/>
              </a:lnSpc>
            </a:pPr>
            <a:r>
              <a:rPr lang="en-GB" sz="2400" dirty="0"/>
              <a:t>In more advanced terms, an event is a change in the state of an object.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In </a:t>
            </a:r>
            <a:r>
              <a:rPr lang="en-GB" sz="2400" dirty="0" err="1"/>
              <a:t>Qt</a:t>
            </a:r>
            <a:r>
              <a:rPr lang="en-GB" sz="2400" dirty="0"/>
              <a:t>, there is a class for all types of events, all of which are subclasses from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QEvent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20000"/>
              </a:lnSpc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endParaRPr lang="en-GB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Unlike other classes, objects of event-based classes are constructed by the </a:t>
            </a:r>
            <a:r>
              <a:rPr lang="en-GB" sz="2400" u="sng" dirty="0">
                <a:cs typeface="Courier New" panose="02070309020205020404" pitchFamily="49" charset="0"/>
              </a:rPr>
              <a:t>physical</a:t>
            </a:r>
            <a:r>
              <a:rPr lang="en-GB" sz="2400" dirty="0">
                <a:cs typeface="Courier New" panose="02070309020205020404" pitchFamily="49" charset="0"/>
              </a:rPr>
              <a:t> action of the user. Example: </a:t>
            </a:r>
            <a:r>
              <a:rPr lang="en-GB" sz="2400" dirty="0">
                <a:hlinkClick r:id="rId3"/>
              </a:rPr>
              <a:t>https://doc.qt.io/qt-6/qmouseevent.html</a:t>
            </a:r>
            <a:endParaRPr lang="en-GB" sz="2400" dirty="0"/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Enumerators and flags are heavily used in event classes: </a:t>
            </a:r>
            <a:r>
              <a:rPr lang="en-GB" sz="2400" dirty="0">
                <a:cs typeface="Courier New" panose="02070309020205020404" pitchFamily="49" charset="0"/>
                <a:hlinkClick r:id="rId4"/>
              </a:rPr>
              <a:t>https://doc.qt.io/qt-6/qt.html</a:t>
            </a:r>
            <a:endParaRPr lang="en-GB" sz="2400" dirty="0"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4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B1EE73-132B-4E95-A58A-4A0169DFF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955140"/>
              </p:ext>
            </p:extLst>
          </p:nvPr>
        </p:nvGraphicFramePr>
        <p:xfrm>
          <a:off x="745060" y="3175306"/>
          <a:ext cx="11125200" cy="1722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510">
                  <a:extLst>
                    <a:ext uri="{9D8B030D-6E8A-4147-A177-3AD203B41FA5}">
                      <a16:colId xmlns:a16="http://schemas.microsoft.com/office/drawing/2014/main" val="3517094928"/>
                    </a:ext>
                  </a:extLst>
                </a:gridCol>
                <a:gridCol w="8390690">
                  <a:extLst>
                    <a:ext uri="{9D8B030D-6E8A-4147-A177-3AD203B41FA5}">
                      <a16:colId xmlns:a16="http://schemas.microsoft.com/office/drawing/2014/main" val="1054600864"/>
                    </a:ext>
                  </a:extLst>
                </a:gridCol>
              </a:tblGrid>
              <a:tr h="452463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/>
                        <a:t>Event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i="0" dirty="0"/>
                        <a:t>What it describes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24510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QKeyEvent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A key input from the keyboard by the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301307"/>
                  </a:ext>
                </a:extLst>
              </a:tr>
              <a:tr h="3921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QMouseEvent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A mouse click by the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974009"/>
                  </a:ext>
                </a:extLst>
              </a:tr>
              <a:tr h="473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QTouchEvent</a:t>
                      </a:r>
                      <a:endParaRPr lang="en-GB" sz="2000" b="0" dirty="0">
                        <a:solidFill>
                          <a:schemeClr val="tx1"/>
                        </a:solidFill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/>
                        <a:t>A touch on a smartphone’s screen or a tablet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69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What is an Event handler?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An event handler is a function that is executed when a particular event occurs.</a:t>
            </a:r>
            <a:endParaRPr lang="de-DE" sz="2400" dirty="0"/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Event handlers are typically member functions of the widgets receiving the event.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cs typeface="Courier New" panose="02070309020205020404" pitchFamily="49" charset="0"/>
              </a:rPr>
              <a:t>The class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dirty="0">
                <a:cs typeface="Courier New" panose="02070309020205020404" pitchFamily="49" charset="0"/>
              </a:rPr>
              <a:t>,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>
                <a:cs typeface="Courier New" panose="02070309020205020404" pitchFamily="49" charset="0"/>
              </a:rPr>
              <a:t>being the parent of all UI classes has a lot of </a:t>
            </a:r>
            <a:r>
              <a:rPr lang="en-GB" sz="2400" u="sng" dirty="0">
                <a:cs typeface="Courier New" panose="02070309020205020404" pitchFamily="49" charset="0"/>
              </a:rPr>
              <a:t>virtual</a:t>
            </a:r>
            <a:r>
              <a:rPr lang="en-GB" sz="2400" dirty="0">
                <a:cs typeface="Courier New" panose="02070309020205020404" pitchFamily="49" charset="0"/>
              </a:rPr>
              <a:t> event handlers (</a:t>
            </a:r>
            <a:r>
              <a:rPr lang="en-GB" sz="2400" dirty="0">
                <a:hlinkClick r:id="rId3"/>
              </a:rPr>
              <a:t>https://doc.qt.io/qt-6/qwidget.html#protected-functions</a:t>
            </a:r>
            <a:r>
              <a:rPr lang="en-GB" sz="2400" dirty="0">
                <a:cs typeface="Courier New" panose="02070309020205020404" pitchFamily="49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Most of event handlers have the word “event” in their name.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input parameter of an event handler is an object of a class event.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Example: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838200" y="5207255"/>
            <a:ext cx="937384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// In a </a:t>
            </a:r>
            <a:r>
              <a:rPr lang="en-US" sz="2000" b="1" dirty="0" err="1">
                <a:solidFill>
                  <a:srgbClr val="00B050"/>
                </a:solidFill>
                <a:latin typeface="Courier New"/>
                <a:cs typeface="Courier New"/>
              </a:rPr>
              <a:t>cpp</a:t>
            </a:r>
            <a:r>
              <a:rPr lang="en-US" sz="2000" b="1" dirty="0">
                <a:solidFill>
                  <a:srgbClr val="00B050"/>
                </a:solidFill>
                <a:latin typeface="Courier New"/>
                <a:cs typeface="Courier New"/>
              </a:rPr>
              <a:t> file:</a:t>
            </a:r>
          </a:p>
          <a:p>
            <a:r>
              <a:rPr lang="en-US" sz="2000" b="1" dirty="0" err="1">
                <a:solidFill>
                  <a:srgbClr val="7030A0"/>
                </a:solidFill>
                <a:latin typeface="Courier New"/>
                <a:cs typeface="Courier New"/>
              </a:rPr>
              <a:t>MyWidget</a:t>
            </a:r>
            <a:r>
              <a:rPr lang="en-US" sz="2000" b="1" dirty="0">
                <a:latin typeface="Courier New"/>
                <a:cs typeface="Courier New"/>
              </a:rPr>
              <a:t>::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mousePressEvent(</a:t>
            </a:r>
            <a:r>
              <a:rPr lang="en-GB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QMouseEvent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GB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event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){};</a:t>
            </a:r>
            <a:endParaRPr lang="en-US" sz="2000" b="1" dirty="0">
              <a:latin typeface="Courier New"/>
              <a:cs typeface="Courier New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A427E7-D17A-42B1-AF02-BEB2CA44DEE3}"/>
              </a:ext>
            </a:extLst>
          </p:cNvPr>
          <p:cNvSpPr/>
          <p:nvPr/>
        </p:nvSpPr>
        <p:spPr>
          <a:xfrm>
            <a:off x="838200" y="5291265"/>
            <a:ext cx="7509933" cy="9810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>
            <a:off x="2379133" y="6026147"/>
            <a:ext cx="304804" cy="446163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303797" y="6356350"/>
            <a:ext cx="5064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cs typeface="Courier New" panose="02070309020205020404" pitchFamily="49" charset="0"/>
              </a:rPr>
              <a:t>Event handler for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dirty="0">
                <a:cs typeface="Courier New" panose="02070309020205020404" pitchFamily="49" charset="0"/>
              </a:rPr>
              <a:t> class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V="1">
            <a:off x="7404106" y="5000135"/>
            <a:ext cx="2197094" cy="687579"/>
          </a:xfrm>
          <a:prstGeom prst="line">
            <a:avLst/>
          </a:prstGeom>
          <a:ln w="57150">
            <a:prstDash val="sysDash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9635073" y="4691100"/>
            <a:ext cx="24003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Mouse event object accessed by pointer</a:t>
            </a:r>
          </a:p>
        </p:txBody>
      </p:sp>
    </p:spTree>
    <p:extLst>
      <p:ext uri="{BB962C8B-B14F-4D97-AF65-F5344CB8AC3E}">
        <p14:creationId xmlns:p14="http://schemas.microsoft.com/office/powerpoint/2010/main" val="55449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</a:t>
            </a:r>
            <a:r>
              <a:rPr lang="en-GB" b="1"/>
              <a:t>Mouse locator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Design and implement a </a:t>
            </a:r>
            <a:r>
              <a:rPr lang="en-GB" sz="2400" dirty="0" err="1"/>
              <a:t>Qt</a:t>
            </a:r>
            <a:r>
              <a:rPr lang="en-GB" sz="2400" dirty="0"/>
              <a:t> based GUI application that displays the coordinates at which the mouse is clicked in an empty rectangle.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Applying the incremental model is an exercise for you!!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To implement a virtual function in a class, it must be defined in the header file with a name that is identical to the documentation.</a:t>
            </a:r>
          </a:p>
          <a:p>
            <a:pPr>
              <a:lnSpc>
                <a:spcPct val="150000"/>
              </a:lnSpc>
            </a:pPr>
            <a:r>
              <a:rPr lang="en-GB" sz="2400" u="sng" dirty="0"/>
              <a:t>Don’t forget to add the header file of the class if it is not already defined in </a:t>
            </a:r>
            <a:r>
              <a:rPr lang="en-GB" sz="2400" u="sng" dirty="0" err="1"/>
              <a:t>Qt</a:t>
            </a:r>
            <a:r>
              <a:rPr lang="en-GB" sz="2400" u="sng" dirty="0"/>
              <a:t> Designer.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Build the application (demonstration). 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58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QMouseEvent</a:t>
            </a:r>
            <a:r>
              <a:rPr lang="en-GB" b="1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This class describes a mouse-clicking event by the user.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hlinkClick r:id="rId3"/>
              </a:rPr>
              <a:t>https://doc.qt.io/qt-6/qmouseevent.html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event records which button was                                                                                              clicked and where (in local                                                                                                             coordinates and in                                                                                                                                   global coordinates).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7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 descr="Image result for screen png transpar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664" y="2272938"/>
            <a:ext cx="5632094" cy="4518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 flipV="1">
            <a:off x="6671735" y="2462202"/>
            <a:ext cx="2539999" cy="12004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 flipV="1">
            <a:off x="6671735" y="2445268"/>
            <a:ext cx="8464" cy="2092865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701381" y="2475605"/>
            <a:ext cx="965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(0,0)</a:t>
            </a:r>
          </a:p>
          <a:p>
            <a:r>
              <a:rPr lang="en-GB" sz="2400" dirty="0">
                <a:cs typeface="Courier New" panose="02070309020205020404" pitchFamily="49" charset="0"/>
              </a:rPr>
              <a:t>global</a:t>
            </a:r>
          </a:p>
        </p:txBody>
      </p:sp>
      <p:sp>
        <p:nvSpPr>
          <p:cNvPr id="9" name="Oval 8"/>
          <p:cNvSpPr/>
          <p:nvPr/>
        </p:nvSpPr>
        <p:spPr>
          <a:xfrm>
            <a:off x="6591299" y="2377535"/>
            <a:ext cx="177800" cy="1693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3514607"/>
            <a:ext cx="3131055" cy="2035185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H="1">
            <a:off x="8619072" y="3775336"/>
            <a:ext cx="1998127" cy="6871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69F5A7-9254-4E0B-B803-04B17E57985B}"/>
              </a:ext>
            </a:extLst>
          </p:cNvPr>
          <p:cNvCxnSpPr>
            <a:cxnSpLocks/>
          </p:cNvCxnSpPr>
          <p:nvPr/>
        </p:nvCxnSpPr>
        <p:spPr>
          <a:xfrm flipV="1">
            <a:off x="8619077" y="3776336"/>
            <a:ext cx="8472" cy="1621313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521700" y="3706349"/>
            <a:ext cx="177800" cy="16933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7742779" y="3624193"/>
            <a:ext cx="9651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(0,0)</a:t>
            </a:r>
          </a:p>
          <a:p>
            <a:r>
              <a:rPr lang="en-GB" sz="2400" dirty="0">
                <a:cs typeface="Courier New" panose="02070309020205020404" pitchFamily="49" charset="0"/>
              </a:rPr>
              <a:t>local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8813115" y="2530236"/>
            <a:ext cx="3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688676" y="4356159"/>
            <a:ext cx="39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23872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Completion list in </a:t>
            </a:r>
            <a:r>
              <a:rPr lang="en-GB" b="1" dirty="0" err="1"/>
              <a:t>Qt</a:t>
            </a:r>
            <a:r>
              <a:rPr lang="en-GB" b="1" dirty="0"/>
              <a:t> creator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When coding in </a:t>
            </a:r>
            <a:r>
              <a:rPr lang="en-GB" sz="2400" dirty="0" err="1"/>
              <a:t>Qt</a:t>
            </a:r>
            <a:r>
              <a:rPr lang="en-GB" sz="2400" dirty="0"/>
              <a:t> creator, one can get a completion list showing suggestions of what you type. It helps writing faster and reducing compiling mistakes.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It can be shown by pressing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See the list of displayed symbols here:                                          </a:t>
            </a:r>
            <a:r>
              <a:rPr lang="en-GB" sz="2400" dirty="0">
                <a:hlinkClick r:id="rId3"/>
              </a:rPr>
              <a:t>https://doc.qt.io/qtcreator/creator-completing-code.html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For a list of keyboard shortcuts: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400" dirty="0">
                <a:hlinkClick r:id="rId4"/>
              </a:rPr>
              <a:t>https://doc.qt.io/qtcreator/creator-keyboard-shortcuts.html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8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59294" y="2870200"/>
            <a:ext cx="702727" cy="47413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4576225" y="2882668"/>
            <a:ext cx="702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Ctrl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5295883" y="2870200"/>
            <a:ext cx="338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8416" y="2870200"/>
            <a:ext cx="3958184" cy="47413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78791-E0AF-49F2-89D4-02D5A146F1EF}"/>
              </a:ext>
            </a:extLst>
          </p:cNvPr>
          <p:cNvSpPr txBox="1"/>
          <p:nvPr/>
        </p:nvSpPr>
        <p:spPr>
          <a:xfrm>
            <a:off x="6963824" y="2870199"/>
            <a:ext cx="1883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cs typeface="Courier New" panose="02070309020205020404" pitchFamily="49" charset="0"/>
              </a:rPr>
              <a:t>Spacebar</a:t>
            </a:r>
          </a:p>
        </p:txBody>
      </p:sp>
    </p:spTree>
    <p:extLst>
      <p:ext uri="{BB962C8B-B14F-4D97-AF65-F5344CB8AC3E}">
        <p14:creationId xmlns:p14="http://schemas.microsoft.com/office/powerpoint/2010/main" val="3338115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  <a:cs typeface="Courier New" panose="02070309020205020404" pitchFamily="49" charset="0"/>
              </a:rPr>
              <a:t>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5422"/>
            <a:ext cx="11353800" cy="4530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dirty="0"/>
              <a:t>Instead of having an individual event handler for every user action. We can define objects that allow for multiple user events to have a single event handler.  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QUESTION: How many ways can one save a document in MS Word?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Three levels of responses from the app: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9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B3CD6-9560-8FE0-7E29-0A3AD4AE8C92}"/>
              </a:ext>
            </a:extLst>
          </p:cNvPr>
          <p:cNvSpPr/>
          <p:nvPr/>
        </p:nvSpPr>
        <p:spPr>
          <a:xfrm>
            <a:off x="86392" y="4147334"/>
            <a:ext cx="5377262" cy="227122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42EACC-D8FB-4677-AF02-76B13731E344}"/>
              </a:ext>
            </a:extLst>
          </p:cNvPr>
          <p:cNvSpPr/>
          <p:nvPr/>
        </p:nvSpPr>
        <p:spPr>
          <a:xfrm>
            <a:off x="5890512" y="4210467"/>
            <a:ext cx="6215096" cy="220808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54C164-EBA0-C4D8-1806-5D4223D2EB5C}"/>
              </a:ext>
            </a:extLst>
          </p:cNvPr>
          <p:cNvSpPr txBox="1"/>
          <p:nvPr/>
        </p:nvSpPr>
        <p:spPr>
          <a:xfrm>
            <a:off x="2453614" y="3702686"/>
            <a:ext cx="1141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Signals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F05C09-E86E-BF5D-6D67-05C0F1B47A1B}"/>
              </a:ext>
            </a:extLst>
          </p:cNvPr>
          <p:cNvSpPr txBox="1"/>
          <p:nvPr/>
        </p:nvSpPr>
        <p:spPr>
          <a:xfrm>
            <a:off x="8439093" y="3702686"/>
            <a:ext cx="215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Slots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720129-F0AF-F575-0C69-708559F16260}"/>
              </a:ext>
            </a:extLst>
          </p:cNvPr>
          <p:cNvCxnSpPr>
            <a:cxnSpLocks/>
          </p:cNvCxnSpPr>
          <p:nvPr/>
        </p:nvCxnSpPr>
        <p:spPr>
          <a:xfrm>
            <a:off x="4520242" y="5026673"/>
            <a:ext cx="1575757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BF521E-31A2-E506-6C86-BF45262B2B18}"/>
              </a:ext>
            </a:extLst>
          </p:cNvPr>
          <p:cNvCxnSpPr>
            <a:cxnSpLocks/>
          </p:cNvCxnSpPr>
          <p:nvPr/>
        </p:nvCxnSpPr>
        <p:spPr>
          <a:xfrm>
            <a:off x="5463654" y="5757600"/>
            <a:ext cx="426858" cy="0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8" descr="Image result for user">
            <a:extLst>
              <a:ext uri="{FF2B5EF4-FFF2-40B4-BE49-F238E27FC236}">
                <a16:creationId xmlns:a16="http://schemas.microsoft.com/office/drawing/2014/main" id="{688113F4-0437-8B20-4466-B9596615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407523"/>
            <a:ext cx="913279" cy="91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7A5522-5729-778E-B76C-3A225623A4FA}"/>
              </a:ext>
            </a:extLst>
          </p:cNvPr>
          <p:cNvSpPr txBox="1"/>
          <p:nvPr/>
        </p:nvSpPr>
        <p:spPr>
          <a:xfrm>
            <a:off x="1312674" y="4159863"/>
            <a:ext cx="122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Actions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AD2F5D-7DBF-95F4-79FF-90D966641EF8}"/>
              </a:ext>
            </a:extLst>
          </p:cNvPr>
          <p:cNvSpPr/>
          <p:nvPr/>
        </p:nvSpPr>
        <p:spPr>
          <a:xfrm>
            <a:off x="1379826" y="4757229"/>
            <a:ext cx="3140416" cy="605349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4F7711-66D8-B3BB-ADC3-F56A284050ED}"/>
              </a:ext>
            </a:extLst>
          </p:cNvPr>
          <p:cNvSpPr txBox="1"/>
          <p:nvPr/>
        </p:nvSpPr>
        <p:spPr>
          <a:xfrm>
            <a:off x="187876" y="5422560"/>
            <a:ext cx="3830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Non-user signals:  </a:t>
            </a:r>
            <a:r>
              <a:rPr lang="en-GB" sz="2400" b="1" dirty="0">
                <a:cs typeface="Courier New" panose="02070309020205020404" pitchFamily="49" charset="0"/>
              </a:rPr>
              <a:t>timeout()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354B58-BE94-EC01-8B02-37DDDD14F9E5}"/>
              </a:ext>
            </a:extLst>
          </p:cNvPr>
          <p:cNvSpPr/>
          <p:nvPr/>
        </p:nvSpPr>
        <p:spPr>
          <a:xfrm>
            <a:off x="6068565" y="4576786"/>
            <a:ext cx="5858989" cy="81583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851E04-48E0-0FBD-7A7E-08934EFA81AA}"/>
              </a:ext>
            </a:extLst>
          </p:cNvPr>
          <p:cNvSpPr txBox="1"/>
          <p:nvPr/>
        </p:nvSpPr>
        <p:spPr>
          <a:xfrm>
            <a:off x="6370709" y="5757600"/>
            <a:ext cx="3611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Other slots: </a:t>
            </a:r>
            <a:r>
              <a:rPr lang="en-GB" sz="2400" b="1" dirty="0">
                <a:cs typeface="Courier New" panose="02070309020205020404" pitchFamily="49" charset="0"/>
              </a:rPr>
              <a:t>triggered()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3687B7-E8FC-F950-A6BC-F838F248409C}"/>
              </a:ext>
            </a:extLst>
          </p:cNvPr>
          <p:cNvSpPr txBox="1"/>
          <p:nvPr/>
        </p:nvSpPr>
        <p:spPr>
          <a:xfrm>
            <a:off x="2412337" y="4811713"/>
            <a:ext cx="122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Events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A71B8B-083A-1D0B-DFBF-85B60F261646}"/>
              </a:ext>
            </a:extLst>
          </p:cNvPr>
          <p:cNvSpPr txBox="1"/>
          <p:nvPr/>
        </p:nvSpPr>
        <p:spPr>
          <a:xfrm>
            <a:off x="7898110" y="4763179"/>
            <a:ext cx="2291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+mj-lt"/>
                <a:cs typeface="Courier New" panose="02070309020205020404" pitchFamily="49" charset="0"/>
              </a:rPr>
              <a:t>Event handlers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9284CF-C17D-57F1-BBF6-9605B0794343}"/>
              </a:ext>
            </a:extLst>
          </p:cNvPr>
          <p:cNvCxnSpPr>
            <a:cxnSpLocks/>
          </p:cNvCxnSpPr>
          <p:nvPr/>
        </p:nvCxnSpPr>
        <p:spPr>
          <a:xfrm>
            <a:off x="2453614" y="4413873"/>
            <a:ext cx="3642385" cy="343356"/>
          </a:xfrm>
          <a:prstGeom prst="straightConnector1">
            <a:avLst/>
          </a:prstGeom>
          <a:ln w="57150"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146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b="1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5062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This class defines a command that can be invoked by multiple widgets/user actions.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https://doc.qt.io/qt-6/qaction.html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Just like other classes in Qt, every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2400" dirty="0"/>
              <a:t>property has a setter and getter function.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Every object of the class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dirty="0"/>
              <a:t> can have an icon attached to it ( using resource files).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functionality of the Action can be implemented by implementing 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triggered()</a:t>
            </a:r>
            <a:r>
              <a:rPr lang="en-GB" sz="2400" dirty="0">
                <a:cs typeface="Courier New" panose="02070309020205020404" pitchFamily="49" charset="0"/>
              </a:rPr>
              <a:t>. Such that whenever the action is called, this function is executed. 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Objects of the class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dirty="0">
                <a:cs typeface="Courier New" panose="02070309020205020404" pitchFamily="49" charset="0"/>
              </a:rPr>
              <a:t> are automatically created by </a:t>
            </a:r>
            <a:r>
              <a:rPr lang="en-GB" sz="2400" dirty="0" err="1">
                <a:cs typeface="Courier New" panose="02070309020205020404" pitchFamily="49" charset="0"/>
              </a:rPr>
              <a:t>Qt</a:t>
            </a:r>
            <a:r>
              <a:rPr lang="en-GB" sz="2400" dirty="0">
                <a:cs typeface="Courier New" panose="02070309020205020404" pitchFamily="49" charset="0"/>
              </a:rPr>
              <a:t> Designer when the  chosen class of the application is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10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812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 sample application: Text formatting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u="sng" dirty="0"/>
              <a:t>The task</a:t>
            </a:r>
            <a:r>
              <a:rPr lang="en-GB" sz="2400" dirty="0"/>
              <a:t>: Design and implement a </a:t>
            </a:r>
            <a:r>
              <a:rPr lang="en-GB" sz="2400" dirty="0" err="1"/>
              <a:t>Qt</a:t>
            </a:r>
            <a:r>
              <a:rPr lang="en-GB" sz="2400" dirty="0"/>
              <a:t> based GUI application that allows the user to type paragraphs, change their font size and colour in the application. The app should have at least 3 different methods to change of the colour and the size of the text.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Applying the incremental model is an exercise for you!!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We choose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QTextEdit</a:t>
            </a:r>
            <a:r>
              <a:rPr lang="en-GB" sz="2400" dirty="0"/>
              <a:t> object over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QPlainTextEdit</a:t>
            </a:r>
            <a:r>
              <a:rPr lang="en-GB" sz="2400" dirty="0"/>
              <a:t> because it allows formatting.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Build the application (demonstration). </a:t>
            </a: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11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578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b="1" dirty="0"/>
              <a:t> revisited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18446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Any window based on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dirty="0"/>
              <a:t> class has a default layout, which can be activated from the constructor.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12</a:t>
            </a:fld>
            <a:endParaRPr lang="en-GB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ttps://doc.qt.io/qt-5/images/mainwindowlayou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6892" y="2050941"/>
            <a:ext cx="330517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D186A7-0C94-47F3-8CE5-2F1439E72DB3}"/>
              </a:ext>
            </a:extLst>
          </p:cNvPr>
          <p:cNvSpPr txBox="1"/>
          <p:nvPr/>
        </p:nvSpPr>
        <p:spPr>
          <a:xfrm>
            <a:off x="512234" y="5194925"/>
            <a:ext cx="10028766" cy="1526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7010CB-948F-400C-B639-FA7E800995B4}"/>
              </a:ext>
            </a:extLst>
          </p:cNvPr>
          <p:cNvSpPr txBox="1"/>
          <p:nvPr/>
        </p:nvSpPr>
        <p:spPr>
          <a:xfrm>
            <a:off x="512234" y="5194926"/>
            <a:ext cx="99144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dirty="0">
                <a:latin typeface="Calibri" panose="020F0502020204030204"/>
              </a:rPr>
              <a:t>When</a:t>
            </a:r>
            <a:r>
              <a:rPr lang="en-GB" sz="2400" dirty="0"/>
              <a:t> developing an application that relies on menus and toolboxes, use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dirty="0"/>
              <a:t> as the base class for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857504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GB" b="1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3538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This class constructs menus in the application.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https://doc.qt.io/qt-6/qmenu.html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The menus can belong to a menu bar, or they can be context menus (right-click menus).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Menus can be nested (parent menu opens child menus)</a:t>
            </a:r>
          </a:p>
          <a:p>
            <a:pPr>
              <a:lnSpc>
                <a:spcPct val="150000"/>
              </a:lnSpc>
            </a:pPr>
            <a:r>
              <a:rPr lang="en-GB" sz="2400" dirty="0" err="1"/>
              <a:t>Qt</a:t>
            </a:r>
            <a:r>
              <a:rPr lang="en-GB" sz="2400" dirty="0"/>
              <a:t> Designer creates menus very easily when using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QMainWindow</a:t>
            </a:r>
            <a:r>
              <a:rPr lang="en-GB" sz="2400" dirty="0">
                <a:cs typeface="Courier New" panose="02070309020205020404" pitchFamily="49" charset="0"/>
              </a:rPr>
              <a:t>, for every item in the menu, an action (object of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dirty="0">
                <a:cs typeface="Courier New" panose="02070309020205020404" pitchFamily="49" charset="0"/>
              </a:rPr>
              <a:t>) is generated automatically.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In </a:t>
            </a:r>
            <a:r>
              <a:rPr lang="en-GB" sz="2400" dirty="0" err="1">
                <a:cs typeface="Courier New" panose="02070309020205020404" pitchFamily="49" charset="0"/>
              </a:rPr>
              <a:t>Qt</a:t>
            </a:r>
            <a:r>
              <a:rPr lang="en-GB" sz="2400" dirty="0">
                <a:cs typeface="Courier New" panose="02070309020205020404" pitchFamily="49" charset="0"/>
              </a:rPr>
              <a:t>, menus do nothing on their own, they merely link the user to an action.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13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185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QContextMenuEvent</a:t>
            </a:r>
            <a:r>
              <a:rPr lang="en-GB" b="1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3538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This class constructs context menus (right-click menu).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Reference: </a:t>
            </a:r>
            <a:r>
              <a:rPr lang="en-GB" sz="2400" dirty="0">
                <a:hlinkClick r:id="rId3"/>
              </a:rPr>
              <a:t>https://doc.qt.io/qt-6/qcontextmenuevent.html</a:t>
            </a:r>
            <a:endParaRPr lang="en-GB" sz="2400" dirty="0"/>
          </a:p>
          <a:p>
            <a:pPr>
              <a:lnSpc>
                <a:spcPct val="150000"/>
              </a:lnSpc>
            </a:pPr>
            <a:r>
              <a:rPr lang="en-GB" sz="2400" dirty="0"/>
              <a:t>This class is a special case from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QMouseEvent</a:t>
            </a:r>
            <a:r>
              <a:rPr lang="en-GB" sz="2400" dirty="0"/>
              <a:t> optimised for creating context menus.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cs typeface="Courier New" panose="02070309020205020404" pitchFamily="49" charset="0"/>
              </a:rPr>
              <a:t>It is a virtual event handler for all classes derived from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QWidget</a:t>
            </a:r>
            <a:r>
              <a:rPr lang="en-GB" sz="24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The context menu must be constructed by code (not doable from </a:t>
            </a:r>
            <a:r>
              <a:rPr lang="en-GB" sz="2400" dirty="0" err="1"/>
              <a:t>Qt</a:t>
            </a:r>
            <a:r>
              <a:rPr lang="en-GB" sz="2400" dirty="0"/>
              <a:t> Designer).</a:t>
            </a:r>
          </a:p>
          <a:p>
            <a:pPr>
              <a:lnSpc>
                <a:spcPct val="120000"/>
              </a:lnSpc>
            </a:pPr>
            <a:r>
              <a:rPr lang="en-GB" sz="2400" dirty="0"/>
              <a:t>To create the menu, we need to create a function to construct the menu, and call it in the constructor.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14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7010CB-948F-400C-B639-FA7E800995B4}"/>
              </a:ext>
            </a:extLst>
          </p:cNvPr>
          <p:cNvSpPr txBox="1"/>
          <p:nvPr/>
        </p:nvSpPr>
        <p:spPr>
          <a:xfrm>
            <a:off x="922868" y="5619714"/>
            <a:ext cx="9169400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Practical note: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good code organisation create functions to                     construct menus and call them in the constructor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186A7-0C94-47F3-8CE5-2F1439E72DB3}"/>
              </a:ext>
            </a:extLst>
          </p:cNvPr>
          <p:cNvSpPr txBox="1"/>
          <p:nvPr/>
        </p:nvSpPr>
        <p:spPr>
          <a:xfrm>
            <a:off x="821268" y="5724378"/>
            <a:ext cx="9271000" cy="1041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850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Create a child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3538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Up to this point we only developed one-window applications.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To create a child window, a class has to be defined representing the child window. The child window is displayed when an object of the class is constructed.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Most of the time, the child window has to be of the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dirty="0"/>
              <a:t> type.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To pass data from the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QDialog</a:t>
            </a:r>
            <a:r>
              <a:rPr lang="en-GB" sz="2400" dirty="0"/>
              <a:t> object, the function 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GB" sz="2400" dirty="0"/>
              <a:t>has to be used.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Pass the data from the local variables in the </a:t>
            </a:r>
            <a:r>
              <a:rPr lang="en-GB" sz="2400" u="sng" dirty="0"/>
              <a:t>child</a:t>
            </a:r>
            <a:r>
              <a:rPr lang="en-GB" sz="2400" dirty="0"/>
              <a:t> window to the local variables in the </a:t>
            </a:r>
            <a:r>
              <a:rPr lang="en-GB" sz="2400" u="sng" dirty="0"/>
              <a:t>parent</a:t>
            </a:r>
            <a:r>
              <a:rPr lang="en-GB" sz="2400" dirty="0"/>
              <a:t> window.</a:t>
            </a:r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15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64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3" y="1495422"/>
            <a:ext cx="11353807" cy="453072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In this lecture, the concept of events and event handling was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coordinates systems in </a:t>
            </a:r>
            <a:r>
              <a:rPr lang="en-GB" sz="2400" dirty="0" err="1"/>
              <a:t>Qt</a:t>
            </a:r>
            <a:r>
              <a:rPr lang="en-GB" sz="2400" dirty="0"/>
              <a:t> were discussed.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The concept of actions has been discussed. 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Constructing menus in menu bars, toolbars and context menus was shown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Creating a child window in an application was shown.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Classes introduced: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QKeyEvent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QMouseEvent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QTouchEvent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QAction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QMenu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QContextMenuEvent</a:t>
            </a:r>
            <a:r>
              <a:rPr lang="en-GB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QTextEdit</a:t>
            </a: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endParaRPr lang="en-GB" sz="2400" dirty="0"/>
          </a:p>
          <a:p>
            <a:pPr>
              <a:lnSpc>
                <a:spcPct val="15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sz="24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>
              <a:lnSpc>
                <a:spcPct val="120000"/>
              </a:lnSpc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  <a:p>
            <a:pPr marL="0" indent="0">
              <a:lnSpc>
                <a:spcPct val="120000"/>
              </a:lnSpc>
              <a:buNone/>
            </a:pPr>
            <a:r>
              <a:rPr lang="en-GB" b="1" dirty="0"/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n-GB" sz="2400" dirty="0"/>
          </a:p>
          <a:p>
            <a:pPr marL="0" indent="0">
              <a:lnSpc>
                <a:spcPct val="120000"/>
              </a:lnSpc>
              <a:buNone/>
            </a:pPr>
            <a:endParaRPr lang="en-GB" sz="9600" dirty="0"/>
          </a:p>
          <a:p>
            <a:pPr>
              <a:lnSpc>
                <a:spcPct val="120000"/>
              </a:lnSpc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761D7-3DCA-48D0-8D79-89DA2676C306}" type="slidenum">
              <a:rPr lang="en-GB" smtClean="0"/>
              <a:t>16</a:t>
            </a:fld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884268-3BCD-48DD-85BE-3E255800F950}"/>
              </a:ext>
            </a:extLst>
          </p:cNvPr>
          <p:cNvCxnSpPr/>
          <p:nvPr/>
        </p:nvCxnSpPr>
        <p:spPr>
          <a:xfrm>
            <a:off x="653143" y="1483567"/>
            <a:ext cx="110754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067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3594</TotalTime>
  <Words>1461</Words>
  <Application>Microsoft Office PowerPoint</Application>
  <PresentationFormat>Widescreen</PresentationFormat>
  <Paragraphs>364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Application Development with C++ (ELEC362)</vt:lpstr>
      <vt:lpstr>Previous lecture </vt:lpstr>
      <vt:lpstr>This lecture</vt:lpstr>
      <vt:lpstr>What is an Event?</vt:lpstr>
      <vt:lpstr>What is an Event handler?</vt:lpstr>
      <vt:lpstr>A sample application: Mouse locator</vt:lpstr>
      <vt:lpstr>QMouseEvent Class</vt:lpstr>
      <vt:lpstr>Completion list in Qt creator</vt:lpstr>
      <vt:lpstr>Actions</vt:lpstr>
      <vt:lpstr>QAction Class</vt:lpstr>
      <vt:lpstr>A sample application: Text formatting app</vt:lpstr>
      <vt:lpstr>QMainWindow revisited</vt:lpstr>
      <vt:lpstr>QMenu Class</vt:lpstr>
      <vt:lpstr>QContextMenuEvent Class</vt:lpstr>
      <vt:lpstr>Create a child window</vt:lpstr>
      <vt:lpstr>Summary</vt:lpstr>
    </vt:vector>
  </TitlesOfParts>
  <Company>The University of Liverpool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Development with C++ (ELEC362)</dc:title>
  <dc:creator>Hasan, Mohammad [mihasan]</dc:creator>
  <cp:lastModifiedBy>Hasan, Mohammad [mihasan]</cp:lastModifiedBy>
  <cp:revision>452</cp:revision>
  <dcterms:created xsi:type="dcterms:W3CDTF">2019-05-09T14:26:54Z</dcterms:created>
  <dcterms:modified xsi:type="dcterms:W3CDTF">2024-11-18T14:34:56Z</dcterms:modified>
</cp:coreProperties>
</file>