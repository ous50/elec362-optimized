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8" r:id="rId3"/>
    <p:sldId id="257" r:id="rId4"/>
    <p:sldId id="280" r:id="rId5"/>
    <p:sldId id="289" r:id="rId6"/>
    <p:sldId id="291" r:id="rId7"/>
    <p:sldId id="292" r:id="rId8"/>
    <p:sldId id="290" r:id="rId9"/>
    <p:sldId id="294" r:id="rId10"/>
    <p:sldId id="293" r:id="rId11"/>
    <p:sldId id="299" r:id="rId12"/>
    <p:sldId id="296" r:id="rId13"/>
    <p:sldId id="295" r:id="rId14"/>
    <p:sldId id="297" r:id="rId15"/>
    <p:sldId id="2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E7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224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766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899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411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858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35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149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738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065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570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341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555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15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784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tdesigner-manual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sizepolicy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.4/gallery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doc.qt.io/qt-6/style-reference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stylesheet-reference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.qt.io/qt-6/stylesheet-examples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henounproject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abstractbutton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doc.qt.io/qt-6/signalsandslots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15: </a:t>
            </a:r>
            <a:r>
              <a:rPr lang="en-GB" sz="3600" dirty="0" err="1"/>
              <a:t>Qt</a:t>
            </a:r>
            <a:r>
              <a:rPr lang="en-GB" sz="3600" dirty="0"/>
              <a:t> Designer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2" y="1470025"/>
            <a:ext cx="11218333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concept of developing a GUI application from classes in a library is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concept of widgets, parent and child relation were introduced.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first application has been built.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object-object connection and the user interface-object connections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Classes introduced: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QDebug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QLineEdit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QBushButton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QPlainTextEdit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QString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78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91"/>
            <a:ext cx="11142133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Using </a:t>
            </a:r>
            <a:r>
              <a:rPr lang="en-GB" sz="2400" dirty="0" err="1"/>
              <a:t>Qt</a:t>
            </a:r>
            <a:r>
              <a:rPr lang="en-GB" sz="2400" dirty="0"/>
              <a:t> designer to improve the application’s user interface and behaviour.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2. Signal-Slot mechanism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it is covered?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1. An application with a very good user interface have much higher chances of commercial success. 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2. The signal-slot mechanism is very efficient method for object-object communications.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 Live demonstration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Qt Designer formatting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In addition to its use as a source for widgets in a UI, Qt Designer can also be used for: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Controlling the layout of the application (how it looks on different screens and at different sizes).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Controlling the stylesheet of the widgets (their colour, appearance, style, etc..).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Quick implementation of the signal-slot mechanism. 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Adding external resources to the project.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https://doc.qt.io/qt-6/qtdesigner-manual.html</a:t>
            </a: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457200" indent="-457200">
              <a:lnSpc>
                <a:spcPct val="120000"/>
              </a:lnSpc>
              <a:buAutoNum type="arabicPeriod"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697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Classes interacting with </a:t>
            </a:r>
            <a:r>
              <a:rPr lang="en-GB" b="1" dirty="0" err="1"/>
              <a:t>Qt</a:t>
            </a:r>
            <a:r>
              <a:rPr lang="en-GB" b="1" dirty="0"/>
              <a:t> Designer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 err="1"/>
              <a:t>Qt</a:t>
            </a:r>
            <a:r>
              <a:rPr lang="en-GB" sz="2400" dirty="0"/>
              <a:t> Designer walkthrough (demonstration).</a:t>
            </a:r>
            <a:endParaRPr lang="de-DE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 By setting options through </a:t>
            </a:r>
            <a:r>
              <a:rPr lang="en-GB" sz="2400" dirty="0" err="1"/>
              <a:t>Qt</a:t>
            </a:r>
            <a:r>
              <a:rPr lang="en-GB" sz="2400" dirty="0"/>
              <a:t> Designer, we are implicitly manipulating many classes related to the look and the style of the application, including: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Fortunately, </a:t>
            </a:r>
            <a:r>
              <a:rPr lang="en-GB" sz="2400" dirty="0" err="1"/>
              <a:t>Qt</a:t>
            </a:r>
            <a:r>
              <a:rPr lang="en-GB" sz="2400" dirty="0"/>
              <a:t> Designer sets all the options for these classes automatically!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Anything done in </a:t>
            </a:r>
            <a:r>
              <a:rPr lang="en-GB" sz="2400" dirty="0" err="1"/>
              <a:t>Qt</a:t>
            </a:r>
            <a:r>
              <a:rPr lang="en-GB" sz="2400" dirty="0"/>
              <a:t> Designer is transformed into a code that is hidden from the developer.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B1EE73-132B-4E95-A58A-4A0169DF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557696"/>
              </p:ext>
            </p:extLst>
          </p:nvPr>
        </p:nvGraphicFramePr>
        <p:xfrm>
          <a:off x="838200" y="3031371"/>
          <a:ext cx="11125200" cy="2191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510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8390690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</a:tblGrid>
              <a:tr h="474617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What it does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8938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QLayout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Controls the arrangement of the child</a:t>
                      </a:r>
                      <a:r>
                        <a:rPr lang="en-GB" sz="2400" baseline="0" dirty="0"/>
                        <a:t> widgets in the parent widget and how they change when size/window change.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7782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QStyle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algn="ctr"/>
                      <a:endParaRPr lang="en-GB" sz="24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Controls the appearance of individual</a:t>
                      </a:r>
                      <a:r>
                        <a:rPr lang="en-GB" sz="24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widgets.</a:t>
                      </a:r>
                      <a:endParaRPr lang="en-GB" sz="2400" dirty="0"/>
                    </a:p>
                    <a:p>
                      <a:pPr algn="l"/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4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QLayout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Class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This class is responsible for managing how the shape of the widgets change when the window is resized, or is drawn on a different size screen.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class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QLayout</a:t>
            </a:r>
            <a:r>
              <a:rPr lang="en-GB" sz="2400" dirty="0"/>
              <a:t> is not used on its own, instead its subclasses are used:</a:t>
            </a:r>
          </a:p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QHBoxLayout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400" dirty="0"/>
              <a:t>:  is used to construct horizontal box of widgets.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QVBoxLayout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: </a:t>
            </a:r>
            <a:r>
              <a:rPr lang="en-GB" sz="2400" dirty="0"/>
              <a:t>is used to construct vertical box of widgets.</a:t>
            </a:r>
          </a:p>
          <a:p>
            <a:pPr>
              <a:lnSpc>
                <a:spcPct val="120000"/>
              </a:lnSpc>
            </a:pP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QGridLayout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2400" dirty="0"/>
              <a:t>: divides the parent widget into                                                                                                  rows and columns, and puts each widget                                                                                                                        it manages into the correct cell.</a:t>
            </a:r>
          </a:p>
          <a:p>
            <a:pPr>
              <a:lnSpc>
                <a:spcPct val="120000"/>
              </a:lnSpc>
            </a:pP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rizontal box layout with five child widge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844" y="3648867"/>
            <a:ext cx="4162425" cy="41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rizontal box layout with five child widge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146" y="2318380"/>
            <a:ext cx="92392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H="1" flipV="1">
            <a:off x="2650595" y="3600657"/>
            <a:ext cx="1137708" cy="32025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H="1">
            <a:off x="9231086" y="3548312"/>
            <a:ext cx="1503060" cy="931017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A grid layou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137" y="4752216"/>
            <a:ext cx="404812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H="1">
            <a:off x="6363533" y="5387901"/>
            <a:ext cx="1594604" cy="78690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9449" y="3237543"/>
            <a:ext cx="276225" cy="238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2787" y="4365029"/>
            <a:ext cx="171450" cy="228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9449" y="4928210"/>
            <a:ext cx="209550" cy="2190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95FC58-A7D2-4712-AE8C-9D6A82FA5425}"/>
              </a:ext>
            </a:extLst>
          </p:cNvPr>
          <p:cNvSpPr txBox="1"/>
          <p:nvPr/>
        </p:nvSpPr>
        <p:spPr>
          <a:xfrm>
            <a:off x="838200" y="6298964"/>
            <a:ext cx="9914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sure the layout is sit for any window in your application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CC364-8968-44D2-A732-23D1A4543A49}"/>
              </a:ext>
            </a:extLst>
          </p:cNvPr>
          <p:cNvSpPr txBox="1"/>
          <p:nvPr/>
        </p:nvSpPr>
        <p:spPr>
          <a:xfrm>
            <a:off x="740223" y="6389298"/>
            <a:ext cx="9993923" cy="3321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64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Controlling the appearance of 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layout distributes the space on the parent widget                                                      among child widgets based on their size policies.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size policy of a widget can be changed from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this menu (bottom right of the screen).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Every widget has a “</a:t>
            </a:r>
            <a:r>
              <a:rPr lang="en-GB" sz="2400" dirty="0" err="1"/>
              <a:t>sizeHint</a:t>
            </a:r>
            <a:r>
              <a:rPr lang="en-GB" sz="2400" dirty="0"/>
              <a:t>()” property, which holds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the ideal size of the widget.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https://doc.qt.io/qt-6/qsizepolicy.html</a:t>
            </a: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Adding simple help messages is possible through the                                                              properties of </a:t>
            </a:r>
            <a:r>
              <a:rPr lang="en-GB" sz="2400" dirty="0" err="1"/>
              <a:t>QWidget</a:t>
            </a:r>
            <a:r>
              <a:rPr lang="en-GB" sz="24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710" y="1521351"/>
            <a:ext cx="4124980" cy="44788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DF00B8-57C5-4CBD-81E6-1793E0FB587C}"/>
              </a:ext>
            </a:extLst>
          </p:cNvPr>
          <p:cNvSpPr txBox="1"/>
          <p:nvPr/>
        </p:nvSpPr>
        <p:spPr>
          <a:xfrm>
            <a:off x="838200" y="6356076"/>
            <a:ext cx="9703778" cy="3321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0C604-EE75-4F85-9E24-8EEDD8B62763}"/>
              </a:ext>
            </a:extLst>
          </p:cNvPr>
          <p:cNvSpPr txBox="1"/>
          <p:nvPr/>
        </p:nvSpPr>
        <p:spPr>
          <a:xfrm>
            <a:off x="838200" y="6298964"/>
            <a:ext cx="9914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some quick help messages to improve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2718894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QStyle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Class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 err="1"/>
              <a:t>Qt</a:t>
            </a:r>
            <a:r>
              <a:rPr lang="en-GB" sz="2400" dirty="0"/>
              <a:t> Designer automatically chooses the Style of the application to make it look native to the platform it is operating on.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Another example: </a:t>
            </a:r>
            <a:r>
              <a:rPr lang="en-GB" sz="2400" dirty="0">
                <a:hlinkClick r:id="rId3"/>
              </a:rPr>
              <a:t>https://doc.qt.io/qt-6.4/gallery.html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How to change the style is here: </a:t>
            </a:r>
            <a:r>
              <a:rPr lang="en-GB" sz="2400" dirty="0">
                <a:hlinkClick r:id="rId4"/>
              </a:rPr>
              <a:t>https://doc.qt.io/qt-6/style-reference.html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Nine combo box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602010"/>
            <a:ext cx="64008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D186A7-0C94-47F3-8CE5-2F1439E72DB3}"/>
              </a:ext>
            </a:extLst>
          </p:cNvPr>
          <p:cNvSpPr txBox="1"/>
          <p:nvPr/>
        </p:nvSpPr>
        <p:spPr>
          <a:xfrm>
            <a:off x="838199" y="5818398"/>
            <a:ext cx="10151533" cy="9030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010CB-948F-400C-B639-FA7E800995B4}"/>
              </a:ext>
            </a:extLst>
          </p:cNvPr>
          <p:cNvSpPr txBox="1"/>
          <p:nvPr/>
        </p:nvSpPr>
        <p:spPr>
          <a:xfrm>
            <a:off x="838198" y="5818398"/>
            <a:ext cx="9914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good application must be consistent with its native style</a:t>
            </a:r>
          </a:p>
        </p:txBody>
      </p:sp>
    </p:spTree>
    <p:extLst>
      <p:ext uri="{BB962C8B-B14F-4D97-AF65-F5344CB8AC3E}">
        <p14:creationId xmlns:p14="http://schemas.microsoft.com/office/powerpoint/2010/main" val="2370667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Style sheet of a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Style sheets are appearance properties that each widget has. Changing the style sheet allows the developer to control the look of a widget.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Every widget has a list of properties that can be customised, in addition to the allowed values can be found here:                                                                 </a:t>
            </a:r>
            <a:r>
              <a:rPr lang="en-GB" sz="2400" dirty="0">
                <a:hlinkClick r:id="rId3"/>
              </a:rPr>
              <a:t>https://doc.qt.io/qt-6/stylesheet-reference.html#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To get you started quickly, here is a list of examples by widget: </a:t>
            </a:r>
            <a:r>
              <a:rPr lang="en-GB" sz="2400" dirty="0">
                <a:hlinkClick r:id="rId4"/>
              </a:rPr>
              <a:t>https://doc.qt.io/qt-6/stylesheet-examples.html</a:t>
            </a: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146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Adding resource files to an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What if you want more customisation options than </a:t>
            </a:r>
            <a:r>
              <a:rPr lang="en-GB" sz="2400" dirty="0" err="1"/>
              <a:t>Qt</a:t>
            </a:r>
            <a:r>
              <a:rPr lang="en-GB" sz="2400" dirty="0"/>
              <a:t> can offer?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 resource file is data file that can be integrated into the executable file of the application and is accessible during runtime.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Resources files can be pictures, colours, fonts, etc. Which can be imported into a </a:t>
            </a:r>
            <a:r>
              <a:rPr lang="en-GB" sz="2400" dirty="0" err="1"/>
              <a:t>Qt</a:t>
            </a:r>
            <a:r>
              <a:rPr lang="en-GB" sz="2400" dirty="0"/>
              <a:t> application to customise it.</a:t>
            </a:r>
          </a:p>
          <a:p>
            <a:pPr>
              <a:lnSpc>
                <a:spcPct val="120000"/>
              </a:lnSpc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D186A7-0C94-47F3-8CE5-2F1439E72DB3}"/>
              </a:ext>
            </a:extLst>
          </p:cNvPr>
          <p:cNvSpPr txBox="1"/>
          <p:nvPr/>
        </p:nvSpPr>
        <p:spPr>
          <a:xfrm>
            <a:off x="1020233" y="4604127"/>
            <a:ext cx="9549896" cy="206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7010CB-948F-400C-B639-FA7E800995B4}"/>
              </a:ext>
            </a:extLst>
          </p:cNvPr>
          <p:cNvSpPr txBox="1"/>
          <p:nvPr/>
        </p:nvSpPr>
        <p:spPr>
          <a:xfrm>
            <a:off x="1020234" y="4577748"/>
            <a:ext cx="9432450" cy="206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Make sure you use transparent pictures/icons as resources. If available use vector graphics (extension of .</a:t>
            </a:r>
            <a:r>
              <a:rPr lang="en-GB" sz="2400" dirty="0" err="1"/>
              <a:t>svg</a:t>
            </a:r>
            <a:r>
              <a:rPr lang="en-GB" sz="2400" dirty="0"/>
              <a:t> or .eps).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 good source of free icons is the </a:t>
            </a:r>
            <a:r>
              <a:rPr lang="en-GB" sz="2400" dirty="0">
                <a:hlinkClick r:id="rId3"/>
              </a:rPr>
              <a:t>noun project</a:t>
            </a:r>
            <a:r>
              <a:rPr lang="en-GB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35383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Signal - Slot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Qt executes parts of the code based on user’s actions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Signals and Slots are functions, the only difference between them is when they are executed.  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F94376C-1280-4201-B46E-37CC12D17F14}"/>
              </a:ext>
            </a:extLst>
          </p:cNvPr>
          <p:cNvSpPr/>
          <p:nvPr/>
        </p:nvSpPr>
        <p:spPr>
          <a:xfrm>
            <a:off x="87466" y="2602010"/>
            <a:ext cx="5377262" cy="249058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CC8FCE1-71C2-4BFD-8166-4360D35A6B84}"/>
              </a:ext>
            </a:extLst>
          </p:cNvPr>
          <p:cNvSpPr/>
          <p:nvPr/>
        </p:nvSpPr>
        <p:spPr>
          <a:xfrm>
            <a:off x="5976904" y="2590303"/>
            <a:ext cx="6215096" cy="230259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C3C277-5E1A-44D2-9FF0-5DE0A63F7CAA}"/>
              </a:ext>
            </a:extLst>
          </p:cNvPr>
          <p:cNvSpPr txBox="1"/>
          <p:nvPr/>
        </p:nvSpPr>
        <p:spPr>
          <a:xfrm>
            <a:off x="1933476" y="2178273"/>
            <a:ext cx="215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Signals (action)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772330-F9E3-496E-B64B-9F8A076E1F4D}"/>
              </a:ext>
            </a:extLst>
          </p:cNvPr>
          <p:cNvSpPr txBox="1"/>
          <p:nvPr/>
        </p:nvSpPr>
        <p:spPr>
          <a:xfrm>
            <a:off x="8334804" y="2178272"/>
            <a:ext cx="215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Slots (reaction)</a:t>
            </a:r>
          </a:p>
        </p:txBody>
      </p:sp>
      <p:pic>
        <p:nvPicPr>
          <p:cNvPr id="33" name="Picture 8" descr="Image result for user">
            <a:extLst>
              <a:ext uri="{FF2B5EF4-FFF2-40B4-BE49-F238E27FC236}">
                <a16:creationId xmlns:a16="http://schemas.microsoft.com/office/drawing/2014/main" id="{6CB08D6A-3328-40F0-9484-0C423889E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05" y="2630372"/>
            <a:ext cx="913279" cy="91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66FDA2C-15F6-41DB-8B91-54E3BE9CB07A}"/>
              </a:ext>
            </a:extLst>
          </p:cNvPr>
          <p:cNvSpPr txBox="1"/>
          <p:nvPr/>
        </p:nvSpPr>
        <p:spPr>
          <a:xfrm>
            <a:off x="1078421" y="2788207"/>
            <a:ext cx="4158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User actions/events (Lecture 16)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38273F-0178-427F-8D1B-647B19A91987}"/>
              </a:ext>
            </a:extLst>
          </p:cNvPr>
          <p:cNvSpPr txBox="1"/>
          <p:nvPr/>
        </p:nvSpPr>
        <p:spPr>
          <a:xfrm>
            <a:off x="276755" y="3871682"/>
            <a:ext cx="4998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Functions reporting a change in status</a:t>
            </a:r>
          </a:p>
          <a:p>
            <a:endParaRPr lang="en-GB" sz="2400" b="1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132E5A-DF85-406B-A809-AFD1FA9C4F40}"/>
              </a:ext>
            </a:extLst>
          </p:cNvPr>
          <p:cNvSpPr txBox="1"/>
          <p:nvPr/>
        </p:nvSpPr>
        <p:spPr>
          <a:xfrm>
            <a:off x="276755" y="4249745"/>
            <a:ext cx="530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ValueChanged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NewValue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5506741-288C-460F-9553-3B2CBA3465A5}"/>
              </a:ext>
            </a:extLst>
          </p:cNvPr>
          <p:cNvCxnSpPr>
            <a:cxnSpLocks/>
          </p:cNvCxnSpPr>
          <p:nvPr/>
        </p:nvCxnSpPr>
        <p:spPr>
          <a:xfrm>
            <a:off x="5150545" y="3085008"/>
            <a:ext cx="945455" cy="46056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91ADA63-9B15-46C6-86EA-2F7DCF3B9100}"/>
              </a:ext>
            </a:extLst>
          </p:cNvPr>
          <p:cNvSpPr txBox="1"/>
          <p:nvPr/>
        </p:nvSpPr>
        <p:spPr>
          <a:xfrm>
            <a:off x="6023123" y="2912077"/>
            <a:ext cx="63001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WordCountApp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on_Count_btn_clicked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ECBDB0-F16E-4B78-840D-27EE4525516A}"/>
              </a:ext>
            </a:extLst>
          </p:cNvPr>
          <p:cNvCxnSpPr>
            <a:cxnSpLocks/>
          </p:cNvCxnSpPr>
          <p:nvPr/>
        </p:nvCxnSpPr>
        <p:spPr>
          <a:xfrm>
            <a:off x="5031449" y="4174812"/>
            <a:ext cx="1184013" cy="74694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B15BE09-B560-4F6B-94EF-B27183320866}"/>
              </a:ext>
            </a:extLst>
          </p:cNvPr>
          <p:cNvSpPr txBox="1"/>
          <p:nvPr/>
        </p:nvSpPr>
        <p:spPr>
          <a:xfrm>
            <a:off x="6215462" y="4071736"/>
            <a:ext cx="53525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QlcdNumber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display(</a:t>
            </a:r>
            <a:r>
              <a:rPr lang="en-GB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value)</a:t>
            </a:r>
          </a:p>
        </p:txBody>
      </p:sp>
    </p:spTree>
    <p:extLst>
      <p:ext uri="{BB962C8B-B14F-4D97-AF65-F5344CB8AC3E}">
        <p14:creationId xmlns:p14="http://schemas.microsoft.com/office/powerpoint/2010/main" val="273455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Signal - Slot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301556"/>
            <a:ext cx="113538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 Signal is a function which is emits/ transmits its output to all Slots of objects it is connected to </a:t>
            </a:r>
            <a:r>
              <a:rPr lang="en-GB" sz="2400" u="sng" dirty="0"/>
              <a:t>automatically</a:t>
            </a:r>
            <a:r>
              <a:rPr lang="en-GB" sz="2400" dirty="0"/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 Slot is a function that takes the emitted signal as an input and is </a:t>
            </a:r>
            <a:r>
              <a:rPr lang="en-GB" sz="2400" u="sng" dirty="0"/>
              <a:t>automatically executed</a:t>
            </a:r>
            <a:r>
              <a:rPr lang="en-GB" sz="2400" dirty="0"/>
              <a:t> when the signal is received.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This allows for instantaneous update of functions, in contrast to the use of local variables.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developer can defined their own signals and slots as well: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38199" y="4940505"/>
            <a:ext cx="937384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// Somewhere in a header file: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public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urier New"/>
                <a:cs typeface="Courier New"/>
              </a:rPr>
              <a:t>slots: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  </a:t>
            </a:r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// Can be public, private, or protected</a:t>
            </a:r>
          </a:p>
          <a:p>
            <a:r>
              <a:rPr lang="en-US" sz="2000" b="1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//normal function prototype</a:t>
            </a:r>
          </a:p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urier New"/>
                <a:cs typeface="Courier New"/>
              </a:rPr>
              <a:t>signals: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       </a:t>
            </a:r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// has no access specifier</a:t>
            </a:r>
            <a:endParaRPr lang="en-US" sz="2000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US" sz="2000" b="1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//normal function prototype</a:t>
            </a:r>
            <a:endParaRPr lang="en-US" sz="2000" b="1" dirty="0">
              <a:latin typeface="Courier New"/>
              <a:cs typeface="Courier New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38199" y="5033420"/>
            <a:ext cx="8864600" cy="17719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349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Signal - Slot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Using local variables: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Using signal-slot mechanism: 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972711" y="2638354"/>
            <a:ext cx="2953022" cy="46043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V="1">
            <a:off x="2438394" y="2880372"/>
            <a:ext cx="1534317" cy="218416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667606" y="2940480"/>
            <a:ext cx="1906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Input_obj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2630058" y="2444234"/>
            <a:ext cx="1415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Fun1()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4070280" y="2638354"/>
            <a:ext cx="2940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local_variable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6925733" y="2848081"/>
            <a:ext cx="2235200" cy="184797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7182876" y="2387330"/>
            <a:ext cx="172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Fun2()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9127062" y="2940479"/>
            <a:ext cx="2201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Output_obj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Curved Connector 15"/>
          <p:cNvCxnSpPr>
            <a:stCxn id="20" idx="1"/>
          </p:cNvCxnSpPr>
          <p:nvPr/>
        </p:nvCxnSpPr>
        <p:spPr>
          <a:xfrm rot="10800000">
            <a:off x="3115756" y="3100039"/>
            <a:ext cx="1119561" cy="635345"/>
          </a:xfrm>
          <a:prstGeom prst="curvedConnector3">
            <a:avLst>
              <a:gd name="adj1" fmla="val 9915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4235316" y="3319884"/>
            <a:ext cx="2389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cs typeface="Courier New" panose="02070309020205020404" pitchFamily="49" charset="0"/>
              </a:rPr>
              <a:t>Not necessarily at the same time</a:t>
            </a:r>
          </a:p>
        </p:txBody>
      </p:sp>
      <p:cxnSp>
        <p:nvCxnSpPr>
          <p:cNvPr id="23" name="Curved Connector 22"/>
          <p:cNvCxnSpPr/>
          <p:nvPr/>
        </p:nvCxnSpPr>
        <p:spPr>
          <a:xfrm rot="10800000" flipH="1">
            <a:off x="6512872" y="3125439"/>
            <a:ext cx="1119561" cy="635345"/>
          </a:xfrm>
          <a:prstGeom prst="curvedConnector3">
            <a:avLst>
              <a:gd name="adj1" fmla="val 9915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2573854" y="5655795"/>
            <a:ext cx="6688668" cy="72524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723810" y="5429305"/>
            <a:ext cx="1906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Input_obj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2744448" y="5033192"/>
            <a:ext cx="14159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Fun1()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7335276" y="5113602"/>
            <a:ext cx="172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Fun2()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9266851" y="5446300"/>
            <a:ext cx="2201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Output_obj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3698345" y="5888164"/>
            <a:ext cx="3934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cs typeface="Courier New" panose="02070309020205020404" pitchFamily="49" charset="0"/>
              </a:rPr>
              <a:t>Information is sent </a:t>
            </a:r>
            <a:r>
              <a:rPr lang="en-GB" sz="2400" u="sng" dirty="0">
                <a:cs typeface="Courier New" panose="02070309020205020404" pitchFamily="49" charset="0"/>
              </a:rPr>
              <a:t>instantly</a:t>
            </a:r>
          </a:p>
        </p:txBody>
      </p:sp>
    </p:spTree>
    <p:extLst>
      <p:ext uri="{BB962C8B-B14F-4D97-AF65-F5344CB8AC3E}">
        <p14:creationId xmlns:p14="http://schemas.microsoft.com/office/powerpoint/2010/main" val="3719947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Signal - Slot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522604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signals and slots of an object are separated from other functions in the documentation, example: </a:t>
            </a:r>
            <a:r>
              <a:rPr lang="en-GB" sz="2400" dirty="0">
                <a:hlinkClick r:id="rId3"/>
              </a:rPr>
              <a:t>https://doc.qt.io/qt-6/qabstractbutton.html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To connect signals and slots from Qt Designer, press on this icon      on the top left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Connecting a single to slot can be done in the code as well: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Further reading: </a:t>
            </a:r>
            <a:r>
              <a:rPr lang="en-GB" sz="2400" dirty="0">
                <a:hlinkClick r:id="rId4"/>
              </a:rPr>
              <a:t>https://doc.qt.io/qt-6/signalsandslots.html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A simple dial reader (demonstration).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73560" y="3610384"/>
            <a:ext cx="11075423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connect</a:t>
            </a:r>
            <a:r>
              <a:rPr lang="en-US" sz="2000" b="1" dirty="0">
                <a:latin typeface="Courier New"/>
                <a:cs typeface="Courier New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urier New"/>
                <a:cs typeface="Courier New"/>
              </a:rPr>
              <a:t>sender_obj</a:t>
            </a:r>
            <a:r>
              <a:rPr lang="en-US" sz="2000" b="1" dirty="0" err="1">
                <a:latin typeface="Courier New"/>
                <a:cs typeface="Courier New"/>
              </a:rPr>
              <a:t>,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SIGNAL</a:t>
            </a:r>
            <a:r>
              <a:rPr lang="en-US" sz="2000" b="1" dirty="0">
                <a:latin typeface="Courier New"/>
                <a:cs typeface="Courier New"/>
              </a:rPr>
              <a:t>(</a:t>
            </a:r>
            <a:r>
              <a:rPr lang="en-US" sz="2000" b="1" dirty="0" err="1">
                <a:latin typeface="Courier New"/>
                <a:cs typeface="Courier New"/>
              </a:rPr>
              <a:t>signal_fun</a:t>
            </a:r>
            <a:r>
              <a:rPr lang="en-US" sz="2000" b="1" dirty="0">
                <a:latin typeface="Courier New"/>
                <a:cs typeface="Courier New"/>
              </a:rPr>
              <a:t>()),</a:t>
            </a:r>
            <a:r>
              <a:rPr lang="en-US" sz="2000" b="1" dirty="0" err="1">
                <a:solidFill>
                  <a:srgbClr val="FF0000"/>
                </a:solidFill>
                <a:latin typeface="Courier New"/>
                <a:cs typeface="Courier New"/>
              </a:rPr>
              <a:t>receiver_obj</a:t>
            </a:r>
            <a:r>
              <a:rPr lang="en-US" sz="2000" b="1" dirty="0" err="1">
                <a:latin typeface="Courier New"/>
                <a:cs typeface="Courier New"/>
              </a:rPr>
              <a:t>,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Courier New"/>
                <a:cs typeface="Courier New"/>
              </a:rPr>
              <a:t>SLOT</a:t>
            </a:r>
            <a:r>
              <a:rPr lang="en-US" sz="2000" b="1" dirty="0">
                <a:latin typeface="Courier New"/>
                <a:cs typeface="Courier New"/>
              </a:rPr>
              <a:t>(</a:t>
            </a:r>
            <a:r>
              <a:rPr lang="en-US" sz="2000" b="1" dirty="0" err="1">
                <a:latin typeface="Courier New"/>
                <a:cs typeface="Courier New"/>
              </a:rPr>
              <a:t>slot_fun</a:t>
            </a:r>
            <a:r>
              <a:rPr lang="en-US" sz="2000" b="1" dirty="0">
                <a:latin typeface="Courier New"/>
                <a:cs typeface="Courier New"/>
              </a:rPr>
              <a:t>()))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05933" y="3720202"/>
            <a:ext cx="10822641" cy="4485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846" y="2661492"/>
            <a:ext cx="276225" cy="29527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F6BAA7-1D18-49E5-96FE-D91D2AC0BF5D}"/>
              </a:ext>
            </a:extLst>
          </p:cNvPr>
          <p:cNvCxnSpPr>
            <a:cxnSpLocks/>
          </p:cNvCxnSpPr>
          <p:nvPr/>
        </p:nvCxnSpPr>
        <p:spPr>
          <a:xfrm flipV="1">
            <a:off x="2894409" y="4125911"/>
            <a:ext cx="0" cy="497847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A826A0-B697-41DD-BCF3-317C6E00D650}"/>
              </a:ext>
            </a:extLst>
          </p:cNvPr>
          <p:cNvCxnSpPr>
            <a:cxnSpLocks/>
          </p:cNvCxnSpPr>
          <p:nvPr/>
        </p:nvCxnSpPr>
        <p:spPr>
          <a:xfrm flipV="1">
            <a:off x="7774085" y="4045398"/>
            <a:ext cx="0" cy="509349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949E01-92E4-4CE8-9986-F40A26A3FEA4}"/>
              </a:ext>
            </a:extLst>
          </p:cNvPr>
          <p:cNvSpPr txBox="1"/>
          <p:nvPr/>
        </p:nvSpPr>
        <p:spPr>
          <a:xfrm>
            <a:off x="6948271" y="4449107"/>
            <a:ext cx="3324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Pointer to receiver object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1CAACE-E4C8-4D41-A37C-27BABBB0B4FD}"/>
              </a:ext>
            </a:extLst>
          </p:cNvPr>
          <p:cNvSpPr txBox="1"/>
          <p:nvPr/>
        </p:nvSpPr>
        <p:spPr>
          <a:xfrm>
            <a:off x="1526062" y="4635612"/>
            <a:ext cx="3324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Pointer to sender object</a:t>
            </a:r>
          </a:p>
        </p:txBody>
      </p:sp>
      <p:cxnSp>
        <p:nvCxnSpPr>
          <p:cNvPr id="14" name="Curved Connector 15">
            <a:extLst>
              <a:ext uri="{FF2B5EF4-FFF2-40B4-BE49-F238E27FC236}">
                <a16:creationId xmlns:a16="http://schemas.microsoft.com/office/drawing/2014/main" id="{6B1CE970-A38C-409D-95F0-5E591068902B}"/>
              </a:ext>
            </a:extLst>
          </p:cNvPr>
          <p:cNvCxnSpPr>
            <a:cxnSpLocks/>
          </p:cNvCxnSpPr>
          <p:nvPr/>
        </p:nvCxnSpPr>
        <p:spPr>
          <a:xfrm rot="10800000">
            <a:off x="6647435" y="4168714"/>
            <a:ext cx="3021814" cy="1214921"/>
          </a:xfrm>
          <a:prstGeom prst="curvedConnector3">
            <a:avLst>
              <a:gd name="adj1" fmla="val 9967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5D3676-CCDF-4871-B9F9-571F7204CBE4}"/>
              </a:ext>
            </a:extLst>
          </p:cNvPr>
          <p:cNvSpPr txBox="1"/>
          <p:nvPr/>
        </p:nvSpPr>
        <p:spPr>
          <a:xfrm>
            <a:off x="9796814" y="4910772"/>
            <a:ext cx="2389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cs typeface="Courier New" panose="02070309020205020404" pitchFamily="49" charset="0"/>
              </a:rPr>
              <a:t>Must have similar argument type</a:t>
            </a:r>
          </a:p>
        </p:txBody>
      </p:sp>
      <p:cxnSp>
        <p:nvCxnSpPr>
          <p:cNvPr id="16" name="Curved Connector 22">
            <a:extLst>
              <a:ext uri="{FF2B5EF4-FFF2-40B4-BE49-F238E27FC236}">
                <a16:creationId xmlns:a16="http://schemas.microsoft.com/office/drawing/2014/main" id="{86597A6D-7A46-4303-B114-D7DE7F71BFE6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789442" y="4574927"/>
            <a:ext cx="707870" cy="2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385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86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In this lecture, further uses of </a:t>
            </a:r>
            <a:r>
              <a:rPr lang="en-GB" sz="2400" dirty="0" err="1"/>
              <a:t>Qt</a:t>
            </a:r>
            <a:r>
              <a:rPr lang="en-GB" sz="2400" dirty="0"/>
              <a:t> Designer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Formatting the lay out of the application and controlling its sizing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Controlling the style of a Widget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Adding resource files to an application was explained.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Signal-Slot mechanism was discussed and it was contrasted with connecting objects using variables.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Classes introduced: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QStyle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QHBoxLayout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QVBoxLayout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QGridLayout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QDial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QLCDNumber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308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2951</TotalTime>
  <Words>1324</Words>
  <Application>Microsoft Office PowerPoint</Application>
  <PresentationFormat>Widescreen</PresentationFormat>
  <Paragraphs>279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Application Development with C++ (ELEC362)</vt:lpstr>
      <vt:lpstr>Previous lecture </vt:lpstr>
      <vt:lpstr>This lecture</vt:lpstr>
      <vt:lpstr>Qt Designer formatting features</vt:lpstr>
      <vt:lpstr>Classes interacting with Qt Designer</vt:lpstr>
      <vt:lpstr>QLayout Class </vt:lpstr>
      <vt:lpstr>Controlling the appearance of widgets</vt:lpstr>
      <vt:lpstr>QStyle Class </vt:lpstr>
      <vt:lpstr>Style sheet of a widget</vt:lpstr>
      <vt:lpstr>Adding resource files to an application</vt:lpstr>
      <vt:lpstr>Signal - Slot mechanism</vt:lpstr>
      <vt:lpstr>Signal - Slot mechanism</vt:lpstr>
      <vt:lpstr>Signal - Slot mechanism</vt:lpstr>
      <vt:lpstr>Signal - Slot connection</vt:lpstr>
      <vt:lpstr>Summary 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375</cp:revision>
  <dcterms:created xsi:type="dcterms:W3CDTF">2019-05-09T14:26:54Z</dcterms:created>
  <dcterms:modified xsi:type="dcterms:W3CDTF">2025-11-17T15:01:12Z</dcterms:modified>
</cp:coreProperties>
</file>