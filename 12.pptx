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303" r:id="rId3"/>
    <p:sldId id="330" r:id="rId4"/>
    <p:sldId id="332" r:id="rId5"/>
    <p:sldId id="344" r:id="rId6"/>
    <p:sldId id="345" r:id="rId7"/>
    <p:sldId id="346" r:id="rId8"/>
    <p:sldId id="347" r:id="rId9"/>
    <p:sldId id="348" r:id="rId10"/>
    <p:sldId id="358" r:id="rId11"/>
    <p:sldId id="349" r:id="rId12"/>
    <p:sldId id="352" r:id="rId13"/>
    <p:sldId id="351" r:id="rId14"/>
    <p:sldId id="355" r:id="rId15"/>
    <p:sldId id="353" r:id="rId16"/>
    <p:sldId id="354" r:id="rId17"/>
    <p:sldId id="356" r:id="rId18"/>
    <p:sldId id="357" r:id="rId19"/>
    <p:sldId id="34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9E7"/>
    <a:srgbClr val="008000"/>
    <a:srgbClr val="0000FF"/>
    <a:srgbClr val="6F008A"/>
    <a:srgbClr val="660066"/>
    <a:srgbClr val="E9ED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58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9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1074BA-FB03-4330-B6D5-D4E5FA218414}" type="datetimeFigureOut">
              <a:rPr lang="en-GB" smtClean="0"/>
              <a:t>30/10/2023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56E79A-B420-420D-963A-E7DA074E8C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279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4846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>
                <a:solidFill>
                  <a:prstClr val="black"/>
                </a:solidFill>
              </a:rPr>
              <a:pPr/>
              <a:t>3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6907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E79A-B420-420D-963A-E7DA074E8CA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9040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E79A-B420-420D-963A-E7DA074E8CA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89252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E79A-B420-420D-963A-E7DA074E8CA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68545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E79A-B420-420D-963A-E7DA074E8CA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83543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E79A-B420-420D-963A-E7DA074E8CA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80150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E79A-B420-420D-963A-E7DA074E8CA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08156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E79A-B420-420D-963A-E7DA074E8CA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27221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E79A-B420-420D-963A-E7DA074E8CA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25322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E79A-B420-420D-963A-E7DA074E8CA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61338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E79A-B420-420D-963A-E7DA074E8CA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40508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E79A-B420-420D-963A-E7DA074E8CA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55848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E79A-B420-420D-963A-E7DA074E8CA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56157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E79A-B420-420D-963A-E7DA074E8CA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19530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E79A-B420-420D-963A-E7DA074E8CA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2813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E79A-B420-420D-963A-E7DA074E8CA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33570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2993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0A4CF-2717-43E3-825E-373FCAF8CACA}" type="datetime1">
              <a:rPr lang="en-GB" smtClean="0"/>
              <a:t>30/10/2023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9440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6B0B5-D2C5-451B-BB87-3C1CFDD20804}" type="datetime1">
              <a:rPr lang="en-GB" smtClean="0"/>
              <a:t>30/10/2023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0092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C933E-6ACF-4BB5-897C-C6A0A52DD82E}" type="datetime1">
              <a:rPr lang="en-GB" smtClean="0"/>
              <a:t>30/10/2023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223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3D5C-DF01-4C10-9D18-B3DE3D921135}" type="datetime1">
              <a:rPr lang="en-GB" smtClean="0"/>
              <a:t>30/10/2023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5689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047ED-C601-47CB-8D5C-4ECECC17B65B}" type="datetime1">
              <a:rPr lang="en-GB" smtClean="0"/>
              <a:t>30/10/2023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7478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CE9AF-161C-412D-BD00-75CE1DCC1DF7}" type="datetime1">
              <a:rPr lang="en-GB" smtClean="0"/>
              <a:t>30/10/2023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6462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22656-4D19-4DEB-807B-1CF4EDC253D6}" type="datetime1">
              <a:rPr lang="en-GB" smtClean="0"/>
              <a:t>30/10/2023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6572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7A24E-4829-479F-A19E-280D0A836AA5}" type="datetime1">
              <a:rPr lang="en-GB" smtClean="0"/>
              <a:t>30/10/2023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5824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BB24F-C214-4E3A-A5E5-E9173E3D1D83}" type="datetime1">
              <a:rPr lang="en-GB" smtClean="0"/>
              <a:t>30/10/2023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2035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FAC9A-9164-4283-9229-F1A5E788ED22}" type="datetime1">
              <a:rPr lang="en-GB" smtClean="0"/>
              <a:t>30/10/2023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1793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6F9B7-246B-4E64-87D5-D2F2416C2D2A}" type="datetime1">
              <a:rPr lang="en-GB" smtClean="0"/>
              <a:t>30/10/2023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651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6D058-F21A-4AF4-A0C5-0F6F3323CC21}" type="datetime1">
              <a:rPr lang="en-GB" smtClean="0"/>
              <a:t>30/10/2023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529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mihasan@liverpool.ac.u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720574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stamp/stamp.jsp?tp=&amp;arnumber=5167255&amp;isnumber=5167254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kPRA0W1kECg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8055462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Application Development with C++ (ELEC362)</a:t>
            </a:r>
            <a:endParaRPr lang="en-GB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474912"/>
          </a:xfrm>
        </p:spPr>
        <p:txBody>
          <a:bodyPr anchor="ctr">
            <a:normAutofit/>
          </a:bodyPr>
          <a:lstStyle/>
          <a:p>
            <a:r>
              <a:rPr lang="en-GB" sz="3600" dirty="0"/>
              <a:t>Lecture 12: Basics of software development</a:t>
            </a:r>
          </a:p>
          <a:p>
            <a:r>
              <a:rPr lang="en-GB" sz="3200" dirty="0">
                <a:hlinkClick r:id="rId2"/>
              </a:rPr>
              <a:t>mihasan@liverpool.ac.uk</a:t>
            </a:r>
            <a:endParaRPr lang="en-GB" sz="3200" dirty="0"/>
          </a:p>
          <a:p>
            <a:endParaRPr lang="en-GB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275" y="-417339"/>
            <a:ext cx="7543800" cy="3079403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7943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Previous lecture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03879"/>
            <a:ext cx="11075437" cy="4895850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GB" sz="2400" dirty="0"/>
              <a:t>Iterators were introduced an the different types of iterators were discussed.</a:t>
            </a:r>
          </a:p>
          <a:p>
            <a:pPr>
              <a:lnSpc>
                <a:spcPct val="170000"/>
              </a:lnSpc>
            </a:pPr>
            <a:r>
              <a:rPr lang="en-GB" sz="2400" dirty="0"/>
              <a:t>Stream iterators and insert operators were discussed.</a:t>
            </a:r>
          </a:p>
          <a:p>
            <a:pPr>
              <a:lnSpc>
                <a:spcPct val="170000"/>
              </a:lnSpc>
            </a:pPr>
            <a:r>
              <a:rPr lang="en-GB" sz="2400" dirty="0"/>
              <a:t>Smart pointers were discussed.</a:t>
            </a:r>
          </a:p>
          <a:p>
            <a:pPr>
              <a:lnSpc>
                <a:spcPct val="170000"/>
              </a:lnSpc>
            </a:pPr>
            <a:r>
              <a:rPr lang="en-GB" sz="2400" dirty="0"/>
              <a:t>Algorithms and </a:t>
            </a:r>
            <a:r>
              <a:rPr lang="en-GB" sz="2400" dirty="0" err="1"/>
              <a:t>Functors</a:t>
            </a:r>
            <a:r>
              <a:rPr lang="en-GB" sz="2400" dirty="0"/>
              <a:t> were defined and discussed. </a:t>
            </a:r>
          </a:p>
          <a:p>
            <a:pPr>
              <a:lnSpc>
                <a:spcPct val="170000"/>
              </a:lnSpc>
            </a:pPr>
            <a:endParaRPr lang="en-GB" sz="2400" dirty="0"/>
          </a:p>
          <a:p>
            <a:pPr>
              <a:lnSpc>
                <a:spcPct val="170000"/>
              </a:lnSpc>
            </a:pPr>
            <a:endParaRPr lang="en-GB" sz="2400" dirty="0"/>
          </a:p>
          <a:p>
            <a:pPr>
              <a:lnSpc>
                <a:spcPct val="17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3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2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64FB17-C223-444F-A237-84ECC72DDE4B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5071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This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What is covered in this lecture?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1. Models of software development.  2. Discussion of their components.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Why it is covered?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Because it provided a high-level out-take on the software development process.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How are topics covered in this lecture: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A practical example and questions for discussion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8A95AE-9713-46FC-B847-421EF800AD12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838199" y="5480903"/>
            <a:ext cx="9973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NOTE: This is NOT a Software Engineering module in one lecture.</a:t>
            </a:r>
          </a:p>
        </p:txBody>
      </p:sp>
    </p:spTree>
    <p:extLst>
      <p:ext uri="{BB962C8B-B14F-4D97-AF65-F5344CB8AC3E}">
        <p14:creationId xmlns:p14="http://schemas.microsoft.com/office/powerpoint/2010/main" val="3612102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95423"/>
            <a:ext cx="11159067" cy="432360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Software Engineering is a systematic approach to the design, development, operation, and maintenance of a software system.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Software engineering concepts are important in defining the overall objective of a given software, in comparison to codes which are very specific.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In Software engineering, the words “programme” and “software” mean two different things: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Software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1761D7-3DCA-48D0-8D79-89DA2676C30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2B5F8C6-6A95-4992-9CD9-4C813A3AECDF}"/>
              </a:ext>
            </a:extLst>
          </p:cNvPr>
          <p:cNvCxnSpPr>
            <a:cxnSpLocks/>
          </p:cNvCxnSpPr>
          <p:nvPr/>
        </p:nvCxnSpPr>
        <p:spPr>
          <a:xfrm flipH="1" flipV="1">
            <a:off x="3022602" y="5503333"/>
            <a:ext cx="6773331" cy="3996"/>
          </a:xfrm>
          <a:prstGeom prst="straightConnector1">
            <a:avLst/>
          </a:prstGeom>
          <a:ln w="57150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E463F05-43F7-464F-BCF3-F596A76D4A04}"/>
              </a:ext>
            </a:extLst>
          </p:cNvPr>
          <p:cNvSpPr txBox="1"/>
          <p:nvPr/>
        </p:nvSpPr>
        <p:spPr>
          <a:xfrm>
            <a:off x="2172528" y="4834548"/>
            <a:ext cx="20354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prstClr val="black"/>
                </a:solidFill>
              </a:rPr>
              <a:t>Programme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463F05-43F7-464F-BCF3-F596A76D4A04}"/>
              </a:ext>
            </a:extLst>
          </p:cNvPr>
          <p:cNvSpPr txBox="1"/>
          <p:nvPr/>
        </p:nvSpPr>
        <p:spPr>
          <a:xfrm>
            <a:off x="1499427" y="5615636"/>
            <a:ext cx="45373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prstClr val="black"/>
                </a:solidFill>
              </a:rPr>
              <a:t>Small in size, one developer,  non-systematic development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463F05-43F7-464F-BCF3-F596A76D4A04}"/>
              </a:ext>
            </a:extLst>
          </p:cNvPr>
          <p:cNvSpPr txBox="1"/>
          <p:nvPr/>
        </p:nvSpPr>
        <p:spPr>
          <a:xfrm>
            <a:off x="8336261" y="4875729"/>
            <a:ext cx="20354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prstClr val="black"/>
                </a:solidFill>
              </a:rPr>
              <a:t>Software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463F05-43F7-464F-BCF3-F596A76D4A04}"/>
              </a:ext>
            </a:extLst>
          </p:cNvPr>
          <p:cNvSpPr txBox="1"/>
          <p:nvPr/>
        </p:nvSpPr>
        <p:spPr>
          <a:xfrm>
            <a:off x="7087427" y="5629151"/>
            <a:ext cx="45330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prstClr val="black"/>
                </a:solidFill>
              </a:rPr>
              <a:t>Large in size, teams of developers, systematic development</a:t>
            </a:r>
          </a:p>
        </p:txBody>
      </p:sp>
    </p:spTree>
    <p:extLst>
      <p:ext uri="{BB962C8B-B14F-4D97-AF65-F5344CB8AC3E}">
        <p14:creationId xmlns:p14="http://schemas.microsoft.com/office/powerpoint/2010/main" val="171532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86956"/>
            <a:ext cx="11159067" cy="524404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The waterfall model is the most basic model in software engineering. </a:t>
            </a:r>
          </a:p>
          <a:p>
            <a:pPr>
              <a:lnSpc>
                <a:spcPct val="150000"/>
              </a:lnSpc>
            </a:pPr>
            <a:endParaRPr lang="en-GB" sz="2400" dirty="0"/>
          </a:p>
          <a:p>
            <a:pPr>
              <a:lnSpc>
                <a:spcPct val="150000"/>
              </a:lnSpc>
            </a:pP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/>
              <a:t>Advantages: 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GB" sz="2400" dirty="0"/>
              <a:t>Easy to use and understand.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GB" sz="2400" dirty="0"/>
              <a:t>Has clearly defined stages and milestones.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3. Enforces “define-design-code” strategy.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4.  Works well for small projects.</a:t>
            </a:r>
          </a:p>
          <a:p>
            <a:pPr marL="0" indent="0">
              <a:lnSpc>
                <a:spcPct val="10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The waterfall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1761D7-3DCA-48D0-8D79-89DA2676C30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5">
            <a:extLst>
              <a:ext uri="{FF2B5EF4-FFF2-40B4-BE49-F238E27FC236}">
                <a16:creationId xmlns:a16="http://schemas.microsoft.com/office/drawing/2014/main" id="{5056FDB1-32D9-416E-A175-EDDF2BED1DE3}"/>
              </a:ext>
            </a:extLst>
          </p:cNvPr>
          <p:cNvSpPr/>
          <p:nvPr/>
        </p:nvSpPr>
        <p:spPr>
          <a:xfrm>
            <a:off x="3107270" y="2205407"/>
            <a:ext cx="2429936" cy="85952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2820616" y="2205407"/>
            <a:ext cx="2940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Requirements analysis and specs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5154650" y="3309238"/>
            <a:ext cx="1591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Design</a:t>
            </a:r>
          </a:p>
        </p:txBody>
      </p:sp>
      <p:sp>
        <p:nvSpPr>
          <p:cNvPr id="15" name="Rectangle: Rounded Corners 5">
            <a:extLst>
              <a:ext uri="{FF2B5EF4-FFF2-40B4-BE49-F238E27FC236}">
                <a16:creationId xmlns:a16="http://schemas.microsoft.com/office/drawing/2014/main" id="{5056FDB1-32D9-416E-A175-EDDF2BED1DE3}"/>
              </a:ext>
            </a:extLst>
          </p:cNvPr>
          <p:cNvSpPr/>
          <p:nvPr/>
        </p:nvSpPr>
        <p:spPr>
          <a:xfrm>
            <a:off x="5990174" y="4085003"/>
            <a:ext cx="2429936" cy="85952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6091782" y="4075375"/>
            <a:ext cx="23283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Implementation          and coding</a:t>
            </a:r>
          </a:p>
        </p:txBody>
      </p:sp>
      <p:sp>
        <p:nvSpPr>
          <p:cNvPr id="17" name="Rectangle: Rounded Corners 5">
            <a:extLst>
              <a:ext uri="{FF2B5EF4-FFF2-40B4-BE49-F238E27FC236}">
                <a16:creationId xmlns:a16="http://schemas.microsoft.com/office/drawing/2014/main" id="{5056FDB1-32D9-416E-A175-EDDF2BED1DE3}"/>
              </a:ext>
            </a:extLst>
          </p:cNvPr>
          <p:cNvSpPr/>
          <p:nvPr/>
        </p:nvSpPr>
        <p:spPr>
          <a:xfrm>
            <a:off x="7389296" y="5030726"/>
            <a:ext cx="2429936" cy="85952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7440100" y="5032677"/>
            <a:ext cx="23283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Verification and Validation</a:t>
            </a:r>
          </a:p>
        </p:txBody>
      </p:sp>
      <p:sp>
        <p:nvSpPr>
          <p:cNvPr id="19" name="Rectangle: Rounded Corners 5">
            <a:extLst>
              <a:ext uri="{FF2B5EF4-FFF2-40B4-BE49-F238E27FC236}">
                <a16:creationId xmlns:a16="http://schemas.microsoft.com/office/drawing/2014/main" id="{5056FDB1-32D9-416E-A175-EDDF2BED1DE3}"/>
              </a:ext>
            </a:extLst>
          </p:cNvPr>
          <p:cNvSpPr/>
          <p:nvPr/>
        </p:nvSpPr>
        <p:spPr>
          <a:xfrm>
            <a:off x="4775206" y="3145205"/>
            <a:ext cx="2429936" cy="85952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Rectangle: Rounded Corners 5">
            <a:extLst>
              <a:ext uri="{FF2B5EF4-FFF2-40B4-BE49-F238E27FC236}">
                <a16:creationId xmlns:a16="http://schemas.microsoft.com/office/drawing/2014/main" id="{5056FDB1-32D9-416E-A175-EDDF2BED1DE3}"/>
              </a:ext>
            </a:extLst>
          </p:cNvPr>
          <p:cNvSpPr/>
          <p:nvPr/>
        </p:nvSpPr>
        <p:spPr>
          <a:xfrm>
            <a:off x="8604264" y="5963365"/>
            <a:ext cx="2429936" cy="76763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8655068" y="6092471"/>
            <a:ext cx="2328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Maintenance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5562606" y="2610321"/>
            <a:ext cx="775824" cy="496731"/>
          </a:xfrm>
          <a:prstGeom prst="bentConnector3">
            <a:avLst>
              <a:gd name="adj1" fmla="val 100200"/>
            </a:avLst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/>
          <p:cNvCxnSpPr/>
          <p:nvPr/>
        </p:nvCxnSpPr>
        <p:spPr>
          <a:xfrm>
            <a:off x="7230546" y="3575520"/>
            <a:ext cx="775824" cy="496731"/>
          </a:xfrm>
          <a:prstGeom prst="bentConnector3">
            <a:avLst>
              <a:gd name="adj1" fmla="val 100200"/>
            </a:avLst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/>
          <p:cNvCxnSpPr/>
          <p:nvPr/>
        </p:nvCxnSpPr>
        <p:spPr>
          <a:xfrm>
            <a:off x="8458209" y="4498395"/>
            <a:ext cx="775824" cy="496731"/>
          </a:xfrm>
          <a:prstGeom prst="bentConnector3">
            <a:avLst>
              <a:gd name="adj1" fmla="val 100200"/>
            </a:avLst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/>
          <p:cNvCxnSpPr/>
          <p:nvPr/>
        </p:nvCxnSpPr>
        <p:spPr>
          <a:xfrm>
            <a:off x="9838279" y="5446666"/>
            <a:ext cx="775824" cy="496731"/>
          </a:xfrm>
          <a:prstGeom prst="bentConnector3">
            <a:avLst>
              <a:gd name="adj1" fmla="val 100200"/>
            </a:avLst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-7254" y="2184952"/>
            <a:ext cx="15917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Customer </a:t>
            </a:r>
          </a:p>
          <a:p>
            <a:pPr algn="ctr"/>
            <a:r>
              <a:rPr lang="en-GB" sz="2400" dirty="0"/>
              <a:t>end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541540" y="2176882"/>
            <a:ext cx="1473201" cy="8471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2798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86956"/>
            <a:ext cx="11159067" cy="524404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The </a:t>
            </a:r>
            <a:r>
              <a:rPr lang="en-GB" sz="2400" u="sng" dirty="0"/>
              <a:t>customer</a:t>
            </a:r>
            <a:r>
              <a:rPr lang="en-GB" sz="2400" dirty="0"/>
              <a:t> gives the specifications of the software, in order for the </a:t>
            </a:r>
            <a:r>
              <a:rPr lang="en-GB" sz="2400" u="sng" dirty="0"/>
              <a:t>developer</a:t>
            </a:r>
            <a:r>
              <a:rPr lang="en-GB" sz="2400" dirty="0"/>
              <a:t> to produce the Software Requirements Specification (SRS).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A Software Requirement Specification (SRS) is description of a software system to be developed, stating functional and non-functional requirements.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 SRS is a standardised document for software projects, with one of the most famous standard being the IEEE </a:t>
            </a:r>
            <a:r>
              <a:rPr lang="en-GB" sz="2400" dirty="0" err="1"/>
              <a:t>Std</a:t>
            </a:r>
            <a:r>
              <a:rPr lang="en-GB" sz="2400" dirty="0"/>
              <a:t> 830-1998 (</a:t>
            </a:r>
            <a:r>
              <a:rPr lang="en-GB" sz="2400" dirty="0">
                <a:hlinkClick r:id="rId3"/>
              </a:rPr>
              <a:t>https://ieeexplore.ieee.org/document/720574</a:t>
            </a:r>
            <a:r>
              <a:rPr lang="en-GB" sz="2400" dirty="0"/>
              <a:t>).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Mention that you are aware of it in your cover letter for software development jobs!!</a:t>
            </a:r>
          </a:p>
          <a:p>
            <a:pPr marL="0" indent="0">
              <a:lnSpc>
                <a:spcPct val="10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Requirements analysis and specs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1761D7-3DCA-48D0-8D79-89DA2676C30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7204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86956"/>
            <a:ext cx="11116750" cy="524404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Requirements analysis and specs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1761D7-3DCA-48D0-8D79-89DA2676C30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56FDB1-32D9-416E-A175-EDDF2BED1DE3}"/>
              </a:ext>
            </a:extLst>
          </p:cNvPr>
          <p:cNvSpPr/>
          <p:nvPr/>
        </p:nvSpPr>
        <p:spPr>
          <a:xfrm>
            <a:off x="4492772" y="1582902"/>
            <a:ext cx="2408076" cy="48906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3830569" y="1591927"/>
            <a:ext cx="3751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SRS Requirements</a:t>
            </a:r>
          </a:p>
        </p:txBody>
      </p:sp>
      <p:sp>
        <p:nvSpPr>
          <p:cNvPr id="8" name="Arrow: Bent-Up 7">
            <a:extLst>
              <a:ext uri="{FF2B5EF4-FFF2-40B4-BE49-F238E27FC236}">
                <a16:creationId xmlns:a16="http://schemas.microsoft.com/office/drawing/2014/main" id="{DBE0FC63-E209-42CE-9817-012CAC7A0229}"/>
              </a:ext>
            </a:extLst>
          </p:cNvPr>
          <p:cNvSpPr/>
          <p:nvPr/>
        </p:nvSpPr>
        <p:spPr>
          <a:xfrm flipH="1" flipV="1">
            <a:off x="2236472" y="1699713"/>
            <a:ext cx="2230016" cy="65306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451E342-BEB0-4384-8873-DAF6A1224C5F}"/>
              </a:ext>
            </a:extLst>
          </p:cNvPr>
          <p:cNvSpPr/>
          <p:nvPr/>
        </p:nvSpPr>
        <p:spPr>
          <a:xfrm>
            <a:off x="330199" y="2361303"/>
            <a:ext cx="5452533" cy="275407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CE9593-7919-4F7E-BF59-947911372696}"/>
              </a:ext>
            </a:extLst>
          </p:cNvPr>
          <p:cNvSpPr txBox="1"/>
          <p:nvPr/>
        </p:nvSpPr>
        <p:spPr>
          <a:xfrm>
            <a:off x="407950" y="2437717"/>
            <a:ext cx="545944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Functional: describing </a:t>
            </a:r>
            <a:r>
              <a:rPr lang="en-GB" sz="2400" b="1" i="1" dirty="0"/>
              <a:t>what</a:t>
            </a:r>
            <a:r>
              <a:rPr lang="en-GB" sz="2400" dirty="0"/>
              <a:t> a software system should do given a certain condition</a:t>
            </a:r>
          </a:p>
          <a:p>
            <a:endParaRPr lang="en-GB" sz="2400" dirty="0"/>
          </a:p>
          <a:p>
            <a:r>
              <a:rPr lang="en-GB" sz="2400" dirty="0"/>
              <a:t>Examples: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Send email when a report is submitted.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The user should be able to retrieve his/her password by email. </a:t>
            </a:r>
          </a:p>
        </p:txBody>
      </p:sp>
      <p:sp>
        <p:nvSpPr>
          <p:cNvPr id="12" name="Rectangle: Rounded Corners 9">
            <a:extLst>
              <a:ext uri="{FF2B5EF4-FFF2-40B4-BE49-F238E27FC236}">
                <a16:creationId xmlns:a16="http://schemas.microsoft.com/office/drawing/2014/main" id="{F451E342-BEB0-4384-8873-DAF6A1224C5F}"/>
              </a:ext>
            </a:extLst>
          </p:cNvPr>
          <p:cNvSpPr/>
          <p:nvPr/>
        </p:nvSpPr>
        <p:spPr>
          <a:xfrm>
            <a:off x="6206074" y="2395169"/>
            <a:ext cx="5722256" cy="276253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CE9593-7919-4F7E-BF59-947911372696}"/>
              </a:ext>
            </a:extLst>
          </p:cNvPr>
          <p:cNvSpPr txBox="1"/>
          <p:nvPr/>
        </p:nvSpPr>
        <p:spPr>
          <a:xfrm>
            <a:off x="6283825" y="2471583"/>
            <a:ext cx="57557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Non-functional: constrain </a:t>
            </a:r>
            <a:r>
              <a:rPr lang="en-GB" sz="2400" b="1" i="1" dirty="0"/>
              <a:t>how</a:t>
            </a:r>
            <a:r>
              <a:rPr lang="en-GB" sz="2400" dirty="0"/>
              <a:t> a software system will achieve functional requirements.</a:t>
            </a:r>
          </a:p>
          <a:p>
            <a:endParaRPr lang="en-GB" sz="2400" dirty="0"/>
          </a:p>
          <a:p>
            <a:r>
              <a:rPr lang="en-GB" sz="2400" dirty="0"/>
              <a:t>Examples: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The software must be fast.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The software must be secure.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CE9593-7919-4F7E-BF59-947911372696}"/>
              </a:ext>
            </a:extLst>
          </p:cNvPr>
          <p:cNvSpPr txBox="1"/>
          <p:nvPr/>
        </p:nvSpPr>
        <p:spPr>
          <a:xfrm>
            <a:off x="466445" y="5123903"/>
            <a:ext cx="11140583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Customer specifications are rarely code-specific. </a:t>
            </a:r>
          </a:p>
        </p:txBody>
      </p:sp>
      <p:sp>
        <p:nvSpPr>
          <p:cNvPr id="16" name="Arrow: Bent-Up 7">
            <a:extLst>
              <a:ext uri="{FF2B5EF4-FFF2-40B4-BE49-F238E27FC236}">
                <a16:creationId xmlns:a16="http://schemas.microsoft.com/office/drawing/2014/main" id="{DBE0FC63-E209-42CE-9817-012CAC7A0229}"/>
              </a:ext>
            </a:extLst>
          </p:cNvPr>
          <p:cNvSpPr/>
          <p:nvPr/>
        </p:nvSpPr>
        <p:spPr>
          <a:xfrm flipV="1">
            <a:off x="6927132" y="1727215"/>
            <a:ext cx="2230016" cy="65306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1528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86956"/>
            <a:ext cx="11159067" cy="524404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It is difficult to generalise software design because it is governed by specific SRS. 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Nevertheless, a fast, memory efficient, and user-friendly software is always better than a software that is not.</a:t>
            </a:r>
          </a:p>
          <a:p>
            <a:pPr>
              <a:lnSpc>
                <a:spcPct val="150000"/>
              </a:lnSpc>
            </a:pPr>
            <a:endParaRPr lang="en-GB" sz="2400" dirty="0"/>
          </a:p>
          <a:p>
            <a:pPr>
              <a:lnSpc>
                <a:spcPct val="150000"/>
              </a:lnSpc>
            </a:pP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/>
              <a:t>Typically, a Software Design Description (SDD) is given by software designer to the development team to implement, a common SDD is the IEEE Std 1016-2009 (</a:t>
            </a:r>
            <a:r>
              <a:rPr lang="en-GB" sz="2000" dirty="0">
                <a:hlinkClick r:id="rId3"/>
              </a:rPr>
              <a:t>https://ieeexplore.ieee.org/stamp/stamp.jsp?tp=&amp;arnumber=5167255&amp;isnumber=5167254</a:t>
            </a:r>
            <a:r>
              <a:rPr lang="en-GB" sz="2400" dirty="0"/>
              <a:t>) </a:t>
            </a:r>
          </a:p>
          <a:p>
            <a:pPr>
              <a:lnSpc>
                <a:spcPct val="150000"/>
              </a:lnSpc>
            </a:pPr>
            <a:endParaRPr lang="en-GB" sz="2400" dirty="0"/>
          </a:p>
          <a:p>
            <a:pPr marL="0" indent="0">
              <a:lnSpc>
                <a:spcPct val="10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Software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1761D7-3DCA-48D0-8D79-89DA2676C30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E02F57E-CC4D-477F-98D0-4790DF4C29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399178"/>
              </p:ext>
            </p:extLst>
          </p:nvPr>
        </p:nvGraphicFramePr>
        <p:xfrm>
          <a:off x="1443653" y="3200559"/>
          <a:ext cx="949441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4894">
                  <a:extLst>
                    <a:ext uri="{9D8B030D-6E8A-4147-A177-3AD203B41FA5}">
                      <a16:colId xmlns:a16="http://schemas.microsoft.com/office/drawing/2014/main" val="3147901054"/>
                    </a:ext>
                  </a:extLst>
                </a:gridCol>
                <a:gridCol w="4659521">
                  <a:extLst>
                    <a:ext uri="{9D8B030D-6E8A-4147-A177-3AD203B41FA5}">
                      <a16:colId xmlns:a16="http://schemas.microsoft.com/office/drawing/2014/main" val="1540798061"/>
                    </a:ext>
                  </a:extLst>
                </a:gridCol>
              </a:tblGrid>
              <a:tr h="43133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Non-functional</a:t>
                      </a:r>
                      <a:r>
                        <a:rPr lang="en-GB" sz="2400" baseline="0" dirty="0"/>
                        <a:t> requirement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What can be done?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1772249"/>
                  </a:ext>
                </a:extLst>
              </a:tr>
              <a:tr h="373819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Memory 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Use dynamic memory as much as possible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148607"/>
                  </a:ext>
                </a:extLst>
              </a:tr>
              <a:tr h="37381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Minimise the complexity</a:t>
                      </a:r>
                      <a:r>
                        <a:rPr lang="en-GB" sz="2000" baseline="0" dirty="0"/>
                        <a:t> of the algorithm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837260"/>
                  </a:ext>
                </a:extLst>
              </a:tr>
              <a:tr h="37381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User-friendly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Make the design</a:t>
                      </a:r>
                      <a:r>
                        <a:rPr lang="en-GB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intuitive</a:t>
                      </a:r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194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9774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86956"/>
            <a:ext cx="11159067" cy="524404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Algorithms are unambiguous specifications for performing calculation, data processing, automated reasoning, and other tasks.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Minimising complexity of algorithms is one of the most active research fields in CS. 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 complexity of an algorithm is the amount of resources required for running it.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 lower the complexity              less computation time              faster software!           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Practical example: Sort algorithm (</a:t>
            </a:r>
            <a:r>
              <a:rPr lang="en-GB" sz="2400" dirty="0">
                <a:hlinkClick r:id="rId3"/>
              </a:rPr>
              <a:t>https://www.youtube.com/watch?v=kPRA0W1kECg</a:t>
            </a:r>
            <a:r>
              <a:rPr lang="en-GB" sz="2400" dirty="0"/>
              <a:t>)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Every entry in the 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GB" sz="2400" b="1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algorithm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GB" sz="2400" dirty="0"/>
              <a:t>in STL has a complexity section.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Software Design -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1761D7-3DCA-48D0-8D79-89DA2676C30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397" y="5890483"/>
            <a:ext cx="10041469" cy="9082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2B5F8C6-6A95-4992-9CD9-4C813A3AECDF}"/>
              </a:ext>
            </a:extLst>
          </p:cNvPr>
          <p:cNvCxnSpPr>
            <a:cxnSpLocks/>
          </p:cNvCxnSpPr>
          <p:nvPr/>
        </p:nvCxnSpPr>
        <p:spPr>
          <a:xfrm>
            <a:off x="4334935" y="4474396"/>
            <a:ext cx="812798" cy="4471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2B5F8C6-6A95-4992-9CD9-4C813A3AECDF}"/>
              </a:ext>
            </a:extLst>
          </p:cNvPr>
          <p:cNvCxnSpPr>
            <a:cxnSpLocks/>
          </p:cNvCxnSpPr>
          <p:nvPr/>
        </p:nvCxnSpPr>
        <p:spPr>
          <a:xfrm>
            <a:off x="8034867" y="4431588"/>
            <a:ext cx="812798" cy="4471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914396" y="5890483"/>
            <a:ext cx="99144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Practical note: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Conduct a bit of research into the best available algorithm for the task you intend to implement in your code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implement it.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1432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86956"/>
            <a:ext cx="11159067" cy="524404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Practical example: Tri-Diagonal matrices are frequently encountered in scientific computing, where they need inversion to solve a system of equations.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 Three algorithms can be used with different complexities.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On a teraflops machine, the time taken to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invert 10</a:t>
            </a:r>
            <a:r>
              <a:rPr lang="en-GB" sz="2400" baseline="30000" dirty="0"/>
              <a:t>4 </a:t>
            </a:r>
            <a:r>
              <a:rPr lang="en-GB" sz="2400" dirty="0"/>
              <a:t>X 10</a:t>
            </a:r>
            <a:r>
              <a:rPr lang="en-GB" sz="2400" baseline="30000" dirty="0"/>
              <a:t>4 </a:t>
            </a:r>
            <a:r>
              <a:rPr lang="en-GB" sz="2400" dirty="0"/>
              <a:t>tri-diagonal matrix is: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Software Design -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1761D7-3DCA-48D0-8D79-89DA2676C30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E02F57E-CC4D-477F-98D0-4790DF4C29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128486"/>
              </p:ext>
            </p:extLst>
          </p:nvPr>
        </p:nvGraphicFramePr>
        <p:xfrm>
          <a:off x="728131" y="4710112"/>
          <a:ext cx="756073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2">
                  <a:extLst>
                    <a:ext uri="{9D8B030D-6E8A-4147-A177-3AD203B41FA5}">
                      <a16:colId xmlns:a16="http://schemas.microsoft.com/office/drawing/2014/main" val="3147901054"/>
                    </a:ext>
                  </a:extLst>
                </a:gridCol>
                <a:gridCol w="1684867">
                  <a:extLst>
                    <a:ext uri="{9D8B030D-6E8A-4147-A177-3AD203B41FA5}">
                      <a16:colId xmlns:a16="http://schemas.microsoft.com/office/drawing/2014/main" val="1540798061"/>
                    </a:ext>
                  </a:extLst>
                </a:gridCol>
                <a:gridCol w="35136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383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Algorithm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u="sng" dirty="0"/>
                        <a:t>Estimated</a:t>
                      </a:r>
                      <a:r>
                        <a:rPr lang="en-GB" sz="2400" dirty="0"/>
                        <a:t> run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1772249"/>
                  </a:ext>
                </a:extLst>
              </a:tr>
              <a:tr h="373819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Cramer’s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O(n</a:t>
                      </a:r>
                      <a:r>
                        <a:rPr lang="en-GB" sz="2400" baseline="30000" dirty="0"/>
                        <a:t>4</a:t>
                      </a:r>
                      <a:r>
                        <a:rPr lang="en-GB" sz="2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3.44 years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148607"/>
                  </a:ext>
                </a:extLst>
              </a:tr>
              <a:tr h="37381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Gaussian elimination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O(n</a:t>
                      </a:r>
                      <a:r>
                        <a:rPr lang="en-GB" sz="2400" baseline="30000" dirty="0"/>
                        <a:t>3</a:t>
                      </a:r>
                      <a:r>
                        <a:rPr lang="en-GB" sz="2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16 minutes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837260"/>
                  </a:ext>
                </a:extLst>
              </a:tr>
              <a:tr h="37381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Thomas 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 seconds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194179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8934" y="2602010"/>
            <a:ext cx="3743325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886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86956"/>
            <a:ext cx="11159067" cy="524404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“</a:t>
            </a:r>
            <a:r>
              <a:rPr lang="en-GB" sz="2400" i="1" dirty="0"/>
              <a:t>The main thing in our design is that we have to make things intuitively obvious</a:t>
            </a:r>
            <a:r>
              <a:rPr lang="en-GB" sz="2400" dirty="0"/>
              <a:t>,” the founder and former CEO of Apple, Steve Jobs.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Using an institutive design of the software/GUI guarantees its ease of use.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Institutive designs are inspired by users feedback from previous releases, or similarity with well-known software.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Practical example: Linux-GUIs (demonstration).</a:t>
            </a:r>
          </a:p>
          <a:p>
            <a:pPr marL="0" indent="0">
              <a:lnSpc>
                <a:spcPct val="10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Software Design- Ease of use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1761D7-3DCA-48D0-8D79-89DA2676C30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2064" y="5214008"/>
            <a:ext cx="10092269" cy="15578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838198" y="5161931"/>
            <a:ext cx="99144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Practical note: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2400" dirty="0">
                <a:latin typeface="Calibri" panose="020F0502020204030204"/>
              </a:rPr>
              <a:t>Mimic well-known software such as windows for trivial tasks.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Deviate from well-known usage to satisfy a software requirement.</a:t>
            </a:r>
          </a:p>
        </p:txBody>
      </p:sp>
    </p:spTree>
    <p:extLst>
      <p:ext uri="{BB962C8B-B14F-4D97-AF65-F5344CB8AC3E}">
        <p14:creationId xmlns:p14="http://schemas.microsoft.com/office/powerpoint/2010/main" val="579808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86956"/>
            <a:ext cx="11159067" cy="524404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Implementation and coding is the main focus of the module.</a:t>
            </a:r>
          </a:p>
          <a:p>
            <a:pPr marL="0" indent="0">
              <a:lnSpc>
                <a:spcPct val="10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Implementation and coding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1761D7-3DCA-48D0-8D79-89DA2676C30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38198" y="2222778"/>
            <a:ext cx="10100735" cy="44066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931329" y="2304653"/>
            <a:ext cx="991447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Practical note: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Make sure your code is well readable, to help your fellow developers to make a good use of your code.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Always give a preference toward simplicity of the code over its compactness.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Make sure you stick to any convention in relation to code development when working in a team.</a:t>
            </a:r>
          </a:p>
        </p:txBody>
      </p:sp>
    </p:spTree>
    <p:extLst>
      <p:ext uri="{BB962C8B-B14F-4D97-AF65-F5344CB8AC3E}">
        <p14:creationId xmlns:p14="http://schemas.microsoft.com/office/powerpoint/2010/main" val="3785641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207" y="1498492"/>
            <a:ext cx="11674324" cy="524404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Verification is the process of checking whether the software fulfils its design requirements. (Are we building the product right?)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Validation is the process of checking whether the software meets the user’s expectation. (Are we building the right product?)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Code-related problems are captured by verification, while functionality is defects are captured by validation tests.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 One common standard of V&amp;V procedure is the IEEE </a:t>
            </a:r>
            <a:r>
              <a:rPr lang="en-GB" sz="2400" dirty="0" err="1"/>
              <a:t>Std</a:t>
            </a:r>
            <a:r>
              <a:rPr lang="en-GB" sz="2400" dirty="0"/>
              <a:t> 1012-2016 (</a:t>
            </a:r>
            <a:r>
              <a:rPr lang="en-GB" sz="1050" dirty="0">
                <a:hlinkClick r:id="rId3"/>
              </a:rPr>
              <a:t>https://ieeexplore.ieee.org/document/8055462</a:t>
            </a:r>
            <a:r>
              <a:rPr lang="en-GB" sz="2400" dirty="0"/>
              <a:t>) 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Make sure to mention it in a cover letter if applying to a software validation engineer job.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     </a:t>
            </a:r>
          </a:p>
          <a:p>
            <a:pPr>
              <a:lnSpc>
                <a:spcPct val="150000"/>
              </a:lnSpc>
            </a:pPr>
            <a:endParaRPr lang="en-GB" sz="2400" dirty="0"/>
          </a:p>
          <a:p>
            <a:pPr marL="0" indent="0">
              <a:lnSpc>
                <a:spcPct val="10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Verification and Validation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1761D7-3DCA-48D0-8D79-89DA2676C30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0916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207" y="1490025"/>
            <a:ext cx="11674324" cy="524404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V&amp;V is commonly done by developers as well as testers. 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Validation tests include black box tests:</a:t>
            </a:r>
          </a:p>
          <a:p>
            <a:pPr>
              <a:lnSpc>
                <a:spcPct val="150000"/>
              </a:lnSpc>
            </a:pP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/>
              <a:t>Software testing has a standard as well, </a:t>
            </a:r>
            <a:r>
              <a:rPr lang="en-GB" sz="2400" dirty="0" err="1"/>
              <a:t>Std</a:t>
            </a:r>
            <a:r>
              <a:rPr lang="en-GB" sz="2400" dirty="0"/>
              <a:t> IEEE 829-2008. </a:t>
            </a:r>
          </a:p>
          <a:p>
            <a:pPr marL="0" indent="0">
              <a:lnSpc>
                <a:spcPct val="150000"/>
              </a:lnSpc>
              <a:buNone/>
            </a:pPr>
            <a:endParaRPr lang="en-GB" sz="2400" dirty="0"/>
          </a:p>
          <a:p>
            <a:pPr marL="0" indent="0">
              <a:lnSpc>
                <a:spcPct val="150000"/>
              </a:lnSpc>
              <a:buNone/>
            </a:pPr>
            <a:endParaRPr lang="en-GB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     </a:t>
            </a:r>
          </a:p>
          <a:p>
            <a:pPr>
              <a:lnSpc>
                <a:spcPct val="150000"/>
              </a:lnSpc>
            </a:pPr>
            <a:endParaRPr lang="en-GB" sz="2400" dirty="0"/>
          </a:p>
          <a:p>
            <a:pPr marL="0" indent="0">
              <a:lnSpc>
                <a:spcPct val="10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Verification and Validation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1761D7-3DCA-48D0-8D79-89DA2676C30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509207" y="2939602"/>
            <a:ext cx="1170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Input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574899" y="2915724"/>
            <a:ext cx="1083126" cy="5094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: Rounded Corners 9">
            <a:extLst>
              <a:ext uri="{FF2B5EF4-FFF2-40B4-BE49-F238E27FC236}">
                <a16:creationId xmlns:a16="http://schemas.microsoft.com/office/drawing/2014/main" id="{F451E342-BEB0-4384-8873-DAF6A1224C5F}"/>
              </a:ext>
            </a:extLst>
          </p:cNvPr>
          <p:cNvSpPr/>
          <p:nvPr/>
        </p:nvSpPr>
        <p:spPr>
          <a:xfrm>
            <a:off x="2700837" y="2809130"/>
            <a:ext cx="1320830" cy="799773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2502642" y="2946059"/>
            <a:ext cx="1685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</a:rPr>
              <a:t>Software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5190417" y="2946059"/>
            <a:ext cx="2589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Output (is it right?)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64479" y="2939602"/>
            <a:ext cx="1083126" cy="5094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1910" y="1546965"/>
            <a:ext cx="3490090" cy="49531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9208" y="4328127"/>
            <a:ext cx="8101392" cy="24750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529459" y="4282619"/>
            <a:ext cx="843280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Practical note: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Make sure your code works before sharing it with colleagues.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Benchmark your code against various test cases.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Consider common user-mistakes in your design.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Use error-handling to mitigate run-time errors.</a:t>
            </a:r>
          </a:p>
        </p:txBody>
      </p:sp>
    </p:spTree>
    <p:extLst>
      <p:ext uri="{BB962C8B-B14F-4D97-AF65-F5344CB8AC3E}">
        <p14:creationId xmlns:p14="http://schemas.microsoft.com/office/powerpoint/2010/main" val="3243565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86956"/>
            <a:ext cx="11159067" cy="524404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Software Maintenance is the process of modifying a software product after it has been delivered to the customer.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There are many reasons behind software maintenance: 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GB" sz="2400" dirty="0"/>
              <a:t>Fix any bugs.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GB" sz="2400" dirty="0"/>
              <a:t>Improve the design of the software based on user feedback.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GB" sz="2400" dirty="0"/>
              <a:t>If the software is a hardware driver, extending the range of hardware covered.</a:t>
            </a:r>
          </a:p>
          <a:p>
            <a:pPr marL="0" indent="0">
              <a:lnSpc>
                <a:spcPct val="10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Maintenance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1761D7-3DCA-48D0-8D79-89DA2676C30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11164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86956"/>
            <a:ext cx="11159067" cy="524404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The waterfall model is perfect for education, but too simple for practical use!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Disadvantages of the waterfall model: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GB" sz="2400" dirty="0"/>
              <a:t>No overlapping phases.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GB" sz="2400" dirty="0"/>
              <a:t>Difficult to accommodate changes (what if the customer had an extra request?).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GB" sz="2400" dirty="0"/>
              <a:t>Slow progress (more people means higher chances of delay).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GB" sz="2400" dirty="0"/>
              <a:t>It has relatively high risk (what if there is a problem in one stage?).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Alternative models include the incremental model, the spiral model, and agile model.</a:t>
            </a:r>
          </a:p>
          <a:p>
            <a:pPr marL="0" indent="0">
              <a:lnSpc>
                <a:spcPct val="10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Beyond the waterfall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1761D7-3DCA-48D0-8D79-89DA2676C30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8868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86956"/>
            <a:ext cx="11159067" cy="524404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GB" sz="2400" dirty="0"/>
          </a:p>
          <a:p>
            <a:pPr marL="0" indent="0">
              <a:lnSpc>
                <a:spcPct val="10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The incremental model is more flexible, allows overlapping and has lower risk than the waterfall model. So we will stick to it in the rest of the module.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1" name="Rounded Rectangle 50"/>
          <p:cNvSpPr/>
          <p:nvPr/>
        </p:nvSpPr>
        <p:spPr>
          <a:xfrm>
            <a:off x="3661782" y="3541616"/>
            <a:ext cx="7603066" cy="123202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ounded Rectangle 45"/>
          <p:cNvSpPr/>
          <p:nvPr/>
        </p:nvSpPr>
        <p:spPr>
          <a:xfrm>
            <a:off x="3627490" y="1549844"/>
            <a:ext cx="7603066" cy="123202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The incremental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1761D7-3DCA-48D0-8D79-89DA2676C30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56FDB1-32D9-416E-A175-EDDF2BED1DE3}"/>
              </a:ext>
            </a:extLst>
          </p:cNvPr>
          <p:cNvSpPr/>
          <p:nvPr/>
        </p:nvSpPr>
        <p:spPr>
          <a:xfrm>
            <a:off x="838199" y="1680470"/>
            <a:ext cx="2426859" cy="85952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551545" y="1680470"/>
            <a:ext cx="29367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Requirements analysis and specs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6392346" y="1665072"/>
            <a:ext cx="22028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Implementation          and coding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7775386" y="2781869"/>
            <a:ext cx="3741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Increment/Functionality 1</a:t>
            </a:r>
          </a:p>
        </p:txBody>
      </p:sp>
      <p:sp>
        <p:nvSpPr>
          <p:cNvPr id="11" name="Rectangle: Rounded Corners 5">
            <a:extLst>
              <a:ext uri="{FF2B5EF4-FFF2-40B4-BE49-F238E27FC236}">
                <a16:creationId xmlns:a16="http://schemas.microsoft.com/office/drawing/2014/main" id="{5056FDB1-32D9-416E-A175-EDDF2BED1DE3}"/>
              </a:ext>
            </a:extLst>
          </p:cNvPr>
          <p:cNvSpPr/>
          <p:nvPr/>
        </p:nvSpPr>
        <p:spPr>
          <a:xfrm>
            <a:off x="4016272" y="1665287"/>
            <a:ext cx="1667933" cy="85952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3" name="Elbow Connector 12"/>
          <p:cNvCxnSpPr/>
          <p:nvPr/>
        </p:nvCxnSpPr>
        <p:spPr>
          <a:xfrm rot="16200000" flipH="1">
            <a:off x="2746008" y="2872374"/>
            <a:ext cx="1798727" cy="674481"/>
          </a:xfrm>
          <a:prstGeom prst="bentConnector3">
            <a:avLst>
              <a:gd name="adj1" fmla="val 100836"/>
            </a:avLst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/>
          <p:cNvCxnSpPr/>
          <p:nvPr/>
        </p:nvCxnSpPr>
        <p:spPr>
          <a:xfrm>
            <a:off x="3327400" y="2091917"/>
            <a:ext cx="672151" cy="3"/>
          </a:xfrm>
          <a:prstGeom prst="bentConnector3">
            <a:avLst>
              <a:gd name="adj1" fmla="val 50000"/>
            </a:avLst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4295274" y="1830497"/>
            <a:ext cx="1095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Design</a:t>
            </a:r>
          </a:p>
        </p:txBody>
      </p:sp>
      <p:sp>
        <p:nvSpPr>
          <p:cNvPr id="21" name="Rectangle: Rounded Corners 5">
            <a:extLst>
              <a:ext uri="{FF2B5EF4-FFF2-40B4-BE49-F238E27FC236}">
                <a16:creationId xmlns:a16="http://schemas.microsoft.com/office/drawing/2014/main" id="{5056FDB1-32D9-416E-A175-EDDF2BED1DE3}"/>
              </a:ext>
            </a:extLst>
          </p:cNvPr>
          <p:cNvSpPr/>
          <p:nvPr/>
        </p:nvSpPr>
        <p:spPr>
          <a:xfrm>
            <a:off x="6392346" y="1665289"/>
            <a:ext cx="2235188" cy="85952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5" name="Elbow Connector 24"/>
          <p:cNvCxnSpPr/>
          <p:nvPr/>
        </p:nvCxnSpPr>
        <p:spPr>
          <a:xfrm>
            <a:off x="5706536" y="2083447"/>
            <a:ext cx="672151" cy="3"/>
          </a:xfrm>
          <a:prstGeom prst="bentConnector3">
            <a:avLst>
              <a:gd name="adj1" fmla="val 50000"/>
            </a:avLst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/>
          <p:cNvCxnSpPr/>
          <p:nvPr/>
        </p:nvCxnSpPr>
        <p:spPr>
          <a:xfrm>
            <a:off x="8652943" y="2083444"/>
            <a:ext cx="672151" cy="3"/>
          </a:xfrm>
          <a:prstGeom prst="bentConnector3">
            <a:avLst>
              <a:gd name="adj1" fmla="val 50000"/>
            </a:avLst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5">
            <a:extLst>
              <a:ext uri="{FF2B5EF4-FFF2-40B4-BE49-F238E27FC236}">
                <a16:creationId xmlns:a16="http://schemas.microsoft.com/office/drawing/2014/main" id="{5056FDB1-32D9-416E-A175-EDDF2BED1DE3}"/>
              </a:ext>
            </a:extLst>
          </p:cNvPr>
          <p:cNvSpPr/>
          <p:nvPr/>
        </p:nvSpPr>
        <p:spPr>
          <a:xfrm>
            <a:off x="9358754" y="1673748"/>
            <a:ext cx="1667933" cy="85952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9637756" y="1838958"/>
            <a:ext cx="1095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V &amp; V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6400807" y="3697073"/>
            <a:ext cx="22028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Implementation          and coding</a:t>
            </a:r>
          </a:p>
        </p:txBody>
      </p:sp>
      <p:sp>
        <p:nvSpPr>
          <p:cNvPr id="39" name="Rectangle: Rounded Corners 5">
            <a:extLst>
              <a:ext uri="{FF2B5EF4-FFF2-40B4-BE49-F238E27FC236}">
                <a16:creationId xmlns:a16="http://schemas.microsoft.com/office/drawing/2014/main" id="{5056FDB1-32D9-416E-A175-EDDF2BED1DE3}"/>
              </a:ext>
            </a:extLst>
          </p:cNvPr>
          <p:cNvSpPr/>
          <p:nvPr/>
        </p:nvSpPr>
        <p:spPr>
          <a:xfrm>
            <a:off x="4024733" y="3697288"/>
            <a:ext cx="1667933" cy="85952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4303735" y="3862498"/>
            <a:ext cx="1095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Design</a:t>
            </a:r>
          </a:p>
        </p:txBody>
      </p:sp>
      <p:sp>
        <p:nvSpPr>
          <p:cNvPr id="41" name="Rectangle: Rounded Corners 5">
            <a:extLst>
              <a:ext uri="{FF2B5EF4-FFF2-40B4-BE49-F238E27FC236}">
                <a16:creationId xmlns:a16="http://schemas.microsoft.com/office/drawing/2014/main" id="{5056FDB1-32D9-416E-A175-EDDF2BED1DE3}"/>
              </a:ext>
            </a:extLst>
          </p:cNvPr>
          <p:cNvSpPr/>
          <p:nvPr/>
        </p:nvSpPr>
        <p:spPr>
          <a:xfrm>
            <a:off x="6375412" y="3689988"/>
            <a:ext cx="2235188" cy="85952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42" name="Elbow Connector 41"/>
          <p:cNvCxnSpPr/>
          <p:nvPr/>
        </p:nvCxnSpPr>
        <p:spPr>
          <a:xfrm>
            <a:off x="5714997" y="4115448"/>
            <a:ext cx="672151" cy="3"/>
          </a:xfrm>
          <a:prstGeom prst="bentConnector3">
            <a:avLst>
              <a:gd name="adj1" fmla="val 50000"/>
            </a:avLst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/>
          <p:cNvCxnSpPr/>
          <p:nvPr/>
        </p:nvCxnSpPr>
        <p:spPr>
          <a:xfrm>
            <a:off x="8661404" y="4115445"/>
            <a:ext cx="672151" cy="3"/>
          </a:xfrm>
          <a:prstGeom prst="bentConnector3">
            <a:avLst>
              <a:gd name="adj1" fmla="val 50000"/>
            </a:avLst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: Rounded Corners 5">
            <a:extLst>
              <a:ext uri="{FF2B5EF4-FFF2-40B4-BE49-F238E27FC236}">
                <a16:creationId xmlns:a16="http://schemas.microsoft.com/office/drawing/2014/main" id="{5056FDB1-32D9-416E-A175-EDDF2BED1DE3}"/>
              </a:ext>
            </a:extLst>
          </p:cNvPr>
          <p:cNvSpPr/>
          <p:nvPr/>
        </p:nvSpPr>
        <p:spPr>
          <a:xfrm>
            <a:off x="9367215" y="3705749"/>
            <a:ext cx="1667933" cy="85952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9646217" y="3870959"/>
            <a:ext cx="1095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V &amp; V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7809841" y="4756433"/>
            <a:ext cx="3741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Increment/Functionality 2</a:t>
            </a:r>
          </a:p>
        </p:txBody>
      </p:sp>
    </p:spTree>
    <p:extLst>
      <p:ext uri="{BB962C8B-B14F-4D97-AF65-F5344CB8AC3E}">
        <p14:creationId xmlns:p14="http://schemas.microsoft.com/office/powerpoint/2010/main" val="20611493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71626"/>
            <a:ext cx="11159067" cy="5244042"/>
          </a:xfrm>
        </p:spPr>
        <p:txBody>
          <a:bodyPr>
            <a:noAutofit/>
          </a:bodyPr>
          <a:lstStyle/>
          <a:p>
            <a:r>
              <a:rPr lang="en-GB" sz="2400" dirty="0"/>
              <a:t>Beginning Software Engineering (2015) by Rod Stephens.</a:t>
            </a:r>
          </a:p>
          <a:p>
            <a:r>
              <a:rPr lang="en-GB" sz="2400" dirty="0"/>
              <a:t>The Pragmatic Programmer (1999) by Andrew Hunt.</a:t>
            </a:r>
          </a:p>
          <a:p>
            <a:endParaRPr lang="en-GB" sz="2400" dirty="0"/>
          </a:p>
          <a:p>
            <a:pPr marL="0" indent="0">
              <a:buNone/>
            </a:pPr>
            <a:br>
              <a:rPr lang="en-GB" sz="2400" dirty="0"/>
            </a:b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Further information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1761D7-3DCA-48D0-8D79-89DA2676C30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Image result for Beginning Software Engineer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2615" y="1888066"/>
            <a:ext cx="3025317" cy="3783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The Pragmatic Programm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573" y="2809130"/>
            <a:ext cx="2476500" cy="3114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56307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03879"/>
            <a:ext cx="11075437" cy="4895850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GB" sz="2400" dirty="0"/>
              <a:t>The basics of software engineering were introduced and discussed.</a:t>
            </a:r>
          </a:p>
          <a:p>
            <a:pPr>
              <a:lnSpc>
                <a:spcPct val="170000"/>
              </a:lnSpc>
            </a:pPr>
            <a:r>
              <a:rPr lang="en-GB" sz="2400" dirty="0"/>
              <a:t>The waterfall model was discussed with its advantages and disadvantages.</a:t>
            </a:r>
          </a:p>
          <a:p>
            <a:pPr>
              <a:lnSpc>
                <a:spcPct val="170000"/>
              </a:lnSpc>
            </a:pPr>
            <a:r>
              <a:rPr lang="en-GB" sz="2400" dirty="0"/>
              <a:t>The requirement analysis, software design, validation and verification, and maintenance were discussed.</a:t>
            </a:r>
          </a:p>
          <a:p>
            <a:pPr>
              <a:lnSpc>
                <a:spcPct val="170000"/>
              </a:lnSpc>
            </a:pPr>
            <a:r>
              <a:rPr lang="en-GB" sz="2400" dirty="0"/>
              <a:t>The incremental model was presented and discussed.  </a:t>
            </a:r>
          </a:p>
          <a:p>
            <a:pPr>
              <a:lnSpc>
                <a:spcPct val="170000"/>
              </a:lnSpc>
            </a:pPr>
            <a:endParaRPr lang="en-GB" sz="2400" dirty="0"/>
          </a:p>
          <a:p>
            <a:pPr>
              <a:lnSpc>
                <a:spcPct val="170000"/>
              </a:lnSpc>
            </a:pPr>
            <a:endParaRPr lang="en-GB" sz="2400" dirty="0"/>
          </a:p>
          <a:p>
            <a:pPr>
              <a:lnSpc>
                <a:spcPct val="17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3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19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64FB17-C223-444F-A237-84ECC72DDE4B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0045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8678</TotalTime>
  <Words>1461</Words>
  <Application>Microsoft Office PowerPoint</Application>
  <PresentationFormat>Widescreen</PresentationFormat>
  <Paragraphs>538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Courier New</vt:lpstr>
      <vt:lpstr>Office Theme</vt:lpstr>
      <vt:lpstr>Application Development with C++ (ELEC362)</vt:lpstr>
      <vt:lpstr>Previous lecture </vt:lpstr>
      <vt:lpstr>This lecture</vt:lpstr>
      <vt:lpstr>Software Engineering</vt:lpstr>
      <vt:lpstr>The waterfall model</vt:lpstr>
      <vt:lpstr>Requirements analysis and specs</vt:lpstr>
      <vt:lpstr>Requirements analysis and specs</vt:lpstr>
      <vt:lpstr>Software Design</vt:lpstr>
      <vt:lpstr>Software Design - Algorithms</vt:lpstr>
      <vt:lpstr>Software Design - Algorithms</vt:lpstr>
      <vt:lpstr>Software Design- Ease of use</vt:lpstr>
      <vt:lpstr>Implementation and coding</vt:lpstr>
      <vt:lpstr>Verification and Validation</vt:lpstr>
      <vt:lpstr>Verification and Validation</vt:lpstr>
      <vt:lpstr>Maintenance</vt:lpstr>
      <vt:lpstr>Beyond the waterfall model</vt:lpstr>
      <vt:lpstr>The incremental model</vt:lpstr>
      <vt:lpstr>Further information</vt:lpstr>
      <vt:lpstr>Summary</vt:lpstr>
    </vt:vector>
  </TitlesOfParts>
  <Company>The University of Liverpool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Development with C++ (ELEC362)</dc:title>
  <dc:creator>Hasan, Mohammad [mihasan]</dc:creator>
  <cp:lastModifiedBy>Hasan, Mohammad [mihasan]</cp:lastModifiedBy>
  <cp:revision>821</cp:revision>
  <dcterms:created xsi:type="dcterms:W3CDTF">2019-05-09T14:26:54Z</dcterms:created>
  <dcterms:modified xsi:type="dcterms:W3CDTF">2023-10-30T12:31:13Z</dcterms:modified>
</cp:coreProperties>
</file>