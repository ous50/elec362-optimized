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7" r:id="rId4"/>
    <p:sldId id="264" r:id="rId5"/>
    <p:sldId id="261" r:id="rId6"/>
    <p:sldId id="289" r:id="rId7"/>
    <p:sldId id="319" r:id="rId8"/>
    <p:sldId id="282" r:id="rId9"/>
    <p:sldId id="294" r:id="rId10"/>
    <p:sldId id="293" r:id="rId11"/>
    <p:sldId id="291" r:id="rId12"/>
    <p:sldId id="292" r:id="rId13"/>
    <p:sldId id="295" r:id="rId14"/>
    <p:sldId id="299" r:id="rId15"/>
    <p:sldId id="297" r:id="rId16"/>
    <p:sldId id="296" r:id="rId17"/>
    <p:sldId id="298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5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822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4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975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99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223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386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431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639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470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738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462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9568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456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139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01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24/10/2024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24/10/2024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widget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5/qmainwindow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5/qdialog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5/qdebug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14: Building the first application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Justification for learning </a:t>
            </a:r>
            <a:r>
              <a:rPr lang="en-GB" sz="2400" dirty="0" err="1"/>
              <a:t>Qt</a:t>
            </a:r>
            <a:r>
              <a:rPr lang="en-GB" sz="2400" dirty="0"/>
              <a:t> was given.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Basic structure of </a:t>
            </a:r>
            <a:r>
              <a:rPr lang="en-GB" sz="2400" dirty="0" err="1"/>
              <a:t>Qt</a:t>
            </a:r>
            <a:r>
              <a:rPr lang="en-GB" sz="2400" dirty="0"/>
              <a:t> was explained.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An introduction to </a:t>
            </a:r>
            <a:r>
              <a:rPr lang="en-GB" sz="2400" dirty="0" err="1"/>
              <a:t>Qt</a:t>
            </a:r>
            <a:r>
              <a:rPr lang="en-GB" sz="2400" dirty="0"/>
              <a:t> Creator was given.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Deploying an application using </a:t>
            </a:r>
            <a:r>
              <a:rPr lang="en-GB" sz="2400" dirty="0" err="1"/>
              <a:t>Qt</a:t>
            </a:r>
            <a:r>
              <a:rPr lang="en-GB" sz="2400" dirty="0"/>
              <a:t> was explained.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9038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Introduction to the concept of applications building using Qt.     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2. Introduction of some of frequently used classes (application frames and texts).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To understand an application can be built from the classes in Qt.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Building a sample application.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0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main question is: how can an application be built from a library of classes?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Analogous question: how can an electronic device be built from a storage cabinet of electronic components?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mage result for pcb electron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213" y="3154847"/>
            <a:ext cx="2819892" cy="182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electronics component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918" y="3154847"/>
            <a:ext cx="3117515" cy="182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electronics devi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965" y="3142239"/>
            <a:ext cx="2597695" cy="183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6" y="3154847"/>
            <a:ext cx="1860570" cy="3489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043922" y="6025521"/>
            <a:ext cx="2831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Cabinet / library</a:t>
            </a:r>
          </a:p>
          <a:p>
            <a:r>
              <a:rPr lang="en-GB" sz="2000" dirty="0"/>
              <a:t>Drawer / class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2043922" y="4065854"/>
            <a:ext cx="374780" cy="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5561433" y="4065854"/>
            <a:ext cx="374780" cy="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  <a:endCxn id="1032" idx="1"/>
          </p:cNvCxnSpPr>
          <p:nvPr/>
        </p:nvCxnSpPr>
        <p:spPr>
          <a:xfrm flipV="1">
            <a:off x="8756105" y="4059550"/>
            <a:ext cx="604860" cy="1032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418701" y="4989321"/>
            <a:ext cx="44477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Components  / objects</a:t>
            </a:r>
          </a:p>
          <a:p>
            <a:r>
              <a:rPr lang="en-GB" sz="2000" dirty="0"/>
              <a:t>Terminals / member functions &amp; data</a:t>
            </a:r>
          </a:p>
          <a:p>
            <a:r>
              <a:rPr lang="en-GB" sz="2000" dirty="0"/>
              <a:t>           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419011" y="4993337"/>
            <a:ext cx="2531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Circuits  / applications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9842077" y="5042888"/>
            <a:ext cx="21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Devices  / GUIs</a:t>
            </a:r>
          </a:p>
        </p:txBody>
      </p:sp>
    </p:spTree>
    <p:extLst>
      <p:ext uri="{BB962C8B-B14F-4D97-AF65-F5344CB8AC3E}">
        <p14:creationId xmlns:p14="http://schemas.microsoft.com/office/powerpoint/2010/main" val="154467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When using Qt, every visual item in any window is a “widget” (stands for window gadget).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Every widget is an object of a class but the opposite is </a:t>
            </a:r>
            <a:r>
              <a:rPr lang="en-GB" sz="2400" u="sng" dirty="0"/>
              <a:t>not</a:t>
            </a:r>
            <a:r>
              <a:rPr lang="en-GB" sz="2400" dirty="0"/>
              <a:t> true!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080" y="3993308"/>
            <a:ext cx="3810000" cy="24765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3351554" y="4625233"/>
            <a:ext cx="718458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261201" y="4428827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QLabel</a:t>
            </a:r>
            <a:endParaRPr lang="en-GB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3351554" y="4768811"/>
            <a:ext cx="644435" cy="121681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7562156" y="4640161"/>
            <a:ext cx="718458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7562156" y="4783739"/>
            <a:ext cx="644435" cy="121681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8330680" y="4394400"/>
            <a:ext cx="1891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QBushButton</a:t>
            </a:r>
            <a:endParaRPr lang="en-GB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6861108" y="5482674"/>
            <a:ext cx="1469572" cy="4824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6861108" y="5665554"/>
            <a:ext cx="1419498" cy="130625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5136810" y="5231558"/>
            <a:ext cx="3069781" cy="299362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 flipV="1">
            <a:off x="5136810" y="5796180"/>
            <a:ext cx="2865121" cy="40212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8330680" y="5126357"/>
            <a:ext cx="2223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QRadioButton</a:t>
            </a:r>
            <a:endParaRPr lang="en-GB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8045476" y="5962436"/>
            <a:ext cx="2223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QRadioButton</a:t>
            </a:r>
            <a:endParaRPr lang="en-GB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5728994" y="3457369"/>
            <a:ext cx="1058103" cy="1026778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5894458" y="3629055"/>
            <a:ext cx="1108164" cy="1188512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843691" y="3136504"/>
            <a:ext cx="1891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QLineEdit</a:t>
            </a:r>
            <a:endParaRPr lang="en-GB" sz="2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3003211" y="5381239"/>
            <a:ext cx="1026523" cy="349628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1565208" y="5637788"/>
            <a:ext cx="1891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QGroupBox</a:t>
            </a:r>
            <a:endParaRPr lang="en-GB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1565208" y="4107498"/>
            <a:ext cx="2287229" cy="33219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382118" y="3839062"/>
            <a:ext cx="128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QDialog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1985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8" grpId="0"/>
      <p:bldP spid="29" grpId="0"/>
      <p:bldP spid="40" grpId="0"/>
      <p:bldP spid="46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In a complex application where there are multiple widgets and multiple windows, the widgets can be parent and/or child widgets. 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Parent-Child widgets is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not inheritance.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When a parent widget is closed,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all its children are automatically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closed or deleted.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80DF1A-54B0-4798-B112-1B46E2413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42" y="2479765"/>
            <a:ext cx="5170301" cy="4132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Parent and Child Widgets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596" y="3718008"/>
            <a:ext cx="3487393" cy="2266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705504" y="2578297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Parent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4DAF8A9-B2CC-46DC-997C-326035D7D2D7}"/>
              </a:ext>
            </a:extLst>
          </p:cNvPr>
          <p:cNvCxnSpPr>
            <a:cxnSpLocks/>
          </p:cNvCxnSpPr>
          <p:nvPr/>
        </p:nvCxnSpPr>
        <p:spPr>
          <a:xfrm>
            <a:off x="5762342" y="3125735"/>
            <a:ext cx="1391254" cy="1294443"/>
          </a:xfrm>
          <a:prstGeom prst="curvedConnector3">
            <a:avLst>
              <a:gd name="adj1" fmla="val -95534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213DD0-7BA4-440F-BDFD-B99107159CEA}"/>
              </a:ext>
            </a:extLst>
          </p:cNvPr>
          <p:cNvSpPr txBox="1"/>
          <p:nvPr/>
        </p:nvSpPr>
        <p:spPr>
          <a:xfrm>
            <a:off x="6340541" y="3954707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Child</a:t>
            </a: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4E7799CC-F502-4D89-839F-8D58015757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63496" y="3775880"/>
            <a:ext cx="519220" cy="326572"/>
          </a:xfrm>
          <a:prstGeom prst="curvedConnector3">
            <a:avLst>
              <a:gd name="adj1" fmla="val -5962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6110EF3-3B0C-4AC5-98D4-B067889481AC}"/>
              </a:ext>
            </a:extLst>
          </p:cNvPr>
          <p:cNvSpPr txBox="1"/>
          <p:nvPr/>
        </p:nvSpPr>
        <p:spPr>
          <a:xfrm>
            <a:off x="6520789" y="4743784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Parent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05E442-E78D-4EFF-BA4B-6B52AB63F483}"/>
              </a:ext>
            </a:extLst>
          </p:cNvPr>
          <p:cNvSpPr txBox="1"/>
          <p:nvPr/>
        </p:nvSpPr>
        <p:spPr>
          <a:xfrm>
            <a:off x="10396713" y="4041215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Child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171C8DC-7F48-45E6-9492-27DFAB217478}"/>
              </a:ext>
            </a:extLst>
          </p:cNvPr>
          <p:cNvCxnSpPr>
            <a:cxnSpLocks/>
          </p:cNvCxnSpPr>
          <p:nvPr/>
        </p:nvCxnSpPr>
        <p:spPr>
          <a:xfrm>
            <a:off x="7744408" y="4851410"/>
            <a:ext cx="1268963" cy="299088"/>
          </a:xfrm>
          <a:prstGeom prst="curvedConnector3">
            <a:avLst>
              <a:gd name="adj1" fmla="val 5000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24EA0B0-B7FF-4F2A-995C-BA3AE2239820}"/>
              </a:ext>
            </a:extLst>
          </p:cNvPr>
          <p:cNvSpPr txBox="1"/>
          <p:nvPr/>
        </p:nvSpPr>
        <p:spPr>
          <a:xfrm>
            <a:off x="8744141" y="3311291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Parent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F32E13-F36E-4CDA-9B5F-7C60BE78AAA2}"/>
              </a:ext>
            </a:extLst>
          </p:cNvPr>
          <p:cNvSpPr txBox="1"/>
          <p:nvPr/>
        </p:nvSpPr>
        <p:spPr>
          <a:xfrm>
            <a:off x="9784904" y="4919665"/>
            <a:ext cx="1090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Child</a:t>
            </a:r>
          </a:p>
        </p:txBody>
      </p:sp>
    </p:spTree>
    <p:extLst>
      <p:ext uri="{BB962C8B-B14F-4D97-AF65-F5344CB8AC3E}">
        <p14:creationId xmlns:p14="http://schemas.microsoft.com/office/powerpoint/2010/main" val="34457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0" grpId="0"/>
      <p:bldP spid="54" grpId="0"/>
      <p:bldP spid="55" grpId="0"/>
      <p:bldP spid="60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Core difference between CLI and GUI apps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The main difference between standard C++ and Qt is how the code is executed: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400" dirty="0"/>
              <a:t>The parent widget of the application  can be one of three classes only: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dirty="0"/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dirty="0"/>
              <a:t>, or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1079FF1-5058-4336-A96B-C5B8B1E95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82" y="2467126"/>
            <a:ext cx="5657850" cy="163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465C9B-386D-4FC2-B0B3-0932CC88C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05" y="2246253"/>
            <a:ext cx="2830902" cy="189177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29FE75-7C3D-4F57-AADB-A714FF43E4D7}"/>
              </a:ext>
            </a:extLst>
          </p:cNvPr>
          <p:cNvCxnSpPr>
            <a:cxnSpLocks/>
          </p:cNvCxnSpPr>
          <p:nvPr/>
        </p:nvCxnSpPr>
        <p:spPr>
          <a:xfrm>
            <a:off x="1083053" y="2876633"/>
            <a:ext cx="7467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82745F-8B83-445B-A487-795505549039}"/>
              </a:ext>
            </a:extLst>
          </p:cNvPr>
          <p:cNvSpPr txBox="1"/>
          <p:nvPr/>
        </p:nvSpPr>
        <p:spPr>
          <a:xfrm>
            <a:off x="82528" y="2590540"/>
            <a:ext cx="10955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Do this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ACAA01-1359-40E3-BEDA-EBE14D4F8A9A}"/>
              </a:ext>
            </a:extLst>
          </p:cNvPr>
          <p:cNvCxnSpPr>
            <a:cxnSpLocks/>
          </p:cNvCxnSpPr>
          <p:nvPr/>
        </p:nvCxnSpPr>
        <p:spPr>
          <a:xfrm>
            <a:off x="1083053" y="3406529"/>
            <a:ext cx="7467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92E9B-2823-4077-BBF8-0216AAE51FD0}"/>
              </a:ext>
            </a:extLst>
          </p:cNvPr>
          <p:cNvSpPr txBox="1"/>
          <p:nvPr/>
        </p:nvSpPr>
        <p:spPr>
          <a:xfrm>
            <a:off x="-83217" y="3170133"/>
            <a:ext cx="1317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Then this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ADB653-DFB3-41FB-86C9-6329146C223F}"/>
              </a:ext>
            </a:extLst>
          </p:cNvPr>
          <p:cNvCxnSpPr>
            <a:cxnSpLocks/>
          </p:cNvCxnSpPr>
          <p:nvPr/>
        </p:nvCxnSpPr>
        <p:spPr>
          <a:xfrm>
            <a:off x="1083053" y="3921915"/>
            <a:ext cx="7467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9DE404-8FDC-4EB1-9AF7-76CFF69281CD}"/>
              </a:ext>
            </a:extLst>
          </p:cNvPr>
          <p:cNvSpPr txBox="1"/>
          <p:nvPr/>
        </p:nvSpPr>
        <p:spPr>
          <a:xfrm>
            <a:off x="-83216" y="3697512"/>
            <a:ext cx="1317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Then this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A62F4C-F346-4547-B1BA-ACCDA8804962}"/>
              </a:ext>
            </a:extLst>
          </p:cNvPr>
          <p:cNvCxnSpPr>
            <a:cxnSpLocks/>
          </p:cNvCxnSpPr>
          <p:nvPr/>
        </p:nvCxnSpPr>
        <p:spPr>
          <a:xfrm flipH="1">
            <a:off x="8921330" y="2431403"/>
            <a:ext cx="906402" cy="1290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A19F95-DA37-44DE-A157-6C8C38F605B5}"/>
              </a:ext>
            </a:extLst>
          </p:cNvPr>
          <p:cNvCxnSpPr>
            <a:cxnSpLocks/>
          </p:cNvCxnSpPr>
          <p:nvPr/>
        </p:nvCxnSpPr>
        <p:spPr>
          <a:xfrm flipH="1">
            <a:off x="8508099" y="2912531"/>
            <a:ext cx="7658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317126-2E8B-4387-A2B4-FC06DB25A7C4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9674148" y="3944918"/>
            <a:ext cx="259959" cy="153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233CC8-D14A-42CF-8E26-D204D2E679C7}"/>
              </a:ext>
            </a:extLst>
          </p:cNvPr>
          <p:cNvSpPr txBox="1"/>
          <p:nvPr/>
        </p:nvSpPr>
        <p:spPr>
          <a:xfrm>
            <a:off x="9982200" y="2106651"/>
            <a:ext cx="202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Do this when the app starts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F6DA44-4212-449D-B5C6-770ED958D52C}"/>
              </a:ext>
            </a:extLst>
          </p:cNvPr>
          <p:cNvSpPr txBox="1"/>
          <p:nvPr/>
        </p:nvSpPr>
        <p:spPr>
          <a:xfrm>
            <a:off x="9327223" y="2796588"/>
            <a:ext cx="202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Do this when the app closes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BEFBCE-75D4-4CFF-B503-E4FA2C7024D9}"/>
              </a:ext>
            </a:extLst>
          </p:cNvPr>
          <p:cNvSpPr txBox="1"/>
          <p:nvPr/>
        </p:nvSpPr>
        <p:spPr>
          <a:xfrm>
            <a:off x="9934107" y="3590975"/>
            <a:ext cx="2058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Do this when the user clicks on button</a:t>
            </a:r>
          </a:p>
        </p:txBody>
      </p:sp>
    </p:spTree>
    <p:extLst>
      <p:ext uri="{BB962C8B-B14F-4D97-AF65-F5344CB8AC3E}">
        <p14:creationId xmlns:p14="http://schemas.microsoft.com/office/powerpoint/2010/main" val="276556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27" grpId="0"/>
      <p:bldP spid="29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This class is the base class for all user interface classes.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https://doc.qt.io/qt-6/qwidget.html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Its member data / functions control the following: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sz="2400" dirty="0"/>
              <a:t>Setting the outline of the widget (its shape, design, colours, size policy, etc..)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 Settings for mouse tracking, tool tips, curser type, etc..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When used as a parent widget, it generate an empty user interface.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95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This class provides a framework for applications where the user interacts with one weidget most of the time (called the central widget).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 </a:t>
            </a:r>
            <a:r>
              <a:rPr lang="en-GB" sz="2400" dirty="0">
                <a:hlinkClick r:id="rId3"/>
              </a:rPr>
              <a:t>https://doc.qt.io/qt-6/qmainwindow.html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Its member data / functions control the following: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 Docking options for child widgets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Options for menus and toolbars.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When used as a parent widget, it creates a widget with menu bar and status bar templates (suitable for apps with menus and toolbars).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2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974355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This class is used to create windows for breif interaction with user. It is suitable for applications where the user interacts with most widgets equally.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https://doc.qt.io/qt-6/qdialog.html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Its member data / functions control the following: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 Modality of the window (whether the window freezes the app until closed or not).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 It can provide a return value when the window is closed.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When used as a parent widget, it generate an empty user interface. It is suitable for apps where there are buttons and many input/output widgets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41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03" y="1503887"/>
            <a:ext cx="11272935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Design and implement a Qt based GUI application that counts the occurrence of a given word in a typed paragraph. The user will provide both the paragraph and the word to be counted.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Step 1: Requirement analysis: the application must be able to: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Allow the user to input a paragraph or text to be scanned for the counted word (input).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Allow the user to specify the word to be counted (input).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Allows the user to trigger the counter (user action).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Display to the user the count number (output).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Word counter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85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03" y="1503887"/>
            <a:ext cx="11272935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Step 2: Following the incremental model: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Step 3: Create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the app!!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(demonstration).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Word counter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45">
            <a:extLst>
              <a:ext uri="{FF2B5EF4-FFF2-40B4-BE49-F238E27FC236}">
                <a16:creationId xmlns:a16="http://schemas.microsoft.com/office/drawing/2014/main" id="{2B730BC6-955C-4F32-B604-0106CFCCE764}"/>
              </a:ext>
            </a:extLst>
          </p:cNvPr>
          <p:cNvSpPr/>
          <p:nvPr/>
        </p:nvSpPr>
        <p:spPr>
          <a:xfrm>
            <a:off x="4224653" y="2128345"/>
            <a:ext cx="7603066" cy="99937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2C66DB-6C48-41EB-B5C6-A4F61EFC1627}"/>
              </a:ext>
            </a:extLst>
          </p:cNvPr>
          <p:cNvSpPr/>
          <p:nvPr/>
        </p:nvSpPr>
        <p:spPr>
          <a:xfrm>
            <a:off x="1278902" y="2243315"/>
            <a:ext cx="2045084" cy="5501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C7AD8-92E8-4039-9BB2-6703BCE56DDB}"/>
              </a:ext>
            </a:extLst>
          </p:cNvPr>
          <p:cNvSpPr txBox="1"/>
          <p:nvPr/>
        </p:nvSpPr>
        <p:spPr>
          <a:xfrm>
            <a:off x="1323306" y="224881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4466E-2EE5-4D40-A074-B2D843961804}"/>
              </a:ext>
            </a:extLst>
          </p:cNvPr>
          <p:cNvSpPr txBox="1"/>
          <p:nvPr/>
        </p:nvSpPr>
        <p:spPr>
          <a:xfrm>
            <a:off x="6028001" y="2203794"/>
            <a:ext cx="330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Grant access to the word from the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D6DD7-24F8-4DA5-89EA-DDFB7A34F3AD}"/>
              </a:ext>
            </a:extLst>
          </p:cNvPr>
          <p:cNvSpPr txBox="1"/>
          <p:nvPr/>
        </p:nvSpPr>
        <p:spPr>
          <a:xfrm>
            <a:off x="7363189" y="1653501"/>
            <a:ext cx="3741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Count word input</a:t>
            </a:r>
          </a:p>
        </p:txBody>
      </p:sp>
      <p:cxnSp>
        <p:nvCxnSpPr>
          <p:cNvPr id="12" name="Elbow Connector 13">
            <a:extLst>
              <a:ext uri="{FF2B5EF4-FFF2-40B4-BE49-F238E27FC236}">
                <a16:creationId xmlns:a16="http://schemas.microsoft.com/office/drawing/2014/main" id="{4322D2EC-FE49-4C51-A80E-BE7D0A814C65}"/>
              </a:ext>
            </a:extLst>
          </p:cNvPr>
          <p:cNvCxnSpPr>
            <a:cxnSpLocks/>
          </p:cNvCxnSpPr>
          <p:nvPr/>
        </p:nvCxnSpPr>
        <p:spPr>
          <a:xfrm flipV="1">
            <a:off x="3395118" y="2384514"/>
            <a:ext cx="865008" cy="10374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D4B84F-3163-40D9-B6C8-656469523044}"/>
              </a:ext>
            </a:extLst>
          </p:cNvPr>
          <p:cNvSpPr txBox="1"/>
          <p:nvPr/>
        </p:nvSpPr>
        <p:spPr>
          <a:xfrm>
            <a:off x="4289123" y="2186511"/>
            <a:ext cx="1167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 widget  </a:t>
            </a:r>
          </a:p>
          <a:p>
            <a:pPr algn="ctr"/>
            <a:r>
              <a:rPr lang="en-GB" sz="2400" dirty="0"/>
              <a:t>choice</a:t>
            </a:r>
          </a:p>
        </p:txBody>
      </p:sp>
      <p:cxnSp>
        <p:nvCxnSpPr>
          <p:cNvPr id="14" name="Elbow Connector 24">
            <a:extLst>
              <a:ext uri="{FF2B5EF4-FFF2-40B4-BE49-F238E27FC236}">
                <a16:creationId xmlns:a16="http://schemas.microsoft.com/office/drawing/2014/main" id="{1F06E408-71EC-4F1C-B878-99EF3C44FB86}"/>
              </a:ext>
            </a:extLst>
          </p:cNvPr>
          <p:cNvCxnSpPr>
            <a:cxnSpLocks/>
          </p:cNvCxnSpPr>
          <p:nvPr/>
        </p:nvCxnSpPr>
        <p:spPr>
          <a:xfrm flipV="1">
            <a:off x="5546191" y="2544189"/>
            <a:ext cx="480967" cy="6350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25">
            <a:extLst>
              <a:ext uri="{FF2B5EF4-FFF2-40B4-BE49-F238E27FC236}">
                <a16:creationId xmlns:a16="http://schemas.microsoft.com/office/drawing/2014/main" id="{FB2F47DF-7942-41E5-9B0B-1A67FA9F7877}"/>
              </a:ext>
            </a:extLst>
          </p:cNvPr>
          <p:cNvCxnSpPr/>
          <p:nvPr/>
        </p:nvCxnSpPr>
        <p:spPr>
          <a:xfrm>
            <a:off x="9271000" y="2592770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A3FA6B16-6CC7-49E2-937A-8C3A8ADAE3C4}"/>
              </a:ext>
            </a:extLst>
          </p:cNvPr>
          <p:cNvSpPr/>
          <p:nvPr/>
        </p:nvSpPr>
        <p:spPr>
          <a:xfrm>
            <a:off x="9955584" y="2215864"/>
            <a:ext cx="1746429" cy="7787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2C519-B0CD-4853-A6C7-8130E474B0E2}"/>
              </a:ext>
            </a:extLst>
          </p:cNvPr>
          <p:cNvSpPr txBox="1"/>
          <p:nvPr/>
        </p:nvSpPr>
        <p:spPr>
          <a:xfrm>
            <a:off x="9906990" y="2347379"/>
            <a:ext cx="1875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Does it work?</a:t>
            </a:r>
          </a:p>
        </p:txBody>
      </p:sp>
      <p:sp>
        <p:nvSpPr>
          <p:cNvPr id="25" name="Rectangle: Rounded Corners 5">
            <a:extLst>
              <a:ext uri="{FF2B5EF4-FFF2-40B4-BE49-F238E27FC236}">
                <a16:creationId xmlns:a16="http://schemas.microsoft.com/office/drawing/2014/main" id="{ABAF2D53-ED7F-4B61-9B54-63450D4A672A}"/>
              </a:ext>
            </a:extLst>
          </p:cNvPr>
          <p:cNvSpPr/>
          <p:nvPr/>
        </p:nvSpPr>
        <p:spPr>
          <a:xfrm>
            <a:off x="4282796" y="2243315"/>
            <a:ext cx="1172674" cy="751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: Rounded Corners 5">
            <a:extLst>
              <a:ext uri="{FF2B5EF4-FFF2-40B4-BE49-F238E27FC236}">
                <a16:creationId xmlns:a16="http://schemas.microsoft.com/office/drawing/2014/main" id="{BF0D4C7F-5643-44E9-906F-955D475CF877}"/>
              </a:ext>
            </a:extLst>
          </p:cNvPr>
          <p:cNvSpPr/>
          <p:nvPr/>
        </p:nvSpPr>
        <p:spPr>
          <a:xfrm>
            <a:off x="6099133" y="2236086"/>
            <a:ext cx="3178093" cy="79590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9" name="Elbow Connector 12">
            <a:extLst>
              <a:ext uri="{FF2B5EF4-FFF2-40B4-BE49-F238E27FC236}">
                <a16:creationId xmlns:a16="http://schemas.microsoft.com/office/drawing/2014/main" id="{9C79F865-23BF-4A11-AAD5-46857995CA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42361" y="2710223"/>
            <a:ext cx="1118658" cy="902229"/>
          </a:xfrm>
          <a:prstGeom prst="bentConnector3">
            <a:avLst>
              <a:gd name="adj1" fmla="val 99211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45">
            <a:extLst>
              <a:ext uri="{FF2B5EF4-FFF2-40B4-BE49-F238E27FC236}">
                <a16:creationId xmlns:a16="http://schemas.microsoft.com/office/drawing/2014/main" id="{6AB950FF-4440-434E-8C5B-0834C32898ED}"/>
              </a:ext>
            </a:extLst>
          </p:cNvPr>
          <p:cNvSpPr/>
          <p:nvPr/>
        </p:nvSpPr>
        <p:spPr>
          <a:xfrm>
            <a:off x="4218432" y="3605696"/>
            <a:ext cx="7603066" cy="126853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4F3B97-FCE1-4A3D-B7F0-2852AF079A4B}"/>
              </a:ext>
            </a:extLst>
          </p:cNvPr>
          <p:cNvSpPr txBox="1"/>
          <p:nvPr/>
        </p:nvSpPr>
        <p:spPr>
          <a:xfrm>
            <a:off x="6056300" y="3645201"/>
            <a:ext cx="3307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Grant access to the paragraph from the code + word counting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287C82-B7EF-463C-BE72-1BC405872667}"/>
              </a:ext>
            </a:extLst>
          </p:cNvPr>
          <p:cNvSpPr txBox="1"/>
          <p:nvPr/>
        </p:nvSpPr>
        <p:spPr>
          <a:xfrm>
            <a:off x="4282902" y="3663863"/>
            <a:ext cx="1167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 widget  </a:t>
            </a:r>
          </a:p>
          <a:p>
            <a:pPr algn="ctr"/>
            <a:r>
              <a:rPr lang="en-GB" sz="2400" dirty="0"/>
              <a:t>choice</a:t>
            </a:r>
          </a:p>
        </p:txBody>
      </p:sp>
      <p:cxnSp>
        <p:nvCxnSpPr>
          <p:cNvPr id="40" name="Elbow Connector 24">
            <a:extLst>
              <a:ext uri="{FF2B5EF4-FFF2-40B4-BE49-F238E27FC236}">
                <a16:creationId xmlns:a16="http://schemas.microsoft.com/office/drawing/2014/main" id="{1808E0DB-7442-40FB-9A3F-33501ADC6197}"/>
              </a:ext>
            </a:extLst>
          </p:cNvPr>
          <p:cNvCxnSpPr>
            <a:cxnSpLocks/>
          </p:cNvCxnSpPr>
          <p:nvPr/>
        </p:nvCxnSpPr>
        <p:spPr>
          <a:xfrm flipV="1">
            <a:off x="5593286" y="3995996"/>
            <a:ext cx="480967" cy="6350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25">
            <a:extLst>
              <a:ext uri="{FF2B5EF4-FFF2-40B4-BE49-F238E27FC236}">
                <a16:creationId xmlns:a16="http://schemas.microsoft.com/office/drawing/2014/main" id="{587A4D96-FB39-40A3-9906-4DE978CC4DAE}"/>
              </a:ext>
            </a:extLst>
          </p:cNvPr>
          <p:cNvCxnSpPr/>
          <p:nvPr/>
        </p:nvCxnSpPr>
        <p:spPr>
          <a:xfrm>
            <a:off x="9264779" y="4070122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5">
            <a:extLst>
              <a:ext uri="{FF2B5EF4-FFF2-40B4-BE49-F238E27FC236}">
                <a16:creationId xmlns:a16="http://schemas.microsoft.com/office/drawing/2014/main" id="{1960164A-8178-4F30-9226-60A85CD2D93B}"/>
              </a:ext>
            </a:extLst>
          </p:cNvPr>
          <p:cNvSpPr/>
          <p:nvPr/>
        </p:nvSpPr>
        <p:spPr>
          <a:xfrm>
            <a:off x="9949365" y="3660079"/>
            <a:ext cx="1827070" cy="1166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ADD404-26C3-4F77-8945-BA20FFF12F9F}"/>
              </a:ext>
            </a:extLst>
          </p:cNvPr>
          <p:cNvSpPr txBox="1"/>
          <p:nvPr/>
        </p:nvSpPr>
        <p:spPr>
          <a:xfrm>
            <a:off x="9900769" y="3673906"/>
            <a:ext cx="1875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Does it work?</a:t>
            </a:r>
          </a:p>
          <a:p>
            <a:pPr algn="ctr"/>
            <a:r>
              <a:rPr lang="en-GB" sz="2400" dirty="0"/>
              <a:t>Does it count correctly?</a:t>
            </a:r>
          </a:p>
        </p:txBody>
      </p:sp>
      <p:sp>
        <p:nvSpPr>
          <p:cNvPr id="44" name="Rectangle: Rounded Corners 5">
            <a:extLst>
              <a:ext uri="{FF2B5EF4-FFF2-40B4-BE49-F238E27FC236}">
                <a16:creationId xmlns:a16="http://schemas.microsoft.com/office/drawing/2014/main" id="{706096BE-C1FB-42D5-B51B-9758BDBFEA74}"/>
              </a:ext>
            </a:extLst>
          </p:cNvPr>
          <p:cNvSpPr/>
          <p:nvPr/>
        </p:nvSpPr>
        <p:spPr>
          <a:xfrm>
            <a:off x="4341889" y="3720667"/>
            <a:ext cx="1172674" cy="751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3F6E1A-5242-4C68-AEFD-F1609C4A2B17}"/>
              </a:ext>
            </a:extLst>
          </p:cNvPr>
          <p:cNvSpPr txBox="1"/>
          <p:nvPr/>
        </p:nvSpPr>
        <p:spPr>
          <a:xfrm>
            <a:off x="6175924" y="3169982"/>
            <a:ext cx="5048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Paragraph input and  word counting</a:t>
            </a:r>
          </a:p>
        </p:txBody>
      </p:sp>
      <p:cxnSp>
        <p:nvCxnSpPr>
          <p:cNvPr id="47" name="Elbow Connector 12">
            <a:extLst>
              <a:ext uri="{FF2B5EF4-FFF2-40B4-BE49-F238E27FC236}">
                <a16:creationId xmlns:a16="http://schemas.microsoft.com/office/drawing/2014/main" id="{B22C92FD-BB53-4116-9527-8CC29B63A84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3945" y="3663018"/>
            <a:ext cx="2729420" cy="1015061"/>
          </a:xfrm>
          <a:prstGeom prst="bentConnector3">
            <a:avLst>
              <a:gd name="adj1" fmla="val 100594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45">
            <a:extLst>
              <a:ext uri="{FF2B5EF4-FFF2-40B4-BE49-F238E27FC236}">
                <a16:creationId xmlns:a16="http://schemas.microsoft.com/office/drawing/2014/main" id="{0E04D30E-8360-4BFB-8C17-EB8A9E2C0F87}"/>
              </a:ext>
            </a:extLst>
          </p:cNvPr>
          <p:cNvSpPr/>
          <p:nvPr/>
        </p:nvSpPr>
        <p:spPr>
          <a:xfrm>
            <a:off x="4153119" y="5359846"/>
            <a:ext cx="7603066" cy="93118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228531-1E32-4C97-A7B9-641D65D7BFDE}"/>
              </a:ext>
            </a:extLst>
          </p:cNvPr>
          <p:cNvSpPr txBox="1"/>
          <p:nvPr/>
        </p:nvSpPr>
        <p:spPr>
          <a:xfrm>
            <a:off x="5956468" y="5435295"/>
            <a:ext cx="3162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Pass count number to the output widget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D192D7-3715-402D-9631-F7CE237D83CC}"/>
              </a:ext>
            </a:extLst>
          </p:cNvPr>
          <p:cNvSpPr txBox="1"/>
          <p:nvPr/>
        </p:nvSpPr>
        <p:spPr>
          <a:xfrm>
            <a:off x="8079837" y="4951127"/>
            <a:ext cx="3741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Count word output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C1FA79-7F76-4C92-95BA-58092EBFFE9D}"/>
              </a:ext>
            </a:extLst>
          </p:cNvPr>
          <p:cNvSpPr txBox="1"/>
          <p:nvPr/>
        </p:nvSpPr>
        <p:spPr>
          <a:xfrm>
            <a:off x="4217589" y="5418012"/>
            <a:ext cx="1116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 widget  </a:t>
            </a:r>
          </a:p>
          <a:p>
            <a:pPr algn="ctr"/>
            <a:r>
              <a:rPr lang="en-GB" sz="2400" dirty="0"/>
              <a:t>choice</a:t>
            </a:r>
          </a:p>
        </p:txBody>
      </p:sp>
      <p:cxnSp>
        <p:nvCxnSpPr>
          <p:cNvPr id="55" name="Elbow Connector 24">
            <a:extLst>
              <a:ext uri="{FF2B5EF4-FFF2-40B4-BE49-F238E27FC236}">
                <a16:creationId xmlns:a16="http://schemas.microsoft.com/office/drawing/2014/main" id="{A4EFF577-487A-4852-BF83-A8661340DA19}"/>
              </a:ext>
            </a:extLst>
          </p:cNvPr>
          <p:cNvCxnSpPr>
            <a:cxnSpLocks/>
          </p:cNvCxnSpPr>
          <p:nvPr/>
        </p:nvCxnSpPr>
        <p:spPr>
          <a:xfrm flipV="1">
            <a:off x="5527973" y="5746700"/>
            <a:ext cx="459889" cy="9795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25">
            <a:extLst>
              <a:ext uri="{FF2B5EF4-FFF2-40B4-BE49-F238E27FC236}">
                <a16:creationId xmlns:a16="http://schemas.microsoft.com/office/drawing/2014/main" id="{D905FE70-53E4-423C-8061-A720AA051497}"/>
              </a:ext>
            </a:extLst>
          </p:cNvPr>
          <p:cNvCxnSpPr/>
          <p:nvPr/>
        </p:nvCxnSpPr>
        <p:spPr>
          <a:xfrm>
            <a:off x="9199466" y="5824271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">
            <a:extLst>
              <a:ext uri="{FF2B5EF4-FFF2-40B4-BE49-F238E27FC236}">
                <a16:creationId xmlns:a16="http://schemas.microsoft.com/office/drawing/2014/main" id="{51154F9A-A0FE-494C-9830-9DD8DED23CAB}"/>
              </a:ext>
            </a:extLst>
          </p:cNvPr>
          <p:cNvSpPr/>
          <p:nvPr/>
        </p:nvSpPr>
        <p:spPr>
          <a:xfrm>
            <a:off x="9884050" y="5447365"/>
            <a:ext cx="1746429" cy="7787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9A474D-A171-4A3C-A516-5863EC91D455}"/>
              </a:ext>
            </a:extLst>
          </p:cNvPr>
          <p:cNvSpPr txBox="1"/>
          <p:nvPr/>
        </p:nvSpPr>
        <p:spPr>
          <a:xfrm>
            <a:off x="9835456" y="5578880"/>
            <a:ext cx="1875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Does it work?</a:t>
            </a:r>
          </a:p>
        </p:txBody>
      </p:sp>
      <p:sp>
        <p:nvSpPr>
          <p:cNvPr id="59" name="Rectangle: Rounded Corners 5">
            <a:extLst>
              <a:ext uri="{FF2B5EF4-FFF2-40B4-BE49-F238E27FC236}">
                <a16:creationId xmlns:a16="http://schemas.microsoft.com/office/drawing/2014/main" id="{23146E37-A956-4BE9-BDBB-7EA533A59AEA}"/>
              </a:ext>
            </a:extLst>
          </p:cNvPr>
          <p:cNvSpPr/>
          <p:nvPr/>
        </p:nvSpPr>
        <p:spPr>
          <a:xfrm>
            <a:off x="4276576" y="5474816"/>
            <a:ext cx="1172674" cy="751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Rectangle: Rounded Corners 5">
            <a:extLst>
              <a:ext uri="{FF2B5EF4-FFF2-40B4-BE49-F238E27FC236}">
                <a16:creationId xmlns:a16="http://schemas.microsoft.com/office/drawing/2014/main" id="{D2FD59E9-8CB0-4281-A864-31B7785CD24E}"/>
              </a:ext>
            </a:extLst>
          </p:cNvPr>
          <p:cNvSpPr/>
          <p:nvPr/>
        </p:nvSpPr>
        <p:spPr>
          <a:xfrm>
            <a:off x="6114678" y="3707214"/>
            <a:ext cx="3178093" cy="1095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Rectangle: Rounded Corners 5">
            <a:extLst>
              <a:ext uri="{FF2B5EF4-FFF2-40B4-BE49-F238E27FC236}">
                <a16:creationId xmlns:a16="http://schemas.microsoft.com/office/drawing/2014/main" id="{246FEB46-1DCE-493B-BDF7-60297C6ED6CE}"/>
              </a:ext>
            </a:extLst>
          </p:cNvPr>
          <p:cNvSpPr/>
          <p:nvPr/>
        </p:nvSpPr>
        <p:spPr>
          <a:xfrm>
            <a:off x="5980947" y="5448924"/>
            <a:ext cx="3178093" cy="79590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D186A7-0C94-47F3-8CE5-2F1439E72DB3}"/>
              </a:ext>
            </a:extLst>
          </p:cNvPr>
          <p:cNvSpPr txBox="1"/>
          <p:nvPr/>
        </p:nvSpPr>
        <p:spPr>
          <a:xfrm>
            <a:off x="1131454" y="6375024"/>
            <a:ext cx="9056342" cy="415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7010CB-948F-400C-B639-FA7E800995B4}"/>
              </a:ext>
            </a:extLst>
          </p:cNvPr>
          <p:cNvSpPr txBox="1"/>
          <p:nvPr/>
        </p:nvSpPr>
        <p:spPr>
          <a:xfrm>
            <a:off x="1131454" y="6363979"/>
            <a:ext cx="91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a comment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every block to state when it is called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42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Guess the function trick!!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532" y="1486954"/>
            <a:ext cx="11692468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Every class has 10s of functions, how can we know what function we need easily?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When looking for a function in the documentation, ask three quesitions: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de-DE" sz="2400" dirty="0"/>
              <a:t>What is the expected return datatype? (important when </a:t>
            </a:r>
            <a:r>
              <a:rPr lang="de-DE" sz="2400" u="sng" dirty="0"/>
              <a:t>getting</a:t>
            </a:r>
            <a:r>
              <a:rPr lang="de-DE" sz="2400" dirty="0"/>
              <a:t> data from object)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de-DE" sz="2400" dirty="0"/>
              <a:t>What does the function do (in simple words)?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de-DE" sz="2400" dirty="0"/>
              <a:t>What are the datatypes of its input parameters? (important when </a:t>
            </a:r>
            <a:r>
              <a:rPr lang="de-DE" sz="2400" u="sng" dirty="0"/>
              <a:t>giving</a:t>
            </a:r>
            <a:r>
              <a:rPr lang="de-DE" sz="2400" dirty="0"/>
              <a:t> data to object)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de-DE" sz="2400" dirty="0"/>
          </a:p>
          <a:p>
            <a:pPr>
              <a:lnSpc>
                <a:spcPct val="150000"/>
              </a:lnSpc>
            </a:pPr>
            <a:r>
              <a:rPr lang="de-DE" sz="2400" dirty="0"/>
              <a:t>Think of multiple answers per question, most of the time you can guess the  function from one answer only!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D41FBA-4121-4854-9467-735C0DDFB6B4}"/>
              </a:ext>
            </a:extLst>
          </p:cNvPr>
          <p:cNvSpPr txBox="1"/>
          <p:nvPr/>
        </p:nvSpPr>
        <p:spPr>
          <a:xfrm>
            <a:off x="867773" y="4849507"/>
            <a:ext cx="9114427" cy="4975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D21AC0-A4F5-4DFF-9471-5ED545E0166E}"/>
              </a:ext>
            </a:extLst>
          </p:cNvPr>
          <p:cNvSpPr/>
          <p:nvPr/>
        </p:nvSpPr>
        <p:spPr>
          <a:xfrm>
            <a:off x="1816786" y="4885415"/>
            <a:ext cx="1276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404244"/>
                </a:solidFill>
                <a:latin typeface="Titillium Web"/>
              </a:rPr>
              <a:t>Answer1</a:t>
            </a:r>
            <a:endParaRPr lang="en-GB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521A46-1123-46D0-AB25-CFBA38ED9413}"/>
              </a:ext>
            </a:extLst>
          </p:cNvPr>
          <p:cNvCxnSpPr>
            <a:cxnSpLocks/>
          </p:cNvCxnSpPr>
          <p:nvPr/>
        </p:nvCxnSpPr>
        <p:spPr>
          <a:xfrm>
            <a:off x="3210158" y="4849507"/>
            <a:ext cx="0" cy="4975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2F1C0-DD70-475B-B589-5C224C15C144}"/>
              </a:ext>
            </a:extLst>
          </p:cNvPr>
          <p:cNvSpPr/>
          <p:nvPr/>
        </p:nvSpPr>
        <p:spPr>
          <a:xfrm>
            <a:off x="3239732" y="4900188"/>
            <a:ext cx="2693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404244"/>
                </a:solidFill>
                <a:latin typeface="Titillium Web"/>
              </a:rPr>
              <a:t>Answer2 (Answer 3)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2721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Guess the function trick!!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89038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Few notes to improve your guess: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A return type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de-DE" sz="2400" dirty="0"/>
              <a:t> is the most probable when the function returns nothing, or the function is used to modify something.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   Example: 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A function has no paramters is the most probable if it returns a propertie of the object. Or if the function means only one thing.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 Example: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323" y="5317067"/>
            <a:ext cx="6990250" cy="699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741" y="3437466"/>
            <a:ext cx="7008300" cy="71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0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Connecting objects in the application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89038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Every window in the application is defined by a pointer, for the parent window the pointer has the name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widget we add in </a:t>
            </a:r>
            <a:r>
              <a:rPr lang="en-GB" sz="2400" dirty="0" err="1"/>
              <a:t>Qt</a:t>
            </a:r>
            <a:r>
              <a:rPr lang="en-GB" sz="2400" dirty="0"/>
              <a:t> Designer is also defined by a pointer, which has a name shown to the right of the screen (example: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lineEdit</a:t>
            </a:r>
            <a:r>
              <a:rPr lang="en-GB" sz="2400" dirty="0"/>
              <a:t> is a pointer to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QLineEdit</a:t>
            </a:r>
            <a:r>
              <a:rPr lang="en-GB" sz="2400" dirty="0"/>
              <a:t>)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objects in the code can interact through variables we define in the header file, such variables are used to read the data from a widget, process it, and output it to another widget, example: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44994" y="5673990"/>
            <a:ext cx="1591733" cy="87338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2929461" y="6199306"/>
            <a:ext cx="1515533" cy="108362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44270" y="6180553"/>
            <a:ext cx="2855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lineEdit_input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3216405" y="5675841"/>
            <a:ext cx="1415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text()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561347" y="5847234"/>
            <a:ext cx="1415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p_word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036727" y="6122871"/>
            <a:ext cx="2235200" cy="184797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085212" y="5661206"/>
            <a:ext cx="172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8271927" y="6078066"/>
            <a:ext cx="391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lineEdit_output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29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QDebug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This class is </a:t>
            </a:r>
            <a:r>
              <a:rPr lang="en-GB" sz="2400" dirty="0"/>
              <a:t>used whenever the developer needs to write out debugging or tracing information to a device, file, string or console.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https://doc.qt.io/qt-6/qdebug.html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Its most wide use is as follows (assuming x is a variable in the code):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This class mimics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2400" dirty="0"/>
              <a:t> and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2400" dirty="0"/>
              <a:t>, which are used primarily for debugging when developing a GUI.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183135" y="4140086"/>
            <a:ext cx="756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qDebug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“The value of x: “&lt;&lt;x;</a:t>
            </a:r>
          </a:p>
        </p:txBody>
      </p:sp>
    </p:spTree>
    <p:extLst>
      <p:ext uri="{BB962C8B-B14F-4D97-AF65-F5344CB8AC3E}">
        <p14:creationId xmlns:p14="http://schemas.microsoft.com/office/powerpoint/2010/main" val="872460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Word counter – Further improvements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89038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Verfication on the application level is done, what about validation?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- Try counting how many “h“ in “Hello, How are you?“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GB" sz="2400" dirty="0"/>
              <a:t>Try counting how many “Hello”, then how many “are” in the same sentence.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GB" sz="2400" dirty="0"/>
              <a:t>Try to move the edge of the application.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Validation requires a lot of further work! That is why software testing is a job on its own!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647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2" y="1470025"/>
            <a:ext cx="11218333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concept of developing a GUI application from classes in a library is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concept of widgets, parent and child relation were introduced.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first application has been built.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object-object connection and the user interface-object connections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QDebug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QLineEdit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QBushButton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QPlainTextEdit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QString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96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2910</TotalTime>
  <Words>1440</Words>
  <Application>Microsoft Office PowerPoint</Application>
  <PresentationFormat>Widescreen</PresentationFormat>
  <Paragraphs>316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Titillium Web</vt:lpstr>
      <vt:lpstr>Wingdings</vt:lpstr>
      <vt:lpstr>Office Theme</vt:lpstr>
      <vt:lpstr>Application Development with C++ (ELEC362)</vt:lpstr>
      <vt:lpstr>Previous lecture</vt:lpstr>
      <vt:lpstr>This lecture</vt:lpstr>
      <vt:lpstr>The concept</vt:lpstr>
      <vt:lpstr>Widgets</vt:lpstr>
      <vt:lpstr>Parent and Child Widgets</vt:lpstr>
      <vt:lpstr>Core difference between CLI and GUI apps</vt:lpstr>
      <vt:lpstr>QWidget Class</vt:lpstr>
      <vt:lpstr>QMainWindow Class</vt:lpstr>
      <vt:lpstr>QDialog Class</vt:lpstr>
      <vt:lpstr>A sample application: Word counter</vt:lpstr>
      <vt:lpstr>A sample application: Word counter</vt:lpstr>
      <vt:lpstr>Guess the function trick!!</vt:lpstr>
      <vt:lpstr>Guess the function trick!!</vt:lpstr>
      <vt:lpstr>Connecting objects in the application</vt:lpstr>
      <vt:lpstr>QDebug Class</vt:lpstr>
      <vt:lpstr>Word counter – Further improvements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386</cp:revision>
  <dcterms:created xsi:type="dcterms:W3CDTF">2019-05-09T14:26:54Z</dcterms:created>
  <dcterms:modified xsi:type="dcterms:W3CDTF">2024-10-24T18:23:24Z</dcterms:modified>
</cp:coreProperties>
</file>