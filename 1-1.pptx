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77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2B53AF-3A5A-B94D-DAF5-7103D47201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743B9-97C6-9200-3CAB-26BF14098F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F4201-945F-4D76-97AE-A53B9A379928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4137E-003B-2C2C-944A-79AEFCEAA2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D61AA-1B5E-BC76-5C72-9F81E3675A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F3C18-0380-4C0C-97A9-745F7CC148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9307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17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770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665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4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822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452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280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944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8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84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998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18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642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19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176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714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228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195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28/09/2026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Attendance code: 456767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orum.qt.io/" TargetMode="External"/><Relationship Id="rId3" Type="http://schemas.openxmlformats.org/officeDocument/2006/relationships/hyperlink" Target="http://www.cplusplus.com/reference/" TargetMode="External"/><Relationship Id="rId7" Type="http://schemas.openxmlformats.org/officeDocument/2006/relationships/hyperlink" Target="https://stackoverflow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cplusplus/" TargetMode="External"/><Relationship Id="rId5" Type="http://schemas.openxmlformats.org/officeDocument/2006/relationships/hyperlink" Target="https://www.geeksforgeeks.org/c-plus-plus/" TargetMode="External"/><Relationship Id="rId4" Type="http://schemas.openxmlformats.org/officeDocument/2006/relationships/hyperlink" Target="https://doc.qt.io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www.adzuna.co.uk/jobs/salaries/electrical-engineering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www.adzuna.co.uk/jobs/salaries/c++-enginee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utkstair.org/clausius/docs/che548/pdf/md_sim.pdf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ngw-w64.org/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visualstudio.microsoft.com/vs/features/cplusplu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hyperlink" Target="https://gcc.gnu.org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visualstudio.microsoft.com/downloads/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studio.microsoft.com/downloads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blog/2021/12/23/best-practices-for-writing-code-comments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1: Introduction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Introduction to the module.          2. Overview of C++.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1. To explain the module’s structure and assessment.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2. To appreciate the advantages of C++ 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learning outcomes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This module will teach you: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1.  How to use C++ to implement console-based software.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2.  How to use C++ to implement Graphic User Interface (GUI)-based software.</a:t>
            </a:r>
          </a:p>
          <a:p>
            <a:pPr marL="628650" indent="-628650">
              <a:lnSpc>
                <a:spcPct val="120000"/>
              </a:lnSpc>
              <a:buNone/>
            </a:pPr>
            <a:r>
              <a:rPr lang="en-GB" sz="2400" dirty="0"/>
              <a:t>    3.  How to effectively use online documentations and resources for self-learning   in programming context. </a:t>
            </a:r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r>
              <a:rPr lang="en-GB" sz="2400" dirty="0"/>
              <a:t>Note: This module is NOT a computer science degree in a single module!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Pre-request modules: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ELEC129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Or ELEC102  (XJTLU students)</a:t>
            </a:r>
          </a:p>
          <a:p>
            <a:pPr marL="0" indent="0">
              <a:buNone/>
            </a:pPr>
            <a:r>
              <a:rPr lang="en-GB" sz="2400" dirty="0"/>
              <a:t>   Or COMP122  (Comp Sci &amp; EE students)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Background knowledge : algorithms, basic programming experience, and basic maths.  </a:t>
            </a:r>
          </a:p>
          <a:p>
            <a:endParaRPr lang="en-GB" sz="2400" dirty="0"/>
          </a:p>
          <a:p>
            <a:r>
              <a:rPr lang="en-GB" sz="2400" dirty="0"/>
              <a:t>Statistics from last year:  Average mark (61%) Failure rate (6.6%) Top mark (84).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25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Workload and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module is 15 credits module (corresponding to 150 hours of study) distributed as: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Lectures ( 18 hours)               Lab sessions (36 hours)                                                Project and assignment ( 55 hours total)        Self-study ( 39 hours)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Mark distribution: 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C75D6D-773C-4A77-AAA6-5C5E61B5D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82343"/>
              </p:ext>
            </p:extLst>
          </p:nvPr>
        </p:nvGraphicFramePr>
        <p:xfrm>
          <a:off x="838200" y="4439603"/>
          <a:ext cx="1021528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489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2063894">
                  <a:extLst>
                    <a:ext uri="{9D8B030D-6E8A-4147-A177-3AD203B41FA5}">
                      <a16:colId xmlns:a16="http://schemas.microsoft.com/office/drawing/2014/main" val="2884050936"/>
                    </a:ext>
                  </a:extLst>
                </a:gridCol>
                <a:gridCol w="4058330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  <a:gridCol w="2361570">
                  <a:extLst>
                    <a:ext uri="{9D8B030D-6E8A-4147-A177-3AD203B41FA5}">
                      <a16:colId xmlns:a16="http://schemas.microsoft.com/office/drawing/2014/main" val="3062264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b="0" dirty="0"/>
                        <a:t>Assessment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Weight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Assessment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Deadline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Console-based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Week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GUI-based software</a:t>
                      </a:r>
                    </a:p>
                    <a:p>
                      <a:r>
                        <a:rPr lang="en-GB" sz="2400" dirty="0"/>
                        <a:t>Independent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Week 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AA3A04-DD16-47FD-9D60-BC9AFB04916C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61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F6DD8E-D63E-40E2-A2E5-608A237B7C0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4237DA32-B7BB-40A4-B146-DE093EB2BC91}"/>
              </a:ext>
            </a:extLst>
          </p:cNvPr>
          <p:cNvSpPr/>
          <p:nvPr/>
        </p:nvSpPr>
        <p:spPr>
          <a:xfrm>
            <a:off x="4619710" y="5708079"/>
            <a:ext cx="1261765" cy="963463"/>
          </a:xfrm>
          <a:custGeom>
            <a:avLst/>
            <a:gdLst>
              <a:gd name="connsiteX0" fmla="*/ 0 w 1261764"/>
              <a:gd name="connsiteY0" fmla="*/ 963463 h 963463"/>
              <a:gd name="connsiteX1" fmla="*/ 630882 w 1261764"/>
              <a:gd name="connsiteY1" fmla="*/ 0 h 963463"/>
              <a:gd name="connsiteX2" fmla="*/ 630882 w 1261764"/>
              <a:gd name="connsiteY2" fmla="*/ 0 h 963463"/>
              <a:gd name="connsiteX3" fmla="*/ 1261764 w 1261764"/>
              <a:gd name="connsiteY3" fmla="*/ 963463 h 963463"/>
              <a:gd name="connsiteX4" fmla="*/ 0 w 1261764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1764" h="963463">
                <a:moveTo>
                  <a:pt x="1261764" y="0"/>
                </a:moveTo>
                <a:lnTo>
                  <a:pt x="630882" y="963463"/>
                </a:lnTo>
                <a:lnTo>
                  <a:pt x="630882" y="963463"/>
                </a:lnTo>
                <a:lnTo>
                  <a:pt x="0" y="0"/>
                </a:lnTo>
                <a:lnTo>
                  <a:pt x="1261764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751" tIns="31750" rIns="31750" bIns="31750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500" kern="1200" dirty="0">
                <a:solidFill>
                  <a:schemeClr val="tx1"/>
                </a:solidFill>
              </a:rPr>
              <a:t>Variables</a:t>
            </a:r>
          </a:p>
        </p:txBody>
      </p:sp>
      <p:sp>
        <p:nvSpPr>
          <p:cNvPr id="8" name="Freeform: Shape 9">
            <a:extLst>
              <a:ext uri="{FF2B5EF4-FFF2-40B4-BE49-F238E27FC236}">
                <a16:creationId xmlns:a16="http://schemas.microsoft.com/office/drawing/2014/main" id="{91C5B6AE-7AA7-4517-B26B-81B923351913}"/>
              </a:ext>
            </a:extLst>
          </p:cNvPr>
          <p:cNvSpPr/>
          <p:nvPr/>
        </p:nvSpPr>
        <p:spPr>
          <a:xfrm>
            <a:off x="3988827" y="4744615"/>
            <a:ext cx="2523529" cy="963464"/>
          </a:xfrm>
          <a:custGeom>
            <a:avLst/>
            <a:gdLst>
              <a:gd name="connsiteX0" fmla="*/ 0 w 2523528"/>
              <a:gd name="connsiteY0" fmla="*/ 963463 h 963463"/>
              <a:gd name="connsiteX1" fmla="*/ 630885 w 2523528"/>
              <a:gd name="connsiteY1" fmla="*/ 0 h 963463"/>
              <a:gd name="connsiteX2" fmla="*/ 1892643 w 2523528"/>
              <a:gd name="connsiteY2" fmla="*/ 0 h 963463"/>
              <a:gd name="connsiteX3" fmla="*/ 2523528 w 2523528"/>
              <a:gd name="connsiteY3" fmla="*/ 963463 h 963463"/>
              <a:gd name="connsiteX4" fmla="*/ 0 w 2523528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3528" h="963463">
                <a:moveTo>
                  <a:pt x="2523528" y="1"/>
                </a:moveTo>
                <a:lnTo>
                  <a:pt x="1892643" y="963462"/>
                </a:lnTo>
                <a:lnTo>
                  <a:pt x="630885" y="963462"/>
                </a:lnTo>
                <a:lnTo>
                  <a:pt x="0" y="1"/>
                </a:lnTo>
                <a:lnTo>
                  <a:pt x="2523528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3369" tIns="31750" rIns="473367" bIns="317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500" kern="1200" dirty="0">
                <a:solidFill>
                  <a:schemeClr val="tx1"/>
                </a:solidFill>
              </a:rPr>
              <a:t>Control structures</a:t>
            </a:r>
          </a:p>
        </p:txBody>
      </p: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24649E6C-DB89-4BC4-904B-051964189C89}"/>
              </a:ext>
            </a:extLst>
          </p:cNvPr>
          <p:cNvSpPr/>
          <p:nvPr/>
        </p:nvSpPr>
        <p:spPr>
          <a:xfrm>
            <a:off x="3358542" y="3777977"/>
            <a:ext cx="3785293" cy="963464"/>
          </a:xfrm>
          <a:custGeom>
            <a:avLst/>
            <a:gdLst>
              <a:gd name="connsiteX0" fmla="*/ 0 w 3785293"/>
              <a:gd name="connsiteY0" fmla="*/ 963463 h 963463"/>
              <a:gd name="connsiteX1" fmla="*/ 630885 w 3785293"/>
              <a:gd name="connsiteY1" fmla="*/ 0 h 963463"/>
              <a:gd name="connsiteX2" fmla="*/ 3154408 w 3785293"/>
              <a:gd name="connsiteY2" fmla="*/ 0 h 963463"/>
              <a:gd name="connsiteX3" fmla="*/ 3785293 w 3785293"/>
              <a:gd name="connsiteY3" fmla="*/ 963463 h 963463"/>
              <a:gd name="connsiteX4" fmla="*/ 0 w 3785293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5293" h="963463">
                <a:moveTo>
                  <a:pt x="3785293" y="1"/>
                </a:moveTo>
                <a:lnTo>
                  <a:pt x="3154408" y="963462"/>
                </a:lnTo>
                <a:lnTo>
                  <a:pt x="630885" y="963462"/>
                </a:lnTo>
                <a:lnTo>
                  <a:pt x="0" y="1"/>
                </a:lnTo>
                <a:lnTo>
                  <a:pt x="3785293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4176" tIns="31750" rIns="694177" bIns="317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500" kern="1200" dirty="0"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11" name="Freeform: Shape 7">
            <a:extLst>
              <a:ext uri="{FF2B5EF4-FFF2-40B4-BE49-F238E27FC236}">
                <a16:creationId xmlns:a16="http://schemas.microsoft.com/office/drawing/2014/main" id="{DFFD8D4E-9392-49F3-B97E-42CE25CAA0E0}"/>
              </a:ext>
            </a:extLst>
          </p:cNvPr>
          <p:cNvSpPr/>
          <p:nvPr/>
        </p:nvSpPr>
        <p:spPr>
          <a:xfrm>
            <a:off x="2727062" y="2814513"/>
            <a:ext cx="5047057" cy="963465"/>
          </a:xfrm>
          <a:custGeom>
            <a:avLst/>
            <a:gdLst>
              <a:gd name="connsiteX0" fmla="*/ 0 w 5047057"/>
              <a:gd name="connsiteY0" fmla="*/ 963463 h 963463"/>
              <a:gd name="connsiteX1" fmla="*/ 630885 w 5047057"/>
              <a:gd name="connsiteY1" fmla="*/ 0 h 963463"/>
              <a:gd name="connsiteX2" fmla="*/ 4416172 w 5047057"/>
              <a:gd name="connsiteY2" fmla="*/ 0 h 963463"/>
              <a:gd name="connsiteX3" fmla="*/ 5047057 w 5047057"/>
              <a:gd name="connsiteY3" fmla="*/ 963463 h 963463"/>
              <a:gd name="connsiteX4" fmla="*/ 0 w 5047057"/>
              <a:gd name="connsiteY4" fmla="*/ 963463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7057" h="963463">
                <a:moveTo>
                  <a:pt x="5047057" y="1"/>
                </a:moveTo>
                <a:lnTo>
                  <a:pt x="4416172" y="963462"/>
                </a:lnTo>
                <a:lnTo>
                  <a:pt x="630885" y="963462"/>
                </a:lnTo>
                <a:lnTo>
                  <a:pt x="0" y="1"/>
                </a:lnTo>
                <a:lnTo>
                  <a:pt x="5047057" y="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985" tIns="31751" rIns="914985" bIns="31751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500" kern="1200" dirty="0">
                <a:solidFill>
                  <a:schemeClr val="tx1"/>
                </a:solidFill>
              </a:rPr>
              <a:t>Classes</a:t>
            </a:r>
          </a:p>
        </p:txBody>
      </p:sp>
      <p:sp>
        <p:nvSpPr>
          <p:cNvPr id="16" name="Freeform: Shape 35">
            <a:extLst>
              <a:ext uri="{FF2B5EF4-FFF2-40B4-BE49-F238E27FC236}">
                <a16:creationId xmlns:a16="http://schemas.microsoft.com/office/drawing/2014/main" id="{25F4FF33-92E6-4494-BCEA-C617B3733535}"/>
              </a:ext>
            </a:extLst>
          </p:cNvPr>
          <p:cNvSpPr/>
          <p:nvPr/>
        </p:nvSpPr>
        <p:spPr>
          <a:xfrm>
            <a:off x="2085975" y="1825625"/>
            <a:ext cx="1725625" cy="963463"/>
          </a:xfrm>
          <a:custGeom>
            <a:avLst/>
            <a:gdLst>
              <a:gd name="connsiteX0" fmla="*/ 0 w 1725625"/>
              <a:gd name="connsiteY0" fmla="*/ 0 h 963463"/>
              <a:gd name="connsiteX1" fmla="*/ 1725625 w 1725625"/>
              <a:gd name="connsiteY1" fmla="*/ 0 h 963463"/>
              <a:gd name="connsiteX2" fmla="*/ 1725625 w 1725625"/>
              <a:gd name="connsiteY2" fmla="*/ 963463 h 963463"/>
              <a:gd name="connsiteX3" fmla="*/ 630885 w 1725625"/>
              <a:gd name="connsiteY3" fmla="*/ 963463 h 963463"/>
              <a:gd name="connsiteX4" fmla="*/ 0 w 1725625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5625" h="963463">
                <a:moveTo>
                  <a:pt x="0" y="0"/>
                </a:moveTo>
                <a:lnTo>
                  <a:pt x="1725625" y="0"/>
                </a:lnTo>
                <a:lnTo>
                  <a:pt x="1725625" y="963463"/>
                </a:lnTo>
                <a:lnTo>
                  <a:pt x="630885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2968277" y="5940953"/>
            <a:ext cx="1956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 3</a:t>
            </a:r>
          </a:p>
        </p:txBody>
      </p:sp>
      <p:sp>
        <p:nvSpPr>
          <p:cNvPr id="18" name="Freeform: Shape 34">
            <a:extLst>
              <a:ext uri="{FF2B5EF4-FFF2-40B4-BE49-F238E27FC236}">
                <a16:creationId xmlns:a16="http://schemas.microsoft.com/office/drawing/2014/main" id="{B34E266F-1C16-42D0-8C4B-F6B5B3461B0A}"/>
              </a:ext>
            </a:extLst>
          </p:cNvPr>
          <p:cNvSpPr/>
          <p:nvPr/>
        </p:nvSpPr>
        <p:spPr>
          <a:xfrm>
            <a:off x="3851292" y="1828812"/>
            <a:ext cx="1365216" cy="963463"/>
          </a:xfrm>
          <a:custGeom>
            <a:avLst/>
            <a:gdLst>
              <a:gd name="connsiteX0" fmla="*/ 0 w 1365216"/>
              <a:gd name="connsiteY0" fmla="*/ 0 h 963463"/>
              <a:gd name="connsiteX1" fmla="*/ 1365216 w 1365216"/>
              <a:gd name="connsiteY1" fmla="*/ 0 h 963463"/>
              <a:gd name="connsiteX2" fmla="*/ 1365216 w 1365216"/>
              <a:gd name="connsiteY2" fmla="*/ 963463 h 963463"/>
              <a:gd name="connsiteX3" fmla="*/ 0 w 1365216"/>
              <a:gd name="connsiteY3" fmla="*/ 963463 h 963463"/>
              <a:gd name="connsiteX4" fmla="*/ 0 w 1365216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216" h="963463">
                <a:moveTo>
                  <a:pt x="0" y="0"/>
                </a:moveTo>
                <a:lnTo>
                  <a:pt x="1365216" y="0"/>
                </a:lnTo>
                <a:lnTo>
                  <a:pt x="1365216" y="963463"/>
                </a:lnTo>
                <a:lnTo>
                  <a:pt x="0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19" name="Freeform: Shape 34">
            <a:extLst>
              <a:ext uri="{FF2B5EF4-FFF2-40B4-BE49-F238E27FC236}">
                <a16:creationId xmlns:a16="http://schemas.microsoft.com/office/drawing/2014/main" id="{B34E266F-1C16-42D0-8C4B-F6B5B3461B0A}"/>
              </a:ext>
            </a:extLst>
          </p:cNvPr>
          <p:cNvSpPr/>
          <p:nvPr/>
        </p:nvSpPr>
        <p:spPr>
          <a:xfrm>
            <a:off x="5258647" y="1826419"/>
            <a:ext cx="1365216" cy="963463"/>
          </a:xfrm>
          <a:custGeom>
            <a:avLst/>
            <a:gdLst>
              <a:gd name="connsiteX0" fmla="*/ 0 w 1365216"/>
              <a:gd name="connsiteY0" fmla="*/ 0 h 963463"/>
              <a:gd name="connsiteX1" fmla="*/ 1365216 w 1365216"/>
              <a:gd name="connsiteY1" fmla="*/ 0 h 963463"/>
              <a:gd name="connsiteX2" fmla="*/ 1365216 w 1365216"/>
              <a:gd name="connsiteY2" fmla="*/ 963463 h 963463"/>
              <a:gd name="connsiteX3" fmla="*/ 0 w 1365216"/>
              <a:gd name="connsiteY3" fmla="*/ 963463 h 963463"/>
              <a:gd name="connsiteX4" fmla="*/ 0 w 1365216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216" h="963463">
                <a:moveTo>
                  <a:pt x="0" y="0"/>
                </a:moveTo>
                <a:lnTo>
                  <a:pt x="1365216" y="0"/>
                </a:lnTo>
                <a:lnTo>
                  <a:pt x="1365216" y="963463"/>
                </a:lnTo>
                <a:lnTo>
                  <a:pt x="0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20" name="Freeform: Shape 32">
            <a:extLst>
              <a:ext uri="{FF2B5EF4-FFF2-40B4-BE49-F238E27FC236}">
                <a16:creationId xmlns:a16="http://schemas.microsoft.com/office/drawing/2014/main" id="{E9EAC926-1344-4046-AA04-99E99795D1FC}"/>
              </a:ext>
            </a:extLst>
          </p:cNvPr>
          <p:cNvSpPr/>
          <p:nvPr/>
        </p:nvSpPr>
        <p:spPr>
          <a:xfrm>
            <a:off x="6663555" y="1828812"/>
            <a:ext cx="1726927" cy="963463"/>
          </a:xfrm>
          <a:custGeom>
            <a:avLst/>
            <a:gdLst>
              <a:gd name="connsiteX0" fmla="*/ 0 w 1726927"/>
              <a:gd name="connsiteY0" fmla="*/ 0 h 963463"/>
              <a:gd name="connsiteX1" fmla="*/ 1726927 w 1726927"/>
              <a:gd name="connsiteY1" fmla="*/ 0 h 963463"/>
              <a:gd name="connsiteX2" fmla="*/ 1096042 w 1726927"/>
              <a:gd name="connsiteY2" fmla="*/ 963463 h 963463"/>
              <a:gd name="connsiteX3" fmla="*/ 0 w 1726927"/>
              <a:gd name="connsiteY3" fmla="*/ 963463 h 963463"/>
              <a:gd name="connsiteX4" fmla="*/ 0 w 1726927"/>
              <a:gd name="connsiteY4" fmla="*/ 0 h 96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6927" h="963463">
                <a:moveTo>
                  <a:pt x="0" y="0"/>
                </a:moveTo>
                <a:lnTo>
                  <a:pt x="1726927" y="0"/>
                </a:lnTo>
                <a:lnTo>
                  <a:pt x="1096042" y="963463"/>
                </a:lnTo>
                <a:lnTo>
                  <a:pt x="0" y="96346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5793" tIns="31751" rIns="1135795" bIns="31751" numCol="1" spcCol="1270" anchor="ctr" anchorCtr="0">
            <a:noAutofit/>
          </a:bodyPr>
          <a:lstStyle/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500" kern="12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2783276" y="5119837"/>
            <a:ext cx="147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2045856" y="4151700"/>
            <a:ext cx="147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828675" y="3162810"/>
            <a:ext cx="209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Lectures 6-9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3DBF38-28B0-4A99-A2AB-ECD401BB1DBE}"/>
              </a:ext>
            </a:extLst>
          </p:cNvPr>
          <p:cNvCxnSpPr>
            <a:cxnSpLocks/>
          </p:cNvCxnSpPr>
          <p:nvPr/>
        </p:nvCxnSpPr>
        <p:spPr>
          <a:xfrm flipH="1">
            <a:off x="8390482" y="2371177"/>
            <a:ext cx="14468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93F1FA-F2AB-4AE8-B190-57B1630696BB}"/>
              </a:ext>
            </a:extLst>
          </p:cNvPr>
          <p:cNvSpPr txBox="1"/>
          <p:nvPr/>
        </p:nvSpPr>
        <p:spPr>
          <a:xfrm>
            <a:off x="9707134" y="2140344"/>
            <a:ext cx="147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Libraries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176495" y="2157408"/>
            <a:ext cx="209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Lectures 10-18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FC7C7D-6F03-48D7-9C59-59780F63790E}"/>
              </a:ext>
            </a:extLst>
          </p:cNvPr>
          <p:cNvSpPr txBox="1"/>
          <p:nvPr/>
        </p:nvSpPr>
        <p:spPr>
          <a:xfrm>
            <a:off x="2429780" y="1799524"/>
            <a:ext cx="14748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Data Structure</a:t>
            </a:r>
          </a:p>
          <a:p>
            <a:pPr algn="ctr"/>
            <a:r>
              <a:rPr lang="en-GB" sz="2000" dirty="0"/>
              <a:t>Libraries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3755697" y="1797263"/>
            <a:ext cx="1591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GUI Development</a:t>
            </a:r>
          </a:p>
          <a:p>
            <a:pPr algn="ctr"/>
            <a:r>
              <a:rPr lang="en-GB" sz="2000" dirty="0"/>
              <a:t>Libraries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1FD32E-1BC7-4675-BF0E-A2E919E70AA2}"/>
              </a:ext>
            </a:extLst>
          </p:cNvPr>
          <p:cNvSpPr txBox="1"/>
          <p:nvPr/>
        </p:nvSpPr>
        <p:spPr>
          <a:xfrm>
            <a:off x="5223946" y="1784669"/>
            <a:ext cx="14748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Games</a:t>
            </a:r>
          </a:p>
          <a:p>
            <a:pPr algn="ctr"/>
            <a:r>
              <a:rPr lang="en-GB" sz="2000" dirty="0"/>
              <a:t>Engines</a:t>
            </a:r>
          </a:p>
          <a:p>
            <a:pPr algn="ctr"/>
            <a:r>
              <a:rPr lang="en-GB" sz="2000" dirty="0"/>
              <a:t>Libraries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615685-B919-4929-9730-BF2560FED671}"/>
              </a:ext>
            </a:extLst>
          </p:cNvPr>
          <p:cNvSpPr txBox="1"/>
          <p:nvPr/>
        </p:nvSpPr>
        <p:spPr>
          <a:xfrm>
            <a:off x="6558777" y="1816111"/>
            <a:ext cx="14748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Scientific </a:t>
            </a:r>
          </a:p>
          <a:p>
            <a:pPr algn="ctr"/>
            <a:r>
              <a:rPr lang="en-GB" sz="2000" dirty="0"/>
              <a:t>Computing</a:t>
            </a:r>
          </a:p>
          <a:p>
            <a:pPr algn="ctr"/>
            <a:r>
              <a:rPr lang="en-GB" sz="2000" dirty="0"/>
              <a:t>Libraries</a:t>
            </a:r>
          </a:p>
        </p:txBody>
      </p:sp>
      <p:pic>
        <p:nvPicPr>
          <p:cNvPr id="4100" name="Picture 4" descr="Image result for standard template library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521" y="2371176"/>
            <a:ext cx="1890281" cy="189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Qt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952" y="2736946"/>
            <a:ext cx="1488990" cy="109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14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843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Books:   Professional C++ </a:t>
            </a:r>
            <a:r>
              <a:rPr lang="en-GB" sz="2400" b="1" dirty="0"/>
              <a:t>, </a:t>
            </a:r>
            <a:r>
              <a:rPr lang="en-GB" sz="2400" dirty="0"/>
              <a:t>Marc Gregoire (2018).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C++ GUI Programming with Qt, </a:t>
            </a:r>
            <a:r>
              <a:rPr lang="de-DE" sz="2400" dirty="0"/>
              <a:t>J Blanchette &amp; M Summerfield (2008).</a:t>
            </a:r>
          </a:p>
          <a:p>
            <a:pPr>
              <a:lnSpc>
                <a:spcPct val="120000"/>
              </a:lnSpc>
            </a:pPr>
            <a:r>
              <a:rPr lang="de-DE" sz="2400" dirty="0"/>
              <a:t>Online documentation: C++ : </a:t>
            </a:r>
            <a:r>
              <a:rPr lang="en-GB" sz="2400" dirty="0">
                <a:hlinkClick r:id="rId3"/>
              </a:rPr>
              <a:t>http://www.cplusplus.com/reference/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Qt : </a:t>
            </a:r>
            <a:r>
              <a:rPr lang="en-GB" sz="2400" dirty="0">
                <a:hlinkClick r:id="rId4"/>
              </a:rPr>
              <a:t>https://doc.qt.io/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de-DE" sz="2400" dirty="0"/>
              <a:t>Educational websites: </a:t>
            </a:r>
            <a:r>
              <a:rPr lang="en-GB" sz="2400" dirty="0">
                <a:hlinkClick r:id="rId5"/>
              </a:rPr>
              <a:t>https://www.geeksforgeeks.org/c-plus-plus/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</a:t>
            </a:r>
            <a:r>
              <a:rPr lang="en-GB" sz="2400" dirty="0">
                <a:hlinkClick r:id="rId6"/>
              </a:rPr>
              <a:t>https://www.tutorialspoint.com/cplusplus/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Online developers community: </a:t>
            </a:r>
            <a:r>
              <a:rPr lang="en-GB" sz="2400" dirty="0">
                <a:hlinkClick r:id="rId7"/>
              </a:rPr>
              <a:t>https://stackoverflow.com/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</a:t>
            </a:r>
            <a:r>
              <a:rPr lang="en-GB" sz="2400" dirty="0">
                <a:hlinkClick r:id="rId8"/>
              </a:rPr>
              <a:t>https://forum.qt.io/</a:t>
            </a: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b="1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85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C++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3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C++ is a general purpose programming language, appeared in 1983. </a:t>
            </a:r>
            <a:endParaRPr lang="de-DE" sz="2400" dirty="0"/>
          </a:p>
          <a:p>
            <a:pPr>
              <a:lnSpc>
                <a:spcPct val="120000"/>
              </a:lnSpc>
            </a:pPr>
            <a:r>
              <a:rPr lang="de-DE" sz="2400" dirty="0"/>
              <a:t>Since its creation, many standard editions of C++ where released including C++ 98, </a:t>
            </a:r>
            <a:r>
              <a:rPr lang="de-DE" sz="2400" u="sng" dirty="0"/>
              <a:t>C++ 11</a:t>
            </a:r>
            <a:r>
              <a:rPr lang="de-DE" sz="2400" dirty="0"/>
              <a:t>, C++ 14, and C++ 17.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In its early times there were many other programming languages: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The Object Oriented Programming (OOP) paradigm enabled C++ to be customisable for any field.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261788"/>
              </p:ext>
            </p:extLst>
          </p:nvPr>
        </p:nvGraphicFramePr>
        <p:xfrm>
          <a:off x="2594959" y="3530747"/>
          <a:ext cx="773554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20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6028722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269742">
                <a:tc>
                  <a:txBody>
                    <a:bodyPr/>
                    <a:lstStyle/>
                    <a:p>
                      <a:r>
                        <a:rPr lang="en-GB" sz="2400" b="0" dirty="0"/>
                        <a:t>Language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Primary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/>
                        <a:t>COBOL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Business theme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/>
                        <a:t>Fortran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Scientific computing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/>
                        <a:t>Pascal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Data structures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9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67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C++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3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As a result, C++ became widely used on all levels of software including: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Operating systems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Applications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Firmware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Image result for windows logo transparent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516" y="2068513"/>
            <a:ext cx="1630893" cy="163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827" y="2039046"/>
            <a:ext cx="1412346" cy="141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mage result for linux logo transparent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882" y="1921852"/>
            <a:ext cx="1421594" cy="164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Image result for office logo transparent backgrou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67" y="3593950"/>
            <a:ext cx="2922727" cy="119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20" descr="Image result for adobe reader logo transparent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96" name="Picture 24" descr="Related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217" y="3502908"/>
            <a:ext cx="1314644" cy="131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Image result for nvidia logo transparent backgrou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181" y="4725572"/>
            <a:ext cx="1972733" cy="158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 descr="Image result for intel logo transparent background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740" y="4869068"/>
            <a:ext cx="1728691" cy="113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968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C++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3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Despite it being old, C++ is still a valuable skill to have: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20" descr="Image result for adobe reader logo transparent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A5570A-6F0D-412F-8EA6-35E7F445C8AA}"/>
              </a:ext>
            </a:extLst>
          </p:cNvPr>
          <p:cNvSpPr/>
          <p:nvPr/>
        </p:nvSpPr>
        <p:spPr>
          <a:xfrm>
            <a:off x="5975740" y="4964518"/>
            <a:ext cx="24325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https://www.adzuna.co.uk/jobs/salaries/electrical-engineering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065BD2-2857-46AE-BA80-EFE7B952A69D}"/>
              </a:ext>
            </a:extLst>
          </p:cNvPr>
          <p:cNvSpPr/>
          <p:nvPr/>
        </p:nvSpPr>
        <p:spPr>
          <a:xfrm>
            <a:off x="507485" y="5019370"/>
            <a:ext cx="24325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https://www.adzuna.co.uk/jobs/salaries/c++-engineer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D8585-E826-4346-8A7F-A984CBD95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998" y="1893482"/>
            <a:ext cx="5886091" cy="2815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E38C5-F887-44D1-8506-E24C94365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077" y="4631209"/>
            <a:ext cx="2567993" cy="2226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25099-A27A-4E77-91ED-0D042A4B2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83" y="1962299"/>
            <a:ext cx="5651909" cy="28771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C735CE-3DE6-4949-B81D-AF9717CC1D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1349" y="4719121"/>
            <a:ext cx="2345661" cy="21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9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High level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3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Based on the level of programming languages, they are split into two categories:</a:t>
            </a:r>
          </a:p>
          <a:p>
            <a:pPr marL="3051175" indent="-3051175">
              <a:lnSpc>
                <a:spcPct val="150000"/>
              </a:lnSpc>
              <a:buNone/>
            </a:pPr>
            <a:r>
              <a:rPr lang="en-GB" sz="2400" dirty="0"/>
              <a:t> 1. High level languages: programming languages that use human readable syntax. Examples include: C++, MATLAB, Python.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2. Low level languages: programming languages that use machine readable syntax.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                                         Examples include: Assembly language.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computer only understands Low level languages.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We need a “translator” software to translate high level to low level languages.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95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High level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The “translator” can be either a compiler or an interpreter, thus leading to compiled languages and interpreted languages.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3051175" indent="-3051175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4980991" y="1684506"/>
            <a:ext cx="2080726" cy="8391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4980991" y="1642527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Programming languages</a:t>
            </a:r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DBE0FC63-E209-42CE-9817-012CAC7A0229}"/>
              </a:ext>
            </a:extLst>
          </p:cNvPr>
          <p:cNvSpPr/>
          <p:nvPr/>
        </p:nvSpPr>
        <p:spPr>
          <a:xfrm flipH="1" flipV="1">
            <a:off x="2732313" y="1953609"/>
            <a:ext cx="2230016" cy="92289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1B7DBF27-F18E-49A5-BBAD-48D252375259}"/>
              </a:ext>
            </a:extLst>
          </p:cNvPr>
          <p:cNvSpPr/>
          <p:nvPr/>
        </p:nvSpPr>
        <p:spPr>
          <a:xfrm flipV="1">
            <a:off x="7080379" y="1962204"/>
            <a:ext cx="2230016" cy="92289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51E342-BEB0-4384-8873-DAF6A1224C5F}"/>
              </a:ext>
            </a:extLst>
          </p:cNvPr>
          <p:cNvSpPr/>
          <p:nvPr/>
        </p:nvSpPr>
        <p:spPr>
          <a:xfrm>
            <a:off x="1932988" y="2928581"/>
            <a:ext cx="2080726" cy="8451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E9593-7919-4F7E-BF59-947911372696}"/>
              </a:ext>
            </a:extLst>
          </p:cNvPr>
          <p:cNvSpPr txBox="1"/>
          <p:nvPr/>
        </p:nvSpPr>
        <p:spPr>
          <a:xfrm>
            <a:off x="1932988" y="2888595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Low-level languages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A3FD65-765C-428A-A5B5-614FE2C79FEE}"/>
              </a:ext>
            </a:extLst>
          </p:cNvPr>
          <p:cNvSpPr/>
          <p:nvPr/>
        </p:nvSpPr>
        <p:spPr>
          <a:xfrm>
            <a:off x="8075635" y="2950347"/>
            <a:ext cx="2080726" cy="870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DC537A-8966-40B9-8AD1-A11586C55602}"/>
              </a:ext>
            </a:extLst>
          </p:cNvPr>
          <p:cNvSpPr txBox="1"/>
          <p:nvPr/>
        </p:nvSpPr>
        <p:spPr>
          <a:xfrm>
            <a:off x="8075635" y="2964402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High-level languages</a:t>
            </a:r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8ADE7F1C-594E-4B9E-8268-56B9AC5A7D4C}"/>
              </a:ext>
            </a:extLst>
          </p:cNvPr>
          <p:cNvSpPr/>
          <p:nvPr/>
        </p:nvSpPr>
        <p:spPr>
          <a:xfrm flipH="1" flipV="1">
            <a:off x="6606075" y="3281224"/>
            <a:ext cx="1422908" cy="92289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3AA4CF-FBF1-4C95-A0C4-D44A832F35E1}"/>
              </a:ext>
            </a:extLst>
          </p:cNvPr>
          <p:cNvSpPr/>
          <p:nvPr/>
        </p:nvSpPr>
        <p:spPr>
          <a:xfrm>
            <a:off x="6096000" y="4269073"/>
            <a:ext cx="1639078" cy="870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A7DC22-82BA-4D54-A45D-2F44B2D680D5}"/>
              </a:ext>
            </a:extLst>
          </p:cNvPr>
          <p:cNvSpPr txBox="1"/>
          <p:nvPr/>
        </p:nvSpPr>
        <p:spPr>
          <a:xfrm>
            <a:off x="5858059" y="4292457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Compiled languages</a:t>
            </a:r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F26AC9EF-388A-4A5D-BB50-DAF743EA59C9}"/>
              </a:ext>
            </a:extLst>
          </p:cNvPr>
          <p:cNvSpPr/>
          <p:nvPr/>
        </p:nvSpPr>
        <p:spPr>
          <a:xfrm flipV="1">
            <a:off x="10203013" y="3271893"/>
            <a:ext cx="1422908" cy="92289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81E957-3891-4A6A-A097-A4544192BF7E}"/>
              </a:ext>
            </a:extLst>
          </p:cNvPr>
          <p:cNvSpPr txBox="1"/>
          <p:nvPr/>
        </p:nvSpPr>
        <p:spPr>
          <a:xfrm>
            <a:off x="10220108" y="4265057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Interpreted languages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481673-7983-4492-A0A2-579AF10EBBFC}"/>
              </a:ext>
            </a:extLst>
          </p:cNvPr>
          <p:cNvSpPr/>
          <p:nvPr/>
        </p:nvSpPr>
        <p:spPr>
          <a:xfrm>
            <a:off x="10356980" y="4226047"/>
            <a:ext cx="1716832" cy="870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B257EC5-41B2-4D94-A5C5-B7A24E60413F}"/>
              </a:ext>
            </a:extLst>
          </p:cNvPr>
          <p:cNvCxnSpPr>
            <a:cxnSpLocks/>
          </p:cNvCxnSpPr>
          <p:nvPr/>
        </p:nvCxnSpPr>
        <p:spPr>
          <a:xfrm rot="10800000">
            <a:off x="2799184" y="3890865"/>
            <a:ext cx="3228394" cy="861788"/>
          </a:xfrm>
          <a:prstGeom prst="bentConnector3">
            <a:avLst>
              <a:gd name="adj1" fmla="val 100289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2681606-4EB5-4044-A1F6-A7B1D983B0E0}"/>
              </a:ext>
            </a:extLst>
          </p:cNvPr>
          <p:cNvSpPr txBox="1"/>
          <p:nvPr/>
        </p:nvSpPr>
        <p:spPr>
          <a:xfrm>
            <a:off x="8039083" y="5095299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Interpreter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843E14-E4F3-4B01-BC0F-9EF6F6676F01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1215396" y="5096054"/>
            <a:ext cx="0" cy="544999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13F6AD-B0EA-4E3A-A65C-7B6B2528320D}"/>
              </a:ext>
            </a:extLst>
          </p:cNvPr>
          <p:cNvCxnSpPr>
            <a:cxnSpLocks/>
          </p:cNvCxnSpPr>
          <p:nvPr/>
        </p:nvCxnSpPr>
        <p:spPr>
          <a:xfrm>
            <a:off x="2192692" y="5668188"/>
            <a:ext cx="9021124" cy="0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2192692" y="3820354"/>
            <a:ext cx="0" cy="184783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3359021" y="4227568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Compiler </a:t>
            </a:r>
          </a:p>
        </p:txBody>
      </p:sp>
    </p:spTree>
    <p:extLst>
      <p:ext uri="{BB962C8B-B14F-4D97-AF65-F5344CB8AC3E}">
        <p14:creationId xmlns:p14="http://schemas.microsoft.com/office/powerpoint/2010/main" val="2839666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Compiled vs Interpreted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84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Compiled languages: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QUESTION: Based on this explanation, are there any clear advantages of either languages?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3051175" indent="-3051175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92444" y="2081167"/>
            <a:ext cx="1291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Source </a:t>
            </a:r>
          </a:p>
          <a:p>
            <a:pPr algn="ctr"/>
            <a:r>
              <a:rPr lang="en-GB" sz="2400" dirty="0"/>
              <a:t>code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FECA41-F986-4DA4-89CD-993254FF8A49}"/>
              </a:ext>
            </a:extLst>
          </p:cNvPr>
          <p:cNvSpPr/>
          <p:nvPr/>
        </p:nvSpPr>
        <p:spPr>
          <a:xfrm>
            <a:off x="259702" y="2838722"/>
            <a:ext cx="1158552" cy="20383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23AF40-EED3-48A3-B9D0-B151E5784A4A}"/>
              </a:ext>
            </a:extLst>
          </p:cNvPr>
          <p:cNvSpPr txBox="1"/>
          <p:nvPr/>
        </p:nvSpPr>
        <p:spPr>
          <a:xfrm>
            <a:off x="259702" y="2999375"/>
            <a:ext cx="115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Line 1</a:t>
            </a:r>
          </a:p>
          <a:p>
            <a:pPr algn="ctr"/>
            <a:r>
              <a:rPr lang="en-GB" sz="2400" dirty="0"/>
              <a:t>Line 2</a:t>
            </a:r>
          </a:p>
          <a:p>
            <a:pPr algn="ctr"/>
            <a:r>
              <a:rPr lang="en-GB" sz="2400" dirty="0"/>
              <a:t>Line 3</a:t>
            </a:r>
          </a:p>
          <a:p>
            <a:pPr algn="ctr"/>
            <a:r>
              <a:rPr lang="en-GB" sz="2400" dirty="0"/>
              <a:t>…….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1418254" y="3857912"/>
            <a:ext cx="1248743" cy="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7D5196F-24E0-4360-B086-72FD961F3164}"/>
              </a:ext>
            </a:extLst>
          </p:cNvPr>
          <p:cNvSpPr txBox="1"/>
          <p:nvPr/>
        </p:nvSpPr>
        <p:spPr>
          <a:xfrm>
            <a:off x="1002262" y="3309036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Compiler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44CC0D-2E00-4C91-90F3-80D0960D2FF0}"/>
              </a:ext>
            </a:extLst>
          </p:cNvPr>
          <p:cNvSpPr txBox="1"/>
          <p:nvPr/>
        </p:nvSpPr>
        <p:spPr>
          <a:xfrm>
            <a:off x="2226728" y="2046146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Binary executable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DB83EB2-D20A-4C2E-B489-16BA78193783}"/>
              </a:ext>
            </a:extLst>
          </p:cNvPr>
          <p:cNvSpPr/>
          <p:nvPr/>
        </p:nvSpPr>
        <p:spPr>
          <a:xfrm>
            <a:off x="2698109" y="2860492"/>
            <a:ext cx="1158552" cy="20383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CBAB22-3CAF-424E-8F61-08465AE72B7F}"/>
              </a:ext>
            </a:extLst>
          </p:cNvPr>
          <p:cNvSpPr txBox="1"/>
          <p:nvPr/>
        </p:nvSpPr>
        <p:spPr>
          <a:xfrm>
            <a:off x="2698109" y="3021145"/>
            <a:ext cx="115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010110</a:t>
            </a:r>
          </a:p>
          <a:p>
            <a:pPr algn="ctr"/>
            <a:r>
              <a:rPr lang="en-GB" sz="2400" dirty="0"/>
              <a:t>101010</a:t>
            </a:r>
          </a:p>
          <a:p>
            <a:pPr algn="ctr"/>
            <a:r>
              <a:rPr lang="en-GB" sz="2400" dirty="0"/>
              <a:t>111011</a:t>
            </a:r>
          </a:p>
          <a:p>
            <a:pPr algn="ctr"/>
            <a:r>
              <a:rPr lang="en-GB" sz="2400" dirty="0"/>
              <a:t>010010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245A1E-F849-43CF-A33B-D5CB39F758A3}"/>
              </a:ext>
            </a:extLst>
          </p:cNvPr>
          <p:cNvSpPr txBox="1"/>
          <p:nvPr/>
        </p:nvSpPr>
        <p:spPr>
          <a:xfrm>
            <a:off x="6964938" y="1599038"/>
            <a:ext cx="5156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Interpreted languages: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129299-E308-448A-BB77-301F7E645FAF}"/>
              </a:ext>
            </a:extLst>
          </p:cNvPr>
          <p:cNvSpPr txBox="1"/>
          <p:nvPr/>
        </p:nvSpPr>
        <p:spPr>
          <a:xfrm>
            <a:off x="9317568" y="2028286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Source </a:t>
            </a:r>
          </a:p>
          <a:p>
            <a:pPr algn="ctr"/>
            <a:r>
              <a:rPr lang="en-GB" sz="2400" dirty="0"/>
              <a:t>code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72DBFFD-3C54-45BF-93D4-2353C79B48E2}"/>
              </a:ext>
            </a:extLst>
          </p:cNvPr>
          <p:cNvSpPr/>
          <p:nvPr/>
        </p:nvSpPr>
        <p:spPr>
          <a:xfrm>
            <a:off x="9778655" y="2785841"/>
            <a:ext cx="1158552" cy="20383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610BC2-91C0-4CEE-968A-AB90AD73F816}"/>
              </a:ext>
            </a:extLst>
          </p:cNvPr>
          <p:cNvSpPr txBox="1"/>
          <p:nvPr/>
        </p:nvSpPr>
        <p:spPr>
          <a:xfrm>
            <a:off x="9778655" y="2946494"/>
            <a:ext cx="115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Line 1</a:t>
            </a:r>
          </a:p>
          <a:p>
            <a:pPr algn="ctr"/>
            <a:r>
              <a:rPr lang="en-GB" sz="2400" dirty="0"/>
              <a:t>Line 2</a:t>
            </a:r>
          </a:p>
          <a:p>
            <a:pPr algn="ctr"/>
            <a:r>
              <a:rPr lang="en-GB" sz="2400" dirty="0"/>
              <a:t>Line 3</a:t>
            </a:r>
          </a:p>
          <a:p>
            <a:pPr algn="ctr"/>
            <a:r>
              <a:rPr lang="en-GB" sz="2400" dirty="0"/>
              <a:t>…….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21D313-7DAD-46EF-B45A-E676DAB4B563}"/>
              </a:ext>
            </a:extLst>
          </p:cNvPr>
          <p:cNvCxnSpPr>
            <a:cxnSpLocks/>
          </p:cNvCxnSpPr>
          <p:nvPr/>
        </p:nvCxnSpPr>
        <p:spPr>
          <a:xfrm flipH="1">
            <a:off x="8420876" y="3227974"/>
            <a:ext cx="1334279" cy="2177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F069CE1-8D76-4CD5-B458-690566B3F7F9}"/>
              </a:ext>
            </a:extLst>
          </p:cNvPr>
          <p:cNvSpPr txBox="1"/>
          <p:nvPr/>
        </p:nvSpPr>
        <p:spPr>
          <a:xfrm>
            <a:off x="8047652" y="2659404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Interpreter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A7FA9D-2402-4022-8D4D-FEF20B5D2D42}"/>
              </a:ext>
            </a:extLst>
          </p:cNvPr>
          <p:cNvSpPr txBox="1"/>
          <p:nvPr/>
        </p:nvSpPr>
        <p:spPr>
          <a:xfrm>
            <a:off x="6685692" y="2001863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Binary interpretation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F23671-3888-4F55-9333-243B71711718}"/>
              </a:ext>
            </a:extLst>
          </p:cNvPr>
          <p:cNvSpPr/>
          <p:nvPr/>
        </p:nvSpPr>
        <p:spPr>
          <a:xfrm>
            <a:off x="7229242" y="2849255"/>
            <a:ext cx="1158552" cy="20383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D6A5BD-2956-40E9-9DA2-5CB62123573F}"/>
              </a:ext>
            </a:extLst>
          </p:cNvPr>
          <p:cNvSpPr txBox="1"/>
          <p:nvPr/>
        </p:nvSpPr>
        <p:spPr>
          <a:xfrm>
            <a:off x="7196592" y="3019925"/>
            <a:ext cx="115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010110</a:t>
            </a:r>
          </a:p>
        </p:txBody>
      </p:sp>
      <p:pic>
        <p:nvPicPr>
          <p:cNvPr id="2054" name="Picture 6" descr="Image result for computer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711" y="2507126"/>
            <a:ext cx="2068299" cy="206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3763520" y="3222290"/>
            <a:ext cx="838191" cy="5684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3763520" y="3426277"/>
            <a:ext cx="918812" cy="146844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6424843" y="3249744"/>
            <a:ext cx="838191" cy="5684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372151" y="3564565"/>
            <a:ext cx="3610049" cy="8556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217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Compiled vs Interpreted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84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Example of compiled languages are C++ and Fortran. While examples of interpreted languages are MATLAB and Python.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QUESTION: Is it all bad for interpreted languages?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3051175" indent="-3051175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molecular dynamics water c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21" y="2481959"/>
            <a:ext cx="3048000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503223"/>
              </p:ext>
            </p:extLst>
          </p:nvPr>
        </p:nvGraphicFramePr>
        <p:xfrm>
          <a:off x="3796242" y="2550761"/>
          <a:ext cx="773554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120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2553711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  <a:gridCol w="2553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742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Simulation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Time (Fortran)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Time (MATLAB)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4439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38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13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105000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138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9027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796242" y="4402835"/>
            <a:ext cx="5605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4"/>
              </a:rPr>
              <a:t>http://utkstair.org/clausius/docs/che548/pdf/md_sim.pdf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728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compilation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286"/>
            <a:ext cx="109982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code written by the software developer is knowns as the source code. </a:t>
            </a:r>
          </a:p>
          <a:p>
            <a:pPr>
              <a:lnSpc>
                <a:spcPct val="150000"/>
              </a:lnSpc>
              <a:tabLst>
                <a:tab pos="1701800" algn="l"/>
              </a:tabLst>
            </a:pPr>
            <a:r>
              <a:rPr lang="en-GB" sz="2400" dirty="0"/>
              <a:t>Source code:  The version of software as it is originally written by a human in plain text.  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Header file: A file containing parts of code to be shared among multiple source files.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Executable file:  A file that runs the programme when it is opened.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end user only deals with the executable file.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6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compilation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3051175" indent="-3051175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Image result for c++ fil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43" y="1690407"/>
            <a:ext cx="608390" cy="60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175747" y="2406748"/>
            <a:ext cx="2330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Source code 1 (.</a:t>
            </a:r>
            <a:r>
              <a:rPr lang="en-GB" sz="2400" dirty="0" err="1"/>
              <a:t>cpp</a:t>
            </a:r>
            <a:r>
              <a:rPr lang="en-GB" sz="2400" dirty="0"/>
              <a:t>)</a:t>
            </a:r>
          </a:p>
        </p:txBody>
      </p:sp>
      <p:pic>
        <p:nvPicPr>
          <p:cNvPr id="8" name="Picture 4" descr="Image result for c++ fil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60" y="3754099"/>
            <a:ext cx="608390" cy="60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235012" y="4387354"/>
            <a:ext cx="2211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Source code 2 (.</a:t>
            </a:r>
            <a:r>
              <a:rPr lang="en-GB" sz="2400" dirty="0" err="1"/>
              <a:t>cpp</a:t>
            </a:r>
            <a:r>
              <a:rPr lang="en-GB" sz="2400" dirty="0"/>
              <a:t>)</a:t>
            </a: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2796854" y="1790344"/>
            <a:ext cx="2080726" cy="4196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2796854" y="1739731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Pre-processor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1862492" y="2017750"/>
            <a:ext cx="880708" cy="398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2779917" y="3915321"/>
            <a:ext cx="2080726" cy="4196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2743200" y="3873336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Pre-processor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1845555" y="4151355"/>
            <a:ext cx="880708" cy="398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7444760" y="2612403"/>
            <a:ext cx="1242956" cy="4196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804338" y="1756437"/>
            <a:ext cx="1335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Compiler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4952829" y="2001137"/>
            <a:ext cx="880708" cy="398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791203" y="3851625"/>
            <a:ext cx="1335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Compiler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4910495" y="4109009"/>
            <a:ext cx="880708" cy="398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5851641" y="3892535"/>
            <a:ext cx="1242956" cy="4196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" descr="Image result for header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655" y="2714481"/>
            <a:ext cx="687941" cy="6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3695450" y="2879897"/>
            <a:ext cx="2330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Header file 1 (.h)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3790305" y="2243375"/>
            <a:ext cx="6742" cy="566415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3780192" y="3402423"/>
            <a:ext cx="3371" cy="53317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5838123" y="1811580"/>
            <a:ext cx="1242956" cy="41968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Connector: Elbow 23">
            <a:extLst>
              <a:ext uri="{FF2B5EF4-FFF2-40B4-BE49-F238E27FC236}">
                <a16:creationId xmlns:a16="http://schemas.microsoft.com/office/drawing/2014/main" id="{7B257EC5-41B2-4D94-A5C5-B7A24E60413F}"/>
              </a:ext>
            </a:extLst>
          </p:cNvPr>
          <p:cNvCxnSpPr>
            <a:cxnSpLocks/>
          </p:cNvCxnSpPr>
          <p:nvPr/>
        </p:nvCxnSpPr>
        <p:spPr>
          <a:xfrm>
            <a:off x="7158443" y="1935162"/>
            <a:ext cx="907795" cy="600414"/>
          </a:xfrm>
          <a:prstGeom prst="bentConnector3">
            <a:avLst>
              <a:gd name="adj1" fmla="val 100364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23">
            <a:extLst>
              <a:ext uri="{FF2B5EF4-FFF2-40B4-BE49-F238E27FC236}">
                <a16:creationId xmlns:a16="http://schemas.microsoft.com/office/drawing/2014/main" id="{7B257EC5-41B2-4D94-A5C5-B7A24E60413F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7126345" y="3108917"/>
            <a:ext cx="930560" cy="973541"/>
          </a:xfrm>
          <a:prstGeom prst="bentConnector2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552266" y="2579784"/>
            <a:ext cx="105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Linker</a:t>
            </a:r>
          </a:p>
        </p:txBody>
      </p:sp>
      <p:pic>
        <p:nvPicPr>
          <p:cNvPr id="1040" name="Picture 16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168" y="1529806"/>
            <a:ext cx="855017" cy="85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687716" y="1652044"/>
            <a:ext cx="273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Object file 1 (.</a:t>
            </a:r>
            <a:r>
              <a:rPr lang="en-GB" sz="2400" dirty="0" err="1"/>
              <a:t>obj</a:t>
            </a:r>
            <a:r>
              <a:rPr lang="en-GB" sz="2400" dirty="0"/>
              <a:t>)</a:t>
            </a:r>
          </a:p>
        </p:txBody>
      </p:sp>
      <p:pic>
        <p:nvPicPr>
          <p:cNvPr id="61" name="Picture 16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893" y="3794852"/>
            <a:ext cx="855017" cy="85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795222" y="4302322"/>
            <a:ext cx="273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Object file 2 (.</a:t>
            </a:r>
            <a:r>
              <a:rPr lang="en-GB" sz="2400" dirty="0" err="1"/>
              <a:t>obj</a:t>
            </a:r>
            <a:r>
              <a:rPr lang="en-GB" sz="2400" dirty="0"/>
              <a:t>)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8795222" y="2797071"/>
            <a:ext cx="1186978" cy="1410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Image result for application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361" y="2288545"/>
            <a:ext cx="1251014" cy="125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362572" y="3377532"/>
            <a:ext cx="2735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Executable file  (.exe)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3765A2F-3EDB-4DE2-A8E1-AF5DCD5E1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447184"/>
              </p:ext>
            </p:extLst>
          </p:nvPr>
        </p:nvGraphicFramePr>
        <p:xfrm>
          <a:off x="2249175" y="4827543"/>
          <a:ext cx="75533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027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2140738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  <a:gridCol w="2493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742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Example of 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MSVC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hlinkClick r:id="rId7"/>
                        </a:rPr>
                        <a:t>link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MinGW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hlinkClick r:id="rId8"/>
                        </a:rPr>
                        <a:t>link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g++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hlinkClick r:id="rId9"/>
                        </a:rPr>
                        <a:t>link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9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932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Integrated Development Environments (IDE)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1675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Code development is done using software known as IDE.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 this module we will use Visual Studio (community version):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  <a:r>
              <a:rPr lang="en-GB" sz="2400" dirty="0">
                <a:hlinkClick r:id="rId3"/>
              </a:rPr>
              <a:t>https://visualstudio.microsoft.com/downloads/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Visual studio is standardly used in the job market.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Knowing it will boost your CV!!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Image result for code blocks 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441" y="1603904"/>
            <a:ext cx="759881" cy="75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eclipse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379" y="1526641"/>
            <a:ext cx="837144" cy="83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 result for visual studio ic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362" y="1332625"/>
            <a:ext cx="1302438" cy="130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143" y="4911748"/>
            <a:ext cx="5953125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8226D4-92B5-43EB-8811-E6020DD3F1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133" y="2881693"/>
            <a:ext cx="48006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99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0573F1-7218-4A52-B016-1532F9F95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23" y="2683465"/>
            <a:ext cx="7633229" cy="38568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Installing Visual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Download Visual Studio from </a:t>
            </a:r>
            <a:r>
              <a:rPr lang="en-GB" sz="2400" dirty="0">
                <a:hlinkClick r:id="rId4"/>
              </a:rPr>
              <a:t>https://visualstudio.microsoft.com/downloads/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Download the </a:t>
            </a:r>
            <a:r>
              <a:rPr lang="en-GB" sz="2400" b="1" dirty="0"/>
              <a:t>community</a:t>
            </a:r>
            <a:r>
              <a:rPr lang="en-GB" sz="2400" dirty="0"/>
              <a:t> version, choose the follow option: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9C46E7-8FE0-4D09-8F84-2B3DE0A3FF9A}"/>
              </a:ext>
            </a:extLst>
          </p:cNvPr>
          <p:cNvSpPr txBox="1"/>
          <p:nvPr/>
        </p:nvSpPr>
        <p:spPr>
          <a:xfrm>
            <a:off x="4294200" y="5184323"/>
            <a:ext cx="1774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This option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574314" y="2959130"/>
            <a:ext cx="34967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Login within 30 days (only on your PC or laptop, not on Uni’s computers).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MAC users can choose any IDE (XCode is a popular choice) </a:t>
            </a:r>
          </a:p>
          <a:p>
            <a:r>
              <a:rPr lang="en-GB" sz="2400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8EB565-130F-4B5F-8B97-491A34FA4C0D}"/>
              </a:ext>
            </a:extLst>
          </p:cNvPr>
          <p:cNvCxnSpPr>
            <a:cxnSpLocks/>
          </p:cNvCxnSpPr>
          <p:nvPr/>
        </p:nvCxnSpPr>
        <p:spPr>
          <a:xfrm>
            <a:off x="3536830" y="4356340"/>
            <a:ext cx="1587261" cy="883840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855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rules of a C++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3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L1D1.cpp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programme consists of a set of statements.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line has to end with a semicolon;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code consists of one or more blocks (a block starts with { and ends with }).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programme must have one and only one 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GB" sz="2400" dirty="0"/>
              <a:t> block/function.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 comments, // is used to make a line of comment, while /* and */ are used to mark the beginning and the end of a block of comments.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439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Commenting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2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Comments are explanatory statements written by the developer in the code to make it more readable by other developers.</a:t>
            </a: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Comments are very important particularly in projects with multiple developers.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Summary for good practice of coding can be found </a:t>
            </a:r>
            <a:r>
              <a:rPr lang="en-GB" sz="2400" dirty="0">
                <a:hlinkClick r:id="rId3"/>
              </a:rPr>
              <a:t>here</a:t>
            </a:r>
            <a:r>
              <a:rPr lang="en-GB" sz="2400" dirty="0"/>
              <a:t>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804" y="4045886"/>
            <a:ext cx="10075333" cy="27262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758805" y="4045886"/>
            <a:ext cx="100753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notes: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Follow the comment convention when working on a project with multiple developers.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Convention for this module: state the functionality of every code block in a comment, in addition to commenting any statement with a new function.  </a:t>
            </a:r>
          </a:p>
        </p:txBody>
      </p:sp>
    </p:spTree>
    <p:extLst>
      <p:ext uri="{BB962C8B-B14F-4D97-AF65-F5344CB8AC3E}">
        <p14:creationId xmlns:p14="http://schemas.microsoft.com/office/powerpoint/2010/main" val="1472766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231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An overview of C++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Difference between complied and interpreted languages.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role of compliers and how executable files are created.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Introduction to Visual Studio.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Basic rules of C++ coding.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0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1701</TotalTime>
  <Words>1396</Words>
  <Application>Microsoft Office PowerPoint</Application>
  <PresentationFormat>Widescreen</PresentationFormat>
  <Paragraphs>573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Consolas</vt:lpstr>
      <vt:lpstr>Office Theme</vt:lpstr>
      <vt:lpstr>Application Development with C++ (ELEC362)</vt:lpstr>
      <vt:lpstr>This lecture</vt:lpstr>
      <vt:lpstr>The learning outcomes </vt:lpstr>
      <vt:lpstr>Basic information</vt:lpstr>
      <vt:lpstr>Workload and assessment</vt:lpstr>
      <vt:lpstr>Topics covered</vt:lpstr>
      <vt:lpstr>Resources</vt:lpstr>
      <vt:lpstr>C++ Overview</vt:lpstr>
      <vt:lpstr>C++ Overview</vt:lpstr>
      <vt:lpstr>C++ Overview</vt:lpstr>
      <vt:lpstr>High level programming languages</vt:lpstr>
      <vt:lpstr>High level programming languages</vt:lpstr>
      <vt:lpstr>Compiled vs Interpreted languages</vt:lpstr>
      <vt:lpstr>Compiled vs Interpreted languages</vt:lpstr>
      <vt:lpstr>The compilation process</vt:lpstr>
      <vt:lpstr>The compilation process</vt:lpstr>
      <vt:lpstr>Integrated Development Environments (IDE)</vt:lpstr>
      <vt:lpstr>Installing Visual Studio</vt:lpstr>
      <vt:lpstr>Basic rules of a C++ code </vt:lpstr>
      <vt:lpstr>Commenting codes</vt:lpstr>
      <vt:lpstr>Summary 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235</cp:revision>
  <dcterms:created xsi:type="dcterms:W3CDTF">2019-05-09T14:26:54Z</dcterms:created>
  <dcterms:modified xsi:type="dcterms:W3CDTF">2026-09-28T09:16:26Z</dcterms:modified>
</cp:coreProperties>
</file>