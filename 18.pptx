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313" r:id="rId3"/>
    <p:sldId id="257" r:id="rId4"/>
    <p:sldId id="300" r:id="rId5"/>
    <p:sldId id="314" r:id="rId6"/>
    <p:sldId id="315" r:id="rId7"/>
    <p:sldId id="316" r:id="rId8"/>
    <p:sldId id="317" r:id="rId9"/>
    <p:sldId id="302" r:id="rId10"/>
    <p:sldId id="304" r:id="rId11"/>
    <p:sldId id="303" r:id="rId12"/>
    <p:sldId id="319" r:id="rId13"/>
    <p:sldId id="320" r:id="rId14"/>
    <p:sldId id="321" r:id="rId15"/>
    <p:sldId id="318" r:id="rId16"/>
    <p:sldId id="29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9E7"/>
    <a:srgbClr val="E9ED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1074BA-FB03-4330-B6D5-D4E5FA218414}" type="datetimeFigureOut">
              <a:rPr lang="en-GB" smtClean="0"/>
              <a:t>29/11/2023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56E79A-B420-420D-963A-E7DA074E8C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0279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>
                <a:solidFill>
                  <a:prstClr val="black"/>
                </a:solidFill>
              </a:rPr>
              <a:pPr/>
              <a:t>2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55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0159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40730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64716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50747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29663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86320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25979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09796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80141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52998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53305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10040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98955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>
                <a:solidFill>
                  <a:prstClr val="black"/>
                </a:solidFill>
              </a:rPr>
              <a:pPr/>
              <a:t>16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4784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0A4CF-2717-43E3-825E-373FCAF8CACA}" type="datetime1">
              <a:rPr lang="en-GB" smtClean="0"/>
              <a:t>29/11/2023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9440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6B0B5-D2C5-451B-BB87-3C1CFDD20804}" type="datetime1">
              <a:rPr lang="en-GB" smtClean="0"/>
              <a:t>29/11/2023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0092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C933E-6ACF-4BB5-897C-C6A0A52DD82E}" type="datetime1">
              <a:rPr lang="en-GB" smtClean="0"/>
              <a:t>29/11/2023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9223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3D5C-DF01-4C10-9D18-B3DE3D921135}" type="datetime1">
              <a:rPr lang="en-GB" smtClean="0"/>
              <a:t>29/11/2023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5689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047ED-C601-47CB-8D5C-4ECECC17B65B}" type="datetime1">
              <a:rPr lang="en-GB" smtClean="0"/>
              <a:t>29/11/2023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7478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CE9AF-161C-412D-BD00-75CE1DCC1DF7}" type="datetime1">
              <a:rPr lang="en-GB" smtClean="0"/>
              <a:t>29/11/2023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6462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22656-4D19-4DEB-807B-1CF4EDC253D6}" type="datetime1">
              <a:rPr lang="en-GB" smtClean="0"/>
              <a:t>29/11/2023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6572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7A24E-4829-479F-A19E-280D0A836AA5}" type="datetime1">
              <a:rPr lang="en-GB" smtClean="0"/>
              <a:t>29/11/2023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5824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BB24F-C214-4E3A-A5E5-E9173E3D1D83}" type="datetime1">
              <a:rPr lang="en-GB" smtClean="0"/>
              <a:t>29/11/2023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2035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FAC9A-9164-4283-9229-F1A5E788ED22}" type="datetime1">
              <a:rPr lang="en-GB" smtClean="0"/>
              <a:t>29/11/2023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1793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6F9B7-246B-4E64-87D5-D2F2416C2D2A}" type="datetime1">
              <a:rPr lang="en-GB" smtClean="0"/>
              <a:t>29/11/2023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4651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06D058-F21A-4AF4-A0C5-0F6F3323CC21}" type="datetime1">
              <a:rPr lang="en-GB" smtClean="0"/>
              <a:t>29/11/2023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3529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mihasan@liverpool.ac.u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qt.io/qt-6.2/qfiledialog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qt.io/qt-6/qcolordialog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qt.io/qt-6/qfontdialog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qt.io/qt-6/qinputdialog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qt.io/qt-6.2/qwizard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qt.io/qt-6/qfile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.qt.io/qt-6/qtextstream.html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qt.io/qt-6/qdatastream.htm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Application Development with C++ (ELEC362)</a:t>
            </a:r>
            <a:endParaRPr lang="en-GB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474912"/>
          </a:xfrm>
        </p:spPr>
        <p:txBody>
          <a:bodyPr anchor="ctr">
            <a:normAutofit/>
          </a:bodyPr>
          <a:lstStyle/>
          <a:p>
            <a:r>
              <a:rPr lang="en-GB" sz="3600" dirty="0"/>
              <a:t>Lecture 18: Advanced input/output features, saving and serialisation.</a:t>
            </a:r>
          </a:p>
          <a:p>
            <a:r>
              <a:rPr lang="en-GB" sz="3200" dirty="0">
                <a:hlinkClick r:id="rId2"/>
              </a:rPr>
              <a:t>mihasan@liverpool.ac.uk</a:t>
            </a:r>
            <a:endParaRPr lang="en-GB" sz="3200" dirty="0"/>
          </a:p>
          <a:p>
            <a:endParaRPr lang="en-GB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275" y="-417339"/>
            <a:ext cx="7543800" cy="3079403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7943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Previous lecture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3886"/>
            <a:ext cx="10515600" cy="45307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In the previous lecture, different drawing/graphics approaches in Qt were discussed.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Painting on widgets was discussed.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Handling graphics using the Graphics View Framework was discussed.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Classes introduced: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QPainter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QPen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QBrush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QRectF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QTimer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QGraphicsView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QGraphicsScene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QGraphicsItem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QTransform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lang="en-GB" sz="2400" dirty="0"/>
          </a:p>
          <a:p>
            <a:pPr marL="0" indent="0">
              <a:lnSpc>
                <a:spcPct val="150000"/>
              </a:lnSpc>
              <a:buNone/>
            </a:pPr>
            <a:endParaRPr lang="en-GB" sz="2400" dirty="0"/>
          </a:p>
          <a:p>
            <a:pPr>
              <a:lnSpc>
                <a:spcPct val="150000"/>
              </a:lnSpc>
            </a:pPr>
            <a:endParaRPr lang="en-GB" sz="2400" dirty="0"/>
          </a:p>
          <a:p>
            <a:pPr marL="0" indent="0">
              <a:lnSpc>
                <a:spcPct val="150000"/>
              </a:lnSpc>
              <a:buNone/>
            </a:pPr>
            <a:endParaRPr lang="en-GB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GB" sz="2400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</a:t>
            </a:r>
          </a:p>
          <a:p>
            <a:pPr marL="0" indent="0">
              <a:lnSpc>
                <a:spcPct val="120000"/>
              </a:lnSpc>
              <a:buNone/>
            </a:pPr>
            <a:endParaRPr lang="de-DE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2864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This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503891"/>
            <a:ext cx="11142133" cy="4351338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What is covered in this lecture?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Enabling advanced input/output by the user in Qt applications.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Why it is covered?</a:t>
            </a:r>
          </a:p>
          <a:p>
            <a:pPr marL="177800" indent="-177800">
              <a:lnSpc>
                <a:spcPct val="120000"/>
              </a:lnSpc>
              <a:buNone/>
            </a:pPr>
            <a:r>
              <a:rPr lang="en-GB" sz="2400" dirty="0"/>
              <a:t>  Loading/saving is a standard functionality in most applications nowadays.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  How are topics covered in this lecture: Live demonstrations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3</a:t>
            </a:fld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8A95AE-9713-46FC-B847-421EF800AD12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5798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+mn-lt"/>
                <a:cs typeface="Courier New" panose="02070309020205020404" pitchFamily="49" charset="0"/>
              </a:rPr>
              <a:t>Custom input classes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2"/>
            <a:ext cx="11049000" cy="453072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What if the user wants to have a “custom” input that is not a direct input?</a:t>
            </a:r>
          </a:p>
          <a:p>
            <a:pPr>
              <a:lnSpc>
                <a:spcPct val="120000"/>
              </a:lnSpc>
            </a:pPr>
            <a:r>
              <a:rPr lang="en-GB" sz="2400" dirty="0">
                <a:cs typeface="Courier New" panose="02070309020205020404" pitchFamily="49" charset="0"/>
              </a:rPr>
              <a:t>Qt has a range of input dialogs (all                                                                                                                                  derived from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QDialog</a:t>
            </a:r>
            <a:r>
              <a:rPr lang="en-GB" sz="2400" dirty="0">
                <a:cs typeface="Courier New" panose="02070309020205020404" pitchFamily="49" charset="0"/>
              </a:rPr>
              <a:t>): </a:t>
            </a:r>
          </a:p>
          <a:p>
            <a:pPr>
              <a:lnSpc>
                <a:spcPct val="120000"/>
              </a:lnSpc>
            </a:pP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QFileDialog</a:t>
            </a:r>
            <a:r>
              <a:rPr lang="en-GB" sz="2400" dirty="0">
                <a:cs typeface="Courier New" panose="02070309020205020404" pitchFamily="49" charset="0"/>
              </a:rPr>
              <a:t>: Shows the window                                                                                                                                                                for opening a file of </a:t>
            </a:r>
            <a:r>
              <a:rPr lang="en-GB" sz="2400" u="sng" dirty="0">
                <a:cs typeface="Courier New" panose="02070309020205020404" pitchFamily="49" charset="0"/>
              </a:rPr>
              <a:t>any type</a:t>
            </a:r>
            <a:r>
              <a:rPr lang="en-GB" sz="2400" dirty="0">
                <a:cs typeface="Courier New" panose="02070309020205020404" pitchFamily="49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GB" sz="2400" dirty="0">
                <a:cs typeface="Courier New" panose="02070309020205020404" pitchFamily="49" charset="0"/>
              </a:rPr>
              <a:t>It obtains a path to the required</a:t>
            </a:r>
          </a:p>
          <a:p>
            <a:pPr marL="182563" indent="-95250">
              <a:lnSpc>
                <a:spcPct val="120000"/>
              </a:lnSpc>
              <a:buNone/>
            </a:pPr>
            <a:r>
              <a:rPr lang="en-GB" sz="2400" dirty="0">
                <a:cs typeface="Courier New" panose="02070309020205020404" pitchFamily="49" charset="0"/>
              </a:rPr>
              <a:t>  file the user inputs to the                                                                                                                    programme. </a:t>
            </a:r>
          </a:p>
          <a:p>
            <a:pPr>
              <a:lnSpc>
                <a:spcPct val="120000"/>
              </a:lnSpc>
            </a:pPr>
            <a:r>
              <a:rPr lang="en-GB" sz="2400" dirty="0">
                <a:cs typeface="Courier New" panose="02070309020205020404" pitchFamily="49" charset="0"/>
              </a:rPr>
              <a:t>Reference</a:t>
            </a:r>
            <a:r>
              <a:rPr lang="en-GB" sz="2000" dirty="0">
                <a:cs typeface="Courier New" panose="02070309020205020404" pitchFamily="49" charset="0"/>
              </a:rPr>
              <a:t>: </a:t>
            </a:r>
            <a:r>
              <a:rPr lang="en-GB" sz="1600" dirty="0">
                <a:hlinkClick r:id="rId3"/>
              </a:rPr>
              <a:t>https://doc.qt.io/qt-6.2/qfiledialog.html</a:t>
            </a:r>
            <a:endParaRPr lang="en-GB" sz="1600" dirty="0"/>
          </a:p>
          <a:p>
            <a:pPr>
              <a:lnSpc>
                <a:spcPct val="120000"/>
              </a:lnSpc>
            </a:pPr>
            <a:endParaRPr lang="en-GB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GB" sz="2400" dirty="0"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GB" sz="2400" dirty="0"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GB" sz="2400" dirty="0"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>
                <a:cs typeface="Courier New" panose="02070309020205020404" pitchFamily="49" charset="0"/>
              </a:rPr>
              <a:t>   </a:t>
            </a:r>
          </a:p>
          <a:p>
            <a:pPr>
              <a:lnSpc>
                <a:spcPct val="120000"/>
              </a:lnSpc>
            </a:pPr>
            <a:endParaRPr lang="en-GB" sz="2400" dirty="0"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4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a file picker with two files picked to be opened.">
            <a:extLst>
              <a:ext uri="{FF2B5EF4-FFF2-40B4-BE49-F238E27FC236}">
                <a16:creationId xmlns:a16="http://schemas.microsoft.com/office/drawing/2014/main" id="{FA537BFF-3511-43AD-99BB-40F9BEE33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6732" y="1976188"/>
            <a:ext cx="5691847" cy="379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5C561D3-C1B2-41D6-AD0D-9926C8EBDC80}"/>
              </a:ext>
            </a:extLst>
          </p:cNvPr>
          <p:cNvSpPr/>
          <p:nvPr/>
        </p:nvSpPr>
        <p:spPr>
          <a:xfrm>
            <a:off x="838200" y="6333626"/>
            <a:ext cx="10185920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7F007A-946E-4AC2-BA77-85AFC1C0DC91}"/>
              </a:ext>
            </a:extLst>
          </p:cNvPr>
          <p:cNvSpPr/>
          <p:nvPr/>
        </p:nvSpPr>
        <p:spPr>
          <a:xfrm>
            <a:off x="838200" y="6338291"/>
            <a:ext cx="1031188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>
                <a:latin typeface="Courier New"/>
                <a:cs typeface="Courier New"/>
              </a:rPr>
              <a:t>QString</a:t>
            </a:r>
            <a:r>
              <a:rPr lang="en-US" sz="2000" b="1" dirty="0">
                <a:latin typeface="Courier New"/>
                <a:cs typeface="Courier New"/>
              </a:rPr>
              <a:t> file = 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QFileDialog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getSaveFileName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2000" b="1" dirty="0" err="1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GB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"Save</a:t>
            </a:r>
            <a:r>
              <a:rPr lang="en-GB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file"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E40C7A6-84D0-499F-9A1E-9B46962DEB13}"/>
              </a:ext>
            </a:extLst>
          </p:cNvPr>
          <p:cNvCxnSpPr>
            <a:cxnSpLocks/>
          </p:cNvCxnSpPr>
          <p:nvPr/>
        </p:nvCxnSpPr>
        <p:spPr>
          <a:xfrm>
            <a:off x="7696598" y="6126506"/>
            <a:ext cx="223502" cy="317815"/>
          </a:xfrm>
          <a:prstGeom prst="straightConnector1">
            <a:avLst/>
          </a:prstGeom>
          <a:ln w="571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798E876-6236-4840-B98B-36D563319F55}"/>
              </a:ext>
            </a:extLst>
          </p:cNvPr>
          <p:cNvSpPr txBox="1"/>
          <p:nvPr/>
        </p:nvSpPr>
        <p:spPr>
          <a:xfrm>
            <a:off x="5856026" y="5694921"/>
            <a:ext cx="32462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cs typeface="Courier New" panose="02070309020205020404" pitchFamily="49" charset="0"/>
              </a:rPr>
              <a:t>Pointer to parent widget</a:t>
            </a:r>
            <a:endParaRPr kumimoji="0" lang="en-GB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6EC001A-0117-4979-B7CE-FA4F875EA45D}"/>
              </a:ext>
            </a:extLst>
          </p:cNvPr>
          <p:cNvCxnSpPr>
            <a:cxnSpLocks/>
          </p:cNvCxnSpPr>
          <p:nvPr/>
        </p:nvCxnSpPr>
        <p:spPr>
          <a:xfrm flipH="1">
            <a:off x="9693018" y="6128132"/>
            <a:ext cx="103460" cy="369913"/>
          </a:xfrm>
          <a:prstGeom prst="straightConnector1">
            <a:avLst/>
          </a:prstGeom>
          <a:ln w="571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AABFB19-E2E6-425E-A602-CFA23BE06694}"/>
              </a:ext>
            </a:extLst>
          </p:cNvPr>
          <p:cNvSpPr txBox="1"/>
          <p:nvPr/>
        </p:nvSpPr>
        <p:spPr>
          <a:xfrm>
            <a:off x="9271518" y="5694921"/>
            <a:ext cx="2615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400" dirty="0">
                <a:latin typeface="Calibri" panose="020F0502020204030204"/>
                <a:cs typeface="Courier New" panose="02070309020205020404" pitchFamily="49" charset="0"/>
              </a:rPr>
              <a:t>Title of the window</a:t>
            </a:r>
            <a:endParaRPr kumimoji="0" lang="en-GB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878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+mn-lt"/>
                <a:cs typeface="Courier New" panose="02070309020205020404" pitchFamily="49" charset="0"/>
              </a:rPr>
              <a:t>Custom input classes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2"/>
            <a:ext cx="11049000" cy="453072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QColorDialog</a:t>
            </a:r>
            <a:r>
              <a:rPr lang="en-GB" sz="2400" dirty="0">
                <a:cs typeface="Courier New" panose="02070309020205020404" pitchFamily="49" charset="0"/>
              </a:rPr>
              <a:t>: Shows the window                                                                                                                                                                for selecting a colour.</a:t>
            </a:r>
          </a:p>
          <a:p>
            <a:pPr>
              <a:lnSpc>
                <a:spcPct val="120000"/>
              </a:lnSpc>
            </a:pPr>
            <a:r>
              <a:rPr lang="en-GB" sz="2400" dirty="0">
                <a:cs typeface="Courier New" panose="02070309020205020404" pitchFamily="49" charset="0"/>
              </a:rPr>
              <a:t>It returns an object of the class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>
                <a:cs typeface="Courier New" panose="02070309020205020404" pitchFamily="49" charset="0"/>
              </a:rPr>
              <a:t>  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QColor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GB" sz="2400" dirty="0">
                <a:cs typeface="Courier New" panose="02070309020205020404" pitchFamily="49" charset="0"/>
              </a:rPr>
              <a:t>Reference: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>
                <a:cs typeface="Courier New" panose="02070309020205020404" pitchFamily="49" charset="0"/>
                <a:hlinkClick r:id="rId3"/>
              </a:rPr>
              <a:t>https://doc.qt.io/qt-6/qcolordialog.html</a:t>
            </a:r>
            <a:endParaRPr lang="en-GB" sz="2400" dirty="0"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r>
              <a:rPr lang="en-GB" sz="2400" dirty="0">
                <a:cs typeface="Courier New" panose="02070309020205020404" pitchFamily="49" charset="0"/>
              </a:rPr>
              <a:t>Example: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>
                <a:cs typeface="Courier New" panose="02070309020205020404" pitchFamily="49" charset="0"/>
              </a:rPr>
              <a:t>   </a:t>
            </a:r>
          </a:p>
          <a:p>
            <a:pPr>
              <a:lnSpc>
                <a:spcPct val="120000"/>
              </a:lnSpc>
            </a:pPr>
            <a:endParaRPr lang="en-GB" sz="2400" dirty="0"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5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5D5A434B-CFC9-4B2A-8BB6-521666314F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9502" y="1589837"/>
            <a:ext cx="5736858" cy="391019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63A4A1-CF6B-48DB-9BA6-5F515E88BE1E}"/>
              </a:ext>
            </a:extLst>
          </p:cNvPr>
          <p:cNvSpPr/>
          <p:nvPr/>
        </p:nvSpPr>
        <p:spPr>
          <a:xfrm>
            <a:off x="653143" y="5632771"/>
            <a:ext cx="11363217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6F9324-9A55-49C9-98A0-D2D29223A9CE}"/>
              </a:ext>
            </a:extLst>
          </p:cNvPr>
          <p:cNvSpPr/>
          <p:nvPr/>
        </p:nvSpPr>
        <p:spPr>
          <a:xfrm>
            <a:off x="709039" y="5583393"/>
            <a:ext cx="113632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>
                <a:latin typeface="Courier New"/>
                <a:cs typeface="Courier New"/>
              </a:rPr>
              <a:t>QColor</a:t>
            </a:r>
            <a:r>
              <a:rPr lang="en-US" sz="2000" b="1" dirty="0">
                <a:latin typeface="Courier New"/>
                <a:cs typeface="Courier New"/>
              </a:rPr>
              <a:t> </a:t>
            </a:r>
            <a:r>
              <a:rPr lang="en-US" sz="2000" b="1" dirty="0" err="1">
                <a:latin typeface="Courier New"/>
                <a:cs typeface="Courier New"/>
              </a:rPr>
              <a:t>user_clr</a:t>
            </a:r>
            <a:r>
              <a:rPr lang="en-US" sz="2000" b="1" dirty="0">
                <a:latin typeface="Courier New"/>
                <a:cs typeface="Courier New"/>
              </a:rPr>
              <a:t> = 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QColorDialog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getColor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(Qt::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white,</a:t>
            </a:r>
            <a:r>
              <a:rPr lang="en-GB" sz="2000" b="1" dirty="0" err="1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GB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“Get</a:t>
            </a:r>
            <a:r>
              <a:rPr lang="en-GB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en-GB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2A0C13F-5384-4522-A7BE-95E5FCD87E9B}"/>
              </a:ext>
            </a:extLst>
          </p:cNvPr>
          <p:cNvCxnSpPr>
            <a:cxnSpLocks/>
          </p:cNvCxnSpPr>
          <p:nvPr/>
        </p:nvCxnSpPr>
        <p:spPr>
          <a:xfrm flipV="1">
            <a:off x="5331400" y="5933811"/>
            <a:ext cx="1956880" cy="488344"/>
          </a:xfrm>
          <a:prstGeom prst="straightConnector1">
            <a:avLst/>
          </a:prstGeom>
          <a:ln w="571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A9792BB-97F3-4A83-85B4-9B6ABDAD2547}"/>
              </a:ext>
            </a:extLst>
          </p:cNvPr>
          <p:cNvSpPr txBox="1"/>
          <p:nvPr/>
        </p:nvSpPr>
        <p:spPr>
          <a:xfrm>
            <a:off x="3611638" y="6284543"/>
            <a:ext cx="1832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cs typeface="Courier New" panose="02070309020205020404" pitchFamily="49" charset="0"/>
              </a:rPr>
              <a:t>Default </a:t>
            </a:r>
            <a:r>
              <a:rPr kumimoji="0" lang="en-GB" sz="24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/>
                <a:cs typeface="Courier New" panose="02070309020205020404" pitchFamily="49" charset="0"/>
              </a:rPr>
              <a:t>color</a:t>
            </a:r>
            <a:endParaRPr kumimoji="0" lang="en-GB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75F5221-819D-4668-8A38-7AE6DD878410}"/>
              </a:ext>
            </a:extLst>
          </p:cNvPr>
          <p:cNvCxnSpPr>
            <a:cxnSpLocks/>
          </p:cNvCxnSpPr>
          <p:nvPr/>
        </p:nvCxnSpPr>
        <p:spPr>
          <a:xfrm flipV="1">
            <a:off x="8134078" y="5925724"/>
            <a:ext cx="448574" cy="430626"/>
          </a:xfrm>
          <a:prstGeom prst="straightConnector1">
            <a:avLst/>
          </a:prstGeom>
          <a:ln w="571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E0DABCD-B5B5-43D0-A71D-12F71404E72F}"/>
              </a:ext>
            </a:extLst>
          </p:cNvPr>
          <p:cNvSpPr txBox="1"/>
          <p:nvPr/>
        </p:nvSpPr>
        <p:spPr>
          <a:xfrm>
            <a:off x="6190861" y="6295540"/>
            <a:ext cx="32462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cs typeface="Courier New" panose="02070309020205020404" pitchFamily="49" charset="0"/>
              </a:rPr>
              <a:t>Pointer to parent widget</a:t>
            </a:r>
            <a:endParaRPr kumimoji="0" lang="en-GB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8B4CED1-59F3-49C7-8843-FB373B022A2A}"/>
              </a:ext>
            </a:extLst>
          </p:cNvPr>
          <p:cNvCxnSpPr>
            <a:cxnSpLocks/>
          </p:cNvCxnSpPr>
          <p:nvPr/>
        </p:nvCxnSpPr>
        <p:spPr>
          <a:xfrm flipH="1" flipV="1">
            <a:off x="10572448" y="5893141"/>
            <a:ext cx="129764" cy="260041"/>
          </a:xfrm>
          <a:prstGeom prst="straightConnector1">
            <a:avLst/>
          </a:prstGeom>
          <a:ln w="571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EFE18CC-0050-4D71-909B-4247EF8066B5}"/>
              </a:ext>
            </a:extLst>
          </p:cNvPr>
          <p:cNvSpPr txBox="1"/>
          <p:nvPr/>
        </p:nvSpPr>
        <p:spPr>
          <a:xfrm>
            <a:off x="9591909" y="6101473"/>
            <a:ext cx="2615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400" dirty="0">
                <a:latin typeface="Calibri" panose="020F0502020204030204"/>
                <a:cs typeface="Courier New" panose="02070309020205020404" pitchFamily="49" charset="0"/>
              </a:rPr>
              <a:t>Title of the window</a:t>
            </a:r>
            <a:endParaRPr kumimoji="0" lang="en-GB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7185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+mn-lt"/>
                <a:cs typeface="Courier New" panose="02070309020205020404" pitchFamily="49" charset="0"/>
              </a:rPr>
              <a:t>Custom input classes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2"/>
            <a:ext cx="11049000" cy="453072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QFontDialog</a:t>
            </a:r>
            <a:r>
              <a:rPr lang="en-GB" sz="2400" dirty="0">
                <a:cs typeface="Courier New" panose="02070309020205020404" pitchFamily="49" charset="0"/>
              </a:rPr>
              <a:t>: Shows the window                                                                                                                                                                for selecting a font.</a:t>
            </a:r>
          </a:p>
          <a:p>
            <a:pPr>
              <a:lnSpc>
                <a:spcPct val="120000"/>
              </a:lnSpc>
            </a:pPr>
            <a:r>
              <a:rPr lang="en-GB" sz="2400" dirty="0">
                <a:cs typeface="Courier New" panose="02070309020205020404" pitchFamily="49" charset="0"/>
              </a:rPr>
              <a:t>It returns an object of the class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>
                <a:cs typeface="Courier New" panose="02070309020205020404" pitchFamily="49" charset="0"/>
              </a:rPr>
              <a:t>  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QFont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GB" sz="2400" dirty="0">
                <a:cs typeface="Courier New" panose="02070309020205020404" pitchFamily="49" charset="0"/>
              </a:rPr>
              <a:t>Reference: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>
                <a:hlinkClick r:id="rId3"/>
              </a:rPr>
              <a:t>https://doc.qt.io/qt-6/qfontdialog.html</a:t>
            </a: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>
                <a:cs typeface="Courier New" panose="02070309020205020404" pitchFamily="49" charset="0"/>
              </a:rPr>
              <a:t>Example: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>
                <a:cs typeface="Courier New" panose="02070309020205020404" pitchFamily="49" charset="0"/>
              </a:rPr>
              <a:t>   </a:t>
            </a:r>
          </a:p>
          <a:p>
            <a:pPr>
              <a:lnSpc>
                <a:spcPct val="120000"/>
              </a:lnSpc>
            </a:pPr>
            <a:endParaRPr lang="en-GB" sz="2400" dirty="0"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6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A font dialog in the Fusion widget style.">
            <a:extLst>
              <a:ext uri="{FF2B5EF4-FFF2-40B4-BE49-F238E27FC236}">
                <a16:creationId xmlns:a16="http://schemas.microsoft.com/office/drawing/2014/main" id="{4811A891-01AB-4705-B220-F47B0A4A6D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9502" y="1547753"/>
            <a:ext cx="5365102" cy="4093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48BF9E7-37F2-4B58-A8FB-17D3DF5F1250}"/>
              </a:ext>
            </a:extLst>
          </p:cNvPr>
          <p:cNvSpPr/>
          <p:nvPr/>
        </p:nvSpPr>
        <p:spPr>
          <a:xfrm>
            <a:off x="653143" y="5846323"/>
            <a:ext cx="10412966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AFF35D-A1CA-488B-91FA-4BFBFCE54E86}"/>
              </a:ext>
            </a:extLst>
          </p:cNvPr>
          <p:cNvSpPr/>
          <p:nvPr/>
        </p:nvSpPr>
        <p:spPr>
          <a:xfrm>
            <a:off x="587827" y="5822346"/>
            <a:ext cx="105902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>
                <a:latin typeface="Courier New"/>
                <a:cs typeface="Courier New"/>
              </a:rPr>
              <a:t>QFont</a:t>
            </a:r>
            <a:r>
              <a:rPr lang="en-US" sz="2000" b="1" dirty="0">
                <a:latin typeface="Courier New"/>
                <a:cs typeface="Courier New"/>
              </a:rPr>
              <a:t> </a:t>
            </a:r>
            <a:r>
              <a:rPr lang="en-US" sz="2000" b="1" dirty="0" err="1">
                <a:latin typeface="Courier New"/>
                <a:cs typeface="Courier New"/>
              </a:rPr>
              <a:t>user_font</a:t>
            </a:r>
            <a:r>
              <a:rPr lang="en-US" sz="2000" b="1" dirty="0">
                <a:latin typeface="Courier New"/>
                <a:cs typeface="Courier New"/>
              </a:rPr>
              <a:t> = 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QFontDialog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getFont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ok,QFont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“Times”,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12),</a:t>
            </a:r>
            <a:r>
              <a:rPr lang="en-GB" sz="2000" b="1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this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49A91DA-61D0-4CFA-B5DD-08FDB6932BCF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7801464" y="6095666"/>
            <a:ext cx="0" cy="324902"/>
          </a:xfrm>
          <a:prstGeom prst="straightConnector1">
            <a:avLst/>
          </a:prstGeom>
          <a:ln w="571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916CD44-09C8-463F-AB00-89306A72704D}"/>
              </a:ext>
            </a:extLst>
          </p:cNvPr>
          <p:cNvSpPr txBox="1"/>
          <p:nvPr/>
        </p:nvSpPr>
        <p:spPr>
          <a:xfrm>
            <a:off x="6885258" y="6420568"/>
            <a:ext cx="1832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cs typeface="Courier New" panose="02070309020205020404" pitchFamily="49" charset="0"/>
              </a:rPr>
              <a:t>Default font</a:t>
            </a:r>
            <a:endParaRPr kumimoji="0" lang="en-GB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21E329A-6EF4-48A5-A437-61D76DDE7C27}"/>
              </a:ext>
            </a:extLst>
          </p:cNvPr>
          <p:cNvCxnSpPr>
            <a:cxnSpLocks/>
          </p:cNvCxnSpPr>
          <p:nvPr/>
        </p:nvCxnSpPr>
        <p:spPr>
          <a:xfrm flipV="1">
            <a:off x="6096000" y="6097713"/>
            <a:ext cx="607562" cy="258637"/>
          </a:xfrm>
          <a:prstGeom prst="straightConnector1">
            <a:avLst/>
          </a:prstGeom>
          <a:ln w="571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437FDCA-29E2-4DD4-9C01-2EF16A73E508}"/>
              </a:ext>
            </a:extLst>
          </p:cNvPr>
          <p:cNvSpPr txBox="1"/>
          <p:nvPr/>
        </p:nvSpPr>
        <p:spPr>
          <a:xfrm>
            <a:off x="4447101" y="6308079"/>
            <a:ext cx="24381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cs typeface="Courier New" panose="02070309020205020404" pitchFamily="49" charset="0"/>
              </a:rPr>
              <a:t>Reference to bool </a:t>
            </a:r>
            <a:endParaRPr kumimoji="0" lang="en-GB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2B625DD-D6E6-4825-A12E-291485B8116C}"/>
              </a:ext>
            </a:extLst>
          </p:cNvPr>
          <p:cNvCxnSpPr>
            <a:cxnSpLocks/>
          </p:cNvCxnSpPr>
          <p:nvPr/>
        </p:nvCxnSpPr>
        <p:spPr>
          <a:xfrm flipV="1">
            <a:off x="10049069" y="6156821"/>
            <a:ext cx="270588" cy="336054"/>
          </a:xfrm>
          <a:prstGeom prst="straightConnector1">
            <a:avLst/>
          </a:prstGeom>
          <a:ln w="571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71A3DF7-ECD1-4212-90A4-0D63B16EBD2A}"/>
              </a:ext>
            </a:extLst>
          </p:cNvPr>
          <p:cNvSpPr txBox="1"/>
          <p:nvPr/>
        </p:nvSpPr>
        <p:spPr>
          <a:xfrm>
            <a:off x="8534157" y="6353129"/>
            <a:ext cx="2615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400" dirty="0">
                <a:latin typeface="Calibri" panose="020F0502020204030204"/>
                <a:cs typeface="Courier New" panose="02070309020205020404" pitchFamily="49" charset="0"/>
              </a:rPr>
              <a:t>Title of the window</a:t>
            </a:r>
            <a:endParaRPr kumimoji="0" lang="en-GB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9124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+mn-lt"/>
                <a:cs typeface="Courier New" panose="02070309020205020404" pitchFamily="49" charset="0"/>
              </a:rPr>
              <a:t>Custom input classes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2"/>
            <a:ext cx="11049000" cy="453072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QInputDialog</a:t>
            </a:r>
            <a:r>
              <a:rPr lang="en-GB" sz="2400" dirty="0">
                <a:cs typeface="Courier New" panose="02070309020205020404" pitchFamily="49" charset="0"/>
              </a:rPr>
              <a:t>: Shows a simple pre-defined Dialog for simple input from the user</a:t>
            </a:r>
          </a:p>
          <a:p>
            <a:pPr>
              <a:lnSpc>
                <a:spcPct val="120000"/>
              </a:lnSpc>
            </a:pPr>
            <a:r>
              <a:rPr lang="en-GB" sz="2400" dirty="0">
                <a:cs typeface="Courier New" panose="02070309020205020404" pitchFamily="49" charset="0"/>
              </a:rPr>
              <a:t>It returns an object or a variable of any type:</a:t>
            </a:r>
            <a:endParaRPr lang="en-GB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r>
              <a:rPr lang="en-GB" sz="2400" dirty="0">
                <a:cs typeface="Courier New" panose="02070309020205020404" pitchFamily="49" charset="0"/>
              </a:rPr>
              <a:t>Reference: </a:t>
            </a:r>
            <a:r>
              <a:rPr lang="en-GB" sz="2400" dirty="0">
                <a:cs typeface="Courier New" panose="02070309020205020404" pitchFamily="49" charset="0"/>
                <a:hlinkClick r:id="rId3"/>
              </a:rPr>
              <a:t>https://doc.qt.io/qt-6/qinputdialog.html</a:t>
            </a:r>
            <a:endParaRPr lang="en-GB" sz="2400" dirty="0"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endParaRPr lang="en-GB" sz="2400" dirty="0"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GB" sz="2400" dirty="0"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GB" sz="2400" dirty="0"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>
                <a:cs typeface="Courier New" panose="02070309020205020404" pitchFamily="49" charset="0"/>
              </a:rPr>
              <a:t>   </a:t>
            </a:r>
          </a:p>
          <a:p>
            <a:pPr>
              <a:lnSpc>
                <a:spcPct val="120000"/>
              </a:lnSpc>
            </a:pPr>
            <a:endParaRPr lang="en-GB" sz="2400" dirty="0"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7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 descr="Input Dialogs">
            <a:extLst>
              <a:ext uri="{FF2B5EF4-FFF2-40B4-BE49-F238E27FC236}">
                <a16:creationId xmlns:a16="http://schemas.microsoft.com/office/drawing/2014/main" id="{350867FC-6B84-45BE-AE75-CF55E89EA8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292472"/>
            <a:ext cx="9733384" cy="3398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2599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+mn-lt"/>
                <a:cs typeface="Courier New" panose="02070309020205020404" pitchFamily="49" charset="0"/>
              </a:rPr>
              <a:t>Custom input classes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2"/>
            <a:ext cx="11049000" cy="453072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QWizard</a:t>
            </a:r>
            <a:r>
              <a:rPr lang="en-GB" sz="2400" dirty="0">
                <a:cs typeface="Courier New" panose="02070309020205020404" pitchFamily="49" charset="0"/>
              </a:rPr>
              <a:t>: Shows a pre-defined wizard interface.</a:t>
            </a:r>
          </a:p>
          <a:p>
            <a:pPr>
              <a:lnSpc>
                <a:spcPct val="120000"/>
              </a:lnSpc>
            </a:pPr>
            <a:r>
              <a:rPr lang="en-GB" sz="2400" dirty="0">
                <a:cs typeface="Courier New" panose="02070309020205020404" pitchFamily="49" charset="0"/>
              </a:rPr>
              <a:t>It offers different styles. </a:t>
            </a:r>
          </a:p>
          <a:p>
            <a:pPr>
              <a:lnSpc>
                <a:spcPct val="120000"/>
              </a:lnSpc>
            </a:pPr>
            <a:r>
              <a:rPr lang="en-GB" sz="2400" dirty="0">
                <a:cs typeface="Courier New" panose="02070309020205020404" pitchFamily="49" charset="0"/>
              </a:rPr>
              <a:t>Reference: </a:t>
            </a:r>
            <a:r>
              <a:rPr lang="en-GB" sz="2400" dirty="0">
                <a:cs typeface="Courier New" panose="02070309020205020404" pitchFamily="49" charset="0"/>
                <a:hlinkClick r:id="rId3"/>
              </a:rPr>
              <a:t>https://doc.qt.io/qt-6.2/qwizard.html</a:t>
            </a:r>
            <a:endParaRPr lang="en-GB" sz="2400" dirty="0"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endParaRPr lang="en-GB" sz="2400" dirty="0"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GB" sz="2400" dirty="0"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>
                <a:cs typeface="Courier New" panose="02070309020205020404" pitchFamily="49" charset="0"/>
              </a:rPr>
              <a:t>   </a:t>
            </a:r>
          </a:p>
          <a:p>
            <a:pPr>
              <a:lnSpc>
                <a:spcPct val="120000"/>
              </a:lnSpc>
            </a:pPr>
            <a:endParaRPr lang="en-GB" sz="2400" dirty="0"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8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>
            <a:extLst>
              <a:ext uri="{FF2B5EF4-FFF2-40B4-BE49-F238E27FC236}">
                <a16:creationId xmlns:a16="http://schemas.microsoft.com/office/drawing/2014/main" id="{1F2087D3-19C3-445E-BAC2-105428E4F6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200399"/>
            <a:ext cx="4040679" cy="3432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71CBA06B-CC43-4115-A566-AE0FB6E6B2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9612" y="3191068"/>
            <a:ext cx="4040678" cy="349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2007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+mn-lt"/>
                <a:cs typeface="Courier New" panose="02070309020205020404" pitchFamily="49" charset="0"/>
              </a:rPr>
              <a:t>Loading and Saving text files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0393" y="1495422"/>
            <a:ext cx="10930474" cy="453072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>
                <a:cs typeface="Courier New" panose="02070309020205020404" pitchFamily="49" charset="0"/>
              </a:rPr>
              <a:t>The loading-saving functionality can be added to any application developed in Qt, using a combination of the following classes: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9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44676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F80BD74-248D-40C8-AF6C-F4522D1C14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1825552"/>
              </p:ext>
            </p:extLst>
          </p:nvPr>
        </p:nvGraphicFramePr>
        <p:xfrm>
          <a:off x="660393" y="2422139"/>
          <a:ext cx="6458864" cy="3294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2919">
                  <a:extLst>
                    <a:ext uri="{9D8B030D-6E8A-4147-A177-3AD203B41FA5}">
                      <a16:colId xmlns:a16="http://schemas.microsoft.com/office/drawing/2014/main" val="3517094928"/>
                    </a:ext>
                  </a:extLst>
                </a:gridCol>
                <a:gridCol w="3595945">
                  <a:extLst>
                    <a:ext uri="{9D8B030D-6E8A-4147-A177-3AD203B41FA5}">
                      <a16:colId xmlns:a16="http://schemas.microsoft.com/office/drawing/2014/main" val="1054600864"/>
                    </a:ext>
                  </a:extLst>
                </a:gridCol>
              </a:tblGrid>
              <a:tr h="362079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i="0" dirty="0">
                          <a:latin typeface="+mn-lt"/>
                          <a:cs typeface="Courier New" panose="02070309020205020404" pitchFamily="49" charset="0"/>
                        </a:rPr>
                        <a:t>Is used for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624510"/>
                  </a:ext>
                </a:extLst>
              </a:tr>
              <a:tr h="6517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QFileDialog</a:t>
                      </a:r>
                      <a:endParaRPr lang="en-GB" sz="24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Asking the user to specify the path and location of the file to be input/output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301307"/>
                  </a:ext>
                </a:extLst>
              </a:tr>
              <a:tr h="5715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QFile</a:t>
                      </a:r>
                      <a:endParaRPr lang="en-GB" sz="24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Creating a file/Opening a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5974009"/>
                  </a:ext>
                </a:extLst>
              </a:tr>
              <a:tr h="8255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QTextStream</a:t>
                      </a:r>
                      <a:endParaRPr lang="en-GB" sz="24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Reading and writing data to a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5972739-4640-406F-992F-A296841BCB69}"/>
              </a:ext>
            </a:extLst>
          </p:cNvPr>
          <p:cNvCxnSpPr>
            <a:cxnSpLocks/>
          </p:cNvCxnSpPr>
          <p:nvPr/>
        </p:nvCxnSpPr>
        <p:spPr>
          <a:xfrm>
            <a:off x="9135792" y="2713978"/>
            <a:ext cx="19779" cy="461665"/>
          </a:xfrm>
          <a:prstGeom prst="straightConnector1">
            <a:avLst/>
          </a:prstGeom>
          <a:ln w="571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9FCF466-D99E-41A1-A51F-EAD90D165DBC}"/>
              </a:ext>
            </a:extLst>
          </p:cNvPr>
          <p:cNvSpPr txBox="1"/>
          <p:nvPr/>
        </p:nvSpPr>
        <p:spPr>
          <a:xfrm>
            <a:off x="7676501" y="2209234"/>
            <a:ext cx="2918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400" dirty="0">
                <a:latin typeface="Calibri" panose="020F0502020204030204"/>
              </a:rPr>
              <a:t>The data in the App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B16A79-C04C-4F4C-A2B9-3C6C0CBF1E69}"/>
              </a:ext>
            </a:extLst>
          </p:cNvPr>
          <p:cNvSpPr txBox="1"/>
          <p:nvPr/>
        </p:nvSpPr>
        <p:spPr>
          <a:xfrm>
            <a:off x="7543801" y="3109912"/>
            <a:ext cx="3203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QFileDialog</a:t>
            </a:r>
            <a:r>
              <a:rPr lang="en-GB" sz="2400" dirty="0">
                <a:latin typeface="Calibri" panose="020F0502020204030204"/>
              </a:rPr>
              <a:t> object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1AD8AD-3BA3-418C-993A-F659024D9CBA}"/>
              </a:ext>
            </a:extLst>
          </p:cNvPr>
          <p:cNvSpPr txBox="1"/>
          <p:nvPr/>
        </p:nvSpPr>
        <p:spPr>
          <a:xfrm>
            <a:off x="8103263" y="3956892"/>
            <a:ext cx="2083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QFile</a:t>
            </a:r>
            <a:r>
              <a:rPr lang="en-GB" sz="2400" dirty="0">
                <a:latin typeface="Calibri" panose="020F0502020204030204"/>
              </a:rPr>
              <a:t> object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058B96-F0AF-4ABE-A48D-78BF88C2ED0A}"/>
              </a:ext>
            </a:extLst>
          </p:cNvPr>
          <p:cNvSpPr txBox="1"/>
          <p:nvPr/>
        </p:nvSpPr>
        <p:spPr>
          <a:xfrm>
            <a:off x="7552952" y="4834918"/>
            <a:ext cx="32037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QTextStream</a:t>
            </a:r>
            <a:r>
              <a:rPr lang="en-GB" sz="2400" dirty="0">
                <a:latin typeface="Calibri" panose="020F0502020204030204"/>
              </a:rPr>
              <a:t> object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097B57D-F7EE-45D9-9B9E-4AB03D3F5DE5}"/>
              </a:ext>
            </a:extLst>
          </p:cNvPr>
          <p:cNvCxnSpPr>
            <a:cxnSpLocks/>
          </p:cNvCxnSpPr>
          <p:nvPr/>
        </p:nvCxnSpPr>
        <p:spPr>
          <a:xfrm>
            <a:off x="9144936" y="3549265"/>
            <a:ext cx="19779" cy="461665"/>
          </a:xfrm>
          <a:prstGeom prst="straightConnector1">
            <a:avLst/>
          </a:prstGeom>
          <a:ln w="571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53E3929-A01C-4929-9609-A48608DC84E6}"/>
              </a:ext>
            </a:extLst>
          </p:cNvPr>
          <p:cNvCxnSpPr>
            <a:cxnSpLocks/>
          </p:cNvCxnSpPr>
          <p:nvPr/>
        </p:nvCxnSpPr>
        <p:spPr>
          <a:xfrm>
            <a:off x="9164715" y="4405050"/>
            <a:ext cx="19779" cy="461665"/>
          </a:xfrm>
          <a:prstGeom prst="straightConnector1">
            <a:avLst/>
          </a:prstGeom>
          <a:ln w="571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CE5FDEA-B92A-412E-BF73-29D61122A246}"/>
              </a:ext>
            </a:extLst>
          </p:cNvPr>
          <p:cNvCxnSpPr>
            <a:cxnSpLocks/>
          </p:cNvCxnSpPr>
          <p:nvPr/>
        </p:nvCxnSpPr>
        <p:spPr>
          <a:xfrm>
            <a:off x="9186485" y="5294566"/>
            <a:ext cx="19779" cy="461665"/>
          </a:xfrm>
          <a:prstGeom prst="straightConnector1">
            <a:avLst/>
          </a:prstGeom>
          <a:ln w="571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8" name="Picture 4" descr="Image result for file transparent icon">
            <a:extLst>
              <a:ext uri="{FF2B5EF4-FFF2-40B4-BE49-F238E27FC236}">
                <a16:creationId xmlns:a16="http://schemas.microsoft.com/office/drawing/2014/main" id="{8FB8C833-D870-402E-9453-8D10C8CBA6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1299" y="5805878"/>
            <a:ext cx="909929" cy="909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5001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QFile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latin typeface="+mn-lt"/>
                <a:cs typeface="Courier New" panose="02070309020205020404" pitchFamily="49" charset="0"/>
              </a:rPr>
              <a:t>and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QTextStream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latin typeface="+mn-lt"/>
                <a:cs typeface="Courier New" panose="02070309020205020404" pitchFamily="49" charset="0"/>
              </a:rPr>
              <a:t>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2"/>
            <a:ext cx="11049000" cy="45307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cs typeface="Courier New" panose="02070309020205020404" pitchFamily="49" charset="0"/>
              </a:rPr>
              <a:t>The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QFile</a:t>
            </a:r>
            <a:r>
              <a:rPr lang="en-GB" sz="2400" dirty="0">
                <a:cs typeface="Courier New" panose="02070309020205020404" pitchFamily="49" charset="0"/>
              </a:rPr>
              <a:t> class provides an interface for reading and writing files.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cs typeface="Courier New" panose="02070309020205020404" pitchFamily="49" charset="0"/>
              </a:rPr>
              <a:t>Reference: </a:t>
            </a:r>
            <a:r>
              <a:rPr lang="en-GB" sz="2400" dirty="0">
                <a:cs typeface="Courier New" panose="02070309020205020404" pitchFamily="49" charset="0"/>
                <a:hlinkClick r:id="rId3"/>
              </a:rPr>
              <a:t>https://doc.qt.io/qt-6/qfile.html</a:t>
            </a:r>
            <a:endParaRPr lang="en-GB" sz="2400" dirty="0"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2400" dirty="0"/>
              <a:t>An object of this class is the actual file that might be read or written. 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The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QTextSream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dirty="0"/>
              <a:t>class provides an easy way to write, format and manipulate text streams. 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Reference: </a:t>
            </a:r>
            <a:r>
              <a:rPr lang="en-GB" sz="2400" dirty="0">
                <a:hlinkClick r:id="rId4"/>
              </a:rPr>
              <a:t>https://doc.qt.io/qt-6/qtextstream.html</a:t>
            </a: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sz="2400" dirty="0"/>
              <a:t>It can be used for file input and output, or it can be used for formatting local variables in the application.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10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0504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 sample application: Notes saver</a:t>
            </a:r>
            <a:endParaRPr lang="en-GB" dirty="0">
              <a:latin typeface="+mn-lt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2"/>
            <a:ext cx="11049000" cy="453072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u="sng" dirty="0"/>
              <a:t>The task</a:t>
            </a:r>
            <a:r>
              <a:rPr lang="en-GB" sz="2400" dirty="0"/>
              <a:t>: Design and implement a Qt-based GUI application that allows the user to save and load notes written as text to the application.</a:t>
            </a:r>
          </a:p>
          <a:p>
            <a:pPr>
              <a:lnSpc>
                <a:spcPct val="120000"/>
              </a:lnSpc>
            </a:pPr>
            <a:r>
              <a:rPr lang="en-GB" sz="2400" dirty="0">
                <a:cs typeface="Courier New" panose="02070309020205020404" pitchFamily="49" charset="0"/>
              </a:rPr>
              <a:t>Build the application (demonstration).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11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2562035-0077-4EA8-83A5-B6C64FF37121}"/>
              </a:ext>
            </a:extLst>
          </p:cNvPr>
          <p:cNvSpPr txBox="1"/>
          <p:nvPr/>
        </p:nvSpPr>
        <p:spPr>
          <a:xfrm>
            <a:off x="838200" y="3029474"/>
            <a:ext cx="10171922" cy="36920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8113C7-82D6-47F0-801C-87ED5FD875E2}"/>
              </a:ext>
            </a:extLst>
          </p:cNvPr>
          <p:cNvSpPr txBox="1"/>
          <p:nvPr/>
        </p:nvSpPr>
        <p:spPr>
          <a:xfrm>
            <a:off x="838200" y="3029474"/>
            <a:ext cx="9914471" cy="3543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Practical note: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2400" dirty="0">
                <a:latin typeface="Calibri" panose="020F0502020204030204"/>
              </a:rPr>
              <a:t>In Qt, it is best to define Loading/Saving as actions.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2400" dirty="0">
                <a:latin typeface="Calibri" panose="020F0502020204030204"/>
              </a:rPr>
              <a:t>When coding for saving and loading functionalities, always start by implementing saving before loading.  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2400" dirty="0">
                <a:latin typeface="Calibri" panose="020F0502020204030204"/>
              </a:rPr>
              <a:t>Make sure the file is open before reading it, and make sure to close it after writing.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02516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Serialisation</a:t>
            </a:r>
            <a:endParaRPr lang="en-GB" dirty="0">
              <a:latin typeface="+mn-lt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2"/>
            <a:ext cx="11049000" cy="453072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>
                <a:cs typeface="Courier New" panose="02070309020205020404" pitchFamily="49" charset="0"/>
              </a:rPr>
              <a:t>How is it possible to save a drawing or a game?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The vital step to save/load non-trivial file is to determine the information required to fully restore the application to the point where it is left.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Serialisation is the process of converting objects into a one-dimensional stream of data to be saved. Then resort the original structure through “</a:t>
            </a:r>
            <a:r>
              <a:rPr lang="en-GB" sz="2400" dirty="0" err="1"/>
              <a:t>deserialisation</a:t>
            </a:r>
            <a:r>
              <a:rPr lang="en-GB" sz="2400" dirty="0"/>
              <a:t>”.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12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744B4A1-641F-4986-9540-5BBDB1CA69A5}"/>
              </a:ext>
            </a:extLst>
          </p:cNvPr>
          <p:cNvSpPr txBox="1"/>
          <p:nvPr/>
        </p:nvSpPr>
        <p:spPr>
          <a:xfrm>
            <a:off x="3589175" y="4991878"/>
            <a:ext cx="1526185" cy="102493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995254E-59FA-4388-84F3-BF5B6E02B0AE}"/>
              </a:ext>
            </a:extLst>
          </p:cNvPr>
          <p:cNvCxnSpPr>
            <a:cxnSpLocks/>
          </p:cNvCxnSpPr>
          <p:nvPr/>
        </p:nvCxnSpPr>
        <p:spPr>
          <a:xfrm>
            <a:off x="8213059" y="5094514"/>
            <a:ext cx="2622337" cy="46653"/>
          </a:xfrm>
          <a:prstGeom prst="straightConnector1">
            <a:avLst/>
          </a:prstGeom>
          <a:ln w="571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4" descr="Image result for file transparent icon">
            <a:extLst>
              <a:ext uri="{FF2B5EF4-FFF2-40B4-BE49-F238E27FC236}">
                <a16:creationId xmlns:a16="http://schemas.microsoft.com/office/drawing/2014/main" id="{882ECA64-3509-42B0-B5C7-DA29F6C8C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8644" y="4899781"/>
            <a:ext cx="1325563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Image result for pie chart transparent background">
            <a:extLst>
              <a:ext uri="{FF2B5EF4-FFF2-40B4-BE49-F238E27FC236}">
                <a16:creationId xmlns:a16="http://schemas.microsoft.com/office/drawing/2014/main" id="{CC38EBAF-0174-4068-870E-1AFCB81DB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266" y="4494208"/>
            <a:ext cx="2167376" cy="2136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3E13700-93D5-4617-99F3-C1A09C7C4CF6}"/>
              </a:ext>
            </a:extLst>
          </p:cNvPr>
          <p:cNvCxnSpPr>
            <a:cxnSpLocks/>
          </p:cNvCxnSpPr>
          <p:nvPr/>
        </p:nvCxnSpPr>
        <p:spPr>
          <a:xfrm>
            <a:off x="2341358" y="5066521"/>
            <a:ext cx="1164597" cy="93306"/>
          </a:xfrm>
          <a:prstGeom prst="straightConnector1">
            <a:avLst/>
          </a:prstGeom>
          <a:ln w="571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B60214C-A4B4-4C3E-B676-36E3EA97951A}"/>
              </a:ext>
            </a:extLst>
          </p:cNvPr>
          <p:cNvSpPr txBox="1"/>
          <p:nvPr/>
        </p:nvSpPr>
        <p:spPr>
          <a:xfrm>
            <a:off x="3551284" y="4982546"/>
            <a:ext cx="15261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000" dirty="0" err="1">
                <a:latin typeface="Calibri" panose="020F0502020204030204"/>
              </a:rPr>
              <a:t>QColor</a:t>
            </a:r>
            <a:r>
              <a:rPr lang="en-GB" sz="2000" dirty="0">
                <a:latin typeface="Calibri" panose="020F0502020204030204"/>
              </a:rPr>
              <a:t> C;</a:t>
            </a:r>
          </a:p>
          <a:p>
            <a:pPr lvl="0">
              <a:defRPr/>
            </a:pPr>
            <a:r>
              <a:rPr lang="en-GB" sz="2000" dirty="0"/>
              <a:t>C=(Qt::blue);</a:t>
            </a:r>
          </a:p>
          <a:p>
            <a:pPr lvl="0">
              <a:defRPr/>
            </a:pPr>
            <a:r>
              <a:rPr lang="en-GB" sz="2000" dirty="0">
                <a:cs typeface="Courier New" panose="02070309020205020404" pitchFamily="49" charset="0"/>
              </a:rPr>
              <a:t>int C =50;</a:t>
            </a:r>
            <a:endParaRPr kumimoji="0" lang="en-GB" sz="2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Courier New" panose="020703090202050204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CBD670-F9B7-45B8-8C21-18CCD4B2668D}"/>
              </a:ext>
            </a:extLst>
          </p:cNvPr>
          <p:cNvSpPr txBox="1"/>
          <p:nvPr/>
        </p:nvSpPr>
        <p:spPr>
          <a:xfrm>
            <a:off x="5119079" y="4991877"/>
            <a:ext cx="1526185" cy="102493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06C804-8F1A-4EE0-BDB2-341E9CB2C39D}"/>
              </a:ext>
            </a:extLst>
          </p:cNvPr>
          <p:cNvSpPr txBox="1"/>
          <p:nvPr/>
        </p:nvSpPr>
        <p:spPr>
          <a:xfrm>
            <a:off x="6645264" y="4991877"/>
            <a:ext cx="1526185" cy="102493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1EFD53-E5CC-4DE7-8916-F3243AD31796}"/>
              </a:ext>
            </a:extLst>
          </p:cNvPr>
          <p:cNvSpPr txBox="1"/>
          <p:nvPr/>
        </p:nvSpPr>
        <p:spPr>
          <a:xfrm>
            <a:off x="5122798" y="4986072"/>
            <a:ext cx="16792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000" dirty="0" err="1">
                <a:latin typeface="Calibri" panose="020F0502020204030204"/>
              </a:rPr>
              <a:t>QColor</a:t>
            </a:r>
            <a:r>
              <a:rPr lang="en-GB" sz="2000" dirty="0">
                <a:latin typeface="Calibri" panose="020F0502020204030204"/>
              </a:rPr>
              <a:t> D;</a:t>
            </a:r>
          </a:p>
          <a:p>
            <a:pPr lvl="0">
              <a:defRPr/>
            </a:pPr>
            <a:r>
              <a:rPr lang="en-GB" sz="2000" dirty="0"/>
              <a:t>D=(Qt::grey);</a:t>
            </a:r>
          </a:p>
          <a:p>
            <a:pPr lvl="0">
              <a:defRPr/>
            </a:pPr>
            <a:r>
              <a:rPr lang="en-GB" sz="2000" dirty="0">
                <a:cs typeface="Courier New" panose="02070309020205020404" pitchFamily="49" charset="0"/>
              </a:rPr>
              <a:t>int D =10;</a:t>
            </a:r>
            <a:endParaRPr kumimoji="0" lang="en-GB" sz="2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Courier New" panose="020703090202050204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8182F3-0A10-4F54-B242-12AAAB9B7A61}"/>
              </a:ext>
            </a:extLst>
          </p:cNvPr>
          <p:cNvSpPr txBox="1"/>
          <p:nvPr/>
        </p:nvSpPr>
        <p:spPr>
          <a:xfrm>
            <a:off x="6637046" y="4979905"/>
            <a:ext cx="16792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000" dirty="0" err="1">
                <a:latin typeface="Calibri" panose="020F0502020204030204"/>
              </a:rPr>
              <a:t>QColor</a:t>
            </a:r>
            <a:r>
              <a:rPr lang="en-GB" sz="2000" dirty="0">
                <a:latin typeface="Calibri" panose="020F0502020204030204"/>
              </a:rPr>
              <a:t> F;</a:t>
            </a:r>
          </a:p>
          <a:p>
            <a:pPr lvl="0">
              <a:defRPr/>
            </a:pPr>
            <a:r>
              <a:rPr lang="en-GB" sz="2000" dirty="0"/>
              <a:t>F=(Qt::red);</a:t>
            </a:r>
          </a:p>
          <a:p>
            <a:pPr lvl="0">
              <a:defRPr/>
            </a:pPr>
            <a:r>
              <a:rPr lang="en-GB" sz="2000" dirty="0">
                <a:cs typeface="Courier New" panose="02070309020205020404" pitchFamily="49" charset="0"/>
              </a:rPr>
              <a:t>int F =40;</a:t>
            </a:r>
            <a:endParaRPr kumimoji="0" lang="en-GB" sz="2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Courier New" panose="02070309020205020404" pitchFamily="49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FF6B69B-2DC5-4D43-94D5-BBFCCFA89343}"/>
              </a:ext>
            </a:extLst>
          </p:cNvPr>
          <p:cNvCxnSpPr>
            <a:cxnSpLocks/>
          </p:cNvCxnSpPr>
          <p:nvPr/>
        </p:nvCxnSpPr>
        <p:spPr>
          <a:xfrm flipH="1" flipV="1">
            <a:off x="2341358" y="5788126"/>
            <a:ext cx="1187262" cy="108589"/>
          </a:xfrm>
          <a:prstGeom prst="straightConnector1">
            <a:avLst/>
          </a:prstGeom>
          <a:ln w="571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C2C3991-36C6-46CC-8EDF-E9713D63452A}"/>
              </a:ext>
            </a:extLst>
          </p:cNvPr>
          <p:cNvCxnSpPr>
            <a:cxnSpLocks/>
          </p:cNvCxnSpPr>
          <p:nvPr/>
        </p:nvCxnSpPr>
        <p:spPr>
          <a:xfrm flipH="1">
            <a:off x="8171451" y="5722812"/>
            <a:ext cx="2754696" cy="0"/>
          </a:xfrm>
          <a:prstGeom prst="straightConnector1">
            <a:avLst/>
          </a:prstGeom>
          <a:ln w="571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B5C0C82-0FC3-4274-BA48-EEDF6D3A9994}"/>
              </a:ext>
            </a:extLst>
          </p:cNvPr>
          <p:cNvSpPr txBox="1"/>
          <p:nvPr/>
        </p:nvSpPr>
        <p:spPr>
          <a:xfrm>
            <a:off x="2267390" y="4502275"/>
            <a:ext cx="14011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400" dirty="0">
                <a:latin typeface="Calibri" panose="020F0502020204030204"/>
              </a:rPr>
              <a:t>Serialise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5F224BB-FB6A-456F-A814-5FC39147A983}"/>
              </a:ext>
            </a:extLst>
          </p:cNvPr>
          <p:cNvSpPr txBox="1"/>
          <p:nvPr/>
        </p:nvSpPr>
        <p:spPr>
          <a:xfrm>
            <a:off x="2159013" y="6232188"/>
            <a:ext cx="1735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400" dirty="0" err="1">
                <a:latin typeface="Calibri" panose="020F0502020204030204"/>
              </a:rPr>
              <a:t>Deserialise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4250F25-C868-4866-948B-35BBA3128D5C}"/>
              </a:ext>
            </a:extLst>
          </p:cNvPr>
          <p:cNvSpPr txBox="1"/>
          <p:nvPr/>
        </p:nvSpPr>
        <p:spPr>
          <a:xfrm>
            <a:off x="7641197" y="6169253"/>
            <a:ext cx="3815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QDataStream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GB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Courier New" panose="02070309020205020404" pitchFamily="49" charset="0"/>
              </a:rPr>
              <a:t>reading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BBFE009-BE3B-458D-936B-6BAAE810D68A}"/>
              </a:ext>
            </a:extLst>
          </p:cNvPr>
          <p:cNvSpPr txBox="1"/>
          <p:nvPr/>
        </p:nvSpPr>
        <p:spPr>
          <a:xfrm>
            <a:off x="7706585" y="4303363"/>
            <a:ext cx="3815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QDataStream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GB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Courier New" panose="02070309020205020404" pitchFamily="49" charset="0"/>
              </a:rPr>
              <a:t>writing</a:t>
            </a:r>
          </a:p>
        </p:txBody>
      </p:sp>
    </p:spTree>
    <p:extLst>
      <p:ext uri="{BB962C8B-B14F-4D97-AF65-F5344CB8AC3E}">
        <p14:creationId xmlns:p14="http://schemas.microsoft.com/office/powerpoint/2010/main" val="2765561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Serialisation</a:t>
            </a:r>
            <a:endParaRPr lang="en-GB" dirty="0">
              <a:latin typeface="+mn-lt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2"/>
            <a:ext cx="11049000" cy="453072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13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0" name="Picture 2">
            <a:extLst>
              <a:ext uri="{FF2B5EF4-FFF2-40B4-BE49-F238E27FC236}">
                <a16:creationId xmlns:a16="http://schemas.microsoft.com/office/drawing/2014/main" id="{64DFCCC1-DC1D-4E4F-B1A5-4AEE0E971B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621" y="1565873"/>
            <a:ext cx="9274629" cy="5221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23BB225-3EED-47E4-8D7A-CF391B3D45D8}"/>
              </a:ext>
            </a:extLst>
          </p:cNvPr>
          <p:cNvSpPr txBox="1"/>
          <p:nvPr/>
        </p:nvSpPr>
        <p:spPr>
          <a:xfrm>
            <a:off x="9451912" y="1919425"/>
            <a:ext cx="260012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400" dirty="0">
                <a:latin typeface="Calibri" panose="020F0502020204030204"/>
              </a:rPr>
              <a:t>QUESTION: Identify the data that needs saving to restore the game to this status?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1504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QDataStream</a:t>
            </a:r>
            <a:r>
              <a:rPr lang="en-GB" b="1" dirty="0"/>
              <a:t> Class</a:t>
            </a:r>
            <a:endParaRPr lang="en-GB" dirty="0">
              <a:latin typeface="+mn-lt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2"/>
            <a:ext cx="11049000" cy="45307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cs typeface="Courier New" panose="02070309020205020404" pitchFamily="49" charset="0"/>
              </a:rPr>
              <a:t>This class </a:t>
            </a:r>
            <a:r>
              <a:rPr lang="en-GB" sz="2400" dirty="0"/>
              <a:t>provides an easy way to write, format and manipulate streams for any data type, or a combination of different datatypes.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Reference: </a:t>
            </a:r>
            <a:r>
              <a:rPr lang="en-GB" sz="2400" dirty="0">
                <a:hlinkClick r:id="rId3"/>
              </a:rPr>
              <a:t>https://doc.qt.io/qt-6/qdatastream.html</a:t>
            </a: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sz="2400" dirty="0"/>
              <a:t>It serves an identical role of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QTextStream</a:t>
            </a:r>
            <a:r>
              <a:rPr lang="en-GB" sz="2400" dirty="0"/>
              <a:t> but for other datatype.   </a:t>
            </a:r>
            <a:endParaRPr lang="en-GB" sz="2400" dirty="0"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2400" dirty="0"/>
              <a:t>Make sure the order of extraction of data in </a:t>
            </a:r>
            <a:r>
              <a:rPr lang="en-GB" sz="2400" dirty="0" err="1"/>
              <a:t>deserlisation</a:t>
            </a:r>
            <a:r>
              <a:rPr lang="en-GB" sz="2400" dirty="0"/>
              <a:t> is the exact opposite of that in serialisation.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14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84868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 sample application: Drawing saver</a:t>
            </a:r>
            <a:endParaRPr lang="en-GB" dirty="0">
              <a:latin typeface="+mn-lt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2"/>
            <a:ext cx="11049000" cy="453072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u="sng" dirty="0"/>
              <a:t>The task</a:t>
            </a:r>
            <a:r>
              <a:rPr lang="en-GB" sz="2400" dirty="0"/>
              <a:t>: Draw few shapes using the graphics view framework and implement a serialisation function to save them. And a </a:t>
            </a:r>
            <a:r>
              <a:rPr lang="en-GB" sz="2400" dirty="0" err="1"/>
              <a:t>deserialisation</a:t>
            </a:r>
            <a:r>
              <a:rPr lang="en-GB" sz="2400" dirty="0"/>
              <a:t> function to load them.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>
                <a:cs typeface="Courier New" panose="02070309020205020404" pitchFamily="49" charset="0"/>
              </a:rPr>
              <a:t>Build the application (demonstration).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15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5405F46-92F5-433E-9892-8ACEDE6E27B6}"/>
              </a:ext>
            </a:extLst>
          </p:cNvPr>
          <p:cNvSpPr txBox="1"/>
          <p:nvPr/>
        </p:nvSpPr>
        <p:spPr>
          <a:xfrm>
            <a:off x="838202" y="4001602"/>
            <a:ext cx="9914469" cy="23547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0AA20B-028D-4A44-97BA-8B2BFED1908B}"/>
              </a:ext>
            </a:extLst>
          </p:cNvPr>
          <p:cNvSpPr txBox="1"/>
          <p:nvPr/>
        </p:nvSpPr>
        <p:spPr>
          <a:xfrm>
            <a:off x="838200" y="4001602"/>
            <a:ext cx="99144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Practical note: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2400" dirty="0">
                <a:latin typeface="Calibri" panose="020F0502020204030204"/>
              </a:rPr>
              <a:t>Data containers such as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QVector</a:t>
            </a:r>
            <a:r>
              <a:rPr lang="en-GB" sz="2400" dirty="0">
                <a:latin typeface="Calibri" panose="020F0502020204030204"/>
              </a:rPr>
              <a:t> and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QList</a:t>
            </a:r>
            <a:r>
              <a:rPr lang="en-GB" sz="2400" dirty="0">
                <a:latin typeface="Calibri" panose="020F0502020204030204"/>
              </a:rPr>
              <a:t> are quite useful for saving non-text data.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71831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Summary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3886"/>
            <a:ext cx="10515600" cy="45307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In this lecture, non-direct input/output of data to applications were discussed.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For simple user inputs, many classes derived from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QDialog</a:t>
            </a:r>
            <a:r>
              <a:rPr lang="en-GB" sz="2400" dirty="0"/>
              <a:t> are pre-defined to get user choices of colour, font, or files.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 Input / Output functionality of text files was discussed.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The concept of serialisation was introduced, and input / output for arbitrary data types was discussed.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Classes covered: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QFileDialog</a:t>
            </a:r>
            <a:r>
              <a:rPr lang="en-GB" sz="2400" dirty="0"/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QFontDialog</a:t>
            </a:r>
            <a:r>
              <a:rPr lang="en-GB" sz="2400" dirty="0"/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QColorDialog</a:t>
            </a:r>
            <a:r>
              <a:rPr lang="en-GB" sz="2400" dirty="0"/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QInputDialog</a:t>
            </a:r>
            <a:r>
              <a:rPr lang="en-GB" sz="2400" dirty="0"/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QWizard</a:t>
            </a:r>
            <a:r>
              <a:rPr lang="en-GB" sz="2400" dirty="0"/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QTextStream</a:t>
            </a:r>
            <a:r>
              <a:rPr lang="en-GB" sz="2400" dirty="0"/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QFile</a:t>
            </a:r>
            <a:r>
              <a:rPr lang="en-GB" sz="2400" dirty="0"/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QDataStream</a:t>
            </a:r>
            <a:r>
              <a:rPr lang="en-GB" sz="2400" dirty="0"/>
              <a:t>  </a:t>
            </a:r>
          </a:p>
          <a:p>
            <a:pPr marL="0" indent="0">
              <a:lnSpc>
                <a:spcPct val="150000"/>
              </a:lnSpc>
              <a:buNone/>
            </a:pPr>
            <a:endParaRPr lang="en-GB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GB" sz="2400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</a:t>
            </a:r>
          </a:p>
          <a:p>
            <a:pPr marL="0" indent="0">
              <a:lnSpc>
                <a:spcPct val="120000"/>
              </a:lnSpc>
              <a:buNone/>
            </a:pPr>
            <a:endParaRPr lang="de-DE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2308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4261</TotalTime>
  <Words>1141</Words>
  <Application>Microsoft Office PowerPoint</Application>
  <PresentationFormat>Widescreen</PresentationFormat>
  <Paragraphs>402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Courier New</vt:lpstr>
      <vt:lpstr>Office Theme</vt:lpstr>
      <vt:lpstr>Application Development with C++ (ELEC362)</vt:lpstr>
      <vt:lpstr>Previous lecture  </vt:lpstr>
      <vt:lpstr>This lecture</vt:lpstr>
      <vt:lpstr>Custom input classes </vt:lpstr>
      <vt:lpstr>Custom input classes </vt:lpstr>
      <vt:lpstr>Custom input classes </vt:lpstr>
      <vt:lpstr>Custom input classes </vt:lpstr>
      <vt:lpstr>Custom input classes </vt:lpstr>
      <vt:lpstr>Loading and Saving text files </vt:lpstr>
      <vt:lpstr>QFile and QTextStream Classes</vt:lpstr>
      <vt:lpstr>A sample application: Notes saver</vt:lpstr>
      <vt:lpstr>Serialisation</vt:lpstr>
      <vt:lpstr>Serialisation</vt:lpstr>
      <vt:lpstr>QDataStream Class</vt:lpstr>
      <vt:lpstr>A sample application: Drawing saver</vt:lpstr>
      <vt:lpstr>Summary </vt:lpstr>
    </vt:vector>
  </TitlesOfParts>
  <Company>The University of Liverpool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Development with C++ (ELEC362)</dc:title>
  <dc:creator>Hasan, Mohammad [mihasan]</dc:creator>
  <cp:lastModifiedBy>Hasan, Mohammad [mihasan]</cp:lastModifiedBy>
  <cp:revision>504</cp:revision>
  <dcterms:created xsi:type="dcterms:W3CDTF">2019-05-09T14:26:54Z</dcterms:created>
  <dcterms:modified xsi:type="dcterms:W3CDTF">2023-11-29T15:21:03Z</dcterms:modified>
</cp:coreProperties>
</file>